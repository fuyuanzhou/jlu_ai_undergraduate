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2"/>
  </p:notesMasterIdLst>
  <p:sldIdLst>
    <p:sldId id="267" r:id="rId3"/>
    <p:sldId id="531" r:id="rId4"/>
    <p:sldId id="533" r:id="rId5"/>
    <p:sldId id="534" r:id="rId6"/>
    <p:sldId id="535" r:id="rId7"/>
    <p:sldId id="500" r:id="rId8"/>
    <p:sldId id="501" r:id="rId9"/>
    <p:sldId id="435" r:id="rId10"/>
    <p:sldId id="502" r:id="rId11"/>
    <p:sldId id="503" r:id="rId12"/>
    <p:sldId id="504" r:id="rId13"/>
    <p:sldId id="505" r:id="rId14"/>
    <p:sldId id="506" r:id="rId15"/>
    <p:sldId id="536" r:id="rId16"/>
    <p:sldId id="537" r:id="rId17"/>
    <p:sldId id="538" r:id="rId18"/>
    <p:sldId id="539" r:id="rId19"/>
    <p:sldId id="507" r:id="rId20"/>
    <p:sldId id="540" r:id="rId21"/>
    <p:sldId id="541" r:id="rId22"/>
    <p:sldId id="416" r:id="rId23"/>
    <p:sldId id="472" r:id="rId24"/>
    <p:sldId id="473" r:id="rId25"/>
    <p:sldId id="508" r:id="rId26"/>
    <p:sldId id="542" r:id="rId27"/>
    <p:sldId id="509" r:id="rId28"/>
    <p:sldId id="510" r:id="rId29"/>
    <p:sldId id="511" r:id="rId30"/>
    <p:sldId id="512" r:id="rId31"/>
    <p:sldId id="513" r:id="rId32"/>
    <p:sldId id="543" r:id="rId33"/>
    <p:sldId id="544" r:id="rId34"/>
    <p:sldId id="545" r:id="rId35"/>
    <p:sldId id="546" r:id="rId36"/>
    <p:sldId id="514" r:id="rId37"/>
    <p:sldId id="547" r:id="rId38"/>
    <p:sldId id="548" r:id="rId39"/>
    <p:sldId id="549" r:id="rId40"/>
    <p:sldId id="550" r:id="rId41"/>
    <p:sldId id="551" r:id="rId42"/>
    <p:sldId id="552" r:id="rId43"/>
    <p:sldId id="553" r:id="rId44"/>
    <p:sldId id="554" r:id="rId45"/>
    <p:sldId id="555" r:id="rId46"/>
    <p:sldId id="556" r:id="rId47"/>
    <p:sldId id="557" r:id="rId48"/>
    <p:sldId id="558" r:id="rId49"/>
    <p:sldId id="559" r:id="rId50"/>
    <p:sldId id="560" r:id="rId51"/>
    <p:sldId id="561" r:id="rId52"/>
    <p:sldId id="562" r:id="rId53"/>
    <p:sldId id="563" r:id="rId54"/>
    <p:sldId id="564" r:id="rId55"/>
    <p:sldId id="565" r:id="rId56"/>
    <p:sldId id="566" r:id="rId57"/>
    <p:sldId id="567" r:id="rId58"/>
    <p:sldId id="568" r:id="rId59"/>
    <p:sldId id="569" r:id="rId60"/>
    <p:sldId id="570" r:id="rId61"/>
    <p:sldId id="571" r:id="rId62"/>
    <p:sldId id="572" r:id="rId63"/>
    <p:sldId id="573" r:id="rId64"/>
    <p:sldId id="574" r:id="rId65"/>
    <p:sldId id="575" r:id="rId66"/>
    <p:sldId id="576" r:id="rId67"/>
    <p:sldId id="577" r:id="rId68"/>
    <p:sldId id="578" r:id="rId69"/>
    <p:sldId id="579" r:id="rId70"/>
    <p:sldId id="334" r:id="rId71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0DA70BE-7BEC-4ED4-B223-50D7206A1460}">
          <p14:sldIdLst>
            <p14:sldId id="267"/>
            <p14:sldId id="531"/>
            <p14:sldId id="533"/>
            <p14:sldId id="534"/>
            <p14:sldId id="535"/>
            <p14:sldId id="500"/>
            <p14:sldId id="501"/>
            <p14:sldId id="435"/>
          </p14:sldIdLst>
        </p14:section>
        <p14:section name="无标题节" id="{BD241F07-6D6B-4AEA-8F16-23DABFE59971}">
          <p14:sldIdLst>
            <p14:sldId id="502"/>
            <p14:sldId id="503"/>
            <p14:sldId id="504"/>
            <p14:sldId id="505"/>
            <p14:sldId id="506"/>
            <p14:sldId id="536"/>
            <p14:sldId id="537"/>
            <p14:sldId id="538"/>
            <p14:sldId id="539"/>
            <p14:sldId id="507"/>
            <p14:sldId id="540"/>
            <p14:sldId id="541"/>
            <p14:sldId id="416"/>
            <p14:sldId id="472"/>
            <p14:sldId id="473"/>
            <p14:sldId id="508"/>
            <p14:sldId id="542"/>
            <p14:sldId id="509"/>
            <p14:sldId id="510"/>
            <p14:sldId id="511"/>
            <p14:sldId id="512"/>
            <p14:sldId id="513"/>
            <p14:sldId id="543"/>
            <p14:sldId id="544"/>
            <p14:sldId id="545"/>
            <p14:sldId id="546"/>
            <p14:sldId id="514"/>
            <p14:sldId id="547"/>
            <p14:sldId id="548"/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  <p14:sldId id="573"/>
            <p14:sldId id="574"/>
            <p14:sldId id="575"/>
            <p14:sldId id="576"/>
            <p14:sldId id="577"/>
            <p14:sldId id="578"/>
            <p14:sldId id="579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948025412@qq.com" initials="9" lastIdx="1" clrIdx="0">
    <p:extLst>
      <p:ext uri="{19B8F6BF-5375-455C-9EA6-DF929625EA0E}">
        <p15:presenceInfo xmlns:p15="http://schemas.microsoft.com/office/powerpoint/2012/main" userId="9e74ee9f37df7a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4B5"/>
    <a:srgbClr val="9DC3E6"/>
    <a:srgbClr val="FFF2CC"/>
    <a:srgbClr val="FFD966"/>
    <a:srgbClr val="266980"/>
    <a:srgbClr val="2E75B5"/>
    <a:srgbClr val="572808"/>
    <a:srgbClr val="BDD7EE"/>
    <a:srgbClr val="1C647E"/>
    <a:srgbClr val="AC4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280" autoAdjust="0"/>
  </p:normalViewPr>
  <p:slideViewPr>
    <p:cSldViewPr snapToGrid="0" showGuides="1">
      <p:cViewPr varScale="1">
        <p:scale>
          <a:sx n="125" d="100"/>
          <a:sy n="125" d="100"/>
        </p:scale>
        <p:origin x="166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B095CFA-2E4A-4DA6-A291-36D909D1A46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t>2025/3/17</a:t>
            </a:fld>
            <a:endParaRPr lang="zh-CN" altLang="en-US" strike="noStrike" noProof="1"/>
          </a:p>
        </p:txBody>
      </p:sp>
      <p:sp>
        <p:nvSpPr>
          <p:cNvPr id="17203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03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7F7DBCC3-39B1-4490-B912-0E3D3B92F8A3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348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998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081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041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602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583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583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649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817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7347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231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006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7177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0973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4542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9928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1960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8237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6935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69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7958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6456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9450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1902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3318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8168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8554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4728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1002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7213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4622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3142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3671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523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7034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636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1747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8026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6845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3464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689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7679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428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7239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56688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2571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18804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44660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9469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8695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8285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79331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2687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95907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0642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14048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14702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61308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88969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18250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72076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02896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82669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10723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85003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4726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57197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DB69-3631-647A-796C-78BD41E0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7C29E7-D370-E8C1-D6FD-148782B1B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E39FDD-70C6-E186-6E74-53A087A3A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1564B-FD86-D516-30B2-5313F42DB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6A5EB-DBDD-4BB6-B956-8F5082F97512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71122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8A3554-0430-45DB-BDFE-3C446509E54A}" type="slidenum">
              <a:rPr lang="en-US" smtClean="0">
                <a:solidFill>
                  <a:prstClr val="black"/>
                </a:solidFill>
              </a:rPr>
              <a:pPr/>
              <a:t>69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07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1B8381E7-25DC-4DAD-A078-DA58656A5B95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9486E14-F3C0-4B3B-9E53-DA47772D7B76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A97A5AE-033E-4E33-8F05-5A54772AF24E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390F8BA-2E15-4A27-8E64-A1395E298AB3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2025/3/17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55B6809-9057-4661-BDBB-E2BB416E6555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2025/3/17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26E46B70-6FA3-4863-839E-B21676BF3A5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2025/3/17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D7B4A683-24CA-491D-9609-C24094856540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BBD7108D-04DE-425A-80BA-67916C21E75E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2025/3/17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6A49D0B-3845-47D6-9C86-D430593DB3A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2025/3/17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C1663EE6-C5DC-47E4-9CB4-43F4A762AC87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4FAC9D7C-BD8B-49F5-9748-43BBC1F050D4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CE004C5E-B19A-4C6C-B3AC-9AE9ACCC0581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769467" y="127668"/>
            <a:ext cx="10422533" cy="4209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96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80" y="52363"/>
            <a:ext cx="1445387" cy="80242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324080" y="590440"/>
            <a:ext cx="11867920" cy="3401"/>
          </a:xfrm>
          <a:prstGeom prst="line">
            <a:avLst/>
          </a:prstGeom>
          <a:ln w="28575">
            <a:solidFill>
              <a:srgbClr val="16407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769467" y="192002"/>
            <a:ext cx="10422533" cy="3984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E7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74" y="97631"/>
            <a:ext cx="290095" cy="52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7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Smal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5188321" y="1676728"/>
            <a:ext cx="1815163" cy="1814739"/>
          </a:xfrm>
          <a:prstGeom prst="ellipse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1997" cy="258409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072707" y="1777295"/>
            <a:ext cx="1989629" cy="1989165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3687191" y="1777295"/>
            <a:ext cx="1989629" cy="1989165"/>
          </a:xfrm>
          <a:prstGeom prst="roundRect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378022" y="1777295"/>
            <a:ext cx="1989629" cy="1989165"/>
          </a:xfrm>
          <a:prstGeom prst="roundRect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054524" y="1777295"/>
            <a:ext cx="1989629" cy="1989165"/>
          </a:xfrm>
          <a:prstGeom prst="roundRect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900057" y="1777294"/>
            <a:ext cx="3244279" cy="3260313"/>
          </a:xfrm>
          <a:prstGeom prst="roundRect">
            <a:avLst>
              <a:gd name="adj" fmla="val 8446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99380" y="1488610"/>
            <a:ext cx="1806275" cy="1805853"/>
          </a:xfrm>
          <a:prstGeom prst="roundRect">
            <a:avLst>
              <a:gd name="adj" fmla="val 11041"/>
            </a:avLst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557144" y="1488610"/>
            <a:ext cx="1806275" cy="1805853"/>
          </a:xfrm>
          <a:prstGeom prst="roundRect">
            <a:avLst>
              <a:gd name="adj" fmla="val 13151"/>
            </a:avLst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614908" y="1488610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674923" y="1488610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226225" y="1742904"/>
            <a:ext cx="1806275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173535" y="1742904"/>
            <a:ext cx="1806275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596691" y="3207051"/>
            <a:ext cx="1297573" cy="1297272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5391886" y="1377389"/>
            <a:ext cx="1297573" cy="1297272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7224747" y="3198356"/>
            <a:ext cx="1297573" cy="1297272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5399164" y="5012383"/>
            <a:ext cx="1297573" cy="1297272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endParaRPr 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72416"/>
            <a:ext cx="12191997" cy="4921720"/>
          </a:xfrm>
          <a:prstGeom prst="downArrowCallout">
            <a:avLst>
              <a:gd name="adj1" fmla="val 50000"/>
              <a:gd name="adj2" fmla="val 15352"/>
              <a:gd name="adj3" fmla="val 5443"/>
              <a:gd name="adj4" fmla="val 94557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Top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3"/>
            <a:ext cx="12191997" cy="3966661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Top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80608" y="1639333"/>
            <a:ext cx="4908153" cy="42701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ef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42381" cy="68580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249619" y="0"/>
            <a:ext cx="5942381" cy="6858000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297274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0"/>
            <a:ext cx="3597455" cy="3543436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Pictures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445657"/>
            <a:ext cx="3469533" cy="2351680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w Left 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83399" y="1575369"/>
            <a:ext cx="3597455" cy="3400024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411149" y="1575371"/>
            <a:ext cx="3597455" cy="3400023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2940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Off-page Connector 5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8" name="Flowchart: Off-page Connector 7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5020671" y="1382568"/>
            <a:ext cx="3360699" cy="4965187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522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463041" y="1758206"/>
            <a:ext cx="3250392" cy="4270188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7478569" y="1758206"/>
            <a:ext cx="3250392" cy="4270188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4344776" y="1438846"/>
            <a:ext cx="3647921" cy="4908909"/>
          </a:xfrm>
          <a:prstGeom prst="rect">
            <a:avLst/>
          </a:prstGeom>
        </p:spPr>
        <p:txBody>
          <a:bodyPr anchor="t"/>
          <a:lstStyle>
            <a:lvl1pPr algn="ctr" rtl="0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21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3169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217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9265920" y="1438846"/>
            <a:ext cx="2804160" cy="3526343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5894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0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361234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241795" y="1201531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2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475894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17" hasCustomPrompt="1"/>
          </p:nvPr>
        </p:nvSpPr>
        <p:spPr>
          <a:xfrm>
            <a:off x="8241795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4" name="Picture Placeholder 6"/>
          <p:cNvSpPr>
            <a:spLocks noGrp="1"/>
          </p:cNvSpPr>
          <p:nvPr>
            <p:ph type="pic" sz="quarter" idx="18" hasCustomPrompt="1"/>
          </p:nvPr>
        </p:nvSpPr>
        <p:spPr>
          <a:xfrm>
            <a:off x="4361234" y="3806159"/>
            <a:ext cx="3469533" cy="2365379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296334" y="215900"/>
            <a:ext cx="5880100" cy="6426200"/>
          </a:xfrm>
          <a:prstGeom prst="round1Rect">
            <a:avLst>
              <a:gd name="adj" fmla="val 5318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06867" y="216720"/>
            <a:ext cx="5488240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06865" y="4978885"/>
            <a:ext cx="5488240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296333" y="215900"/>
            <a:ext cx="5646048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296333" y="4978885"/>
            <a:ext cx="5646048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6249619" y="215900"/>
            <a:ext cx="5646048" cy="4518040"/>
          </a:xfrm>
          <a:prstGeom prst="round1Rect">
            <a:avLst>
              <a:gd name="adj" fmla="val 6441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6" hasCustomPrompt="1"/>
          </p:nvPr>
        </p:nvSpPr>
        <p:spPr>
          <a:xfrm>
            <a:off x="6249619" y="4978885"/>
            <a:ext cx="5646048" cy="1662384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Callout 11"/>
          <p:cNvSpPr/>
          <p:nvPr userDrawn="1"/>
        </p:nvSpPr>
        <p:spPr>
          <a:xfrm>
            <a:off x="487363" y="1423988"/>
            <a:ext cx="2676525" cy="2662238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8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ntAwesome" pitchFamily="2" charset="0"/>
              <a:ea typeface="+mn-ea"/>
            </a:endParaRPr>
          </a:p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3" name="Up Arrow Callout 12"/>
          <p:cNvSpPr/>
          <p:nvPr userDrawn="1"/>
        </p:nvSpPr>
        <p:spPr>
          <a:xfrm>
            <a:off x="3343275" y="3317875"/>
            <a:ext cx="2678113" cy="268922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533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ontAwesome" pitchFamily="2" charset="0"/>
              <a:ea typeface="+mn-ea"/>
            </a:endParaRPr>
          </a:p>
        </p:txBody>
      </p:sp>
      <p:sp>
        <p:nvSpPr>
          <p:cNvPr id="15" name="Down Arrow Callout 14"/>
          <p:cNvSpPr/>
          <p:nvPr userDrawn="1"/>
        </p:nvSpPr>
        <p:spPr>
          <a:xfrm>
            <a:off x="6170613" y="1423988"/>
            <a:ext cx="2678113" cy="2662238"/>
          </a:xfrm>
          <a:prstGeom prst="downArrowCallout">
            <a:avLst>
              <a:gd name="adj1" fmla="val 23554"/>
              <a:gd name="adj2" fmla="val 10346"/>
              <a:gd name="adj3" fmla="val 10003"/>
              <a:gd name="adj4" fmla="val 89997"/>
            </a:avLst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3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</a:rPr>
              <a:t> </a:t>
            </a:r>
          </a:p>
        </p:txBody>
      </p:sp>
      <p:sp>
        <p:nvSpPr>
          <p:cNvPr id="17" name="Up Arrow Callout 16"/>
          <p:cNvSpPr/>
          <p:nvPr userDrawn="1"/>
        </p:nvSpPr>
        <p:spPr>
          <a:xfrm>
            <a:off x="9013825" y="3317875"/>
            <a:ext cx="2676525" cy="2689225"/>
          </a:xfrm>
          <a:prstGeom prst="upArrowCallout">
            <a:avLst>
              <a:gd name="adj1" fmla="val 25000"/>
              <a:gd name="adj2" fmla="val 9346"/>
              <a:gd name="adj3" fmla="val 11156"/>
              <a:gd name="adj4" fmla="val 88844"/>
            </a:avLst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ontAwesome" pitchFamily="2" charset="0"/>
                <a:ea typeface="+mn-ea"/>
              </a:rPr>
            </a:b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30" name="Flowchart: Off-page Connector 29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26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87251" y="3625657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3343837" y="1438845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171142" y="3625657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013086" y="1438845"/>
            <a:ext cx="2677295" cy="236606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 with three Colum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Off-page Connector 29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4" name="Down Arrow Callout 13"/>
          <p:cNvSpPr/>
          <p:nvPr userDrawn="1"/>
        </p:nvSpPr>
        <p:spPr>
          <a:xfrm>
            <a:off x="6192838" y="1662113"/>
            <a:ext cx="2473325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6" name="Down Arrow Callout 15"/>
          <p:cNvSpPr/>
          <p:nvPr userDrawn="1"/>
        </p:nvSpPr>
        <p:spPr>
          <a:xfrm>
            <a:off x="3540125" y="1662113"/>
            <a:ext cx="2471738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9" name="Down Arrow Callout 18"/>
          <p:cNvSpPr/>
          <p:nvPr userDrawn="1"/>
        </p:nvSpPr>
        <p:spPr>
          <a:xfrm>
            <a:off x="8847138" y="1662113"/>
            <a:ext cx="2471738" cy="4302125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3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5" hasCustomPrompt="1"/>
          </p:nvPr>
        </p:nvSpPr>
        <p:spPr>
          <a:xfrm>
            <a:off x="886069" y="1662386"/>
            <a:ext cx="2472192" cy="4301321"/>
          </a:xfrm>
          <a:prstGeom prst="downArrowCallout">
            <a:avLst>
              <a:gd name="adj1" fmla="val 26120"/>
              <a:gd name="adj2" fmla="val 6382"/>
              <a:gd name="adj3" fmla="val 5273"/>
              <a:gd name="adj4" fmla="val 96969"/>
            </a:avLst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9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ulome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Off-page Connector 1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9" name="Flowchart: Off-page Connector 8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10" name="Slide Number Placeholder 4"/>
          <p:cNvSpPr txBox="1"/>
          <p:nvPr userDrawn="1"/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36B7D2-B98C-44FD-8D04-7EC62A564975}" type="slidenum">
              <a:rPr kumimoji="0" lang="en-US" sz="1335" b="1" i="0" u="none" strike="noStrike" kern="1200" cap="none" spc="0" normalizeH="0" baseline="0" noProof="0" smtClean="0">
                <a:ln>
                  <a:noFill/>
                </a:ln>
                <a:solidFill>
                  <a:srgbClr val="262626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‹#›</a:t>
            </a:fld>
            <a:endParaRPr kumimoji="0" lang="en-US" sz="1335" b="1" i="0" u="none" strike="noStrike" kern="1200" cap="none" spc="0" normalizeH="0" baseline="0" noProof="0" dirty="0">
              <a:ln>
                <a:noFill/>
              </a:ln>
              <a:solidFill>
                <a:srgbClr val="262626">
                  <a:lumMod val="75000"/>
                  <a:lumOff val="2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28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896091" y="1448890"/>
            <a:ext cx="4913419" cy="3072372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385667" y="1445657"/>
            <a:ext cx="4910243" cy="3075607"/>
          </a:xfrm>
          <a:prstGeom prst="rect">
            <a:avLst/>
          </a:prstGeom>
        </p:spPr>
        <p:txBody>
          <a:bodyPr anchor="t"/>
          <a:lstStyle>
            <a:lvl1pPr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insert your image here !</a:t>
            </a: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Off-page Connector 4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ree Blank With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619" y="6247606"/>
            <a:ext cx="455613" cy="565150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6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791720" y="541356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r">
              <a:defRPr sz="2665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z="2665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823720" y="1010678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>
              <a:buNone/>
              <a:defRPr sz="14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2725" y="6340475"/>
            <a:ext cx="611188" cy="366713"/>
          </a:xfrm>
          <a:prstGeom prst="rect">
            <a:avLst/>
          </a:prstGeom>
        </p:spPr>
        <p:txBody>
          <a:bodyPr anchor="ctr"/>
          <a:lstStyle>
            <a:lvl1pPr algn="ctr">
              <a:defRPr sz="1335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375410" fontAlgn="auto"/>
            <a:fld id="{C136B7D2-B98C-44FD-8D04-7EC62A564975}" type="slidenum">
              <a:rPr lang="en-US" sz="1335" strike="noStrike" noProof="1" smtClean="0">
                <a:solidFill>
                  <a:srgbClr val="262626">
                    <a:lumMod val="75000"/>
                    <a:lumOff val="25000"/>
                  </a:srgb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trike="noStrike" noProof="1">
              <a:solidFill>
                <a:srgbClr val="262626">
                  <a:lumMod val="75000"/>
                  <a:lumOff val="25000"/>
                </a:srgb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fontAlgn="auto"/>
            <a:r>
              <a:rPr lang="en-US" strike="noStrike" noProof="1"/>
              <a:t>Subtext Goes Here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 indent="-22860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2B4B57BF-D235-4043-BA3E-BB73EDFD9DF0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2025/3/17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2549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fld id="{CE004C5E-B19A-4C6C-B3AC-9AE9ACCC0581}" type="slidenum">
              <a:rPr lang="zh-CN" altLang="en-US" noProof="1" smtClean="0">
                <a:latin typeface="+mn-lt"/>
                <a:ea typeface="+mn-ea"/>
              </a:rPr>
              <a:t>‹#›</a:t>
            </a:fld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91" r:id="rId12"/>
    <p:sldLayoutId id="214748369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</p:sldLayoutIdLst>
  <p:transition spd="slow" advTm="3000"/>
  <p:hf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44388"/>
            <a:ext cx="12202130" cy="691101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34506" y="4050175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343800" y="4484700"/>
            <a:ext cx="11525644" cy="830997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离散数学</a:t>
            </a:r>
            <a:endParaRPr lang="en-US" altLang="zh-CN" sz="2400" b="1" dirty="0">
              <a:solidFill>
                <a:schemeClr val="bg1"/>
              </a:solidFill>
              <a:effectLst>
                <a:innerShdw blurRad="63500" dist="50800">
                  <a:prstClr val="black">
                    <a:alpha val="50000"/>
                  </a:prstClr>
                </a:innerShdw>
              </a:effectLst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  <a:p>
            <a:pPr algn="ctr"/>
            <a:r>
              <a:rPr lang="en-US" altLang="zh-CN" sz="2400" b="1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2024~2025</a:t>
            </a:r>
            <a:r>
              <a:rPr lang="zh-CN" altLang="en-US" sz="2400" b="1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第二</a:t>
            </a:r>
            <a:r>
              <a:rPr lang="zh-CN" altLang="en-US" sz="2400" b="1" dirty="0">
                <a:solidFill>
                  <a:schemeClr val="bg1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学期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131181" y="5452617"/>
            <a:ext cx="7946680" cy="499624"/>
            <a:chOff x="2002264" y="3493031"/>
            <a:chExt cx="8187473" cy="352610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784402" y="3493031"/>
              <a:ext cx="4395931" cy="352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邬渊 </a:t>
              </a:r>
              <a:endParaRPr lang="en-US" altLang="zh-CN" sz="20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71" t="23333" r="16751"/>
          <a:stretch/>
        </p:blipFill>
        <p:spPr>
          <a:xfrm>
            <a:off x="8683551" y="-43132"/>
            <a:ext cx="3531454" cy="334759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0" cstate="print">
            <a:grayscl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schemeClr val="bg1"/>
                </a:solidFill>
              </a:rPr>
              <a:pPr/>
              <a:t>1</a:t>
            </a:fld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51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集合的基数（例题）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5FDE8-AB67-5CC4-BF9C-432DFCB257A3}"/>
              </a:ext>
            </a:extLst>
          </p:cNvPr>
          <p:cNvSpPr txBox="1"/>
          <p:nvPr/>
        </p:nvSpPr>
        <p:spPr>
          <a:xfrm>
            <a:off x="750277" y="860209"/>
            <a:ext cx="106914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ym typeface="Wingdings" panose="05000000000000000000" pitchFamily="2" charset="2"/>
              </a:rPr>
              <a:t>有</a:t>
            </a:r>
            <a:r>
              <a:rPr lang="en-US" altLang="zh-CN" sz="2800" dirty="0">
                <a:sym typeface="Wingdings" panose="05000000000000000000" pitchFamily="2" charset="2"/>
              </a:rPr>
              <a:t>100</a:t>
            </a:r>
            <a:r>
              <a:rPr lang="zh-CN" altLang="en-US" sz="2800" dirty="0">
                <a:sym typeface="Wingdings" panose="05000000000000000000" pitchFamily="2" charset="2"/>
              </a:rPr>
              <a:t>名程序员。其中</a:t>
            </a:r>
            <a:r>
              <a:rPr lang="en-US" altLang="zh-CN" sz="2800" dirty="0">
                <a:sym typeface="Wingdings" panose="05000000000000000000" pitchFamily="2" charset="2"/>
              </a:rPr>
              <a:t>30</a:t>
            </a:r>
            <a:r>
              <a:rPr lang="zh-CN" altLang="en-US" sz="2800" dirty="0">
                <a:sym typeface="Wingdings" panose="05000000000000000000" pitchFamily="2" charset="2"/>
              </a:rPr>
              <a:t>名熟悉</a:t>
            </a:r>
            <a:r>
              <a:rPr lang="en-US" altLang="zh-CN" sz="2800" dirty="0">
                <a:sym typeface="Wingdings" panose="05000000000000000000" pitchFamily="2" charset="2"/>
              </a:rPr>
              <a:t>C++</a:t>
            </a:r>
            <a:r>
              <a:rPr lang="zh-CN" altLang="en-US" sz="2800" dirty="0">
                <a:sym typeface="Wingdings" panose="05000000000000000000" pitchFamily="2" charset="2"/>
              </a:rPr>
              <a:t>语言，</a:t>
            </a:r>
            <a:r>
              <a:rPr lang="en-US" altLang="zh-CN" sz="2800" dirty="0">
                <a:sym typeface="Wingdings" panose="05000000000000000000" pitchFamily="2" charset="2"/>
              </a:rPr>
              <a:t>20</a:t>
            </a:r>
            <a:r>
              <a:rPr lang="zh-CN" altLang="en-US" sz="2800" dirty="0">
                <a:sym typeface="Wingdings" panose="05000000000000000000" pitchFamily="2" charset="2"/>
              </a:rPr>
              <a:t>名熟悉</a:t>
            </a:r>
            <a:r>
              <a:rPr lang="en-US" altLang="zh-CN" sz="2800" dirty="0">
                <a:sym typeface="Wingdings" panose="05000000000000000000" pitchFamily="2" charset="2"/>
              </a:rPr>
              <a:t>Python</a:t>
            </a:r>
            <a:r>
              <a:rPr lang="zh-CN" altLang="en-US" sz="2800" dirty="0">
                <a:sym typeface="Wingdings" panose="05000000000000000000" pitchFamily="2" charset="2"/>
              </a:rPr>
              <a:t>语言，</a:t>
            </a:r>
            <a:r>
              <a:rPr lang="en-US" altLang="zh-CN" sz="2800" dirty="0">
                <a:sym typeface="Wingdings" panose="05000000000000000000" pitchFamily="2" charset="2"/>
              </a:rPr>
              <a:t>20</a:t>
            </a:r>
            <a:r>
              <a:rPr lang="zh-CN" altLang="en-US" sz="2800" dirty="0">
                <a:sym typeface="Wingdings" panose="05000000000000000000" pitchFamily="2" charset="2"/>
              </a:rPr>
              <a:t>名熟悉</a:t>
            </a:r>
            <a:r>
              <a:rPr lang="en-US" altLang="zh-CN" sz="2800" dirty="0">
                <a:sym typeface="Wingdings" panose="05000000000000000000" pitchFamily="2" charset="2"/>
              </a:rPr>
              <a:t>Java</a:t>
            </a:r>
            <a:r>
              <a:rPr lang="zh-CN" altLang="en-US" sz="2800" dirty="0">
                <a:sym typeface="Wingdings" panose="05000000000000000000" pitchFamily="2" charset="2"/>
              </a:rPr>
              <a:t>语言，</a:t>
            </a:r>
            <a:r>
              <a:rPr lang="en-US" altLang="zh-CN" sz="2800" dirty="0">
                <a:sym typeface="Wingdings" panose="05000000000000000000" pitchFamily="2" charset="2"/>
              </a:rPr>
              <a:t>5</a:t>
            </a:r>
            <a:r>
              <a:rPr lang="zh-CN" altLang="en-US" sz="2800" dirty="0">
                <a:sym typeface="Wingdings" panose="05000000000000000000" pitchFamily="2" charset="2"/>
              </a:rPr>
              <a:t>名熟悉这三种语言，</a:t>
            </a:r>
            <a:r>
              <a:rPr lang="en-US" altLang="zh-CN" sz="2800" dirty="0">
                <a:sym typeface="Wingdings" panose="05000000000000000000" pitchFamily="2" charset="2"/>
              </a:rPr>
              <a:t>10</a:t>
            </a:r>
            <a:r>
              <a:rPr lang="zh-CN" altLang="en-US" sz="2800" dirty="0">
                <a:sym typeface="Wingdings" panose="05000000000000000000" pitchFamily="2" charset="2"/>
              </a:rPr>
              <a:t>名熟悉</a:t>
            </a:r>
            <a:r>
              <a:rPr lang="en-US" altLang="zh-CN" sz="2800" dirty="0">
                <a:sym typeface="Wingdings" panose="05000000000000000000" pitchFamily="2" charset="2"/>
              </a:rPr>
              <a:t>C++</a:t>
            </a:r>
            <a:r>
              <a:rPr lang="zh-CN" altLang="en-US" sz="2800" dirty="0">
                <a:sym typeface="Wingdings" panose="05000000000000000000" pitchFamily="2" charset="2"/>
              </a:rPr>
              <a:t>与</a:t>
            </a:r>
            <a:r>
              <a:rPr lang="en-US" altLang="zh-CN" sz="2800" dirty="0">
                <a:sym typeface="Wingdings" panose="05000000000000000000" pitchFamily="2" charset="2"/>
              </a:rPr>
              <a:t>Python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ym typeface="Wingdings" panose="05000000000000000000" pitchFamily="2" charset="2"/>
              </a:rPr>
              <a:t>10</a:t>
            </a:r>
            <a:r>
              <a:rPr lang="zh-CN" altLang="en-US" sz="2800" dirty="0">
                <a:sym typeface="Wingdings" panose="05000000000000000000" pitchFamily="2" charset="2"/>
              </a:rPr>
              <a:t>名熟悉</a:t>
            </a:r>
            <a:r>
              <a:rPr lang="en-US" altLang="zh-CN" sz="2800" dirty="0">
                <a:sym typeface="Wingdings" panose="05000000000000000000" pitchFamily="2" charset="2"/>
              </a:rPr>
              <a:t>C++</a:t>
            </a:r>
            <a:r>
              <a:rPr lang="zh-CN" altLang="en-US" sz="2800" dirty="0">
                <a:sym typeface="Wingdings" panose="05000000000000000000" pitchFamily="2" charset="2"/>
              </a:rPr>
              <a:t>与</a:t>
            </a:r>
            <a:r>
              <a:rPr lang="en-US" altLang="zh-CN" sz="2800" dirty="0">
                <a:sym typeface="Wingdings" panose="05000000000000000000" pitchFamily="2" charset="2"/>
              </a:rPr>
              <a:t>Java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ym typeface="Wingdings" panose="05000000000000000000" pitchFamily="2" charset="2"/>
              </a:rPr>
              <a:t>10</a:t>
            </a:r>
            <a:r>
              <a:rPr lang="zh-CN" altLang="en-US" sz="2800" dirty="0">
                <a:sym typeface="Wingdings" panose="05000000000000000000" pitchFamily="2" charset="2"/>
              </a:rPr>
              <a:t>名熟悉</a:t>
            </a:r>
            <a:r>
              <a:rPr lang="en-US" altLang="zh-CN" sz="2800" dirty="0">
                <a:sym typeface="Wingdings" panose="05000000000000000000" pitchFamily="2" charset="2"/>
              </a:rPr>
              <a:t>Python</a:t>
            </a:r>
            <a:r>
              <a:rPr lang="zh-CN" altLang="en-US" sz="2800" dirty="0">
                <a:sym typeface="Wingdings" panose="05000000000000000000" pitchFamily="2" charset="2"/>
              </a:rPr>
              <a:t>与</a:t>
            </a:r>
            <a:r>
              <a:rPr lang="en-US" altLang="zh-CN" sz="2800" dirty="0">
                <a:sym typeface="Wingdings" panose="05000000000000000000" pitchFamily="2" charset="2"/>
              </a:rPr>
              <a:t>Java</a:t>
            </a:r>
            <a:r>
              <a:rPr lang="zh-CN" altLang="en-US" sz="2800" dirty="0">
                <a:sym typeface="Wingdings" panose="05000000000000000000" pitchFamily="2" charset="2"/>
              </a:rPr>
              <a:t>。问有多少人对这三种语言都不熟悉？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r>
              <a:rPr lang="zh-CN" altLang="en-US" sz="2800" dirty="0">
                <a:sym typeface="Wingdings" panose="05000000000000000000" pitchFamily="2" charset="2"/>
              </a:rPr>
              <a:t>设</a:t>
            </a:r>
            <a:r>
              <a:rPr lang="en-US" altLang="zh-CN" sz="2800" dirty="0">
                <a:sym typeface="Wingdings" panose="05000000000000000000" pitchFamily="2" charset="2"/>
              </a:rPr>
              <a:t>A</a:t>
            </a:r>
            <a:r>
              <a:rPr lang="zh-CN" altLang="en-US" sz="2800" dirty="0">
                <a:sym typeface="Wingdings" panose="05000000000000000000" pitchFamily="2" charset="2"/>
              </a:rPr>
              <a:t>、</a:t>
            </a:r>
            <a:r>
              <a:rPr lang="en-US" altLang="zh-CN" sz="2800" dirty="0">
                <a:sym typeface="Wingdings" panose="05000000000000000000" pitchFamily="2" charset="2"/>
              </a:rPr>
              <a:t>B</a:t>
            </a:r>
            <a:r>
              <a:rPr lang="zh-CN" altLang="en-US" sz="2800" dirty="0">
                <a:sym typeface="Wingdings" panose="05000000000000000000" pitchFamily="2" charset="2"/>
              </a:rPr>
              <a:t>、</a:t>
            </a:r>
            <a:r>
              <a:rPr lang="en-US" altLang="zh-CN" sz="2800" dirty="0">
                <a:sym typeface="Wingdings" panose="05000000000000000000" pitchFamily="2" charset="2"/>
              </a:rPr>
              <a:t>C</a:t>
            </a:r>
            <a:r>
              <a:rPr lang="zh-CN" altLang="en-US" sz="2800" dirty="0">
                <a:sym typeface="Wingdings" panose="05000000000000000000" pitchFamily="2" charset="2"/>
              </a:rPr>
              <a:t>分别表示熟悉</a:t>
            </a:r>
            <a:r>
              <a:rPr lang="en-US" altLang="zh-CN" sz="2800" dirty="0">
                <a:sym typeface="Wingdings" panose="05000000000000000000" pitchFamily="2" charset="2"/>
              </a:rPr>
              <a:t>C++</a:t>
            </a:r>
            <a:r>
              <a:rPr lang="zh-CN" altLang="en-US" sz="2800" dirty="0">
                <a:sym typeface="Wingdings" panose="05000000000000000000" pitchFamily="2" charset="2"/>
              </a:rPr>
              <a:t>语言、</a:t>
            </a:r>
            <a:r>
              <a:rPr lang="en-US" altLang="zh-CN" sz="2800" dirty="0">
                <a:sym typeface="Wingdings" panose="05000000000000000000" pitchFamily="2" charset="2"/>
              </a:rPr>
              <a:t>Python</a:t>
            </a:r>
            <a:r>
              <a:rPr lang="zh-CN" altLang="en-US" sz="2800" dirty="0">
                <a:sym typeface="Wingdings" panose="05000000000000000000" pitchFamily="2" charset="2"/>
              </a:rPr>
              <a:t>语言、和</a:t>
            </a:r>
            <a:r>
              <a:rPr lang="en-US" altLang="zh-CN" sz="2800" dirty="0">
                <a:sym typeface="Wingdings" panose="05000000000000000000" pitchFamily="2" charset="2"/>
              </a:rPr>
              <a:t>Java</a:t>
            </a:r>
            <a:r>
              <a:rPr lang="zh-CN" altLang="en-US" sz="2800" dirty="0">
                <a:sym typeface="Wingdings" panose="05000000000000000000" pitchFamily="2" charset="2"/>
              </a:rPr>
              <a:t>语言的程序员集合。</a:t>
            </a:r>
            <a:endParaRPr lang="en-US" altLang="zh-CN" sz="2800" dirty="0">
              <a:sym typeface="Wingdings" panose="05000000000000000000" pitchFamily="2" charset="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1A1959-D660-35EC-3A93-AFD78C2F7560}"/>
              </a:ext>
            </a:extLst>
          </p:cNvPr>
          <p:cNvSpPr/>
          <p:nvPr/>
        </p:nvSpPr>
        <p:spPr>
          <a:xfrm>
            <a:off x="2527430" y="3537865"/>
            <a:ext cx="7702586" cy="23869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31E56F-D47D-3A10-3604-0CE9DC3A80C6}"/>
              </a:ext>
            </a:extLst>
          </p:cNvPr>
          <p:cNvSpPr txBox="1"/>
          <p:nvPr/>
        </p:nvSpPr>
        <p:spPr>
          <a:xfrm>
            <a:off x="9735733" y="3590773"/>
            <a:ext cx="641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D59FC49-F1A4-14D5-9272-567B477E14EA}"/>
              </a:ext>
            </a:extLst>
          </p:cNvPr>
          <p:cNvSpPr/>
          <p:nvPr/>
        </p:nvSpPr>
        <p:spPr>
          <a:xfrm>
            <a:off x="5072356" y="3716306"/>
            <a:ext cx="1785809" cy="141092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C0BB4C9-640A-E217-EEC8-3D99016B3F01}"/>
              </a:ext>
            </a:extLst>
          </p:cNvPr>
          <p:cNvSpPr/>
          <p:nvPr/>
        </p:nvSpPr>
        <p:spPr>
          <a:xfrm>
            <a:off x="5831476" y="3705664"/>
            <a:ext cx="1785809" cy="1410928"/>
          </a:xfrm>
          <a:prstGeom prst="ellipse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A71050-7D92-C0E6-BA25-2D71D20C78D3}"/>
              </a:ext>
            </a:extLst>
          </p:cNvPr>
          <p:cNvSpPr txBox="1"/>
          <p:nvPr/>
        </p:nvSpPr>
        <p:spPr>
          <a:xfrm>
            <a:off x="5400926" y="3829210"/>
            <a:ext cx="44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C9EBAC-4AEE-BDE0-7FE6-25B00578A3F5}"/>
              </a:ext>
            </a:extLst>
          </p:cNvPr>
          <p:cNvSpPr txBox="1"/>
          <p:nvPr/>
        </p:nvSpPr>
        <p:spPr>
          <a:xfrm>
            <a:off x="7060957" y="3834531"/>
            <a:ext cx="44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AE6C3B-5701-26FD-F798-6807637A8DA4}"/>
              </a:ext>
            </a:extLst>
          </p:cNvPr>
          <p:cNvSpPr txBox="1"/>
          <p:nvPr/>
        </p:nvSpPr>
        <p:spPr>
          <a:xfrm>
            <a:off x="5564459" y="4586228"/>
            <a:ext cx="441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10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6339B7-3F48-694B-F958-D956934AFECE}"/>
              </a:ext>
            </a:extLst>
          </p:cNvPr>
          <p:cNvSpPr txBox="1"/>
          <p:nvPr/>
        </p:nvSpPr>
        <p:spPr>
          <a:xfrm>
            <a:off x="5149765" y="4177106"/>
            <a:ext cx="44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30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D9328C-F405-0BD3-288F-2CCEF5E94737}"/>
              </a:ext>
            </a:extLst>
          </p:cNvPr>
          <p:cNvSpPr txBox="1"/>
          <p:nvPr/>
        </p:nvSpPr>
        <p:spPr>
          <a:xfrm>
            <a:off x="7175964" y="4140832"/>
            <a:ext cx="44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17FDC88-2FE7-4F22-E5A7-83771C2E2E46}"/>
                  </a:ext>
                </a:extLst>
              </p:cNvPr>
              <p:cNvSpPr txBox="1"/>
              <p:nvPr/>
            </p:nvSpPr>
            <p:spPr>
              <a:xfrm>
                <a:off x="5965260" y="3801663"/>
                <a:ext cx="691698" cy="306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17FDC88-2FE7-4F22-E5A7-83771C2E2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260" y="3801663"/>
                <a:ext cx="691698" cy="3062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椭圆 14">
            <a:extLst>
              <a:ext uri="{FF2B5EF4-FFF2-40B4-BE49-F238E27FC236}">
                <a16:creationId xmlns:a16="http://schemas.microsoft.com/office/drawing/2014/main" id="{BEFBA75E-4CB6-40B0-77CA-F39DF8CBFB9B}"/>
              </a:ext>
            </a:extLst>
          </p:cNvPr>
          <p:cNvSpPr/>
          <p:nvPr/>
        </p:nvSpPr>
        <p:spPr>
          <a:xfrm>
            <a:off x="5495808" y="4311446"/>
            <a:ext cx="1785809" cy="1410928"/>
          </a:xfrm>
          <a:prstGeom prst="ellipse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F598E97-9EEA-F6B3-5E06-CF13A294FBAE}"/>
              </a:ext>
            </a:extLst>
          </p:cNvPr>
          <p:cNvSpPr txBox="1"/>
          <p:nvPr/>
        </p:nvSpPr>
        <p:spPr>
          <a:xfrm>
            <a:off x="6258879" y="5215569"/>
            <a:ext cx="44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AACD269-BE34-EC54-3FE8-F5AEE8BB515C}"/>
              </a:ext>
            </a:extLst>
          </p:cNvPr>
          <p:cNvSpPr txBox="1"/>
          <p:nvPr/>
        </p:nvSpPr>
        <p:spPr>
          <a:xfrm>
            <a:off x="6479539" y="5139144"/>
            <a:ext cx="44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DD05687-C1F3-389D-E657-BD95ED3C9F7A}"/>
                  </a:ext>
                </a:extLst>
              </p:cNvPr>
              <p:cNvSpPr txBox="1"/>
              <p:nvPr/>
            </p:nvSpPr>
            <p:spPr>
              <a:xfrm>
                <a:off x="5484950" y="4788314"/>
                <a:ext cx="691698" cy="306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FDD05687-C1F3-389D-E657-BD95ED3C9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4950" y="4788314"/>
                <a:ext cx="691698" cy="3062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732AA24-11DC-DC1F-AB57-1C8C0F365C4A}"/>
                  </a:ext>
                </a:extLst>
              </p:cNvPr>
              <p:cNvSpPr txBox="1"/>
              <p:nvPr/>
            </p:nvSpPr>
            <p:spPr>
              <a:xfrm>
                <a:off x="6589919" y="4732981"/>
                <a:ext cx="691698" cy="306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732AA24-11DC-DC1F-AB57-1C8C0F365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919" y="4732981"/>
                <a:ext cx="691698" cy="3062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2069F4F3-0303-6AFB-100C-F140AA22849B}"/>
              </a:ext>
            </a:extLst>
          </p:cNvPr>
          <p:cNvSpPr txBox="1"/>
          <p:nvPr/>
        </p:nvSpPr>
        <p:spPr>
          <a:xfrm>
            <a:off x="6796403" y="4501682"/>
            <a:ext cx="441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10</a:t>
            </a:r>
            <a:endParaRPr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34FC6A-AFEE-0D79-EB0F-74382AB86AB7}"/>
              </a:ext>
            </a:extLst>
          </p:cNvPr>
          <p:cNvSpPr txBox="1"/>
          <p:nvPr/>
        </p:nvSpPr>
        <p:spPr>
          <a:xfrm>
            <a:off x="6123961" y="3964617"/>
            <a:ext cx="441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10</a:t>
            </a:r>
            <a:endParaRPr lang="zh-CN" altLang="en-US" sz="1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F856983-1ADD-008C-DEBE-880769803BA5}"/>
              </a:ext>
            </a:extLst>
          </p:cNvPr>
          <p:cNvSpPr txBox="1"/>
          <p:nvPr/>
        </p:nvSpPr>
        <p:spPr>
          <a:xfrm>
            <a:off x="6185782" y="4655570"/>
            <a:ext cx="441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5</a:t>
            </a:r>
            <a:endParaRPr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5EB507B-7F50-913E-BC74-B046B7FF767B}"/>
                  </a:ext>
                </a:extLst>
              </p:cNvPr>
              <p:cNvSpPr txBox="1"/>
              <p:nvPr/>
            </p:nvSpPr>
            <p:spPr>
              <a:xfrm>
                <a:off x="5904823" y="4372954"/>
                <a:ext cx="94780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m:rPr>
                          <m:sty m:val="p"/>
                        </m:rPr>
                        <a:rPr lang="en-US" altLang="zh-CN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5EB507B-7F50-913E-BC74-B046B7FF7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823" y="4372954"/>
                <a:ext cx="947801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27058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包含排斥原理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S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为有穷集，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和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分别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表示两种性质，对于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S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中的任何一个元素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x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，只能处于以下四种情况之一：只具有性质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；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只具有性质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；具有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和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两种性质；两种性质都没有。令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A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和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分别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表示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S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中具有性质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和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的元素的集合。则有：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∩~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𝑆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+|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554545"/>
              </a:xfrm>
              <a:prstGeom prst="rect">
                <a:avLst/>
              </a:prstGeom>
              <a:blipFill>
                <a:blip r:embed="rId3"/>
                <a:stretch>
                  <a:fillRect l="-1425" t="-3103" r="-52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41566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包含排斥原理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三种性质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∩~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∩~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𝑆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+|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                              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∩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∩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−|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∩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∩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|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~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∩~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∩~</m:t>
                          </m:r>
                          <m:r>
                            <a:rPr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𝐸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𝐵</m:t>
                              </m:r>
                            </m:e>
                          </m:d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+|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|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                                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∩</m:t>
                        </m:r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</m:e>
                    </m:d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∩</m:t>
                        </m:r>
                        <m: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−|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∩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∩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|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=100−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30+20+20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10+10+10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−5=55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 </a:t>
                </a: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5394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26935B1E-A9E0-5395-D189-559671F0086F}"/>
              </a:ext>
            </a:extLst>
          </p:cNvPr>
          <p:cNvSpPr/>
          <p:nvPr/>
        </p:nvSpPr>
        <p:spPr>
          <a:xfrm>
            <a:off x="2527430" y="3537865"/>
            <a:ext cx="7702586" cy="23869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35F88F-57BF-62A4-7FBF-136AAEAC09C2}"/>
              </a:ext>
            </a:extLst>
          </p:cNvPr>
          <p:cNvSpPr txBox="1"/>
          <p:nvPr/>
        </p:nvSpPr>
        <p:spPr>
          <a:xfrm>
            <a:off x="9735733" y="3590773"/>
            <a:ext cx="641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E</a:t>
            </a:r>
            <a:endParaRPr lang="zh-CN" altLang="en-US" sz="2400" b="1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D0018C7-429E-EB86-D066-372C212591F1}"/>
              </a:ext>
            </a:extLst>
          </p:cNvPr>
          <p:cNvSpPr/>
          <p:nvPr/>
        </p:nvSpPr>
        <p:spPr>
          <a:xfrm>
            <a:off x="5072356" y="3716306"/>
            <a:ext cx="1785809" cy="141092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37E0A56-40BF-B389-A98F-E8E4D02531F9}"/>
              </a:ext>
            </a:extLst>
          </p:cNvPr>
          <p:cNvSpPr/>
          <p:nvPr/>
        </p:nvSpPr>
        <p:spPr>
          <a:xfrm>
            <a:off x="5831476" y="3705664"/>
            <a:ext cx="1785809" cy="1410928"/>
          </a:xfrm>
          <a:prstGeom prst="ellipse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CE6CA7-E586-D1B5-373C-DE860037748A}"/>
              </a:ext>
            </a:extLst>
          </p:cNvPr>
          <p:cNvSpPr txBox="1"/>
          <p:nvPr/>
        </p:nvSpPr>
        <p:spPr>
          <a:xfrm>
            <a:off x="5400926" y="3829210"/>
            <a:ext cx="44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347CD6-FA3E-337F-418F-2C6F425BEC78}"/>
              </a:ext>
            </a:extLst>
          </p:cNvPr>
          <p:cNvSpPr txBox="1"/>
          <p:nvPr/>
        </p:nvSpPr>
        <p:spPr>
          <a:xfrm>
            <a:off x="7060957" y="3834531"/>
            <a:ext cx="44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0431CA-8165-4904-7DB4-B313D68247C0}"/>
              </a:ext>
            </a:extLst>
          </p:cNvPr>
          <p:cNvSpPr txBox="1"/>
          <p:nvPr/>
        </p:nvSpPr>
        <p:spPr>
          <a:xfrm>
            <a:off x="5564459" y="4586228"/>
            <a:ext cx="441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10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C16106-2F2C-6654-D5D8-DC600F10FA85}"/>
              </a:ext>
            </a:extLst>
          </p:cNvPr>
          <p:cNvSpPr txBox="1"/>
          <p:nvPr/>
        </p:nvSpPr>
        <p:spPr>
          <a:xfrm>
            <a:off x="5149765" y="4177106"/>
            <a:ext cx="44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30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3DD00D-C315-3428-4754-83F96EA685D7}"/>
              </a:ext>
            </a:extLst>
          </p:cNvPr>
          <p:cNvSpPr txBox="1"/>
          <p:nvPr/>
        </p:nvSpPr>
        <p:spPr>
          <a:xfrm>
            <a:off x="7175964" y="4140832"/>
            <a:ext cx="44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94B5BD4-0FE8-BD57-DA4C-49218EEDF630}"/>
                  </a:ext>
                </a:extLst>
              </p:cNvPr>
              <p:cNvSpPr txBox="1"/>
              <p:nvPr/>
            </p:nvSpPr>
            <p:spPr>
              <a:xfrm>
                <a:off x="5965260" y="3801663"/>
                <a:ext cx="691698" cy="306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94B5BD4-0FE8-BD57-DA4C-49218EEDF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260" y="3801663"/>
                <a:ext cx="691698" cy="3062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椭圆 14">
            <a:extLst>
              <a:ext uri="{FF2B5EF4-FFF2-40B4-BE49-F238E27FC236}">
                <a16:creationId xmlns:a16="http://schemas.microsoft.com/office/drawing/2014/main" id="{3D7BFC41-28BA-4F6A-38D8-A10598BFABF4}"/>
              </a:ext>
            </a:extLst>
          </p:cNvPr>
          <p:cNvSpPr/>
          <p:nvPr/>
        </p:nvSpPr>
        <p:spPr>
          <a:xfrm>
            <a:off x="5495808" y="4311446"/>
            <a:ext cx="1785809" cy="1410928"/>
          </a:xfrm>
          <a:prstGeom prst="ellipse">
            <a:avLst/>
          </a:prstGeom>
          <a:solidFill>
            <a:schemeClr val="bg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B729CEB-8602-710D-5779-7A954F303AD8}"/>
              </a:ext>
            </a:extLst>
          </p:cNvPr>
          <p:cNvSpPr txBox="1"/>
          <p:nvPr/>
        </p:nvSpPr>
        <p:spPr>
          <a:xfrm>
            <a:off x="6258879" y="5215569"/>
            <a:ext cx="44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ED1862F-37D7-2DA6-9AFF-26B96ACB1E37}"/>
              </a:ext>
            </a:extLst>
          </p:cNvPr>
          <p:cNvSpPr txBox="1"/>
          <p:nvPr/>
        </p:nvSpPr>
        <p:spPr>
          <a:xfrm>
            <a:off x="6479539" y="5139144"/>
            <a:ext cx="44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4DFF8DD-4996-5A84-7C17-8408051C792C}"/>
                  </a:ext>
                </a:extLst>
              </p:cNvPr>
              <p:cNvSpPr txBox="1"/>
              <p:nvPr/>
            </p:nvSpPr>
            <p:spPr>
              <a:xfrm>
                <a:off x="5484950" y="4788314"/>
                <a:ext cx="691698" cy="306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4DFF8DD-4996-5A84-7C17-8408051C7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4950" y="4788314"/>
                <a:ext cx="691698" cy="3062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F1D829B-98E3-9B34-DDDD-69FECD2AF5B1}"/>
                  </a:ext>
                </a:extLst>
              </p:cNvPr>
              <p:cNvSpPr txBox="1"/>
              <p:nvPr/>
            </p:nvSpPr>
            <p:spPr>
              <a:xfrm>
                <a:off x="6589919" y="4732981"/>
                <a:ext cx="691698" cy="306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F1D829B-98E3-9B34-DDDD-69FECD2AF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919" y="4732981"/>
                <a:ext cx="691698" cy="3062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75093F91-35B1-20BE-A13E-9DA4C894A886}"/>
              </a:ext>
            </a:extLst>
          </p:cNvPr>
          <p:cNvSpPr txBox="1"/>
          <p:nvPr/>
        </p:nvSpPr>
        <p:spPr>
          <a:xfrm>
            <a:off x="6796403" y="4501682"/>
            <a:ext cx="441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10</a:t>
            </a:r>
            <a:endParaRPr lang="zh-CN" altLang="en-US" sz="1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B1A861-D439-AFE0-DAC2-F3FCC9F5F87B}"/>
              </a:ext>
            </a:extLst>
          </p:cNvPr>
          <p:cNvSpPr txBox="1"/>
          <p:nvPr/>
        </p:nvSpPr>
        <p:spPr>
          <a:xfrm>
            <a:off x="6123961" y="3964617"/>
            <a:ext cx="441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10</a:t>
            </a:r>
            <a:endParaRPr lang="zh-CN" altLang="en-US" sz="1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3B740F-4375-70E0-F6FB-95AF1F3C9665}"/>
              </a:ext>
            </a:extLst>
          </p:cNvPr>
          <p:cNvSpPr txBox="1"/>
          <p:nvPr/>
        </p:nvSpPr>
        <p:spPr>
          <a:xfrm>
            <a:off x="6185782" y="4655570"/>
            <a:ext cx="441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5</a:t>
            </a:r>
            <a:endParaRPr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16E0C1-E7B2-0DD6-5725-6652D1B80E6E}"/>
                  </a:ext>
                </a:extLst>
              </p:cNvPr>
              <p:cNvSpPr txBox="1"/>
              <p:nvPr/>
            </p:nvSpPr>
            <p:spPr>
              <a:xfrm>
                <a:off x="5904823" y="4372954"/>
                <a:ext cx="94780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m:rPr>
                          <m:sty m:val="p"/>
                        </m:rPr>
                        <a:rPr lang="en-US" altLang="zh-CN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316E0C1-E7B2-0DD6-5725-6652D1B80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823" y="4372954"/>
                <a:ext cx="94780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3182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集合的基数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3870354-8F20-D20D-637D-08B6B5D0CDC2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3851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3.2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S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中不具有性质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…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元素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数为：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∩~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∩…∩~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𝑆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naryPr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≤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𝑗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≤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≤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𝑗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𝑘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≤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+…+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∩…∩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3870354-8F20-D20D-637D-08B6B5D0C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3851119"/>
              </a:xfrm>
              <a:prstGeom prst="rect">
                <a:avLst/>
              </a:prstGeom>
              <a:blipFill>
                <a:blip r:embed="rId3"/>
                <a:stretch>
                  <a:fillRect l="-1995" t="-28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4374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量词否定等值式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3573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  <a:sym typeface="Wingdings" panose="05000000000000000000" pitchFamily="2" charset="2"/>
                  </a:rPr>
                  <a:t>推论：</a:t>
                </a:r>
                <a:endParaRPr lang="en-US" altLang="zh-CN" sz="4000" b="1" dirty="0">
                  <a:solidFill>
                    <a:schemeClr val="accent5"/>
                  </a:solidFill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S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中至少具有一条性质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元素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数为：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∪…∪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naryPr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≤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𝑗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≤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≤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𝑗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𝑘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≤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sub>
                        <m:sup/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−…+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+1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∩…∩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3573927"/>
              </a:xfrm>
              <a:prstGeom prst="rect">
                <a:avLst/>
              </a:prstGeom>
              <a:blipFill>
                <a:blip r:embed="rId3"/>
                <a:stretch>
                  <a:fillRect l="-1995" t="-30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6377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集合的笛卡尔积与二元关系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5FDE8-AB67-5CC4-BF9C-432DFCB257A3}"/>
              </a:ext>
            </a:extLst>
          </p:cNvPr>
          <p:cNvSpPr txBox="1"/>
          <p:nvPr/>
        </p:nvSpPr>
        <p:spPr>
          <a:xfrm>
            <a:off x="750277" y="1089164"/>
            <a:ext cx="1069144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5"/>
                </a:solidFill>
              </a:rPr>
              <a:t>定义</a:t>
            </a:r>
            <a:r>
              <a:rPr lang="en-US" altLang="zh-CN" sz="4000" b="1" dirty="0">
                <a:solidFill>
                  <a:schemeClr val="accent5"/>
                </a:solidFill>
              </a:rPr>
              <a:t>4.1</a:t>
            </a:r>
            <a:r>
              <a:rPr lang="zh-CN" altLang="en-US" sz="4000" b="1" dirty="0">
                <a:solidFill>
                  <a:schemeClr val="accent5"/>
                </a:solidFill>
              </a:rPr>
              <a:t>：</a:t>
            </a:r>
          </a:p>
          <a:p>
            <a:r>
              <a:rPr lang="zh-CN" altLang="en-US" sz="3200" dirty="0">
                <a:sym typeface="Wingdings" panose="05000000000000000000" pitchFamily="2" charset="2"/>
              </a:rPr>
              <a:t>由两个元素</a:t>
            </a:r>
            <a:r>
              <a:rPr lang="en-US" altLang="zh-CN" sz="3200" dirty="0">
                <a:sym typeface="Wingdings" panose="05000000000000000000" pitchFamily="2" charset="2"/>
              </a:rPr>
              <a:t>x</a:t>
            </a:r>
            <a:r>
              <a:rPr lang="zh-CN" altLang="en-US" sz="3200" dirty="0">
                <a:sym typeface="Wingdings" panose="05000000000000000000" pitchFamily="2" charset="2"/>
              </a:rPr>
              <a:t>和</a:t>
            </a:r>
            <a:r>
              <a:rPr lang="en-US" altLang="zh-CN" sz="3200" dirty="0">
                <a:sym typeface="Wingdings" panose="05000000000000000000" pitchFamily="2" charset="2"/>
              </a:rPr>
              <a:t>y(</a:t>
            </a:r>
            <a:r>
              <a:rPr lang="zh-CN" altLang="en-US" sz="3200" dirty="0">
                <a:sym typeface="Wingdings" panose="05000000000000000000" pitchFamily="2" charset="2"/>
              </a:rPr>
              <a:t>允许</a:t>
            </a:r>
            <a:r>
              <a:rPr lang="en-US" altLang="zh-CN" sz="3200" dirty="0">
                <a:sym typeface="Wingdings" panose="05000000000000000000" pitchFamily="2" charset="2"/>
              </a:rPr>
              <a:t>x=y)</a:t>
            </a:r>
            <a:r>
              <a:rPr lang="zh-CN" altLang="en-US" sz="3200" dirty="0">
                <a:sym typeface="Wingdings" panose="05000000000000000000" pitchFamily="2" charset="2"/>
              </a:rPr>
              <a:t>按一定的顺序排列成的二元组称作一个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有序对</a:t>
            </a:r>
            <a:r>
              <a:rPr lang="en-US" altLang="zh-CN" sz="3200" dirty="0">
                <a:sym typeface="Wingdings" panose="05000000000000000000" pitchFamily="2" charset="2"/>
              </a:rPr>
              <a:t>(</a:t>
            </a:r>
            <a:r>
              <a:rPr lang="zh-CN" altLang="en-US" sz="3200" dirty="0">
                <a:sym typeface="Wingdings" panose="05000000000000000000" pitchFamily="2" charset="2"/>
              </a:rPr>
              <a:t>也称</a:t>
            </a:r>
            <a:r>
              <a:rPr lang="zh-CN" altLang="en-US" sz="3200" b="1" dirty="0">
                <a:solidFill>
                  <a:srgbClr val="FF0000"/>
                </a:solidFill>
                <a:sym typeface="Wingdings" panose="05000000000000000000" pitchFamily="2" charset="2"/>
              </a:rPr>
              <a:t>序偶</a:t>
            </a:r>
            <a:r>
              <a:rPr lang="en-US" altLang="zh-CN" sz="3200" dirty="0">
                <a:sym typeface="Wingdings" panose="05000000000000000000" pitchFamily="2" charset="2"/>
              </a:rPr>
              <a:t>)</a:t>
            </a:r>
            <a:r>
              <a:rPr lang="zh-CN" altLang="en-US" sz="3200" dirty="0">
                <a:sym typeface="Wingdings" panose="05000000000000000000" pitchFamily="2" charset="2"/>
              </a:rPr>
              <a:t>，记作</a:t>
            </a:r>
            <a:r>
              <a:rPr lang="en-US" altLang="zh-CN" sz="3200" dirty="0">
                <a:sym typeface="Wingdings" panose="05000000000000000000" pitchFamily="2" charset="2"/>
              </a:rPr>
              <a:t>&lt;x, y&gt;(</a:t>
            </a:r>
            <a:r>
              <a:rPr lang="zh-CN" altLang="en-US" sz="3200" dirty="0">
                <a:sym typeface="Wingdings" panose="05000000000000000000" pitchFamily="2" charset="2"/>
              </a:rPr>
              <a:t>也可记作</a:t>
            </a:r>
            <a:r>
              <a:rPr lang="en-US" altLang="zh-CN" sz="3200" dirty="0">
                <a:sym typeface="Wingdings" panose="05000000000000000000" pitchFamily="2" charset="2"/>
              </a:rPr>
              <a:t>(x, y))</a:t>
            </a:r>
            <a:r>
              <a:rPr lang="zh-CN" altLang="en-US" sz="3200" dirty="0">
                <a:sym typeface="Wingdings" panose="05000000000000000000" pitchFamily="2" charset="2"/>
              </a:rPr>
              <a:t>。其中</a:t>
            </a:r>
            <a:r>
              <a:rPr lang="en-US" altLang="zh-CN" sz="3200" dirty="0">
                <a:sym typeface="Wingdings" panose="05000000000000000000" pitchFamily="2" charset="2"/>
              </a:rPr>
              <a:t>x</a:t>
            </a:r>
            <a:r>
              <a:rPr lang="zh-CN" altLang="en-US" sz="3200" dirty="0">
                <a:sym typeface="Wingdings" panose="05000000000000000000" pitchFamily="2" charset="2"/>
              </a:rPr>
              <a:t>是它的第一元素，</a:t>
            </a:r>
            <a:r>
              <a:rPr lang="en-US" altLang="zh-CN" sz="3200" dirty="0">
                <a:sym typeface="Wingdings" panose="05000000000000000000" pitchFamily="2" charset="2"/>
              </a:rPr>
              <a:t>y</a:t>
            </a:r>
            <a:r>
              <a:rPr lang="zh-CN" altLang="en-US" sz="3200" dirty="0">
                <a:sym typeface="Wingdings" panose="05000000000000000000" pitchFamily="2" charset="2"/>
              </a:rPr>
              <a:t>是它的第二元素。</a:t>
            </a:r>
            <a:endParaRPr lang="en-US" altLang="zh-CN" sz="3200" dirty="0">
              <a:sym typeface="Wingdings" panose="05000000000000000000" pitchFamily="2" charset="2"/>
            </a:endParaRPr>
          </a:p>
          <a:p>
            <a:endParaRPr lang="en-US" altLang="zh-CN" sz="3200" dirty="0">
              <a:sym typeface="Wingdings" panose="05000000000000000000" pitchFamily="2" charset="2"/>
            </a:endParaRPr>
          </a:p>
          <a:p>
            <a:r>
              <a:rPr lang="zh-CN" altLang="en-US" sz="3200" dirty="0">
                <a:sym typeface="Wingdings" panose="05000000000000000000" pitchFamily="2" charset="2"/>
              </a:rPr>
              <a:t>举例：平面直角坐标系中点的坐标就是有序对。</a:t>
            </a:r>
            <a:r>
              <a:rPr lang="en-US" altLang="zh-CN" sz="3200" dirty="0">
                <a:sym typeface="Wingdings" panose="05000000000000000000" pitchFamily="2" charset="2"/>
              </a:rPr>
              <a:t>&lt;1, -1&gt;, &lt;2, 0&gt;</a:t>
            </a:r>
            <a:r>
              <a:rPr lang="zh-CN" altLang="en-US" sz="3200" dirty="0">
                <a:sym typeface="Wingdings" panose="05000000000000000000" pitchFamily="2" charset="2"/>
              </a:rPr>
              <a:t>等都代表坐标系中不同的点。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702532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有序对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4F422FB-6122-FD40-0BE9-2E76813D2178}"/>
                  </a:ext>
                </a:extLst>
              </p:cNvPr>
              <p:cNvSpPr txBox="1"/>
              <p:nvPr/>
            </p:nvSpPr>
            <p:spPr>
              <a:xfrm>
                <a:off x="577361" y="1029712"/>
                <a:ext cx="11037277" cy="4031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/>
                  <a:t>一般来说，有序对具有以下特点：</a:t>
                </a:r>
                <a:endParaRPr lang="en-US" altLang="zh-CN" sz="3200" dirty="0"/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1</a:t>
                </a:r>
                <a:r>
                  <a:rPr lang="zh-CN" altLang="en-US" sz="3200" dirty="0"/>
                  <a:t>）当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3200" dirty="0"/>
                  <a:t>时，</a:t>
                </a:r>
                <a:r>
                  <a:rPr lang="en-US" altLang="zh-CN" sz="3200" dirty="0"/>
                  <a:t>&lt;x, y&gt;</a:t>
                </a:r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CN" sz="3200" dirty="0"/>
                  <a:t>&lt;y, x&gt;</a:t>
                </a:r>
              </a:p>
              <a:p>
                <a:r>
                  <a:rPr lang="zh-CN" altLang="en-US" sz="3200" dirty="0"/>
                  <a:t>（</a:t>
                </a:r>
                <a:r>
                  <a:rPr lang="en-US" altLang="zh-CN" sz="3200" dirty="0"/>
                  <a:t>2</a:t>
                </a:r>
                <a:r>
                  <a:rPr lang="zh-CN" altLang="en-US" sz="3200" dirty="0"/>
                  <a:t>）两个有序对相等，即</a:t>
                </a:r>
                <a:r>
                  <a:rPr lang="en-US" altLang="zh-CN" sz="3200" dirty="0"/>
                  <a:t>&lt;x, y&gt;=&lt;u, v&gt;</a:t>
                </a:r>
                <a:r>
                  <a:rPr lang="zh-CN" altLang="en-US" sz="3200" dirty="0"/>
                  <a:t>的充分必要条件是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zh-CN" altLang="en-US" sz="3200" i="1">
                        <a:latin typeface="Cambria Math" panose="02040503050406030204" pitchFamily="18" charset="0"/>
                      </a:rPr>
                      <m:t>且</m:t>
                    </m:r>
                  </m:oMath>
                </a14:m>
                <a:r>
                  <a:rPr lang="en-US" altLang="zh-CN" sz="3200" dirty="0"/>
                  <a:t>y=v</a:t>
                </a:r>
                <a:r>
                  <a:rPr lang="zh-CN" altLang="en-US" sz="3200" dirty="0"/>
                  <a:t>。</a:t>
                </a:r>
                <a:endParaRPr lang="en-US" altLang="zh-CN" sz="3200" dirty="0"/>
              </a:p>
              <a:p>
                <a:endParaRPr lang="en-US" altLang="zh-CN" sz="3200" dirty="0"/>
              </a:p>
              <a:p>
                <a:r>
                  <a:rPr lang="zh-CN" altLang="en-US" sz="3200" dirty="0"/>
                  <a:t>中译中：顺序很重要。</a:t>
                </a:r>
                <a:endParaRPr lang="en-US" altLang="zh-CN" sz="3200" dirty="0"/>
              </a:p>
              <a:p>
                <a:endParaRPr lang="en-US" altLang="zh-CN" sz="3200" dirty="0"/>
              </a:p>
              <a:p>
                <a:r>
                  <a:rPr lang="zh-CN" altLang="en-US" sz="3200" dirty="0"/>
                  <a:t>与集合的区别：集合不强调顺序，是无序的，</a:t>
                </a:r>
                <a:r>
                  <a:rPr lang="en-US" altLang="zh-CN" sz="3200" dirty="0"/>
                  <a:t>{x,</a:t>
                </a:r>
                <a:r>
                  <a:rPr lang="zh-CN" altLang="en-US" sz="3200" dirty="0"/>
                  <a:t> </a:t>
                </a:r>
                <a:r>
                  <a:rPr lang="en-US" altLang="zh-CN" sz="3200" dirty="0"/>
                  <a:t>y}={y, x}</a:t>
                </a:r>
                <a:r>
                  <a:rPr lang="zh-CN" altLang="en-US" sz="3200" dirty="0"/>
                  <a:t>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4F422FB-6122-FD40-0BE9-2E76813D2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61" y="1029712"/>
                <a:ext cx="11037277" cy="4031873"/>
              </a:xfrm>
              <a:prstGeom prst="rect">
                <a:avLst/>
              </a:prstGeom>
              <a:blipFill>
                <a:blip r:embed="rId3"/>
                <a:stretch>
                  <a:fillRect l="-1436" t="-1967" b="-4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2255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4.2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一个有序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n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元组（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3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）是一个有序对，其中第一元素是一个有序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n-1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元组，一个有序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n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元组记作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…, 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&gt;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，即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&lt;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&lt;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sz="32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32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−1</m:t>
                          </m:r>
                        </m:sub>
                      </m:sSub>
                      <m:r>
                        <a:rPr lang="en-US" altLang="zh-CN" sz="32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2062103"/>
              </a:xfrm>
              <a:prstGeom prst="rect">
                <a:avLst/>
              </a:prstGeom>
              <a:blipFill>
                <a:blip r:embed="rId3"/>
                <a:stretch>
                  <a:fillRect l="-1995" t="-53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4632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笛卡尔积运算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7686C13-9E9D-020F-4A69-F3852923408C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5386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4.3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2400" dirty="0">
                    <a:sym typeface="Wingdings" panose="05000000000000000000" pitchFamily="2" charset="2"/>
                  </a:rPr>
                  <a:t>设 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为集合，用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中元素为第一元素，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中元素为第二元素，构成有序对。所有这样的有序对组成的集合称作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和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的笛卡尔积，记作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。符号化表示为：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&gt;|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例如：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0,1,2</m:t>
                        </m:r>
                      </m:e>
                    </m:d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，则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,0&gt;,&lt;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,1&gt;,&lt;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,2&gt;,&lt;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,0&gt;,&lt;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,1&gt;,&lt;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,2&gt;}</m:t>
                      </m:r>
                    </m:oMath>
                  </m:oMathPara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={&lt;0,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&gt;,&lt;0,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&gt;,&lt;1,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&gt;,&lt;1,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&gt;,&lt;2,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&gt;,&lt;2,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&gt;}</m:t>
                      </m:r>
                    </m:oMath>
                  </m:oMathPara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若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中有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m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个元素，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中有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n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个元素，则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中有</a:t>
                </a:r>
                <a:r>
                  <a:rPr lang="en-US" altLang="zh-CN" sz="2800" dirty="0" err="1">
                    <a:sym typeface="Wingdings" panose="05000000000000000000" pitchFamily="2" charset="2"/>
                  </a:rPr>
                  <a:t>mn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个元素。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&gt;∈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&gt;∉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7686C13-9E9D-020F-4A69-F38529234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5386090"/>
              </a:xfrm>
              <a:prstGeom prst="rect">
                <a:avLst/>
              </a:prstGeom>
              <a:blipFill>
                <a:blip r:embed="rId3"/>
                <a:stretch>
                  <a:fillRect l="-1995" t="-20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89394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笛卡尔积的性质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）若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中有一个空集，则它们的笛卡尔积是空集，即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∅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×∅=∅</m:t>
                      </m:r>
                    </m:oMath>
                  </m:oMathPara>
                </a14:m>
                <a:endParaRPr lang="en-US" altLang="zh-CN" sz="3200" dirty="0"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）当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且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都不是空集时，有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≠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）当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C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都不是空集时，有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𝐶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≠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𝐶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笛卡尔积运算不适合交换律、结合律。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3477875"/>
              </a:xfrm>
              <a:prstGeom prst="rect">
                <a:avLst/>
              </a:prstGeom>
              <a:blipFill>
                <a:blip r:embed="rId3"/>
                <a:stretch>
                  <a:fillRect l="-1425" t="-2105" b="-49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829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笛卡尔积的性质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EF87CDF-374C-9A2F-64E6-89FE804D91C3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）笛卡尔积运算对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或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∩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运算满足分配律，即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∪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)∪(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𝐶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∪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</m:d>
                      <m:r>
                        <m:rPr>
                          <m:lit/>
                        </m:rP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)∪(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𝐶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)∩(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𝐶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)∩(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𝐶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EF87CDF-374C-9A2F-64E6-89FE804D9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2554545"/>
              </a:xfrm>
              <a:prstGeom prst="rect">
                <a:avLst/>
              </a:prstGeom>
              <a:blipFill>
                <a:blip r:embed="rId3"/>
                <a:stretch>
                  <a:fillRect l="-1140" t="-3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8670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笛卡尔积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2051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例题：设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A={1, 2}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𝑃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∅,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,{1,2}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𝑃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={&lt;∅,1&gt;,&lt;∅,2&gt;,&lt;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,1&gt;,&lt;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,2&gt;,&lt;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,1&gt;,&lt;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,2&gt;,&lt;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1,2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,1&gt;,&lt;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1,2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,2&gt;}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2051331"/>
              </a:xfrm>
              <a:prstGeom prst="rect">
                <a:avLst/>
              </a:prstGeom>
              <a:blipFill>
                <a:blip r:embed="rId3"/>
                <a:stretch>
                  <a:fillRect l="-1425" t="-38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38806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笛卡尔积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2062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例题：设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C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D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为任意集合，判断以下等式是否成立，并说明理由。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∩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∩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)∩(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∪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∪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)∪(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2062103"/>
              </a:xfrm>
              <a:prstGeom prst="rect">
                <a:avLst/>
              </a:prstGeom>
              <a:blipFill>
                <a:blip r:embed="rId3"/>
                <a:stretch>
                  <a:fillRect l="-1425" t="-3846" r="-3934" b="-88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8564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笛卡尔积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938586"/>
                <a:ext cx="10691446" cy="5509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例题：设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C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D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为任意集合，判断以下等式是否成立，并说明理由。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∩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∩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)∩(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∪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∪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)∪(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对于任意的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有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&gt;∈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e>
                      </m:d>
                      <m:r>
                        <a:rPr lang="en-US" altLang="zh-CN" sz="32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∩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𝐷</m:t>
                          </m:r>
                        </m:e>
                      </m:d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⟺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𝐶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∩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𝐷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⟺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𝐶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𝐷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&gt;∈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&gt;∈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</m:oMath>
                </a14:m>
                <a:r>
                  <a:rPr lang="en-US" altLang="zh-CN" sz="3200" b="0" i="1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altLang="zh-CN" sz="3200" b="0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⟺&lt;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&gt;∈(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)∩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×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∩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∩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)∩(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成立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938586"/>
                <a:ext cx="10691446" cy="5509200"/>
              </a:xfrm>
              <a:prstGeom prst="rect">
                <a:avLst/>
              </a:prstGeom>
              <a:blipFill>
                <a:blip r:embed="rId3"/>
                <a:stretch>
                  <a:fillRect l="-1425" t="-1438" r="-3934" b="-2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0499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笛卡尔积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例题：设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C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D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为任意集合，判断以下等式是否成立，并说明理由。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∩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∩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)∩(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∪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∪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𝐷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)∪(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不成立。举一反例即可。若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=∅,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={1}，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则有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∪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∪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𝐷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𝐶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={&lt;1,1&gt;}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𝐶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∪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×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𝐷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=∅∪∅=∅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3539430"/>
              </a:xfrm>
              <a:prstGeom prst="rect">
                <a:avLst/>
              </a:prstGeom>
              <a:blipFill>
                <a:blip r:embed="rId3"/>
                <a:stretch>
                  <a:fillRect l="-1425" t="-2238" r="-3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34157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阶笛卡尔乘积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7686C13-9E9D-020F-4A69-F3852923408C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4092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4.4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280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是集合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≥2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它们的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n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阶笛卡尔积记作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×…×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其中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×…×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,…,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&gt;|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∧…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=…=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时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，可将它们的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n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阶笛卡尔积简记为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d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则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</m:sup>
                      </m:sSup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&gt;}</m:t>
                      </m:r>
                    </m:oMath>
                  </m:oMathPara>
                </a14:m>
                <a:endParaRPr lang="en-US" altLang="zh-CN" sz="2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7686C13-9E9D-020F-4A69-F38529234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4092659"/>
              </a:xfrm>
              <a:prstGeom prst="rect">
                <a:avLst/>
              </a:prstGeom>
              <a:blipFill>
                <a:blip r:embed="rId3"/>
                <a:stretch>
                  <a:fillRect l="-1995" t="-2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25690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二元关系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1225969"/>
                <a:ext cx="10691446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二元关系：集合中两个元素之间的某种相关性。例如，有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C 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个人和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项工作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𝛽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𝛾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𝛿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。已知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可以从事工作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𝛿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可以从事工作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𝛾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C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可以从事工作</a:t>
                </a:r>
                <a14:m>
                  <m:oMath xmlns:m="http://schemas.openxmlformats.org/officeDocument/2006/math"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𝛽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那么人和工作之间的对应关系可以记作：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𝑅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𝛼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𝛿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𝛾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𝐶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𝛼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𝐶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𝛽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表示人的集合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{A,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 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B,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 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C}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到工作的集合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{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𝛽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𝛾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𝛿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}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之间的关系。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225969"/>
                <a:ext cx="10691446" cy="3539430"/>
              </a:xfrm>
              <a:prstGeom prst="rect">
                <a:avLst/>
              </a:prstGeom>
              <a:blipFill>
                <a:blip r:embed="rId3"/>
                <a:stretch>
                  <a:fillRect l="-1425" t="-2238" r="-5245" b="-4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7525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二元关系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7686C13-9E9D-020F-4A69-F3852923408C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2000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4.5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如果一个集合为空集或者它的元素都是有序对，则称这个集合是一个二元关系，一般记作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。对于二元关系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，如果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&gt;∈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，则记作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𝑥𝑅𝑦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7686C13-9E9D-020F-4A69-F38529234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2000548"/>
              </a:xfrm>
              <a:prstGeom prst="rect">
                <a:avLst/>
              </a:prstGeom>
              <a:blipFill>
                <a:blip r:embed="rId3"/>
                <a:stretch>
                  <a:fillRect l="-1995" t="-5488" r="-57" b="-7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3777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二元关系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7686C13-9E9D-020F-4A69-F3852923408C}"/>
                  </a:ext>
                </a:extLst>
              </p:cNvPr>
              <p:cNvSpPr txBox="1"/>
              <p:nvPr/>
            </p:nvSpPr>
            <p:spPr>
              <a:xfrm>
                <a:off x="750277" y="1089164"/>
                <a:ext cx="10691446" cy="477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4.6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为集合，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的任何子集所定义的二元关系称作从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到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的二元关系，特别当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A=B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时，则称作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上的二元关系。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4.7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对于任何集合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，都有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三种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特殊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关系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2800" i="1" dirty="0"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endParaRPr lang="en-US" altLang="zh-CN" sz="2800" i="1" dirty="0"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∅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en-US" altLang="zh-CN" sz="28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上的关系，称作空关系。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全域关系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b>
                    </m:sSub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：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&lt;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</m:t>
                        </m:r>
                      </m:e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∈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∧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∈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恒等关系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b>
                    </m:sSub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：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={&lt;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&gt;|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endParaRPr lang="en-US" altLang="zh-CN" sz="2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7686C13-9E9D-020F-4A69-F38529234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9164"/>
                <a:ext cx="10691446" cy="4770537"/>
              </a:xfrm>
              <a:prstGeom prst="rect">
                <a:avLst/>
              </a:prstGeom>
              <a:blipFill>
                <a:blip r:embed="rId3"/>
                <a:stretch>
                  <a:fillRect l="-1995" t="-2302" b="-2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14858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二元关系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F58F78A-28D6-0558-9A30-BE51C614B08C}"/>
                  </a:ext>
                </a:extLst>
              </p:cNvPr>
              <p:cNvSpPr txBox="1"/>
              <p:nvPr/>
            </p:nvSpPr>
            <p:spPr>
              <a:xfrm>
                <a:off x="486507" y="1029712"/>
                <a:ext cx="11037277" cy="50059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3200" dirty="0"/>
                  <a:t>设</a:t>
                </a:r>
                <a:r>
                  <a:rPr lang="en-US" altLang="zh-CN" sz="3200" dirty="0"/>
                  <a:t>A={0, 1}</a:t>
                </a:r>
                <a:r>
                  <a:rPr lang="zh-CN" altLang="en-US" sz="3200" dirty="0"/>
                  <a:t>，则有</a:t>
                </a:r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={&lt;0,0&gt;,&lt;0,1&gt;,&lt;1,0&gt;,&lt;1,1&gt;}</m:t>
                      </m:r>
                    </m:oMath>
                  </m:oMathPara>
                </a14:m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={&lt;0,0&gt;,&lt;1,1&gt;}</m:t>
                      </m:r>
                    </m:oMath>
                  </m:oMathPara>
                </a14:m>
                <a:endParaRPr lang="en-US" altLang="zh-CN" sz="3200" dirty="0"/>
              </a:p>
              <a:p>
                <a:endParaRPr lang="en-US" altLang="zh-CN" sz="3200" dirty="0"/>
              </a:p>
              <a:p>
                <a:endParaRPr lang="en-US" altLang="zh-CN" sz="3200" dirty="0"/>
              </a:p>
              <a:p>
                <a:r>
                  <a:rPr lang="zh-CN" altLang="en-US" sz="3200" dirty="0"/>
                  <a:t>设</a:t>
                </a:r>
                <a:r>
                  <a:rPr lang="en-US" altLang="zh-CN" sz="3200" dirty="0"/>
                  <a:t>A={a, b}, R</a:t>
                </a:r>
                <a:r>
                  <a:rPr lang="zh-CN" altLang="en-US" sz="3200" dirty="0"/>
                  <a:t>是</a:t>
                </a:r>
                <a:r>
                  <a:rPr lang="en-US" altLang="zh-CN" sz="3200" dirty="0"/>
                  <a:t>P(A)</a:t>
                </a:r>
                <a:r>
                  <a:rPr lang="zh-CN" altLang="en-US" sz="3200" dirty="0"/>
                  <a:t>上的包含关系，即</a:t>
                </a:r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={&lt;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&gt;|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3200" dirty="0"/>
              </a:p>
              <a:p>
                <a:r>
                  <a:rPr lang="zh-CN" altLang="en-US" sz="3200" dirty="0"/>
                  <a:t>则有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∅,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={&lt;∅,∅&gt;,&lt;∅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，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&gt;,&lt;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∅,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&gt;,&lt;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&gt;,&lt;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&gt;,&lt;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&gt;,&lt;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&gt;,&lt;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&gt;,&lt;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&gt;}</m:t>
                      </m:r>
                    </m:oMath>
                  </m:oMathPara>
                </a14:m>
                <a:endParaRPr lang="en-US" altLang="zh-CN" sz="3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F58F78A-28D6-0558-9A30-BE51C614B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7" y="1029712"/>
                <a:ext cx="11037277" cy="5005986"/>
              </a:xfrm>
              <a:prstGeom prst="rect">
                <a:avLst/>
              </a:prstGeom>
              <a:blipFill>
                <a:blip r:embed="rId3"/>
                <a:stretch>
                  <a:fillRect l="-1436" t="-15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2227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0E585FC-B061-4E5F-FFA1-DA938D6FE1A8}"/>
                  </a:ext>
                </a:extLst>
              </p:cNvPr>
              <p:cNvSpPr txBox="1"/>
              <p:nvPr/>
            </p:nvSpPr>
            <p:spPr>
              <a:xfrm>
                <a:off x="750277" y="1081282"/>
                <a:ext cx="10691446" cy="3724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4.8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2800" dirty="0">
                    <a:sym typeface="Wingdings" panose="05000000000000000000" pitchFamily="2" charset="2"/>
                  </a:rPr>
                  <a:t>关系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28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定义域</a:t>
                </a:r>
                <a:r>
                  <a:rPr lang="en-US" altLang="zh-CN" sz="2800" dirty="0" err="1">
                    <a:sym typeface="Wingdings" panose="05000000000000000000" pitchFamily="2" charset="2"/>
                  </a:rPr>
                  <a:t>domR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，</a:t>
                </a:r>
                <a:r>
                  <a:rPr lang="zh-CN" altLang="en-US" sz="28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值域</a:t>
                </a:r>
                <a:r>
                  <a:rPr lang="en-US" altLang="zh-CN" sz="2800" dirty="0" err="1">
                    <a:sym typeface="Wingdings" panose="05000000000000000000" pitchFamily="2" charset="2"/>
                  </a:rPr>
                  <a:t>ranR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，</a:t>
                </a:r>
                <a:r>
                  <a:rPr lang="zh-CN" altLang="en-US" sz="28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域</a:t>
                </a:r>
                <a:r>
                  <a:rPr lang="en-US" altLang="zh-CN" sz="2800" dirty="0" err="1">
                    <a:sym typeface="Wingdings" panose="05000000000000000000" pitchFamily="2" charset="2"/>
                  </a:rPr>
                  <a:t>fldR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分别是：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𝑑𝑜𝑚𝑅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|∃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&gt;∈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)}</m:t>
                      </m:r>
                    </m:oMath>
                  </m:oMathPara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𝑟𝑎𝑛𝑅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|∃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(&lt;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&gt;∈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)}</m:t>
                      </m:r>
                    </m:oMath>
                  </m:oMathPara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𝑓𝑙𝑑𝑅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𝑑𝑜𝑚𝑅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∪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𝑟𝑎𝑛𝑅</m:t>
                      </m:r>
                    </m:oMath>
                  </m:oMathPara>
                </a14:m>
                <a:endParaRPr lang="en-US" altLang="zh-CN" sz="2800" dirty="0">
                  <a:sym typeface="Wingdings" panose="05000000000000000000" pitchFamily="2" charset="2"/>
                </a:endParaRPr>
              </a:p>
              <a:p>
                <a:endParaRPr lang="en-US" altLang="zh-CN" sz="28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𝑑𝑜𝑚𝑅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zh-CN" altLang="en-US" sz="28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所有有序对的第一元素构成的集合，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𝑟𝑎𝑛𝑅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2800" dirty="0">
                    <a:sym typeface="Wingdings" panose="05000000000000000000" pitchFamily="2" charset="2"/>
                  </a:rPr>
                  <a:t>所有有序对的第二元素构成的集合。</a:t>
                </a:r>
                <a:endParaRPr lang="en-US" altLang="zh-CN" sz="28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0E585FC-B061-4E5F-FFA1-DA938D6FE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1081282"/>
                <a:ext cx="10691446" cy="3724096"/>
              </a:xfrm>
              <a:prstGeom prst="rect">
                <a:avLst/>
              </a:prstGeom>
              <a:blipFill>
                <a:blip r:embed="rId3"/>
                <a:stretch>
                  <a:fillRect l="-1995" t="-2946" b="-3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59642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32EA95B-4E5D-4CE9-9962-58A59715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DF918E4-7F0E-3CA7-800B-F9D25D10B0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9287" y="1286460"/>
                <a:ext cx="10313425" cy="431839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:r>
                  <a:rPr lang="zh-CN" altLang="en-US" sz="3200" noProof="1">
                    <a:latin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noProof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200" b="0" i="1" noProof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noProof="1">
                    <a:latin typeface="Times New Roman" panose="02020603050405020304" pitchFamily="18" charset="0"/>
                  </a:rPr>
                  <a:t>为整数集</a:t>
                </a:r>
                <a:r>
                  <a:rPr lang="en-US" altLang="zh-CN" sz="3200" noProof="1">
                    <a:latin typeface="Times New Roman" panose="02020603050405020304" pitchFamily="18" charset="0"/>
                  </a:rPr>
                  <a:t>Z</a:t>
                </a:r>
                <a:r>
                  <a:rPr lang="zh-CN" altLang="en-US" sz="3200" noProof="1">
                    <a:latin typeface="Times New Roman" panose="02020603050405020304" pitchFamily="18" charset="0"/>
                  </a:rPr>
                  <a:t>上的关系，分别求出它们的定义域和值域。</a:t>
                </a:r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={&lt;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&gt;|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p>
                        <m:sSup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={&lt;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&gt;|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={&lt;0,1&gt;,&lt;0,−1&gt;,&lt;1,0&gt;,&lt;−1,0&gt;}</m:t>
                      </m:r>
                    </m:oMath>
                  </m:oMathPara>
                </a14:m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𝑑𝑜𝑚</m:t>
                      </m:r>
                      <m:sSub>
                        <m:sSub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𝑟𝑎𝑛</m:t>
                      </m:r>
                      <m:sSub>
                        <m:sSub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={−1,0,1}</m:t>
                      </m:r>
                    </m:oMath>
                  </m:oMathPara>
                </a14:m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&lt;−3,−3&gt;,&lt;−3,3&gt;,&lt;3,−3&gt;,&lt;3,3&gt;</m:t>
                          </m:r>
                        </m:e>
                      </m:d>
                    </m:oMath>
                  </m:oMathPara>
                </a14:m>
                <a:endParaRPr lang="en-US" altLang="zh-CN" sz="3200" noProof="1">
                  <a:latin typeface="Times New Roman" panose="020206030504050203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tabLst>
                    <a:tab pos="171640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𝑑𝑜𝑚</m:t>
                      </m:r>
                      <m:sSub>
                        <m:sSub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𝑟𝑎𝑛</m:t>
                      </m:r>
                      <m:sSub>
                        <m:sSubPr>
                          <m:ctrlP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noProof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noProof="1" smtClean="0">
                          <a:latin typeface="Cambria Math" panose="02040503050406030204" pitchFamily="18" charset="0"/>
                        </a:rPr>
                        <m:t>={−3,3}</m:t>
                      </m:r>
                    </m:oMath>
                  </m:oMathPara>
                </a14:m>
                <a:endParaRPr lang="en-US" altLang="zh-CN" sz="3200" noProof="1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DF918E4-7F0E-3CA7-800B-F9D25D10B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87" y="1286460"/>
                <a:ext cx="10313425" cy="4318392"/>
              </a:xfrm>
              <a:prstGeom prst="rect">
                <a:avLst/>
              </a:prstGeom>
              <a:blipFill>
                <a:blip r:embed="rId3"/>
                <a:stretch>
                  <a:fillRect l="-1478" t="-32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31352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464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4.9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F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G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为任意的关系，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为集合，则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F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的逆记作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&gt;|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𝑦𝐹𝑥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F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G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的合成记作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&gt;|∃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𝑥𝐺𝑧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𝑧𝐹𝑦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)}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F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在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上的限制记作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↾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={&lt;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&gt;|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𝑥𝐹𝑦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在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F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下的像记作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𝑟𝑎𝑛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↾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注：关系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是有序对的集合，也可以把关系看成一种作用。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表示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x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通过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的作用变成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y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4647426"/>
              </a:xfrm>
              <a:prstGeom prst="rect">
                <a:avLst/>
              </a:prstGeom>
              <a:blipFill>
                <a:blip r:embed="rId3"/>
                <a:stretch>
                  <a:fillRect l="-1995" t="-2362" r="-570" b="-3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8290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36560"/>
                <a:ext cx="10691446" cy="5509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F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G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N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上的关系，其定义为：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𝐹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𝑦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</m:t>
                          </m:r>
                        </m:e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𝑦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∈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𝑁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∧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𝑦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𝑁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+1}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↾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1,2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[{1,2}]。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𝐺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𝑦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</m:t>
                          </m:r>
                        </m:e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𝑦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∈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𝑁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∧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𝑦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=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𝐺</m:t>
                          </m:r>
                        </m:e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−1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={&lt;1,0&gt;,&lt;2,1&gt;,…,&lt;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+1,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&gt;,…}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𝐹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∘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𝑁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∧∃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+1∧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𝐹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∘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𝑁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𝐺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∘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𝐹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𝑁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+1}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𝐹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↾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1,2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&lt;1,1&gt;,&lt;2,4&gt;</m:t>
                          </m:r>
                        </m:e>
                      </m:d>
                    </m:oMath>
                  </m:oMathPara>
                </a14:m>
                <a:endParaRPr lang="en-US" altLang="zh-CN" sz="3200" b="0" dirty="0"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1,2</m:t>
                              </m:r>
                            </m:e>
                          </m:d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ran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𝐹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↾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1,2</m:t>
                              </m:r>
                            </m:e>
                          </m:d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={1,4}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36560"/>
                <a:ext cx="10691446" cy="5509200"/>
              </a:xfrm>
              <a:prstGeom prst="rect">
                <a:avLst/>
              </a:prstGeom>
              <a:blipFill>
                <a:blip r:embed="rId3"/>
                <a:stretch>
                  <a:fillRect l="-1425" t="-1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9460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4.1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F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G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H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是任意的关系，则有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3200" b="0" i="0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a:rPr lang="en-US" altLang="zh-CN" sz="3200" b="0" i="0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3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  <m: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F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;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𝑑𝑜𝑚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𝑟𝑎𝑛𝐹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𝑟𝑎𝑛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𝑑𝑜𝑚𝐹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;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∘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𝐻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𝐻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;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𝐹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∘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𝐺</m:t>
                            </m:r>
                          </m:e>
                        </m:d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170099"/>
              </a:xfrm>
              <a:prstGeom prst="rect">
                <a:avLst/>
              </a:prstGeom>
              <a:blipFill>
                <a:blip r:embed="rId3"/>
                <a:stretch>
                  <a:fillRect l="-1995" t="-3462" b="-5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2431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4.2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F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G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H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为任意的关系，则有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∪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𝐻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𝐻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∩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𝐻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∩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𝐻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∪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𝐻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𝐻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∩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𝐻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∩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𝐻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170099"/>
              </a:xfrm>
              <a:prstGeom prst="rect">
                <a:avLst/>
              </a:prstGeom>
              <a:blipFill>
                <a:blip r:embed="rId3"/>
                <a:stretch>
                  <a:fillRect l="-1995" t="-3462" b="-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6124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4.10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上的关系，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n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为自然数，则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n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次幂规定如下：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&gt;|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≥1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p>
                    </m:sSup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上的恒等关系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sSup>
                      <m:sSup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p>
                    </m:sSup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p>
                    </m:sSup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由上式可以得到：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662541"/>
              </a:xfrm>
              <a:prstGeom prst="rect">
                <a:avLst/>
              </a:prstGeom>
              <a:blipFill>
                <a:blip r:embed="rId3"/>
                <a:stretch>
                  <a:fillRect l="-1995" t="-2995" b="-46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9435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关系的幂运算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4.3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上的关系，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m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、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n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是自然数，则下面的等式成立。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𝑚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𝑚𝑛</m:t>
                        </m:r>
                      </m:sup>
                    </m:sSup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185214"/>
              </a:xfrm>
              <a:prstGeom prst="rect">
                <a:avLst/>
              </a:prstGeom>
              <a:blipFill>
                <a:blip r:embed="rId3"/>
                <a:stretch>
                  <a:fillRect l="-1995" t="-5014" b="-8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9724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关系的幂运算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CDBF55A-39D5-5B4E-7F42-B690E015AD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4107" y="1018446"/>
                <a:ext cx="10313425" cy="431839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zh-CN" altLang="en-US" sz="3200" dirty="0">
                    <a:sym typeface="Wingdings" panose="05000000000000000000" pitchFamily="2" charset="2"/>
                  </a:rPr>
                  <a:t>证明：（使用归纳法）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zh-CN" altLang="en-US" sz="3200" dirty="0">
                    <a:sym typeface="Wingdings" panose="05000000000000000000" pitchFamily="2" charset="2"/>
                  </a:rPr>
                  <a:t>当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n=0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+0</m:t>
                        </m:r>
                      </m:sup>
                    </m:sSup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zh-CN" altLang="en-US" sz="3200" dirty="0">
                    <a:sym typeface="Wingdings" panose="05000000000000000000" pitchFamily="2" charset="2"/>
                  </a:rPr>
                  <a:t>假设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成立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，则有：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∘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+1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∘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∘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∘</m:t>
                          </m:r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∘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𝑅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∘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𝑅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CDBF55A-39D5-5B4E-7F42-B690E015A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107" y="1018446"/>
                <a:ext cx="10313425" cy="4318392"/>
              </a:xfrm>
              <a:prstGeom prst="rect">
                <a:avLst/>
              </a:prstGeom>
              <a:blipFill>
                <a:blip r:embed="rId3"/>
                <a:stretch>
                  <a:fillRect l="-1478" t="-2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81606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关系的幂运算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CDBF55A-39D5-5B4E-7F42-B690E015AD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4107" y="1018446"/>
                <a:ext cx="10313425" cy="431839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𝑚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𝑚𝑛</m:t>
                        </m:r>
                      </m:sup>
                    </m:sSup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zh-CN" altLang="en-US" sz="3200" dirty="0">
                    <a:sym typeface="Wingdings" panose="05000000000000000000" pitchFamily="2" charset="2"/>
                  </a:rPr>
                  <a:t>证明：（使用归纳法）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zh-CN" altLang="en-US" sz="3200" dirty="0">
                    <a:sym typeface="Wingdings" panose="05000000000000000000" pitchFamily="2" charset="2"/>
                  </a:rPr>
                  <a:t>当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n=0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时，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𝑚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p>
                    </m:sSup>
                    <m:r>
                      <a:rPr lang="en-US" altLang="zh-CN" sz="32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R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⋅0</m:t>
                        </m:r>
                      </m:sup>
                    </m:sSup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zh-CN" altLang="en-US" sz="3200" dirty="0">
                    <a:sym typeface="Wingdings" panose="05000000000000000000" pitchFamily="2" charset="2"/>
                  </a:rPr>
                  <a:t>假设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3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altLang="zh-CN" sz="3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𝑚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  <m: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𝑚𝑛</m:t>
                        </m:r>
                      </m:sup>
                    </m:sSup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成立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，则有：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3200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3200" i="1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32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+1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𝑛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∘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𝑚𝑛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∘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𝑚𝑛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5CDBF55A-39D5-5B4E-7F42-B690E015A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107" y="1018446"/>
                <a:ext cx="10313425" cy="4318392"/>
              </a:xfrm>
              <a:prstGeom prst="rect">
                <a:avLst/>
              </a:prstGeom>
              <a:blipFill>
                <a:blip r:embed="rId3"/>
                <a:stretch>
                  <a:fillRect l="-1478" t="-2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8672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D6ECC0E4-4EA6-4ECF-A9C3-35B539D8A6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4107" y="1018446"/>
                <a:ext cx="10313425" cy="431839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A={1,2,3,4},R={&lt;1,1,&gt;,&lt;1,2&gt;,&lt;2,3&gt;,&lt;2,4&gt;,&lt;4,2&gt;}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上的关系，则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的关系矩阵如下所示：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320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320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320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320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D6ECC0E4-4EA6-4ECF-A9C3-35B539D8A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107" y="1018446"/>
                <a:ext cx="10313425" cy="4318392"/>
              </a:xfrm>
              <a:prstGeom prst="rect">
                <a:avLst/>
              </a:prstGeom>
              <a:blipFill>
                <a:blip r:embed="rId3"/>
                <a:stretch>
                  <a:fillRect l="-1478" t="-2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6654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D6ECC0E4-4EA6-4ECF-A9C3-35B539D8A6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4107" y="1018446"/>
                <a:ext cx="10313425" cy="431839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上的关系，令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𝑖𝑗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eqArr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1,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𝑅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0,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/</m:t>
                            </m:r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𝑅</m:t>
                            </m:r>
                            <m:sSub>
                              <m:sSubPr>
                                <m:ctrlP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𝑗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𝑖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𝑗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=1,2,…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则关系矩阵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𝑖𝑗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1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1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𝑛</m:t>
                                  </m:r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D6ECC0E4-4EA6-4ECF-A9C3-35B539D8A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107" y="1018446"/>
                <a:ext cx="10313425" cy="4318392"/>
              </a:xfrm>
              <a:prstGeom prst="rect">
                <a:avLst/>
              </a:prstGeom>
              <a:blipFill>
                <a:blip r:embed="rId3"/>
                <a:stretch>
                  <a:fillRect l="-1478" t="-2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79839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D6ECC0E4-4EA6-4ECF-A9C3-35B539D8A6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8145" y="1018446"/>
                <a:ext cx="10964917" cy="431839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上的关系，令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altLang="zh-CN" sz="3200" dirty="0">
                    <a:sym typeface="Wingdings" panose="05000000000000000000" pitchFamily="2" charset="2"/>
                  </a:rPr>
                  <a:t>V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是顶点的集合，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E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是有向边的集合，令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。如果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的有向边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&lt;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𝑗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=&lt;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就是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的关系图。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D6ECC0E4-4EA6-4ECF-A9C3-35B539D8A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45" y="1018446"/>
                <a:ext cx="10964917" cy="4318392"/>
              </a:xfrm>
              <a:prstGeom prst="rect">
                <a:avLst/>
              </a:prstGeom>
              <a:blipFill>
                <a:blip r:embed="rId3"/>
                <a:stretch>
                  <a:fillRect l="-1446" t="-2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7602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FD2FF6FD-3D4F-7429-88CB-EFA36F378A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0402291"/>
                  </p:ext>
                </p:extLst>
              </p:nvPr>
            </p:nvGraphicFramePr>
            <p:xfrm>
              <a:off x="1061739" y="1112550"/>
              <a:ext cx="10068522" cy="39346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8810">
                      <a:extLst>
                        <a:ext uri="{9D8B030D-6E8A-4147-A177-3AD203B41FA5}">
                          <a16:colId xmlns:a16="http://schemas.microsoft.com/office/drawing/2014/main" val="1504639887"/>
                        </a:ext>
                      </a:extLst>
                    </a:gridCol>
                    <a:gridCol w="1596911">
                      <a:extLst>
                        <a:ext uri="{9D8B030D-6E8A-4147-A177-3AD203B41FA5}">
                          <a16:colId xmlns:a16="http://schemas.microsoft.com/office/drawing/2014/main" val="1047323827"/>
                        </a:ext>
                      </a:extLst>
                    </a:gridCol>
                    <a:gridCol w="1473694">
                      <a:extLst>
                        <a:ext uri="{9D8B030D-6E8A-4147-A177-3AD203B41FA5}">
                          <a16:colId xmlns:a16="http://schemas.microsoft.com/office/drawing/2014/main" val="3001549464"/>
                        </a:ext>
                      </a:extLst>
                    </a:gridCol>
                    <a:gridCol w="1819989">
                      <a:extLst>
                        <a:ext uri="{9D8B030D-6E8A-4147-A177-3AD203B41FA5}">
                          <a16:colId xmlns:a16="http://schemas.microsoft.com/office/drawing/2014/main" val="1098973356"/>
                        </a:ext>
                      </a:extLst>
                    </a:gridCol>
                    <a:gridCol w="1629612">
                      <a:extLst>
                        <a:ext uri="{9D8B030D-6E8A-4147-A177-3AD203B41FA5}">
                          <a16:colId xmlns:a16="http://schemas.microsoft.com/office/drawing/2014/main" val="2411918209"/>
                        </a:ext>
                      </a:extLst>
                    </a:gridCol>
                    <a:gridCol w="2329506">
                      <a:extLst>
                        <a:ext uri="{9D8B030D-6E8A-4147-A177-3AD203B41FA5}">
                          <a16:colId xmlns:a16="http://schemas.microsoft.com/office/drawing/2014/main" val="2889412825"/>
                        </a:ext>
                      </a:extLst>
                    </a:gridCol>
                  </a:tblGrid>
                  <a:tr h="345159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自反性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反自反性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对称性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反对称性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传递性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5771565"/>
                      </a:ext>
                    </a:extLst>
                  </a:tr>
                  <a:tr h="11896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定义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有</m:t>
                                </m:r>
                              </m:oMath>
                            </m:oMathPara>
                          </a14:m>
                          <a:endParaRPr lang="en-US" altLang="zh-CN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&gt;∈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有</m:t>
                                </m:r>
                              </m:oMath>
                            </m:oMathPara>
                          </a14:m>
                          <a:endParaRPr lang="en-US" altLang="zh-CN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&gt;∉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</m:oMath>
                          </a14:m>
                          <a:endParaRPr lang="en-US" altLang="zh-CN" dirty="0"/>
                        </a:p>
                        <a:p>
                          <a:r>
                            <a:rPr lang="zh-CN" altLang="en-US" dirty="0"/>
                            <a:t>则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且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zh-CN" altLang="en-US" dirty="0"/>
                            <a:t>，则</a:t>
                          </a:r>
                          <a:endParaRPr lang="en-US" altLang="zh-CN" dirty="0"/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&gt;∉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altLang="zh-CN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若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</m:oMath>
                          </a14:m>
                          <a:endParaRPr lang="en-US" altLang="zh-CN" b="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且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oMath>
                          </a14:m>
                          <a:r>
                            <a:rPr lang="en-US" altLang="zh-CN" dirty="0"/>
                            <a:t> </a:t>
                          </a:r>
                        </a:p>
                        <a:p>
                          <a:r>
                            <a:rPr lang="zh-CN" altLang="en-US" dirty="0"/>
                            <a:t>则有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7664504"/>
                      </a:ext>
                    </a:extLst>
                  </a:tr>
                  <a:tr h="11896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关系矩阵的特点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主对角线元素均为</a:t>
                          </a:r>
                          <a:r>
                            <a:rPr lang="en-US" altLang="zh-CN" dirty="0"/>
                            <a:t>1</a:t>
                          </a:r>
                          <a:r>
                            <a:rPr lang="zh-CN" altLang="en-US" dirty="0"/>
                            <a:t>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主对角线元素均为</a:t>
                          </a:r>
                          <a:r>
                            <a:rPr lang="en-US" altLang="zh-CN" dirty="0"/>
                            <a:t>0</a:t>
                          </a:r>
                          <a:r>
                            <a:rPr lang="zh-CN" altLang="en-US" dirty="0"/>
                            <a:t>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矩阵为对角矩阵。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如果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en-US" altLang="zh-CN" dirty="0"/>
                            <a:t>,</a:t>
                          </a:r>
                          <a:r>
                            <a:rPr lang="zh-CN" altLang="en-US" dirty="0"/>
                            <a:t>且</a:t>
                          </a:r>
                          <a:endParaRPr lang="en-US" altLang="zh-CN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  <m:t>则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𝑗𝑖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altLang="zh-C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580566"/>
                      </a:ext>
                    </a:extLst>
                  </a:tr>
                  <a:tr h="11896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关系图的特点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图中每个顶点都有环。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图中每个顶点都没有环。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如果两个顶点之间有边，一定是一对方向相反的边。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如果两个顶点之间有边，一定是一条有向边。</a:t>
                          </a:r>
                          <a:endParaRPr lang="en-US" altLang="zh-C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如果顶点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到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有边</m:t>
                              </m:r>
                            </m:oMath>
                          </a14:m>
                          <a:r>
                            <a:rPr lang="zh-CN" altLang="en-US" dirty="0"/>
                            <a:t>，</a:t>
                          </a:r>
                          <a:endParaRPr lang="en-US" altLang="zh-CN" dirty="0"/>
                        </a:p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到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dirty="0"/>
                            <a:t>有边，则从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dirty="0"/>
                            <a:t>到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dirty="0"/>
                            <a:t>有边。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84654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FD2FF6FD-3D4F-7429-88CB-EFA36F378A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0402291"/>
                  </p:ext>
                </p:extLst>
              </p:nvPr>
            </p:nvGraphicFramePr>
            <p:xfrm>
              <a:off x="1061739" y="1112550"/>
              <a:ext cx="10068522" cy="39346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18810">
                      <a:extLst>
                        <a:ext uri="{9D8B030D-6E8A-4147-A177-3AD203B41FA5}">
                          <a16:colId xmlns:a16="http://schemas.microsoft.com/office/drawing/2014/main" val="1504639887"/>
                        </a:ext>
                      </a:extLst>
                    </a:gridCol>
                    <a:gridCol w="1596911">
                      <a:extLst>
                        <a:ext uri="{9D8B030D-6E8A-4147-A177-3AD203B41FA5}">
                          <a16:colId xmlns:a16="http://schemas.microsoft.com/office/drawing/2014/main" val="1047323827"/>
                        </a:ext>
                      </a:extLst>
                    </a:gridCol>
                    <a:gridCol w="1473694">
                      <a:extLst>
                        <a:ext uri="{9D8B030D-6E8A-4147-A177-3AD203B41FA5}">
                          <a16:colId xmlns:a16="http://schemas.microsoft.com/office/drawing/2014/main" val="3001549464"/>
                        </a:ext>
                      </a:extLst>
                    </a:gridCol>
                    <a:gridCol w="1819989">
                      <a:extLst>
                        <a:ext uri="{9D8B030D-6E8A-4147-A177-3AD203B41FA5}">
                          <a16:colId xmlns:a16="http://schemas.microsoft.com/office/drawing/2014/main" val="1098973356"/>
                        </a:ext>
                      </a:extLst>
                    </a:gridCol>
                    <a:gridCol w="1629612">
                      <a:extLst>
                        <a:ext uri="{9D8B030D-6E8A-4147-A177-3AD203B41FA5}">
                          <a16:colId xmlns:a16="http://schemas.microsoft.com/office/drawing/2014/main" val="2411918209"/>
                        </a:ext>
                      </a:extLst>
                    </a:gridCol>
                    <a:gridCol w="2329506">
                      <a:extLst>
                        <a:ext uri="{9D8B030D-6E8A-4147-A177-3AD203B41FA5}">
                          <a16:colId xmlns:a16="http://schemas.microsoft.com/office/drawing/2014/main" val="288941282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自反性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反自反性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对称性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反对称性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/>
                            <a:t>传递性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5771565"/>
                      </a:ext>
                    </a:extLst>
                  </a:tr>
                  <a:tr h="11896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定义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76718" t="-33333" r="-455725" b="-208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91322" t="-33333" r="-393388" b="-208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36577" t="-33333" r="-219463" b="-208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74254" t="-33333" r="-144030" b="-208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32723" t="-33333" r="-1047" b="-2087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7664504"/>
                      </a:ext>
                    </a:extLst>
                  </a:tr>
                  <a:tr h="11896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关系矩阵的特点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主对角线元素均为</a:t>
                          </a:r>
                          <a:r>
                            <a:rPr lang="en-US" altLang="zh-CN" dirty="0"/>
                            <a:t>1</a:t>
                          </a:r>
                          <a:r>
                            <a:rPr lang="zh-CN" altLang="en-US" dirty="0"/>
                            <a:t>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主对角线元素均为</a:t>
                          </a:r>
                          <a:r>
                            <a:rPr lang="en-US" altLang="zh-CN" dirty="0"/>
                            <a:t>0</a:t>
                          </a:r>
                          <a:r>
                            <a:rPr lang="zh-CN" altLang="en-US" dirty="0"/>
                            <a:t>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矩阵为对角矩阵。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74254" t="-132653" r="-144030" b="-107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580566"/>
                      </a:ext>
                    </a:extLst>
                  </a:tr>
                  <a:tr h="11896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b="1" dirty="0"/>
                            <a:t>关系图的特点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图中每个顶点都有环。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图中每个顶点都没有环。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如果两个顶点之间有边，一定是一对方向相反的边。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如果两个顶点之间有边，一定是一条有向边。</a:t>
                          </a:r>
                          <a:endParaRPr lang="en-US" altLang="zh-C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32723" t="-233846" r="-1047" b="-82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846544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4890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485E536C-B03A-5F0B-F4E9-17945EF723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8145" y="1018446"/>
                <a:ext cx="10964917" cy="431839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  <m:r>
                          <a:rPr lang="zh-CN" altLang="en-US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，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  <m:r>
                          <a:rPr lang="zh-CN" altLang="en-US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，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3 </m:t>
                        </m:r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令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={&lt;1,1&gt;,&lt;2,2&gt;,&lt;3,3&gt;,&lt;1,2&gt;}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={&lt;2,3&gt;,&lt;3,2&gt;}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={&lt;1,1&gt;,&lt;2,2&gt;}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自反，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反自反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既不自反，又不反自反。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占位符 11266">
                <a:extLst>
                  <a:ext uri="{FF2B5EF4-FFF2-40B4-BE49-F238E27FC236}">
                    <a16:creationId xmlns:a16="http://schemas.microsoft.com/office/drawing/2014/main" id="{485E536C-B03A-5F0B-F4E9-17945EF72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45" y="1018446"/>
                <a:ext cx="10964917" cy="4318392"/>
              </a:xfrm>
              <a:prstGeom prst="rect">
                <a:avLst/>
              </a:prstGeom>
              <a:blipFill>
                <a:blip r:embed="rId3"/>
                <a:stretch>
                  <a:fillRect l="-1446" t="-2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6618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关系的闭包</a:t>
            </a:r>
          </a:p>
        </p:txBody>
      </p:sp>
      <p:sp>
        <p:nvSpPr>
          <p:cNvPr id="2" name="文本占位符 11266">
            <a:extLst>
              <a:ext uri="{FF2B5EF4-FFF2-40B4-BE49-F238E27FC236}">
                <a16:creationId xmlns:a16="http://schemas.microsoft.com/office/drawing/2014/main" id="{485E536C-B03A-5F0B-F4E9-17945EF723A0}"/>
              </a:ext>
            </a:extLst>
          </p:cNvPr>
          <p:cNvSpPr txBox="1">
            <a:spLocks/>
          </p:cNvSpPr>
          <p:nvPr/>
        </p:nvSpPr>
        <p:spPr>
          <a:xfrm>
            <a:off x="528145" y="1018446"/>
            <a:ext cx="10964917" cy="43183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200" dirty="0">
                <a:sym typeface="Wingdings" panose="05000000000000000000" pitchFamily="2" charset="2"/>
              </a:rPr>
              <a:t>设</a:t>
            </a:r>
            <a:r>
              <a:rPr lang="en-US" altLang="zh-CN" sz="3200" dirty="0">
                <a:sym typeface="Wingdings" panose="05000000000000000000" pitchFamily="2" charset="2"/>
              </a:rPr>
              <a:t>R</a:t>
            </a:r>
            <a:r>
              <a:rPr lang="zh-CN" altLang="en-US" sz="3200" dirty="0">
                <a:sym typeface="Wingdings" panose="05000000000000000000" pitchFamily="2" charset="2"/>
              </a:rPr>
              <a:t>是非空集合</a:t>
            </a:r>
            <a:r>
              <a:rPr lang="en-US" altLang="zh-CN" sz="3200" dirty="0">
                <a:sym typeface="Wingdings" panose="05000000000000000000" pitchFamily="2" charset="2"/>
              </a:rPr>
              <a:t>A</a:t>
            </a:r>
            <a:r>
              <a:rPr lang="zh-CN" altLang="en-US" sz="3200" dirty="0">
                <a:sym typeface="Wingdings" panose="05000000000000000000" pitchFamily="2" charset="2"/>
              </a:rPr>
              <a:t>上的关系，有时候人们希望</a:t>
            </a:r>
            <a:r>
              <a:rPr lang="en-US" altLang="zh-CN" sz="3200" dirty="0">
                <a:sym typeface="Wingdings" panose="05000000000000000000" pitchFamily="2" charset="2"/>
              </a:rPr>
              <a:t>R</a:t>
            </a:r>
            <a:r>
              <a:rPr lang="zh-CN" altLang="en-US" sz="3200" dirty="0">
                <a:sym typeface="Wingdings" panose="05000000000000000000" pitchFamily="2" charset="2"/>
              </a:rPr>
              <a:t>具有一些有用的性质，例如自反性（对称性或传递性）。为此，需要在</a:t>
            </a:r>
            <a:r>
              <a:rPr lang="en-US" altLang="zh-CN" sz="3200" dirty="0">
                <a:sym typeface="Wingdings" panose="05000000000000000000" pitchFamily="2" charset="2"/>
              </a:rPr>
              <a:t>R</a:t>
            </a:r>
            <a:r>
              <a:rPr lang="zh-CN" altLang="en-US" sz="3200" dirty="0">
                <a:sym typeface="Wingdings" panose="05000000000000000000" pitchFamily="2" charset="2"/>
              </a:rPr>
              <a:t>中添加一些有序对而构成新的关系</a:t>
            </a:r>
            <a:r>
              <a:rPr lang="en-US" altLang="zh-CN" sz="3200" dirty="0">
                <a:sym typeface="Wingdings" panose="05000000000000000000" pitchFamily="2" charset="2"/>
              </a:rPr>
              <a:t>R’</a:t>
            </a:r>
            <a:r>
              <a:rPr lang="zh-CN" altLang="en-US" sz="3200" dirty="0">
                <a:sym typeface="Wingdings" panose="05000000000000000000" pitchFamily="2" charset="2"/>
              </a:rPr>
              <a:t>，是的</a:t>
            </a:r>
            <a:r>
              <a:rPr lang="en-US" altLang="zh-CN" sz="3200" dirty="0">
                <a:sym typeface="Wingdings" panose="05000000000000000000" pitchFamily="2" charset="2"/>
              </a:rPr>
              <a:t>R’</a:t>
            </a:r>
            <a:r>
              <a:rPr lang="zh-CN" altLang="en-US" sz="3200" dirty="0">
                <a:sym typeface="Wingdings" panose="05000000000000000000" pitchFamily="2" charset="2"/>
              </a:rPr>
              <a:t>具有所需要的性质，但又不希望</a:t>
            </a:r>
            <a:r>
              <a:rPr lang="en-US" altLang="zh-CN" sz="3200" dirty="0">
                <a:sym typeface="Wingdings" panose="05000000000000000000" pitchFamily="2" charset="2"/>
              </a:rPr>
              <a:t>R’</a:t>
            </a:r>
            <a:r>
              <a:rPr lang="zh-CN" altLang="en-US" sz="3200" dirty="0">
                <a:sym typeface="Wingdings" panose="05000000000000000000" pitchFamily="2" charset="2"/>
              </a:rPr>
              <a:t>变得“太大”（即，</a:t>
            </a:r>
            <a:r>
              <a:rPr lang="zh-CN" altLang="en-US" sz="3200" dirty="0">
                <a:solidFill>
                  <a:srgbClr val="FF0000"/>
                </a:solidFill>
                <a:sym typeface="Wingdings" panose="05000000000000000000" pitchFamily="2" charset="2"/>
              </a:rPr>
              <a:t>希望添加的有序对尽可能少</a:t>
            </a:r>
            <a:r>
              <a:rPr lang="zh-CN" altLang="en-US" sz="3200" dirty="0">
                <a:sym typeface="Wingdings" panose="05000000000000000000" pitchFamily="2" charset="2"/>
              </a:rPr>
              <a:t>）。满足这些要求的</a:t>
            </a:r>
            <a:r>
              <a:rPr lang="en-US" altLang="zh-CN" sz="3200" dirty="0">
                <a:sym typeface="Wingdings" panose="05000000000000000000" pitchFamily="2" charset="2"/>
              </a:rPr>
              <a:t>R’</a:t>
            </a:r>
            <a:r>
              <a:rPr lang="zh-CN" altLang="en-US" sz="3200" dirty="0">
                <a:sym typeface="Wingdings" panose="05000000000000000000" pitchFamily="2" charset="2"/>
              </a:rPr>
              <a:t>就是</a:t>
            </a:r>
            <a:r>
              <a:rPr lang="en-US" altLang="zh-CN" sz="3200" dirty="0">
                <a:sym typeface="Wingdings" panose="05000000000000000000" pitchFamily="2" charset="2"/>
              </a:rPr>
              <a:t>R</a:t>
            </a:r>
            <a:r>
              <a:rPr lang="zh-CN" altLang="en-US" sz="3200" dirty="0">
                <a:sym typeface="Wingdings" panose="05000000000000000000" pitchFamily="2" charset="2"/>
              </a:rPr>
              <a:t>的自反（对称或传递）闭包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62501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关系的闭包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464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4.11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是非空集合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上的关系，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的自反闭包（对称闭包或传递闭包）是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上的关系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R’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，且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R’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满足以下条件：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R’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是自反的（对称的或传递的）；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；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）对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上的任何包含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的自反关系（对称或传递关系）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R’’,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都有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′′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一般将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 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的自反闭包记作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r(R)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，对称闭包记作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s(R)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，传递闭包记作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t(R)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4647426"/>
              </a:xfrm>
              <a:prstGeom prst="rect">
                <a:avLst/>
              </a:prstGeom>
              <a:blipFill>
                <a:blip r:embed="rId3"/>
                <a:stretch>
                  <a:fillRect l="-1995" t="-2362" r="-1938" b="-3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8990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39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关系的闭包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4.4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为非空集合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上的关系，则有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p>
                    </m:sSup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；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𝑠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；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𝑡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∪…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可以直接利用上述三个公式来计算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的闭包。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662541"/>
              </a:xfrm>
              <a:prstGeom prst="rect">
                <a:avLst/>
              </a:prstGeom>
              <a:blipFill>
                <a:blip r:embed="rId3"/>
                <a:stretch>
                  <a:fillRect l="-1995" t="-2995" b="-4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26615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关系的闭包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4498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A={a, b, c, d}, R={&lt;a, b&gt;,&lt;b, a&gt;,&lt;b, c&gt;,&lt;c, d&gt;}</a:t>
                </a: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,&gt;,&lt;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&gt;}</m:t>
                    </m:r>
                  </m:oMath>
                </a14:m>
                <a:r>
                  <a:rPr lang="en-US" altLang="zh-CN" sz="3200" b="0" dirty="0">
                    <a:sym typeface="Wingdings" panose="05000000000000000000" pitchFamily="2" charset="2"/>
                  </a:rPr>
                  <a:t> </a:t>
                </a: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𝑠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&lt;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  <m:r>
                          <a:rPr lang="en-US" altLang="zh-CN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𝑐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&gt;}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4498924"/>
              </a:xfrm>
              <a:prstGeom prst="rect">
                <a:avLst/>
              </a:prstGeom>
              <a:blipFill>
                <a:blip r:embed="rId3"/>
                <a:stretch>
                  <a:fillRect l="-1425" t="-1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52672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关系的闭包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可以利用关系矩阵求闭包。设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的关系矩阵为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M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，相应的自反、对称、传递闭包的矩阵为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𝑀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𝑀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𝑠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𝑀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则有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𝑟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𝐸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𝑠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𝑡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𝑀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</m:t>
                      </m:r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+…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554545"/>
              </a:xfrm>
              <a:prstGeom prst="rect">
                <a:avLst/>
              </a:prstGeom>
              <a:blipFill>
                <a:blip r:embed="rId3"/>
                <a:stretch>
                  <a:fillRect l="-1425" t="-3103" r="-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3624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4.12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是非空集合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上的关系，如果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是自反的、对称的和传递的，则称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等价关系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。对于任何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&gt;∈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等价关系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，则记作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~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185214"/>
              </a:xfrm>
              <a:prstGeom prst="rect">
                <a:avLst/>
              </a:prstGeom>
              <a:blipFill>
                <a:blip r:embed="rId3"/>
                <a:stretch>
                  <a:fillRect l="-1995" t="-5014" r="-1425" b="-8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6898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4.13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是非空集合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上的等价关系，对任意的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令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𝑥𝑅𝑦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x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关于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的等价类，简称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x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等价类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，简记为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[x]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185214"/>
              </a:xfrm>
              <a:prstGeom prst="rect">
                <a:avLst/>
              </a:prstGeom>
              <a:blipFill>
                <a:blip r:embed="rId3"/>
                <a:stretch>
                  <a:fillRect l="-1995" t="-5014" b="-8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6068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4.5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是非空集合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上的等价关系，对任意的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下面的结论成立。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≠∅, 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且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𝑥𝑅𝑦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=[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]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；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/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𝑅𝑦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∩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</m:d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=∅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zh-CN" altLang="en-US" sz="3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∈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b>
                      <m:sup/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[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]</m:t>
                        </m:r>
                      </m:e>
                    </m:nary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）表明任何等价类都是集合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的非空子集。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）和（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）说明在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中任取两个元素，它们的等价类或是相反，或是不交。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）表明所有等价类的并集就是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5632311"/>
              </a:xfrm>
              <a:prstGeom prst="rect">
                <a:avLst/>
              </a:prstGeom>
              <a:blipFill>
                <a:blip r:embed="rId3"/>
                <a:stretch>
                  <a:fillRect l="-1995" t="-1948" r="-1026" b="-25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66472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513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4.14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为非空集合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上的等价关系，以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的所有等价类为元素的集合称作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在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下的商集，记作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/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即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/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𝑅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</m:t>
                      </m:r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非空集合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上的全域关系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上的等价关系，对任意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有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商集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/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非空集合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上的恒等关系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上的等价关系，对任意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有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商集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/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={{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}|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5139869"/>
              </a:xfrm>
              <a:prstGeom prst="rect">
                <a:avLst/>
              </a:prstGeom>
              <a:blipFill>
                <a:blip r:embed="rId3"/>
                <a:stretch>
                  <a:fillRect l="-1995" t="-2135" r="-1425" b="-2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32232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划分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4.15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是非空集合，如果存在一个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的子集族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满足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以下条件：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∅∉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；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任意两个元素不交；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所有元素的并集等于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的一个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划分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，且称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𝜋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的元素为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划分块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662541"/>
              </a:xfrm>
              <a:prstGeom prst="rect">
                <a:avLst/>
              </a:prstGeom>
              <a:blipFill>
                <a:blip r:embed="rId3"/>
                <a:stretch>
                  <a:fillRect l="-1995" t="-2995" b="-4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670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划分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考虑集合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下列子集族：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{{a}, {b, c}, {d}}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{{a, b, c, d}}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{{a, b}, {c}, {a, d}}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∅,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{a, b}, {c, d}}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5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{{a}, {b, c}}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046988"/>
              </a:xfrm>
              <a:prstGeom prst="rect">
                <a:avLst/>
              </a:prstGeom>
              <a:blipFill>
                <a:blip r:embed="rId3"/>
                <a:stretch>
                  <a:fillRect l="-1425" t="-2600" b="-5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9851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偏序关系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662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4.16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为非空集合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上的关系，如果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是自反的、反对称的和传递的，则称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偏序关系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。简称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偏序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，记作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≼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任何集合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上的恒等关系，集合的幂集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P(A)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上的包含关系，实数集上的小于或等于关系，正整数集上的整除关系都是偏序关系。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662541"/>
              </a:xfrm>
              <a:prstGeom prst="rect">
                <a:avLst/>
              </a:prstGeom>
              <a:blipFill>
                <a:blip r:embed="rId3"/>
                <a:stretch>
                  <a:fillRect l="-1995" t="-2995" r="-1425" b="-4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70322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49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偏序集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4278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4.17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一个非空集合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上的偏序关系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R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一起称作偏序集，记作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&lt;A, R&gt;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4.18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,≼&gt;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偏序集，对于任意的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≼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或者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≼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成立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x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与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y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是可比的。如果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(即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≼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，且不存在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≺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𝑧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≺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y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盖住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x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4278094"/>
              </a:xfrm>
              <a:prstGeom prst="rect">
                <a:avLst/>
              </a:prstGeom>
              <a:blipFill>
                <a:blip r:embed="rId3"/>
                <a:stretch>
                  <a:fillRect l="-1995" t="-2564" r="-5245"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0218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全序集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4.19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,≼&gt;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为偏序集，若对任意的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x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和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y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都可比，则称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≼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A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上的全序关系，且称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,≼&gt;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全序集。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1692771"/>
              </a:xfrm>
              <a:prstGeom prst="rect">
                <a:avLst/>
              </a:prstGeom>
              <a:blipFill>
                <a:blip r:embed="rId3"/>
                <a:stretch>
                  <a:fillRect l="-1995" t="-6475" r="-1254" b="-11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25940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偏序集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513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4.20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,≼&gt;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为偏序集，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≼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成立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y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最小元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≼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成立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y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最大元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¬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≺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成立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y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极小元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¬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∧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≺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成立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y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极大元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5139869"/>
              </a:xfrm>
              <a:prstGeom prst="rect">
                <a:avLst/>
              </a:prstGeom>
              <a:blipFill>
                <a:blip r:embed="rId3"/>
                <a:stretch>
                  <a:fillRect l="-1995" t="-2135" r="-1482" b="-2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50332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偏序集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0AD1263-71E9-D003-B5CA-E1C8D593EB84}"/>
              </a:ext>
            </a:extLst>
          </p:cNvPr>
          <p:cNvSpPr txBox="1"/>
          <p:nvPr/>
        </p:nvSpPr>
        <p:spPr>
          <a:xfrm>
            <a:off x="750277" y="860209"/>
            <a:ext cx="1069144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ym typeface="Wingdings" panose="05000000000000000000" pitchFamily="2" charset="2"/>
              </a:rPr>
              <a:t>由定义</a:t>
            </a:r>
            <a:r>
              <a:rPr lang="en-US" altLang="zh-CN" sz="3200" dirty="0">
                <a:sym typeface="Wingdings" panose="05000000000000000000" pitchFamily="2" charset="2"/>
              </a:rPr>
              <a:t>4.20</a:t>
            </a:r>
            <a:r>
              <a:rPr lang="zh-CN" altLang="en-US" sz="3200" dirty="0">
                <a:sym typeface="Wingdings" panose="05000000000000000000" pitchFamily="2" charset="2"/>
              </a:rPr>
              <a:t>可知，如果</a:t>
            </a:r>
            <a:r>
              <a:rPr lang="en-US" altLang="zh-CN" sz="3200" dirty="0">
                <a:sym typeface="Wingdings" panose="05000000000000000000" pitchFamily="2" charset="2"/>
              </a:rPr>
              <a:t>y</a:t>
            </a:r>
            <a:r>
              <a:rPr lang="zh-CN" altLang="en-US" sz="3200" dirty="0">
                <a:sym typeface="Wingdings" panose="05000000000000000000" pitchFamily="2" charset="2"/>
              </a:rPr>
              <a:t>是</a:t>
            </a:r>
            <a:r>
              <a:rPr lang="en-US" altLang="zh-CN" sz="3200" dirty="0">
                <a:sym typeface="Wingdings" panose="05000000000000000000" pitchFamily="2" charset="2"/>
              </a:rPr>
              <a:t>B</a:t>
            </a:r>
            <a:r>
              <a:rPr lang="zh-CN" altLang="en-US" sz="3200" dirty="0">
                <a:sym typeface="Wingdings" panose="05000000000000000000" pitchFamily="2" charset="2"/>
              </a:rPr>
              <a:t>的最小元，则它“小于”</a:t>
            </a:r>
            <a:r>
              <a:rPr lang="en-US" altLang="zh-CN" sz="3200" dirty="0">
                <a:sym typeface="Wingdings" panose="05000000000000000000" pitchFamily="2" charset="2"/>
              </a:rPr>
              <a:t>B</a:t>
            </a:r>
            <a:r>
              <a:rPr lang="zh-CN" altLang="en-US" sz="3200" dirty="0">
                <a:sym typeface="Wingdings" panose="05000000000000000000" pitchFamily="2" charset="2"/>
              </a:rPr>
              <a:t>中所有其他的元；如果</a:t>
            </a:r>
            <a:r>
              <a:rPr lang="en-US" altLang="zh-CN" sz="3200" dirty="0">
                <a:sym typeface="Wingdings" panose="05000000000000000000" pitchFamily="2" charset="2"/>
              </a:rPr>
              <a:t>y</a:t>
            </a:r>
            <a:r>
              <a:rPr lang="zh-CN" altLang="en-US" sz="3200" dirty="0">
                <a:sym typeface="Wingdings" panose="05000000000000000000" pitchFamily="2" charset="2"/>
              </a:rPr>
              <a:t>是</a:t>
            </a:r>
            <a:r>
              <a:rPr lang="en-US" altLang="zh-CN" sz="3200" dirty="0">
                <a:sym typeface="Wingdings" panose="05000000000000000000" pitchFamily="2" charset="2"/>
              </a:rPr>
              <a:t>B</a:t>
            </a:r>
            <a:r>
              <a:rPr lang="zh-CN" altLang="en-US" sz="3200" dirty="0">
                <a:sym typeface="Wingdings" panose="05000000000000000000" pitchFamily="2" charset="2"/>
              </a:rPr>
              <a:t>的最大元，则它“大于”</a:t>
            </a:r>
            <a:r>
              <a:rPr lang="en-US" altLang="zh-CN" sz="3200" dirty="0">
                <a:sym typeface="Wingdings" panose="05000000000000000000" pitchFamily="2" charset="2"/>
              </a:rPr>
              <a:t>B</a:t>
            </a:r>
            <a:r>
              <a:rPr lang="zh-CN" altLang="en-US" sz="3200" dirty="0">
                <a:sym typeface="Wingdings" panose="05000000000000000000" pitchFamily="2" charset="2"/>
              </a:rPr>
              <a:t>中所有其他的元。最大元或最小元可能存在，也可能不存在。如果存在，则是唯一的。</a:t>
            </a:r>
            <a:endParaRPr lang="en-US" altLang="zh-CN" sz="3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199205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513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4.21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,≼&gt;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为偏序集，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≼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成立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y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上界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A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∀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≼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成立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y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下界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）令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  <m:r>
                          <a:rPr lang="zh-CN" altLang="en-US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是</m:t>
                        </m:r>
                        <m:r>
                          <m:rPr>
                            <m:sty m:val="p"/>
                          </m:rPr>
                          <a:rPr lang="en-US" altLang="zh-CN" sz="3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B</m:t>
                        </m:r>
                        <m:r>
                          <a:rPr lang="zh-CN" altLang="en-US" sz="3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的</m:t>
                        </m:r>
                        <m:r>
                          <a:rPr lang="zh-CN" altLang="en-US" sz="3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上界</m:t>
                        </m:r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C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的最小元为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最小上界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或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上确界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）令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𝐷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|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m:rPr>
                        <m:sty m:val="p"/>
                      </m:rPr>
                      <a:rPr lang="en-US" altLang="zh-CN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B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下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D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的最大元为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B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最大下界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或</a:t>
                </a:r>
                <a:r>
                  <a:rPr lang="zh-CN" altLang="en-US" sz="3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下确界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5139869"/>
              </a:xfrm>
              <a:prstGeom prst="rect">
                <a:avLst/>
              </a:prstGeom>
              <a:blipFill>
                <a:blip r:embed="rId3"/>
                <a:stretch>
                  <a:fillRect l="-1995" t="-2135" r="-1368" b="-2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01737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464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4.22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二元关系，若对任意的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𝑑𝑜𝑚𝐹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都存在唯一的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𝑟𝑎𝑛𝐹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使得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𝑥𝐹𝑦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成立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0" dirty="0">
                    <a:sym typeface="Wingdings" panose="05000000000000000000" pitchFamily="2" charset="2"/>
                  </a:rPr>
                  <a:t>函数。</a:t>
                </a:r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注：函数一定要满足第一元素和第二元素一一对应的性质。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={&lt;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&gt;,&lt;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&gt;,&lt;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&gt;}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是函数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&gt;,&lt;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&gt;</m:t>
                        </m:r>
                      </m:e>
                    </m:d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不是函数，不满足一一对应的性质。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4647426"/>
              </a:xfrm>
              <a:prstGeom prst="rect">
                <a:avLst/>
              </a:prstGeom>
              <a:blipFill>
                <a:blip r:embed="rId3"/>
                <a:stretch>
                  <a:fillRect l="-1995" t="-2362" r="-1995" b="-3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63075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&gt;∈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函数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在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函数值。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在离散数学中，函数是集合的一种，所以有：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𝑓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𝑔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⟺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𝑓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⊆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𝑔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𝑔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⊆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𝑓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554545"/>
              </a:xfrm>
              <a:prstGeom prst="rect">
                <a:avLst/>
              </a:prstGeom>
              <a:blipFill>
                <a:blip r:embed="rId3"/>
                <a:stretch>
                  <a:fillRect l="-1425" t="-3103" r="-1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61637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4.23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集合，如果函数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满足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以下条件：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𝑑𝑜𝑚𝑓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𝑟𝑎𝑛𝑓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函数，记作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677656"/>
              </a:xfrm>
              <a:prstGeom prst="rect">
                <a:avLst/>
              </a:prstGeom>
              <a:blipFill>
                <a:blip r:embed="rId3"/>
                <a:stretch>
                  <a:fillRect l="-1995" t="-4100" b="-6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01522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18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4.24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集合，所有从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函数构成集合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p>
                    </m:sSup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读作“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上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”，即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𝐴</m:t>
                          </m:r>
                        </m:sup>
                      </m:sSup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𝑓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|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𝑓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: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188612"/>
              </a:xfrm>
              <a:prstGeom prst="rect">
                <a:avLst/>
              </a:prstGeom>
              <a:blipFill>
                <a:blip r:embed="rId3"/>
                <a:stretch>
                  <a:fillRect l="-1995" t="-50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3449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5018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0,1,2</m:t>
                        </m:r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8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={&lt;0,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&gt;,&lt;1,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&gt;,&lt;2,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&gt;}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&lt;0,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&gt;,&lt;1,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&gt;,&lt;2,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</m:t>
                          </m:r>
                        </m:e>
                      </m:d>
                    </m:oMath>
                  </m:oMathPara>
                </a14:m>
                <a:endParaRPr lang="en-US" altLang="zh-CN" sz="3200" b="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&lt;0,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&gt;,&lt;1,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&gt;,&lt;2,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</m:t>
                          </m:r>
                        </m:e>
                      </m:d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4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&lt;0,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&gt;,&lt;1,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&gt;,&lt;2,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</m:t>
                          </m:r>
                        </m:e>
                      </m:d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5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&lt;0,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&gt;,&lt;1,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&gt;,&lt;2,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</m:t>
                          </m:r>
                        </m:e>
                      </m:d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6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&lt;0,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&gt;,&lt;1,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&gt;,&lt;2,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</m:t>
                          </m:r>
                        </m:e>
                      </m:d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7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&lt;0,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&gt;,&lt;1,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&gt;,&lt;2,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</m:t>
                          </m:r>
                        </m:e>
                      </m:d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8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&lt;0,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&gt;,&lt;1,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&gt;,&lt;2,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&gt;</m:t>
                          </m:r>
                        </m:e>
                      </m:d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如果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不全是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0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，则有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sup>
                        </m:sSup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5018746"/>
              </a:xfrm>
              <a:prstGeom prst="rect">
                <a:avLst/>
              </a:prstGeom>
              <a:blipFill>
                <a:blip r:embed="rId3"/>
                <a:stretch>
                  <a:fillRect l="-1425" t="-1458" b="-3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5176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59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18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4.25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p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在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下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的像是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𝑓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d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𝑥</m:t>
                              </m:r>
                            </m:e>
                          </m:d>
                        </m:e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𝑓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[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𝐴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′]</m:t>
                      </m:r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时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𝑟𝑎𝑛𝑓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函数的像。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185214"/>
              </a:xfrm>
              <a:prstGeom prst="rect">
                <a:avLst/>
              </a:prstGeom>
              <a:blipFill>
                <a:blip r:embed="rId3"/>
                <a:stretch>
                  <a:fillRect l="-1995" t="-5014" b="-8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10162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60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定义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4.26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𝑟𝑎𝑛𝑓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满射的；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）若对于任何的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都有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单射的（或一对一的）。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）若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既是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漫射的，又是单设的，则称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双射的。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170099"/>
              </a:xfrm>
              <a:prstGeom prst="rect">
                <a:avLst/>
              </a:prstGeom>
              <a:blipFill>
                <a:blip r:embed="rId3"/>
                <a:stretch>
                  <a:fillRect l="-1995" t="-3462" b="-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55316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61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是否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函数，并指出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是否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为单射、满射、或双射。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1,2,3,4,5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6,7,8,9,10</m:t>
                        </m:r>
                      </m:e>
                    </m:d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(1)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={&lt;1,8&gt;,&lt;3,9&gt;,&lt;4,10&gt;,&lt;2,6&gt;,&lt;5,9&gt;}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;</a:t>
                </a: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(2)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&lt;1,8&gt;,&lt;3,10&gt;,&lt;2,6&gt;,&lt;4,9&gt;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;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(3)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&lt;1,7&gt;,&lt;2,6&gt;,&lt;4,5&gt;,&lt;1,9&gt;,&lt;5,10&gt;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3539430"/>
              </a:xfrm>
              <a:prstGeom prst="rect">
                <a:avLst/>
              </a:prstGeom>
              <a:blipFill>
                <a:blip r:embed="rId3"/>
                <a:stretch>
                  <a:fillRect l="-1425" t="-2238" r="-3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90484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62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判断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是否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函数，并指出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是否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为单射、满射、或双射。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1,2,3,4,5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6,7,8,9,10</m:t>
                        </m:r>
                      </m:e>
                    </m:d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(1)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={&lt;1,8&gt;,&lt;3,9&gt;,&lt;4,10&gt;,&lt;2,6&gt;,&lt;5,9&gt;}</m:t>
                    </m:r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;</a:t>
                </a: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(2)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&lt;1,8&gt;,&lt;3,10&gt;,&lt;2,6&gt;,&lt;4,9&gt;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;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en-US" altLang="zh-CN" sz="3200" dirty="0">
                    <a:sym typeface="Wingdings" panose="05000000000000000000" pitchFamily="2" charset="2"/>
                  </a:rPr>
                  <a:t>(3)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&lt;1,7&gt;,&lt;2,6&gt;,&lt;4,5&gt;,&lt;1,9&gt;,&lt;5,10&gt;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函数，但既非单射，又非满射；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不是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函数；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不是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函数。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5016758"/>
              </a:xfrm>
              <a:prstGeom prst="rect">
                <a:avLst/>
              </a:prstGeom>
              <a:blipFill>
                <a:blip r:embed="rId3"/>
                <a:stretch>
                  <a:fillRect l="-1425" t="-1580" r="-399" b="-30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34597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63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，如果存在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使得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对所有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都有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𝑐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常函数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上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的恒等关系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就是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上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恒等函数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，对于所有的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都有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，对于任意的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，就称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单调递增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的。如果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就称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严格单调递增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的。单调递增，严格单调递增，单调递减，严格单调递减函数统称为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单调函数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4524315"/>
              </a:xfrm>
              <a:prstGeom prst="rect">
                <a:avLst/>
              </a:prstGeom>
              <a:blipFill>
                <a:blip r:embed="rId3"/>
                <a:stretch>
                  <a:fillRect l="-1425" t="-1752" r="-912" b="-35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3590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64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4145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4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集合，对于任意的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⊆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′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特征函数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zh-CN" altLang="en-US" sz="32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𝜒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𝐴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→{0,1}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定义为：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𝜒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eqArr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1 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𝑎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∈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′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0 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𝑎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∈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𝐴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′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5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上的等价关系，定义一个从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/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的函数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/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d>
                      <m:d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</m:d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=[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]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它把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中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映射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等价类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[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]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商集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/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的</a:t>
                </a:r>
                <a:r>
                  <a:rPr lang="zh-CN" altLang="en-US" sz="3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自然映射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4145494"/>
              </a:xfrm>
              <a:prstGeom prst="rect">
                <a:avLst/>
              </a:prstGeom>
              <a:blipFill>
                <a:blip r:embed="rId3"/>
                <a:stretch>
                  <a:fillRect l="-1425" t="-1912" b="-3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7332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65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sym typeface="Wingdings" panose="05000000000000000000" pitchFamily="2" charset="2"/>
                  </a:rPr>
                  <a:t>函数是特殊的二元关系，两个函数的复合本质上就是两个关系的合成。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3200" b="1" dirty="0">
                    <a:solidFill>
                      <a:schemeClr val="accent5"/>
                    </a:solidFill>
                  </a:rPr>
                  <a:t>4.6</a:t>
                </a:r>
                <a:r>
                  <a:rPr lang="zh-CN" altLang="en-US" sz="32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为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函数，则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也是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函数，且满足以下条件：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𝑑𝑜𝑚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∘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∈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𝑑𝑜𝑚𝐺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∧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∈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𝑑𝑜𝑚𝐹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;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）对于任意的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𝑑𝑜𝑚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𝐹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∘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𝐺</m:t>
                        </m:r>
                      </m:e>
                    </m:d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))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推论：设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且对任意的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有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))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AD1263-71E9-D003-B5CA-E1C8D593E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4524315"/>
              </a:xfrm>
              <a:prstGeom prst="rect">
                <a:avLst/>
              </a:prstGeom>
              <a:blipFill>
                <a:blip r:embed="rId3"/>
                <a:stretch>
                  <a:fillRect l="-1425" t="-1752" b="-35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65668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66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4.7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1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）如果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满射的，则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也是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满射的。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2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）如果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单射的，则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也是单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射的。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3200" dirty="0">
                    <a:sym typeface="Wingdings" panose="05000000000000000000" pitchFamily="2" charset="2"/>
                  </a:rPr>
                  <a:t>3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）如果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、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射的，则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也是双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射的。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677656"/>
              </a:xfrm>
              <a:prstGeom prst="rect">
                <a:avLst/>
              </a:prstGeom>
              <a:blipFill>
                <a:blip r:embed="rId3"/>
                <a:stretch>
                  <a:fillRect l="-1995" t="-4100" b="-6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52340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67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1692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定理</a:t>
                </a:r>
                <a:r>
                  <a:rPr lang="en-US" altLang="zh-CN" sz="4000" b="1" dirty="0">
                    <a:solidFill>
                      <a:schemeClr val="accent5"/>
                    </a:solidFill>
                  </a:rPr>
                  <a:t>4.8</a:t>
                </a:r>
                <a:r>
                  <a:rPr lang="zh-CN" altLang="en-US" sz="4000" b="1" dirty="0">
                    <a:solidFill>
                      <a:schemeClr val="accent5"/>
                    </a:solidFill>
                  </a:rPr>
                  <a:t>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: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是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双射的，则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是函数，并且是从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到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zh-CN" altLang="en-US" sz="3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的</m:t>
                    </m:r>
                  </m:oMath>
                </a14:m>
                <a:r>
                  <a:rPr lang="zh-CN" altLang="en-US" sz="3200" dirty="0">
                    <a:sym typeface="Wingdings" panose="05000000000000000000" pitchFamily="2" charset="2"/>
                  </a:rPr>
                  <a:t>双射函数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1692771"/>
              </a:xfrm>
              <a:prstGeom prst="rect">
                <a:avLst/>
              </a:prstGeom>
              <a:blipFill>
                <a:blip r:embed="rId3"/>
                <a:stretch>
                  <a:fillRect l="-1995" t="-6475" r="-684" b="-10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25069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51439-8F09-8C58-250D-1D14547B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DC0014-9E92-41AC-6466-AFE858395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2BB865-BE3C-4DEF-84E9-D9349E7A4EF9}" type="slidenum">
              <a:rPr lang="zh-CN" altLang="en-US" smtClean="0"/>
              <a:pPr/>
              <a:t>68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EAE2E4E-694F-D287-006B-ED87358C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992" y="136525"/>
            <a:ext cx="10422533" cy="398438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/>
              <p:nvPr/>
            </p:nvSpPr>
            <p:spPr>
              <a:xfrm>
                <a:off x="750277" y="860209"/>
                <a:ext cx="10691446" cy="2533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4000" b="1" dirty="0">
                    <a:solidFill>
                      <a:schemeClr val="accent5"/>
                    </a:solidFill>
                  </a:rPr>
                  <a:t>例题：</a:t>
                </a: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h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sSup>
                      <m:sSup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p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altLang="zh-CN" sz="3200" dirty="0">
                    <a:sym typeface="Wingdings" panose="05000000000000000000" pitchFamily="2" charset="2"/>
                  </a:rPr>
                  <a:t>, 	</a:t>
                </a:r>
                <a:r>
                  <a:rPr lang="zh-CN" altLang="en-US" sz="3200" dirty="0">
                    <a:sym typeface="Wingdings" panose="05000000000000000000" pitchFamily="2" charset="2"/>
                  </a:rPr>
                  <a:t>且有</a:t>
                </a:r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𝑓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+3, 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𝑔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=2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+1, 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h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e>
                      </m:d>
                      <m:r>
                        <a:rPr lang="en-US" altLang="zh-CN" sz="32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num>
                        <m:den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sz="3200" dirty="0">
                  <a:sym typeface="Wingdings" panose="05000000000000000000" pitchFamily="2" charset="2"/>
                </a:endParaRPr>
              </a:p>
              <a:p>
                <a:r>
                  <a:rPr lang="zh-CN" altLang="en-US" sz="3200" dirty="0">
                    <a:sym typeface="Wingdings" panose="05000000000000000000" pitchFamily="2" charset="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h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h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h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h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∘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𝑔</m:t>
                    </m:r>
                  </m:oMath>
                </a14:m>
                <a:endParaRPr lang="en-US" altLang="zh-CN" sz="32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355FDE8-AB67-5CC4-BF9C-432DFCB25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77" y="860209"/>
                <a:ext cx="10691446" cy="2533001"/>
              </a:xfrm>
              <a:prstGeom prst="rect">
                <a:avLst/>
              </a:prstGeom>
              <a:blipFill>
                <a:blip r:embed="rId3"/>
                <a:stretch>
                  <a:fillRect l="-1995" t="-4327" b="-6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48871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" t="-376" r="1097" b="376"/>
          <a:stretch/>
        </p:blipFill>
        <p:spPr>
          <a:xfrm>
            <a:off x="-34506" y="-21214"/>
            <a:ext cx="12249510" cy="688784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4054567"/>
            <a:ext cx="12249510" cy="28280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Shape 45"/>
          <p:cNvSpPr/>
          <p:nvPr/>
        </p:nvSpPr>
        <p:spPr>
          <a:xfrm>
            <a:off x="2395549" y="4418398"/>
            <a:ext cx="8001969" cy="830997"/>
          </a:xfrm>
          <a:prstGeom prst="rect">
            <a:avLst/>
          </a:prstGeom>
          <a:noFill/>
          <a:ln w="12700">
            <a:noFill/>
            <a:miter lim="400000"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wrap="square" lIns="45720" tIns="45720" rIns="45720" bIns="4572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algn="ctr"/>
            <a:r>
              <a:rPr lang="zh-CN" altLang="en-US" sz="48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谢谢！</a:t>
            </a:r>
          </a:p>
        </p:txBody>
      </p:sp>
      <p:grpSp>
        <p:nvGrpSpPr>
          <p:cNvPr id="9" name="组合 45"/>
          <p:cNvGrpSpPr/>
          <p:nvPr/>
        </p:nvGrpSpPr>
        <p:grpSpPr>
          <a:xfrm>
            <a:off x="2050421" y="5500321"/>
            <a:ext cx="7946680" cy="499624"/>
            <a:chOff x="2002264" y="3399020"/>
            <a:chExt cx="8187473" cy="499622"/>
          </a:xfrm>
        </p:grpSpPr>
        <p:sp>
          <p:nvSpPr>
            <p:cNvPr id="17" name="矩形 17"/>
            <p:cNvSpPr>
              <a:spLocks noChangeArrowheads="1"/>
            </p:cNvSpPr>
            <p:nvPr/>
          </p:nvSpPr>
          <p:spPr bwMode="auto">
            <a:xfrm>
              <a:off x="3860796" y="3399020"/>
              <a:ext cx="4395931" cy="499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000" dirty="0">
                  <a:solidFill>
                    <a:prstClr val="white"/>
                  </a:solidFill>
                  <a:effectLst>
                    <a:innerShdw blurRad="63500" dist="50800">
                      <a:prstClr val="black">
                        <a:alpha val="50000"/>
                      </a:prstClr>
                    </a:innerShdw>
                  </a:effectLst>
                  <a:latin typeface="微软雅黑"/>
                  <a:ea typeface="微软雅黑"/>
                </a:rPr>
                <a:t>邬渊</a:t>
              </a:r>
              <a:endParaRPr lang="en-US" altLang="zh-CN" sz="2000" dirty="0">
                <a:solidFill>
                  <a:prstClr val="white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  <a:latin typeface="微软雅黑"/>
                <a:ea typeface="微软雅黑"/>
              </a:endParaRPr>
            </a:p>
          </p:txBody>
        </p:sp>
        <p:cxnSp>
          <p:nvCxnSpPr>
            <p:cNvPr id="18" name="直接连接符 13"/>
            <p:cNvCxnSpPr/>
            <p:nvPr/>
          </p:nvCxnSpPr>
          <p:spPr bwMode="auto">
            <a:xfrm>
              <a:off x="2002264" y="3705778"/>
              <a:ext cx="2329187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  <p:cxnSp>
          <p:nvCxnSpPr>
            <p:cNvPr id="19" name="直接连接符 14"/>
            <p:cNvCxnSpPr/>
            <p:nvPr/>
          </p:nvCxnSpPr>
          <p:spPr bwMode="auto">
            <a:xfrm>
              <a:off x="7828119" y="3705778"/>
              <a:ext cx="2361618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</a:ln>
            <a:effectLst/>
          </p:spPr>
        </p:cxnSp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8" r="55688" b="42178"/>
          <a:stretch/>
        </p:blipFill>
        <p:spPr>
          <a:xfrm flipH="1">
            <a:off x="1727201" y="685800"/>
            <a:ext cx="1118396" cy="14224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6" t="40799" r="31019" b="39942"/>
          <a:stretch/>
        </p:blipFill>
        <p:spPr>
          <a:xfrm>
            <a:off x="7874000" y="1348059"/>
            <a:ext cx="30480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505178" y="1026073"/>
            <a:ext cx="1137053" cy="4857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7" t="73966" b="11219"/>
          <a:stretch/>
        </p:blipFill>
        <p:spPr>
          <a:xfrm>
            <a:off x="9956800" y="2935491"/>
            <a:ext cx="1137053" cy="4857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389" y="943829"/>
            <a:ext cx="5228265" cy="2902521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DA83F4-0262-4454-9773-6006B56D6F37}" type="slidenum">
              <a:rPr lang="zh-CN" altLang="en-US" smtClean="0">
                <a:solidFill>
                  <a:prstClr val="white"/>
                </a:solidFill>
              </a:rPr>
              <a:pPr/>
              <a:t>69</a:t>
            </a:fld>
            <a:endParaRPr lang="zh-CN" altLang="en-US" dirty="0">
              <a:solidFill>
                <a:prstClr val="white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321" r="16752"/>
          <a:stretch/>
        </p:blipFill>
        <p:spPr>
          <a:xfrm>
            <a:off x="8580033" y="0"/>
            <a:ext cx="3634971" cy="330446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412" y="639326"/>
            <a:ext cx="931677" cy="93318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7937867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fallOve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清风素材 https://12sc.taobao.com/">
  <a:themeElements>
    <a:clrScheme name="6_Colored Theme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377790"/>
      </a:accent1>
      <a:accent2>
        <a:srgbClr val="189A80"/>
      </a:accent2>
      <a:accent3>
        <a:srgbClr val="F09C2A"/>
      </a:accent3>
      <a:accent4>
        <a:srgbClr val="D24132"/>
      </a:accent4>
      <a:accent5>
        <a:srgbClr val="564266"/>
      </a:accent5>
      <a:accent6>
        <a:srgbClr val="686868"/>
      </a:accent6>
      <a:hlink>
        <a:srgbClr val="FFFFFF"/>
      </a:hlink>
      <a:folHlink>
        <a:srgbClr val="595959"/>
      </a:folHlink>
    </a:clrScheme>
    <a:fontScheme name="Arial">
      <a:majorFont>
        <a:latin typeface="Arial"/>
        <a:ea typeface=""/>
        <a:cs typeface="FontAwesome"/>
      </a:majorFont>
      <a:minorFont>
        <a:latin typeface="Arial"/>
        <a:ea typeface=""/>
        <a:cs typeface="FontAwesom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41753</TotalTime>
  <Words>6069</Words>
  <Application>Microsoft Office PowerPoint</Application>
  <PresentationFormat>宽屏</PresentationFormat>
  <Paragraphs>615</Paragraphs>
  <Slides>69</Slides>
  <Notes>69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69</vt:i4>
      </vt:variant>
    </vt:vector>
  </HeadingPairs>
  <TitlesOfParts>
    <vt:vector size="80" baseType="lpstr">
      <vt:lpstr>FontAwesome</vt:lpstr>
      <vt:lpstr>等线</vt:lpstr>
      <vt:lpstr>等线 Light</vt:lpstr>
      <vt:lpstr>方正粗黑宋简体</vt:lpstr>
      <vt:lpstr>微软雅黑</vt:lpstr>
      <vt:lpstr>Arial</vt:lpstr>
      <vt:lpstr>Cambria Math</vt:lpstr>
      <vt:lpstr>Times New Roman</vt:lpstr>
      <vt:lpstr>Wingdings</vt:lpstr>
      <vt:lpstr>Office 主题​​</vt:lpstr>
      <vt:lpstr>清风素材 https://12sc.taobao.com/</vt:lpstr>
      <vt:lpstr>PowerPoint 演示文稿</vt:lpstr>
      <vt:lpstr>集合的基数（例题）</vt:lpstr>
      <vt:lpstr>包含排斥原理</vt:lpstr>
      <vt:lpstr>包含排斥原理(三种性质)</vt:lpstr>
      <vt:lpstr>集合的基数</vt:lpstr>
      <vt:lpstr>量词否定等值式</vt:lpstr>
      <vt:lpstr>集合的笛卡尔积与二元关系</vt:lpstr>
      <vt:lpstr>有序对</vt:lpstr>
      <vt:lpstr>有序n元组</vt:lpstr>
      <vt:lpstr>笛卡尔积运算</vt:lpstr>
      <vt:lpstr>笛卡尔积的性质</vt:lpstr>
      <vt:lpstr>笛卡尔积的性质</vt:lpstr>
      <vt:lpstr>笛卡尔积</vt:lpstr>
      <vt:lpstr>笛卡尔积</vt:lpstr>
      <vt:lpstr>笛卡尔积</vt:lpstr>
      <vt:lpstr>笛卡尔积</vt:lpstr>
      <vt:lpstr>n阶笛卡尔乘积</vt:lpstr>
      <vt:lpstr>二元关系</vt:lpstr>
      <vt:lpstr>二元关系</vt:lpstr>
      <vt:lpstr>二元关系</vt:lpstr>
      <vt:lpstr>二元关系</vt:lpstr>
      <vt:lpstr>关系的运算</vt:lpstr>
      <vt:lpstr>关系的运算</vt:lpstr>
      <vt:lpstr>关系的运算</vt:lpstr>
      <vt:lpstr>关系的运算</vt:lpstr>
      <vt:lpstr>关系的运算</vt:lpstr>
      <vt:lpstr>关系的运算</vt:lpstr>
      <vt:lpstr>关系的n次幂</vt:lpstr>
      <vt:lpstr>关系的幂运算</vt:lpstr>
      <vt:lpstr>关系的幂运算</vt:lpstr>
      <vt:lpstr>关系的幂运算</vt:lpstr>
      <vt:lpstr>关系的性质</vt:lpstr>
      <vt:lpstr>关系的性质</vt:lpstr>
      <vt:lpstr>关系的性质</vt:lpstr>
      <vt:lpstr>关系的性质</vt:lpstr>
      <vt:lpstr>关系的性质</vt:lpstr>
      <vt:lpstr>关系的闭包</vt:lpstr>
      <vt:lpstr>关系的闭包</vt:lpstr>
      <vt:lpstr>关系的闭包</vt:lpstr>
      <vt:lpstr>关系的闭包</vt:lpstr>
      <vt:lpstr>关系的闭包</vt:lpstr>
      <vt:lpstr>等价关系</vt:lpstr>
      <vt:lpstr>等价类</vt:lpstr>
      <vt:lpstr>等价关系</vt:lpstr>
      <vt:lpstr>商集</vt:lpstr>
      <vt:lpstr>划分</vt:lpstr>
      <vt:lpstr>划分</vt:lpstr>
      <vt:lpstr>偏序关系</vt:lpstr>
      <vt:lpstr>偏序集</vt:lpstr>
      <vt:lpstr>全序集</vt:lpstr>
      <vt:lpstr>偏序集</vt:lpstr>
      <vt:lpstr>偏序集</vt:lpstr>
      <vt:lpstr>界</vt:lpstr>
      <vt:lpstr>函数</vt:lpstr>
      <vt:lpstr>函数</vt:lpstr>
      <vt:lpstr>函数</vt:lpstr>
      <vt:lpstr>函数</vt:lpstr>
      <vt:lpstr>函数</vt:lpstr>
      <vt:lpstr>函数</vt:lpstr>
      <vt:lpstr>函数</vt:lpstr>
      <vt:lpstr>函数</vt:lpstr>
      <vt:lpstr>函数</vt:lpstr>
      <vt:lpstr>函数</vt:lpstr>
      <vt:lpstr>函数</vt:lpstr>
      <vt:lpstr>函数</vt:lpstr>
      <vt:lpstr>函数</vt:lpstr>
      <vt:lpstr>函数</vt:lpstr>
      <vt:lpstr>函数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邬 渊</cp:lastModifiedBy>
  <cp:revision>1965</cp:revision>
  <cp:lastPrinted>2019-05-20T00:00:00Z</cp:lastPrinted>
  <dcterms:created xsi:type="dcterms:W3CDTF">2019-04-24T04:43:00Z</dcterms:created>
  <dcterms:modified xsi:type="dcterms:W3CDTF">2025-03-17T03:52:33Z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2052-11.1.0.9209</vt:lpwstr>
  </property>
</Properties>
</file>
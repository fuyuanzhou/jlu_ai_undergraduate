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6"/>
  </p:notesMasterIdLst>
  <p:sldIdLst>
    <p:sldId id="267" r:id="rId3"/>
    <p:sldId id="414" r:id="rId4"/>
    <p:sldId id="367" r:id="rId5"/>
    <p:sldId id="366" r:id="rId6"/>
    <p:sldId id="369" r:id="rId7"/>
    <p:sldId id="370" r:id="rId8"/>
    <p:sldId id="422" r:id="rId9"/>
    <p:sldId id="423" r:id="rId10"/>
    <p:sldId id="424" r:id="rId11"/>
    <p:sldId id="371" r:id="rId12"/>
    <p:sldId id="425" r:id="rId13"/>
    <p:sldId id="426" r:id="rId14"/>
    <p:sldId id="427" r:id="rId15"/>
    <p:sldId id="399" r:id="rId16"/>
    <p:sldId id="429" r:id="rId17"/>
    <p:sldId id="434" r:id="rId18"/>
    <p:sldId id="400" r:id="rId19"/>
    <p:sldId id="431" r:id="rId20"/>
    <p:sldId id="430" r:id="rId21"/>
    <p:sldId id="432" r:id="rId22"/>
    <p:sldId id="402" r:id="rId23"/>
    <p:sldId id="433" r:id="rId24"/>
    <p:sldId id="334" r:id="rId25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948025412@qq.com" initials="9" lastIdx="1" clrIdx="0">
    <p:extLst>
      <p:ext uri="{19B8F6BF-5375-455C-9EA6-DF929625EA0E}">
        <p15:presenceInfo xmlns:p15="http://schemas.microsoft.com/office/powerpoint/2012/main" userId="9e74ee9f37df7a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4B5"/>
    <a:srgbClr val="9DC3E6"/>
    <a:srgbClr val="FFF2CC"/>
    <a:srgbClr val="FFD966"/>
    <a:srgbClr val="266980"/>
    <a:srgbClr val="2E75B5"/>
    <a:srgbClr val="572808"/>
    <a:srgbClr val="BDD7EE"/>
    <a:srgbClr val="1C647E"/>
    <a:srgbClr val="AC4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280" autoAdjust="0"/>
  </p:normalViewPr>
  <p:slideViewPr>
    <p:cSldViewPr snapToGrid="0" showGuides="1">
      <p:cViewPr varScale="1">
        <p:scale>
          <a:sx n="77" d="100"/>
          <a:sy n="77" d="100"/>
        </p:scale>
        <p:origin x="120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B095CFA-2E4A-4DA6-A291-36D909D1A46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2026/5/25</a:t>
            </a:fld>
            <a:endParaRPr lang="zh-CN" altLang="en-US" strike="noStrike" noProof="1"/>
          </a:p>
        </p:txBody>
      </p:sp>
      <p:sp>
        <p:nvSpPr>
          <p:cNvPr id="17203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03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7F7DBCC3-39B1-4490-B912-0E3D3B92F8A3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348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65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938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025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219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197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828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894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465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392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352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9196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572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019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6655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1120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7297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9108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6508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9956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2988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4463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007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1B8381E7-25DC-4DAD-A078-DA58656A5B95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2026/5/25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9486E14-F3C0-4B3B-9E53-DA47772D7B76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2026/5/25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A97A5AE-033E-4E33-8F05-5A54772AF24E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2026/5/25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390F8BA-2E15-4A27-8E64-A1395E298AB3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2026/5/25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55B6809-9057-4661-BDBB-E2BB416E6555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2026/5/25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26E46B70-6FA3-4863-839E-B21676BF3A5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2026/5/25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7B4A683-24CA-491D-9609-C24094856540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2026/5/25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BD7108D-04DE-425A-80BA-67916C21E75E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2026/5/25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6A49D0B-3845-47D6-9C86-D430593DB3A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2026/5/25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C1663EE6-C5DC-47E4-9CB4-43F4A762AC87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2026/5/25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FAC9D7C-BD8B-49F5-9748-43BBC1F050D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2026/5/25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69467" y="127668"/>
            <a:ext cx="10422533" cy="4209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96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324080" y="590440"/>
            <a:ext cx="11867920" cy="3401"/>
          </a:xfrm>
          <a:prstGeom prst="line">
            <a:avLst/>
          </a:prstGeom>
          <a:ln w="28575">
            <a:solidFill>
              <a:srgbClr val="16407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769467" y="192002"/>
            <a:ext cx="10422533" cy="3984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E7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674" y="97631"/>
            <a:ext cx="290095" cy="52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7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Smal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5188321" y="1676728"/>
            <a:ext cx="1815163" cy="1814739"/>
          </a:xfrm>
          <a:prstGeom prst="ellipse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1997" cy="258409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072707" y="1777295"/>
            <a:ext cx="1989629" cy="198916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687191" y="1777295"/>
            <a:ext cx="1989629" cy="1989165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378022" y="1777295"/>
            <a:ext cx="1989629" cy="1989165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054524" y="1777295"/>
            <a:ext cx="1989629" cy="1989165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072707" y="1777295"/>
            <a:ext cx="1989629" cy="1989165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687191" y="1777295"/>
            <a:ext cx="1989629" cy="1989165"/>
          </a:xfrm>
          <a:prstGeom prst="roundRect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378022" y="1777295"/>
            <a:ext cx="1989629" cy="1989165"/>
          </a:xfrm>
          <a:prstGeom prst="roundRect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054524" y="1777295"/>
            <a:ext cx="1989629" cy="1989165"/>
          </a:xfrm>
          <a:prstGeom prst="roundRect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900057" y="1777294"/>
            <a:ext cx="3244279" cy="3260313"/>
          </a:xfrm>
          <a:prstGeom prst="roundRect">
            <a:avLst>
              <a:gd name="adj" fmla="val 8446"/>
            </a:avLst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99380" y="1488610"/>
            <a:ext cx="1806275" cy="1805853"/>
          </a:xfrm>
          <a:prstGeom prst="roundRect">
            <a:avLst>
              <a:gd name="adj" fmla="val 11041"/>
            </a:avLst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557144" y="1488610"/>
            <a:ext cx="1806275" cy="1805853"/>
          </a:xfrm>
          <a:prstGeom prst="roundRect">
            <a:avLst>
              <a:gd name="adj" fmla="val 13151"/>
            </a:avLst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614908" y="1488610"/>
            <a:ext cx="1806275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674923" y="1488610"/>
            <a:ext cx="1806275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226225" y="1742904"/>
            <a:ext cx="1806275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173535" y="1742904"/>
            <a:ext cx="1806275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596691" y="3207051"/>
            <a:ext cx="1297573" cy="1297272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5391886" y="1377389"/>
            <a:ext cx="1297573" cy="1297272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7224747" y="3198356"/>
            <a:ext cx="1297573" cy="1297272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5399164" y="5012383"/>
            <a:ext cx="1297573" cy="1297272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72416"/>
            <a:ext cx="12191997" cy="4921720"/>
          </a:xfrm>
          <a:prstGeom prst="downArrowCallout">
            <a:avLst>
              <a:gd name="adj1" fmla="val 50000"/>
              <a:gd name="adj2" fmla="val 15352"/>
              <a:gd name="adj3" fmla="val 5443"/>
              <a:gd name="adj4" fmla="val 94557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Top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3"/>
            <a:ext cx="12191997" cy="3966661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Top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880608" y="1639333"/>
            <a:ext cx="4908153" cy="42701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ef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42381" cy="685800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249619" y="0"/>
            <a:ext cx="5942381" cy="685800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83399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297274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411149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Pictures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75895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361234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241795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w Left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83399" y="1575369"/>
            <a:ext cx="3597455" cy="3400024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411149" y="1575371"/>
            <a:ext cx="3597455" cy="3400023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dle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Off-page Connector 5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8" name="Flowchart: Off-page Connector 7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5020671" y="1382568"/>
            <a:ext cx="3360699" cy="4965187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522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463041" y="1758206"/>
            <a:ext cx="3250392" cy="42701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7478569" y="1758206"/>
            <a:ext cx="3250392" cy="4270188"/>
          </a:xfrm>
          <a:prstGeom prst="rect">
            <a:avLst/>
          </a:prstGeom>
        </p:spPr>
        <p:txBody>
          <a:bodyPr anchor="t"/>
          <a:lstStyle>
            <a:lvl1pPr algn="ctr" rtl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4344776" y="1438846"/>
            <a:ext cx="3647921" cy="4908909"/>
          </a:xfrm>
          <a:prstGeom prst="rect">
            <a:avLst/>
          </a:prstGeom>
        </p:spPr>
        <p:txBody>
          <a:bodyPr anchor="t"/>
          <a:lstStyle>
            <a:lvl1pPr algn="ctr" rtl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21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3169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217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9265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75894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0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361234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1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241795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2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475894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17" hasCustomPrompt="1"/>
          </p:nvPr>
        </p:nvSpPr>
        <p:spPr>
          <a:xfrm>
            <a:off x="8241795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4" name="Picture Placeholder 6"/>
          <p:cNvSpPr>
            <a:spLocks noGrp="1"/>
          </p:cNvSpPr>
          <p:nvPr>
            <p:ph type="pic" sz="quarter" idx="18" hasCustomPrompt="1"/>
          </p:nvPr>
        </p:nvSpPr>
        <p:spPr>
          <a:xfrm>
            <a:off x="4361234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296334" y="215900"/>
            <a:ext cx="5880100" cy="6426200"/>
          </a:xfrm>
          <a:prstGeom prst="round1Rect">
            <a:avLst>
              <a:gd name="adj" fmla="val 5318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06867" y="216720"/>
            <a:ext cx="5488240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06865" y="4978885"/>
            <a:ext cx="5488240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296333" y="215900"/>
            <a:ext cx="5646048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296333" y="4978885"/>
            <a:ext cx="5646048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249619" y="215900"/>
            <a:ext cx="5646048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6249619" y="4978885"/>
            <a:ext cx="5646048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Callout 11"/>
          <p:cNvSpPr/>
          <p:nvPr userDrawn="1"/>
        </p:nvSpPr>
        <p:spPr>
          <a:xfrm>
            <a:off x="487363" y="1423988"/>
            <a:ext cx="2676525" cy="2662238"/>
          </a:xfrm>
          <a:prstGeom prst="downArrowCallout">
            <a:avLst>
              <a:gd name="adj1" fmla="val 23554"/>
              <a:gd name="adj2" fmla="val 10346"/>
              <a:gd name="adj3" fmla="val 10003"/>
              <a:gd name="adj4" fmla="val 89997"/>
            </a:avLst>
          </a:prstGeom>
          <a:solidFill>
            <a:schemeClr val="accent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58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ontAwesome" pitchFamily="2" charset="0"/>
              <a:ea typeface="+mn-ea"/>
            </a:endParaRPr>
          </a:p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3" name="Up Arrow Callout 12"/>
          <p:cNvSpPr/>
          <p:nvPr userDrawn="1"/>
        </p:nvSpPr>
        <p:spPr>
          <a:xfrm>
            <a:off x="3343275" y="3317875"/>
            <a:ext cx="2678113" cy="2689225"/>
          </a:xfrm>
          <a:prstGeom prst="upArrowCallout">
            <a:avLst>
              <a:gd name="adj1" fmla="val 25000"/>
              <a:gd name="adj2" fmla="val 9346"/>
              <a:gd name="adj3" fmla="val 11156"/>
              <a:gd name="adj4" fmla="val 88844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533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ontAwesome" pitchFamily="2" charset="0"/>
              <a:ea typeface="+mn-ea"/>
            </a:endParaRPr>
          </a:p>
        </p:txBody>
      </p:sp>
      <p:sp>
        <p:nvSpPr>
          <p:cNvPr id="15" name="Down Arrow Callout 14"/>
          <p:cNvSpPr/>
          <p:nvPr userDrawn="1"/>
        </p:nvSpPr>
        <p:spPr>
          <a:xfrm>
            <a:off x="6170613" y="1423988"/>
            <a:ext cx="2678113" cy="2662238"/>
          </a:xfrm>
          <a:prstGeom prst="downArrowCallout">
            <a:avLst>
              <a:gd name="adj1" fmla="val 23554"/>
              <a:gd name="adj2" fmla="val 10346"/>
              <a:gd name="adj3" fmla="val 10003"/>
              <a:gd name="adj4" fmla="val 89997"/>
            </a:avLst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 </a:t>
            </a:r>
          </a:p>
        </p:txBody>
      </p:sp>
      <p:sp>
        <p:nvSpPr>
          <p:cNvPr id="17" name="Up Arrow Callout 16"/>
          <p:cNvSpPr/>
          <p:nvPr userDrawn="1"/>
        </p:nvSpPr>
        <p:spPr>
          <a:xfrm>
            <a:off x="9013825" y="3317875"/>
            <a:ext cx="2676525" cy="2689225"/>
          </a:xfrm>
          <a:prstGeom prst="upArrowCallout">
            <a:avLst>
              <a:gd name="adj1" fmla="val 25000"/>
              <a:gd name="adj2" fmla="val 9346"/>
              <a:gd name="adj3" fmla="val 11156"/>
              <a:gd name="adj4" fmla="val 88844"/>
            </a:avLst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ntAwesome" pitchFamily="2" charset="0"/>
                <a:ea typeface="+mn-ea"/>
              </a:rPr>
            </a:b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30" name="Flowchart: Off-page Connector 29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87251" y="3625657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3343837" y="1438845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171142" y="3625657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013086" y="1438845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7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 with three Colum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owchart: Off-page Connector 29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4" name="Down Arrow Callout 13"/>
          <p:cNvSpPr/>
          <p:nvPr userDrawn="1"/>
        </p:nvSpPr>
        <p:spPr>
          <a:xfrm>
            <a:off x="6192838" y="1662113"/>
            <a:ext cx="2473325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6" name="Down Arrow Callout 15"/>
          <p:cNvSpPr/>
          <p:nvPr userDrawn="1"/>
        </p:nvSpPr>
        <p:spPr>
          <a:xfrm>
            <a:off x="3540125" y="1662113"/>
            <a:ext cx="2471738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Down Arrow Callout 18"/>
          <p:cNvSpPr/>
          <p:nvPr userDrawn="1"/>
        </p:nvSpPr>
        <p:spPr>
          <a:xfrm>
            <a:off x="8847138" y="1662113"/>
            <a:ext cx="2471738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86069" y="1662386"/>
            <a:ext cx="2472192" cy="4301321"/>
          </a:xfrm>
          <a:prstGeom prst="downArrowCallout">
            <a:avLst>
              <a:gd name="adj1" fmla="val 26120"/>
              <a:gd name="adj2" fmla="val 6382"/>
              <a:gd name="adj3" fmla="val 5273"/>
              <a:gd name="adj4" fmla="val 96969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9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ulome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896091" y="1448890"/>
            <a:ext cx="4913419" cy="3072372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6385667" y="1445657"/>
            <a:ext cx="4910243" cy="307560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Off-page Connector 4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Off-page Connector 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Off-page Connector 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791720" y="541356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r">
              <a:defRPr sz="2665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z="2665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823720" y="1010678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>
              <a:buNone/>
              <a:defRPr sz="14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 indent="-22860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2B4B57BF-D235-4043-BA3E-BB73EDFD9DF0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2026/5/25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2549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fld id="{CE004C5E-B19A-4C6C-B3AC-9AE9ACCC0581}" type="slidenum">
              <a:rPr lang="zh-CN" altLang="en-US" noProof="1" smtClean="0">
                <a:latin typeface="+mn-lt"/>
                <a:ea typeface="+mn-ea"/>
              </a:rPr>
              <a:t>‹#›</a:t>
            </a:fld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91" r:id="rId12"/>
    <p:sldLayoutId id="214748369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</p:sldLayoutIdLst>
  <p:transition spd="slow" advTm="3000"/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44388"/>
            <a:ext cx="12202130" cy="691101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34506" y="4050175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343800" y="4484700"/>
            <a:ext cx="11525644" cy="830997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离散数学</a:t>
            </a:r>
            <a:endParaRPr lang="en-US" altLang="zh-CN" sz="2400" b="1" dirty="0">
              <a:solidFill>
                <a:schemeClr val="bg1"/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 algn="ctr"/>
            <a:r>
              <a:rPr lang="en-US" altLang="zh-CN" sz="24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2025~2026</a:t>
            </a:r>
            <a:r>
              <a:rPr lang="zh-CN" altLang="en-US" sz="24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第二学期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131181" y="5452617"/>
            <a:ext cx="7946680" cy="499624"/>
            <a:chOff x="2002264" y="3493031"/>
            <a:chExt cx="8187473" cy="352610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784402" y="3493031"/>
              <a:ext cx="4395931" cy="352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邬渊 </a:t>
              </a:r>
              <a:endParaRPr lang="en-US" altLang="zh-CN" sz="20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71" t="23333" r="16751"/>
          <a:stretch/>
        </p:blipFill>
        <p:spPr>
          <a:xfrm>
            <a:off x="8683551" y="-43132"/>
            <a:ext cx="3531454" cy="334759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 cstate="print">
            <a:grayscl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schemeClr val="bg1"/>
                </a:solidFill>
              </a:rPr>
              <a:pPr/>
              <a:t>1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051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6E95EE-5074-4724-CA6F-DBD9B598F4CE}"/>
              </a:ext>
            </a:extLst>
          </p:cNvPr>
          <p:cNvSpPr/>
          <p:nvPr/>
        </p:nvSpPr>
        <p:spPr>
          <a:xfrm>
            <a:off x="1008350" y="1534836"/>
            <a:ext cx="10175300" cy="2981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研究对象：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初级对象：逻辑、集合、关系、函数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进阶对象：图、树、组合、代数系统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研究思想：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以逻辑为基础、以集合、图、树为工具、表示和建模各种数学对象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17507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F34D15-B194-4254-12A0-C66C53171DE9}"/>
              </a:ext>
            </a:extLst>
          </p:cNvPr>
          <p:cNvSpPr/>
          <p:nvPr/>
        </p:nvSpPr>
        <p:spPr>
          <a:xfrm>
            <a:off x="1008350" y="1534836"/>
            <a:ext cx="10175300" cy="4551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研究内容：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命题逻辑、一阶逻辑（集合论）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集合的基本概念、二元关系（集合论）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图的基本概念（图论）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欧拉图、哈密顿图、平面图（图论）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树（图论）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组合分析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代数系统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72970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集合论的主要模块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CC566-1EE6-7AD8-A7A1-F55BBF3190F9}"/>
              </a:ext>
            </a:extLst>
          </p:cNvPr>
          <p:cNvSpPr/>
          <p:nvPr/>
        </p:nvSpPr>
        <p:spPr>
          <a:xfrm>
            <a:off x="3786554" y="5287108"/>
            <a:ext cx="4958862" cy="609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基本逻辑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D26F35-16A1-5AFF-ADDF-86618F84C948}"/>
              </a:ext>
            </a:extLst>
          </p:cNvPr>
          <p:cNvSpPr/>
          <p:nvPr/>
        </p:nvSpPr>
        <p:spPr>
          <a:xfrm>
            <a:off x="3786554" y="4677508"/>
            <a:ext cx="4958862" cy="6096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集合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C69909-1CEC-681C-4A90-0A9758320BA8}"/>
              </a:ext>
            </a:extLst>
          </p:cNvPr>
          <p:cNvSpPr/>
          <p:nvPr/>
        </p:nvSpPr>
        <p:spPr>
          <a:xfrm>
            <a:off x="3068053" y="2454442"/>
            <a:ext cx="709864" cy="2832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5F58C4-2FFA-8DFD-A61A-8F837162F570}"/>
              </a:ext>
            </a:extLst>
          </p:cNvPr>
          <p:cNvSpPr txBox="1"/>
          <p:nvPr/>
        </p:nvSpPr>
        <p:spPr>
          <a:xfrm>
            <a:off x="3248527" y="3270610"/>
            <a:ext cx="3489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集合论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8EB195-3964-5392-D2C6-345658BFE2C0}"/>
              </a:ext>
            </a:extLst>
          </p:cNvPr>
          <p:cNvSpPr/>
          <p:nvPr/>
        </p:nvSpPr>
        <p:spPr>
          <a:xfrm>
            <a:off x="3777917" y="3076075"/>
            <a:ext cx="4958862" cy="6096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二元关系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D1B78D-0885-6CF0-D8A5-08E82E70DBBF}"/>
              </a:ext>
            </a:extLst>
          </p:cNvPr>
          <p:cNvSpPr/>
          <p:nvPr/>
        </p:nvSpPr>
        <p:spPr>
          <a:xfrm>
            <a:off x="3786555" y="2454442"/>
            <a:ext cx="1603592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函数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D50A42-2516-2AF8-2AF0-24DAC0E92CB2}"/>
              </a:ext>
            </a:extLst>
          </p:cNvPr>
          <p:cNvSpPr/>
          <p:nvPr/>
        </p:nvSpPr>
        <p:spPr>
          <a:xfrm>
            <a:off x="5398785" y="2454442"/>
            <a:ext cx="165018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等价关系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6D49FE-CCFA-2AC2-7777-D62F3ACB89B1}"/>
              </a:ext>
            </a:extLst>
          </p:cNvPr>
          <p:cNvSpPr/>
          <p:nvPr/>
        </p:nvSpPr>
        <p:spPr>
          <a:xfrm>
            <a:off x="7048965" y="2454442"/>
            <a:ext cx="1687814" cy="609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序关系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081D8DFA-1580-B4E1-795C-57A0257EA2C1}"/>
              </a:ext>
            </a:extLst>
          </p:cNvPr>
          <p:cNvSpPr/>
          <p:nvPr/>
        </p:nvSpPr>
        <p:spPr>
          <a:xfrm rot="16200000">
            <a:off x="5868943" y="3919891"/>
            <a:ext cx="709864" cy="464423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00F0349-258D-8CD3-2CC6-186933EB53C3}"/>
              </a:ext>
            </a:extLst>
          </p:cNvPr>
          <p:cNvSpPr txBox="1"/>
          <p:nvPr/>
        </p:nvSpPr>
        <p:spPr>
          <a:xfrm>
            <a:off x="517357" y="1341375"/>
            <a:ext cx="23702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集合：</a:t>
            </a:r>
            <a:endParaRPr lang="en-US" altLang="zh-CN" sz="2400" b="1" dirty="0"/>
          </a:p>
          <a:p>
            <a:endParaRPr lang="en-US" altLang="zh-CN" sz="2400" dirty="0"/>
          </a:p>
          <a:p>
            <a:pPr lvl="1"/>
            <a:r>
              <a:rPr lang="zh-CN" altLang="en-US" sz="2400" dirty="0"/>
              <a:t>基本概念</a:t>
            </a:r>
            <a:endParaRPr lang="en-US" altLang="zh-CN" sz="2400" dirty="0"/>
          </a:p>
          <a:p>
            <a:pPr lvl="1"/>
            <a:r>
              <a:rPr lang="zh-CN" altLang="en-US" sz="2400" dirty="0"/>
              <a:t>运算、性质</a:t>
            </a:r>
            <a:endParaRPr lang="en-US" altLang="zh-CN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34DAE2-2FBA-5CEC-6F36-5B5394D948FE}"/>
              </a:ext>
            </a:extLst>
          </p:cNvPr>
          <p:cNvSpPr txBox="1"/>
          <p:nvPr/>
        </p:nvSpPr>
        <p:spPr>
          <a:xfrm>
            <a:off x="517357" y="3064042"/>
            <a:ext cx="23702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二元关系：</a:t>
            </a:r>
            <a:endParaRPr lang="en-US" altLang="zh-CN" sz="2400" b="1" dirty="0"/>
          </a:p>
          <a:p>
            <a:pPr lvl="1"/>
            <a:br>
              <a:rPr lang="en-US" altLang="zh-CN" sz="2400" dirty="0"/>
            </a:br>
            <a:r>
              <a:rPr lang="zh-CN" altLang="en-US" sz="2400" dirty="0"/>
              <a:t>表示、性质</a:t>
            </a:r>
            <a:endParaRPr lang="en-US" altLang="zh-CN" sz="2400" dirty="0"/>
          </a:p>
          <a:p>
            <a:pPr lvl="1"/>
            <a:r>
              <a:rPr lang="zh-CN" altLang="en-US" sz="2400" dirty="0"/>
              <a:t>等价关系</a:t>
            </a:r>
            <a:endParaRPr lang="en-US" altLang="zh-CN" sz="2400" dirty="0"/>
          </a:p>
          <a:p>
            <a:pPr lvl="1"/>
            <a:r>
              <a:rPr lang="zh-CN" altLang="en-US" sz="2400" dirty="0"/>
              <a:t>序关系</a:t>
            </a:r>
          </a:p>
          <a:p>
            <a:endParaRPr lang="en-US" altLang="zh-CN" dirty="0"/>
          </a:p>
          <a:p>
            <a:r>
              <a:rPr lang="zh-CN" altLang="en-US" sz="2400" b="1" dirty="0"/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31722289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图论的主要模块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819E66-FCF8-1588-788F-3250696633F5}"/>
              </a:ext>
            </a:extLst>
          </p:cNvPr>
          <p:cNvSpPr/>
          <p:nvPr/>
        </p:nvSpPr>
        <p:spPr>
          <a:xfrm>
            <a:off x="3958389" y="5790866"/>
            <a:ext cx="4836695" cy="56548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图的基本概念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CDB2F0-BB76-B021-2078-2E11E080CB70}"/>
              </a:ext>
            </a:extLst>
          </p:cNvPr>
          <p:cNvSpPr/>
          <p:nvPr/>
        </p:nvSpPr>
        <p:spPr>
          <a:xfrm>
            <a:off x="3958388" y="5213350"/>
            <a:ext cx="4836695" cy="56548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连通性、连通度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B8EB444-AAAB-8D66-2F6F-C1C2A211110E}"/>
              </a:ext>
            </a:extLst>
          </p:cNvPr>
          <p:cNvSpPr/>
          <p:nvPr/>
        </p:nvSpPr>
        <p:spPr>
          <a:xfrm rot="16200000">
            <a:off x="6093993" y="4657497"/>
            <a:ext cx="565485" cy="464423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D73C66-BEC6-F912-E11C-FCB0D1C7DE5F}"/>
              </a:ext>
            </a:extLst>
          </p:cNvPr>
          <p:cNvSpPr/>
          <p:nvPr/>
        </p:nvSpPr>
        <p:spPr>
          <a:xfrm>
            <a:off x="3958388" y="3966888"/>
            <a:ext cx="2406317" cy="56548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欧拉图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1CFF54-6685-4B39-A8E9-242093D4A4BD}"/>
              </a:ext>
            </a:extLst>
          </p:cNvPr>
          <p:cNvSpPr/>
          <p:nvPr/>
        </p:nvSpPr>
        <p:spPr>
          <a:xfrm>
            <a:off x="6376733" y="3965098"/>
            <a:ext cx="2406317" cy="565484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哈密顿图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EBC01A-F570-E992-28EA-40745B893229}"/>
              </a:ext>
            </a:extLst>
          </p:cNvPr>
          <p:cNvSpPr/>
          <p:nvPr/>
        </p:nvSpPr>
        <p:spPr>
          <a:xfrm>
            <a:off x="3958384" y="3398148"/>
            <a:ext cx="2406317" cy="5654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树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FED3D39-883C-726E-6FC7-1EBDBD8C0911}"/>
              </a:ext>
            </a:extLst>
          </p:cNvPr>
          <p:cNvSpPr/>
          <p:nvPr/>
        </p:nvSpPr>
        <p:spPr>
          <a:xfrm>
            <a:off x="6372728" y="3394132"/>
            <a:ext cx="2406317" cy="5654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图的矩阵表示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FB2263-7766-DD9D-DEDB-12305ECA4239}"/>
              </a:ext>
            </a:extLst>
          </p:cNvPr>
          <p:cNvSpPr/>
          <p:nvPr/>
        </p:nvSpPr>
        <p:spPr>
          <a:xfrm>
            <a:off x="3958388" y="2824457"/>
            <a:ext cx="4836695" cy="565484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平面图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08EE8476-33F5-96AA-397F-2E37788DD164}"/>
              </a:ext>
            </a:extLst>
          </p:cNvPr>
          <p:cNvSpPr/>
          <p:nvPr/>
        </p:nvSpPr>
        <p:spPr>
          <a:xfrm rot="16200000">
            <a:off x="6061111" y="2293280"/>
            <a:ext cx="565485" cy="464423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5812628-4256-A455-9046-D610A124E020}"/>
              </a:ext>
            </a:extLst>
          </p:cNvPr>
          <p:cNvSpPr/>
          <p:nvPr/>
        </p:nvSpPr>
        <p:spPr>
          <a:xfrm>
            <a:off x="3949569" y="1660180"/>
            <a:ext cx="4836695" cy="5654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带权图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6ECDE90-91D4-725C-CC38-56AC6AFA71DF}"/>
              </a:ext>
            </a:extLst>
          </p:cNvPr>
          <p:cNvSpPr/>
          <p:nvPr/>
        </p:nvSpPr>
        <p:spPr>
          <a:xfrm>
            <a:off x="3284627" y="1660180"/>
            <a:ext cx="661737" cy="46961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FA69389-FB3E-5646-CE04-A8DC6DF3343A}"/>
              </a:ext>
            </a:extLst>
          </p:cNvPr>
          <p:cNvSpPr txBox="1"/>
          <p:nvPr/>
        </p:nvSpPr>
        <p:spPr>
          <a:xfrm>
            <a:off x="3332753" y="3429000"/>
            <a:ext cx="5654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图论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EF33F49-C5F9-B3E7-EC40-C874C57A1974}"/>
              </a:ext>
            </a:extLst>
          </p:cNvPr>
          <p:cNvSpPr txBox="1"/>
          <p:nvPr/>
        </p:nvSpPr>
        <p:spPr>
          <a:xfrm>
            <a:off x="637673" y="2044528"/>
            <a:ext cx="231006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图：</a:t>
            </a:r>
            <a:endParaRPr lang="en-US" altLang="zh-CN" sz="3200" b="1" dirty="0"/>
          </a:p>
          <a:p>
            <a:r>
              <a:rPr lang="zh-CN" altLang="en-US" sz="3200" b="1" dirty="0"/>
              <a:t>基本概念、连通性</a:t>
            </a:r>
            <a:endParaRPr lang="en-US" altLang="zh-CN" sz="3200" b="1" dirty="0"/>
          </a:p>
          <a:p>
            <a:r>
              <a:rPr lang="zh-CN" altLang="en-US" sz="3200" b="1" dirty="0"/>
              <a:t>欧拉图、哈密顿图</a:t>
            </a:r>
            <a:endParaRPr lang="en-US" altLang="zh-CN" sz="3200" b="1" dirty="0"/>
          </a:p>
          <a:p>
            <a:r>
              <a:rPr lang="zh-CN" altLang="en-US" sz="3200" b="1" dirty="0"/>
              <a:t>平面图</a:t>
            </a:r>
            <a:endParaRPr lang="en-US" altLang="zh-CN" sz="3200" b="1" dirty="0"/>
          </a:p>
          <a:p>
            <a:r>
              <a:rPr lang="zh-CN" altLang="en-US" sz="3200" b="1" dirty="0"/>
              <a:t>树</a:t>
            </a:r>
            <a:endParaRPr lang="en-US" altLang="zh-CN" sz="3200" b="1" dirty="0"/>
          </a:p>
          <a:p>
            <a:r>
              <a:rPr lang="zh-CN" altLang="en-US" sz="3200" b="1" dirty="0"/>
              <a:t>带权图</a:t>
            </a:r>
            <a:endParaRPr lang="en-US" altLang="zh-CN" sz="3200" b="1" dirty="0"/>
          </a:p>
        </p:txBody>
      </p:sp>
    </p:spTree>
    <p:extLst>
      <p:ext uri="{BB962C8B-B14F-4D97-AF65-F5344CB8AC3E}">
        <p14:creationId xmlns:p14="http://schemas.microsoft.com/office/powerpoint/2010/main" val="5123375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C2BB865-BE3C-4DEF-84E9-D9349E7A4EF9}" type="slidenum">
              <a:rPr lang="en-US" altLang="zh-CN" smtClean="0">
                <a:latin typeface="+mn-lt"/>
                <a:ea typeface="+mn-ea"/>
              </a:rPr>
              <a:pPr>
                <a:spcAft>
                  <a:spcPts val="600"/>
                </a:spcAft>
              </a:pPr>
              <a:t>6</a:t>
            </a:fld>
            <a:endParaRPr lang="en-US" altLang="zh-CN">
              <a:latin typeface="+mn-lt"/>
              <a:ea typeface="+mn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4EA841-46AC-E188-7EA8-0C16A7DEE28A}"/>
              </a:ext>
            </a:extLst>
          </p:cNvPr>
          <p:cNvSpPr txBox="1">
            <a:spLocks/>
          </p:cNvSpPr>
          <p:nvPr/>
        </p:nvSpPr>
        <p:spPr>
          <a:xfrm>
            <a:off x="1796992" y="136525"/>
            <a:ext cx="10422533" cy="3984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002E73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集合论中的问题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C8A898-D377-7C60-4856-7CBF305BD375}"/>
              </a:ext>
            </a:extLst>
          </p:cNvPr>
          <p:cNvSpPr txBox="1"/>
          <p:nvPr/>
        </p:nvSpPr>
        <p:spPr>
          <a:xfrm>
            <a:off x="865140" y="1316421"/>
            <a:ext cx="96268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3200" b="1" dirty="0"/>
              <a:t>如何给集合下定义？</a:t>
            </a:r>
            <a:endParaRPr lang="en-US" altLang="zh-CN" sz="3200" b="1" dirty="0"/>
          </a:p>
          <a:p>
            <a:pPr marL="342900" indent="-342900">
              <a:buFont typeface="+mj-lt"/>
              <a:buAutoNum type="arabicPeriod"/>
            </a:pPr>
            <a:endParaRPr lang="en-US" altLang="zh-CN" sz="3200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3200" b="1" dirty="0"/>
              <a:t>如何使用集合去定义关系、函数、自然数？</a:t>
            </a:r>
            <a:endParaRPr lang="en-US" altLang="zh-CN" sz="3200" b="1" dirty="0"/>
          </a:p>
          <a:p>
            <a:pPr marL="342900" indent="-342900">
              <a:buFont typeface="+mj-lt"/>
              <a:buAutoNum type="arabicPeriod"/>
            </a:pPr>
            <a:endParaRPr lang="en-US" altLang="zh-CN" sz="3200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3200" b="1" dirty="0"/>
              <a:t>如何比较集合的大小？</a:t>
            </a:r>
            <a:endParaRPr lang="en-US" altLang="zh-CN" sz="3200" b="1" dirty="0"/>
          </a:p>
          <a:p>
            <a:pPr marL="342900" indent="-342900">
              <a:buFont typeface="+mj-lt"/>
              <a:buAutoNum type="arabicPeriod"/>
            </a:pPr>
            <a:endParaRPr lang="en-US" altLang="zh-CN" sz="3200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3200" b="1" dirty="0"/>
              <a:t>能否把每个集合的元素依次列举出来？</a:t>
            </a:r>
            <a:endParaRPr lang="en-US" altLang="zh-CN" sz="3200" b="1" dirty="0"/>
          </a:p>
          <a:p>
            <a:pPr marL="342900" indent="-342900">
              <a:buFont typeface="+mj-lt"/>
              <a:buAutoNum type="arabicPeriod"/>
            </a:pPr>
            <a:endParaRPr lang="en-US" altLang="zh-CN" sz="3200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3200" b="1" dirty="0"/>
              <a:t>有没有最大的集合？</a:t>
            </a:r>
          </a:p>
        </p:txBody>
      </p:sp>
    </p:spTree>
    <p:extLst>
      <p:ext uri="{BB962C8B-B14F-4D97-AF65-F5344CB8AC3E}">
        <p14:creationId xmlns:p14="http://schemas.microsoft.com/office/powerpoint/2010/main" val="30199231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C2BB865-BE3C-4DEF-84E9-D9349E7A4EF9}" type="slidenum">
              <a:rPr lang="en-US" altLang="zh-CN" smtClean="0">
                <a:latin typeface="+mn-lt"/>
                <a:ea typeface="+mn-ea"/>
              </a:rPr>
              <a:pPr>
                <a:spcAft>
                  <a:spcPts val="600"/>
                </a:spcAft>
              </a:pPr>
              <a:t>7</a:t>
            </a:fld>
            <a:endParaRPr lang="en-US" altLang="zh-CN">
              <a:latin typeface="+mn-lt"/>
              <a:ea typeface="+mn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4EA841-46AC-E188-7EA8-0C16A7DEE28A}"/>
              </a:ext>
            </a:extLst>
          </p:cNvPr>
          <p:cNvSpPr txBox="1">
            <a:spLocks/>
          </p:cNvSpPr>
          <p:nvPr/>
        </p:nvSpPr>
        <p:spPr>
          <a:xfrm>
            <a:off x="1796992" y="136525"/>
            <a:ext cx="10422533" cy="3984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002E73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图论中的问题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C8A898-D377-7C60-4856-7CBF305BD375}"/>
              </a:ext>
            </a:extLst>
          </p:cNvPr>
          <p:cNvSpPr txBox="1"/>
          <p:nvPr/>
        </p:nvSpPr>
        <p:spPr>
          <a:xfrm>
            <a:off x="865140" y="1316421"/>
            <a:ext cx="96268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3200" b="1" dirty="0"/>
              <a:t>什么是图？有哪些图？图有什么性质？</a:t>
            </a:r>
            <a:endParaRPr lang="en-US" altLang="zh-CN" sz="3200" b="1" dirty="0"/>
          </a:p>
          <a:p>
            <a:pPr marL="342900" indent="-342900">
              <a:buFont typeface="+mj-lt"/>
              <a:buAutoNum type="arabicPeriod"/>
            </a:pPr>
            <a:endParaRPr lang="en-US" altLang="zh-CN" sz="3200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3200" b="1" dirty="0"/>
              <a:t>什么是欧拉图？什么是哈密顿图？</a:t>
            </a:r>
            <a:endParaRPr lang="en-US" altLang="zh-CN" sz="3200" b="1" dirty="0"/>
          </a:p>
          <a:p>
            <a:pPr marL="342900" indent="-342900">
              <a:buFont typeface="+mj-lt"/>
              <a:buAutoNum type="arabicPeriod"/>
            </a:pPr>
            <a:endParaRPr lang="en-US" altLang="zh-CN" sz="3200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3200" b="1" dirty="0"/>
              <a:t>什么是树？如何用矩阵表示图？</a:t>
            </a:r>
            <a:endParaRPr lang="en-US" altLang="zh-CN" sz="3200" b="1" dirty="0"/>
          </a:p>
          <a:p>
            <a:pPr marL="342900" indent="-342900">
              <a:buFont typeface="+mj-lt"/>
              <a:buAutoNum type="arabicPeriod"/>
            </a:pPr>
            <a:endParaRPr lang="en-US" altLang="zh-CN" sz="3200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3200" b="1" dirty="0"/>
              <a:t>什么是平面图？</a:t>
            </a:r>
            <a:endParaRPr lang="en-US" altLang="zh-CN" sz="3200" b="1" dirty="0"/>
          </a:p>
          <a:p>
            <a:pPr marL="342900" indent="-342900">
              <a:buFont typeface="+mj-lt"/>
              <a:buAutoNum type="arabicPeriod"/>
            </a:pPr>
            <a:endParaRPr lang="en-US" altLang="zh-CN" sz="3200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3200" b="1" dirty="0"/>
              <a:t>什么是带权图？</a:t>
            </a:r>
          </a:p>
        </p:txBody>
      </p:sp>
    </p:spTree>
    <p:extLst>
      <p:ext uri="{BB962C8B-B14F-4D97-AF65-F5344CB8AC3E}">
        <p14:creationId xmlns:p14="http://schemas.microsoft.com/office/powerpoint/2010/main" val="21944890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C2BB865-BE3C-4DEF-84E9-D9349E7A4EF9}" type="slidenum">
              <a:rPr lang="en-US" altLang="zh-CN" smtClean="0">
                <a:latin typeface="+mn-lt"/>
                <a:ea typeface="+mn-ea"/>
              </a:rPr>
              <a:pPr>
                <a:spcAft>
                  <a:spcPts val="600"/>
                </a:spcAft>
              </a:pPr>
              <a:t>8</a:t>
            </a:fld>
            <a:endParaRPr lang="en-US" altLang="zh-CN">
              <a:latin typeface="+mn-lt"/>
              <a:ea typeface="+mn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4EA841-46AC-E188-7EA8-0C16A7DEE28A}"/>
              </a:ext>
            </a:extLst>
          </p:cNvPr>
          <p:cNvSpPr txBox="1">
            <a:spLocks/>
          </p:cNvSpPr>
          <p:nvPr/>
        </p:nvSpPr>
        <p:spPr>
          <a:xfrm>
            <a:off x="1796992" y="136525"/>
            <a:ext cx="10422533" cy="3984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002E73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过河问题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C8A898-D377-7C60-4856-7CBF305BD375}"/>
              </a:ext>
            </a:extLst>
          </p:cNvPr>
          <p:cNvSpPr txBox="1"/>
          <p:nvPr/>
        </p:nvSpPr>
        <p:spPr>
          <a:xfrm>
            <a:off x="865140" y="1316421"/>
            <a:ext cx="962681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一个人带一只狼、一只羊、一颗白菜要过河，小船一次只能容下一个人和一样动植物。人不在场的时候，狼要吃掉羊、羊要吃掉白菜。问应该如何渡河？</a:t>
            </a:r>
            <a:endParaRPr lang="en-US" altLang="zh-CN" sz="3200" b="1" dirty="0"/>
          </a:p>
          <a:p>
            <a:endParaRPr lang="en-US" altLang="zh-CN" sz="3200" b="1" dirty="0"/>
          </a:p>
          <a:p>
            <a:r>
              <a:rPr lang="zh-CN" altLang="en-US" sz="3200" b="1" dirty="0"/>
              <a:t>狼</a:t>
            </a:r>
            <a:r>
              <a:rPr lang="en-US" altLang="zh-CN" sz="3200" b="1" dirty="0"/>
              <a:t>=W</a:t>
            </a:r>
            <a:r>
              <a:rPr lang="zh-CN" altLang="en-US" sz="3200" b="1" dirty="0"/>
              <a:t>、羊</a:t>
            </a:r>
            <a:r>
              <a:rPr lang="en-US" altLang="zh-CN" sz="3200" b="1" dirty="0"/>
              <a:t>=G</a:t>
            </a:r>
            <a:r>
              <a:rPr lang="zh-CN" altLang="en-US" sz="3200" b="1" dirty="0"/>
              <a:t>、白菜</a:t>
            </a:r>
            <a:r>
              <a:rPr lang="en-US" altLang="zh-CN" sz="3200" b="1" dirty="0"/>
              <a:t>=C</a:t>
            </a:r>
            <a:r>
              <a:rPr lang="zh-CN" altLang="en-US" sz="3200" b="1" dirty="0"/>
              <a:t>、人</a:t>
            </a:r>
            <a:r>
              <a:rPr lang="en-US" altLang="zh-CN" sz="3200" b="1" dirty="0"/>
              <a:t>=M</a:t>
            </a:r>
          </a:p>
          <a:p>
            <a:endParaRPr lang="en-US" altLang="zh-CN" sz="3200" b="1" dirty="0"/>
          </a:p>
          <a:p>
            <a:r>
              <a:rPr lang="en-US" altLang="zh-CN" sz="3200" b="1" dirty="0"/>
              <a:t>(CGMW|)=&gt;(CW|MG)=&gt;(CMW|G)=&gt;(W|CGM)=&gt;</a:t>
            </a:r>
          </a:p>
          <a:p>
            <a:r>
              <a:rPr lang="en-US" altLang="zh-CN" sz="3200" b="1" dirty="0"/>
              <a:t>(GMW|C)=&gt;(G|CMW)=&gt;(GM|CW)=&gt;(|CGMW)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4344171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C2BB865-BE3C-4DEF-84E9-D9349E7A4EF9}" type="slidenum">
              <a:rPr lang="en-US" altLang="zh-CN" smtClean="0">
                <a:latin typeface="+mn-lt"/>
                <a:ea typeface="+mn-ea"/>
              </a:rPr>
              <a:pPr>
                <a:spcAft>
                  <a:spcPts val="600"/>
                </a:spcAft>
              </a:pPr>
              <a:t>9</a:t>
            </a:fld>
            <a:endParaRPr lang="en-US" altLang="zh-CN">
              <a:latin typeface="+mn-lt"/>
              <a:ea typeface="+mn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4EA841-46AC-E188-7EA8-0C16A7DEE28A}"/>
              </a:ext>
            </a:extLst>
          </p:cNvPr>
          <p:cNvSpPr txBox="1">
            <a:spLocks/>
          </p:cNvSpPr>
          <p:nvPr/>
        </p:nvSpPr>
        <p:spPr>
          <a:xfrm>
            <a:off x="1796992" y="136525"/>
            <a:ext cx="10422533" cy="3984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002E73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过河问题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9F4C80B-B772-97E0-25E9-3A91F49DCA19}"/>
              </a:ext>
            </a:extLst>
          </p:cNvPr>
          <p:cNvSpPr/>
          <p:nvPr/>
        </p:nvSpPr>
        <p:spPr>
          <a:xfrm>
            <a:off x="4909635" y="660766"/>
            <a:ext cx="2098623" cy="70453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CGMW|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AF1FB2C-A13E-9093-3AEA-C75643B42099}"/>
              </a:ext>
            </a:extLst>
          </p:cNvPr>
          <p:cNvSpPr/>
          <p:nvPr/>
        </p:nvSpPr>
        <p:spPr>
          <a:xfrm>
            <a:off x="5046688" y="6003146"/>
            <a:ext cx="2098623" cy="70453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|CGMW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B301C80-8C9D-B622-4E23-E21E170B9B7B}"/>
              </a:ext>
            </a:extLst>
          </p:cNvPr>
          <p:cNvSpPr/>
          <p:nvPr/>
        </p:nvSpPr>
        <p:spPr>
          <a:xfrm>
            <a:off x="250191" y="1717573"/>
            <a:ext cx="2098623" cy="7045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CGW|M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072654E-CEDD-76DA-775B-A04887BFC6B7}"/>
              </a:ext>
            </a:extLst>
          </p:cNvPr>
          <p:cNvSpPr/>
          <p:nvPr/>
        </p:nvSpPr>
        <p:spPr>
          <a:xfrm>
            <a:off x="250190" y="5058766"/>
            <a:ext cx="2098623" cy="7045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M|CGW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E41AE20-D156-80DC-8548-E3DCB6BA681D}"/>
              </a:ext>
            </a:extLst>
          </p:cNvPr>
          <p:cNvSpPr/>
          <p:nvPr/>
        </p:nvSpPr>
        <p:spPr>
          <a:xfrm>
            <a:off x="2948065" y="1717573"/>
            <a:ext cx="2098623" cy="7045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GW|CM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5015B40-991F-8E3C-3D2C-F3FB7D9CEE31}"/>
              </a:ext>
            </a:extLst>
          </p:cNvPr>
          <p:cNvSpPr/>
          <p:nvPr/>
        </p:nvSpPr>
        <p:spPr>
          <a:xfrm>
            <a:off x="7282721" y="5058766"/>
            <a:ext cx="2098623" cy="7045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MW|CG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B150EB4-749E-962D-36EB-90E9405618C5}"/>
              </a:ext>
            </a:extLst>
          </p:cNvPr>
          <p:cNvSpPr/>
          <p:nvPr/>
        </p:nvSpPr>
        <p:spPr>
          <a:xfrm>
            <a:off x="9886907" y="1712184"/>
            <a:ext cx="2098623" cy="7045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CG|MW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375F77F-9E5A-DA5F-3C0F-00594F3647E1}"/>
              </a:ext>
            </a:extLst>
          </p:cNvPr>
          <p:cNvSpPr/>
          <p:nvPr/>
        </p:nvSpPr>
        <p:spPr>
          <a:xfrm>
            <a:off x="9982199" y="5003020"/>
            <a:ext cx="2098623" cy="7045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CM|GW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4DAB3BC-4E0A-2BD0-C15E-A384C1EDC8B5}"/>
              </a:ext>
            </a:extLst>
          </p:cNvPr>
          <p:cNvSpPr/>
          <p:nvPr/>
        </p:nvSpPr>
        <p:spPr>
          <a:xfrm>
            <a:off x="7402642" y="1712184"/>
            <a:ext cx="2098623" cy="70453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CW|GM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FDAA0B1-EA9B-433C-DB6C-A0E0CA619B4E}"/>
              </a:ext>
            </a:extLst>
          </p:cNvPr>
          <p:cNvSpPr/>
          <p:nvPr/>
        </p:nvSpPr>
        <p:spPr>
          <a:xfrm>
            <a:off x="2948064" y="2979687"/>
            <a:ext cx="2098623" cy="70453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GMW|C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B27D53A-79CF-2E1F-0981-182DFE18DC01}"/>
              </a:ext>
            </a:extLst>
          </p:cNvPr>
          <p:cNvSpPr/>
          <p:nvPr/>
        </p:nvSpPr>
        <p:spPr>
          <a:xfrm>
            <a:off x="7282720" y="4029832"/>
            <a:ext cx="2098623" cy="70453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W|CGM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D4708E2-6FD0-01E5-B815-4768B8D572BC}"/>
              </a:ext>
            </a:extLst>
          </p:cNvPr>
          <p:cNvSpPr/>
          <p:nvPr/>
        </p:nvSpPr>
        <p:spPr>
          <a:xfrm>
            <a:off x="3017572" y="4970518"/>
            <a:ext cx="2098623" cy="70453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GM|CW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F90C9CC-013B-1714-B6EE-50E81BD003B7}"/>
              </a:ext>
            </a:extLst>
          </p:cNvPr>
          <p:cNvSpPr/>
          <p:nvPr/>
        </p:nvSpPr>
        <p:spPr>
          <a:xfrm>
            <a:off x="9886906" y="2686573"/>
            <a:ext cx="2098623" cy="70453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CGM|W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2A3260C-D526-A46F-0606-FB5E296264D8}"/>
              </a:ext>
            </a:extLst>
          </p:cNvPr>
          <p:cNvSpPr/>
          <p:nvPr/>
        </p:nvSpPr>
        <p:spPr>
          <a:xfrm>
            <a:off x="9982198" y="3974086"/>
            <a:ext cx="2098623" cy="70453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C|GMW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3002AD8-E9B4-B10F-F70F-FF1A6110CD78}"/>
              </a:ext>
            </a:extLst>
          </p:cNvPr>
          <p:cNvSpPr/>
          <p:nvPr/>
        </p:nvSpPr>
        <p:spPr>
          <a:xfrm>
            <a:off x="3017572" y="4012315"/>
            <a:ext cx="2098623" cy="70453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G|CMW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22CEA379-5515-F895-37BF-445926AFCF5F}"/>
              </a:ext>
            </a:extLst>
          </p:cNvPr>
          <p:cNvSpPr/>
          <p:nvPr/>
        </p:nvSpPr>
        <p:spPr>
          <a:xfrm>
            <a:off x="7282720" y="2916785"/>
            <a:ext cx="2098623" cy="70453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CMW|G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EEE2422-4E14-A0E1-A8CE-B5B84B210BDA}"/>
              </a:ext>
            </a:extLst>
          </p:cNvPr>
          <p:cNvCxnSpPr>
            <a:stCxn id="4" idx="6"/>
            <a:endCxn id="13" idx="0"/>
          </p:cNvCxnSpPr>
          <p:nvPr/>
        </p:nvCxnSpPr>
        <p:spPr>
          <a:xfrm>
            <a:off x="7008258" y="1013035"/>
            <a:ext cx="1443696" cy="6991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EB61B15-A90C-F569-02DA-25BF24BE8D7D}"/>
              </a:ext>
            </a:extLst>
          </p:cNvPr>
          <p:cNvCxnSpPr>
            <a:stCxn id="13" idx="4"/>
            <a:endCxn id="20" idx="0"/>
          </p:cNvCxnSpPr>
          <p:nvPr/>
        </p:nvCxnSpPr>
        <p:spPr>
          <a:xfrm flipH="1">
            <a:off x="8332032" y="2416722"/>
            <a:ext cx="119922" cy="500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CA4A3FF-F62F-D2CF-16BF-6A99A35828B7}"/>
              </a:ext>
            </a:extLst>
          </p:cNvPr>
          <p:cNvCxnSpPr>
            <a:cxnSpLocks/>
            <a:stCxn id="20" idx="4"/>
            <a:endCxn id="15" idx="0"/>
          </p:cNvCxnSpPr>
          <p:nvPr/>
        </p:nvCxnSpPr>
        <p:spPr>
          <a:xfrm>
            <a:off x="8332032" y="3621323"/>
            <a:ext cx="0" cy="4085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8510F79-F0FB-6440-04D4-41A5B1D7D6B1}"/>
              </a:ext>
            </a:extLst>
          </p:cNvPr>
          <p:cNvCxnSpPr>
            <a:stCxn id="15" idx="2"/>
            <a:endCxn id="14" idx="6"/>
          </p:cNvCxnSpPr>
          <p:nvPr/>
        </p:nvCxnSpPr>
        <p:spPr>
          <a:xfrm flipH="1" flipV="1">
            <a:off x="5046687" y="3331956"/>
            <a:ext cx="2236033" cy="10501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2F0D8909-598C-A23B-C3BA-93D82461DF13}"/>
              </a:ext>
            </a:extLst>
          </p:cNvPr>
          <p:cNvCxnSpPr>
            <a:stCxn id="14" idx="4"/>
            <a:endCxn id="19" idx="0"/>
          </p:cNvCxnSpPr>
          <p:nvPr/>
        </p:nvCxnSpPr>
        <p:spPr>
          <a:xfrm>
            <a:off x="3997376" y="3684225"/>
            <a:ext cx="69508" cy="3280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C90D15D-60E9-F53F-E704-B0820EC3D364}"/>
              </a:ext>
            </a:extLst>
          </p:cNvPr>
          <p:cNvCxnSpPr>
            <a:stCxn id="19" idx="4"/>
            <a:endCxn id="16" idx="0"/>
          </p:cNvCxnSpPr>
          <p:nvPr/>
        </p:nvCxnSpPr>
        <p:spPr>
          <a:xfrm>
            <a:off x="4066884" y="4716853"/>
            <a:ext cx="0" cy="253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7CC708F7-2FAB-C369-E346-463931267147}"/>
              </a:ext>
            </a:extLst>
          </p:cNvPr>
          <p:cNvCxnSpPr>
            <a:stCxn id="16" idx="4"/>
            <a:endCxn id="6" idx="2"/>
          </p:cNvCxnSpPr>
          <p:nvPr/>
        </p:nvCxnSpPr>
        <p:spPr>
          <a:xfrm>
            <a:off x="4066884" y="5675056"/>
            <a:ext cx="979804" cy="6803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4926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数理逻辑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34A597-8682-161C-4895-5F8C2E15548D}"/>
              </a:ext>
            </a:extLst>
          </p:cNvPr>
          <p:cNvSpPr txBox="1"/>
          <p:nvPr/>
        </p:nvSpPr>
        <p:spPr>
          <a:xfrm>
            <a:off x="714531" y="906601"/>
            <a:ext cx="1076293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4000" b="1" dirty="0"/>
              <a:t>数理逻辑是用数学的方法研究思维规律的一门学科，又称为符号逻辑。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4000" b="1" dirty="0"/>
              <a:t>数理逻辑为机器证明、自动程序设计、计算机辅助设计等计算机理论和应用研究提供必要的理论基础。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4000" b="1" dirty="0"/>
              <a:t>古典数理逻辑：命题逻辑和谓词逻辑 </a:t>
            </a:r>
            <a:r>
              <a:rPr lang="en-US" altLang="zh-CN" sz="4000" b="1" dirty="0"/>
              <a:t>— </a:t>
            </a:r>
            <a:r>
              <a:rPr lang="zh-CN" altLang="en-US" sz="4000" b="1" dirty="0"/>
              <a:t>计算机科学很重要的数学基础。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4000" b="1" dirty="0"/>
              <a:t>现代数理逻辑：逻辑演算、证明论、公理集合论、递归论和模型论。</a:t>
            </a:r>
          </a:p>
        </p:txBody>
      </p:sp>
    </p:spTree>
    <p:extLst>
      <p:ext uri="{BB962C8B-B14F-4D97-AF65-F5344CB8AC3E}">
        <p14:creationId xmlns:p14="http://schemas.microsoft.com/office/powerpoint/2010/main" val="5429146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数理逻辑的创始人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莱布尼兹</a:t>
            </a:r>
          </a:p>
        </p:txBody>
      </p:sp>
      <p:pic>
        <p:nvPicPr>
          <p:cNvPr id="4" name="Picture 4" descr="Leibniz">
            <a:extLst>
              <a:ext uri="{FF2B5EF4-FFF2-40B4-BE49-F238E27FC236}">
                <a16:creationId xmlns:a16="http://schemas.microsoft.com/office/drawing/2014/main" id="{129C7F15-B919-E333-9045-52AFBC07A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547" y="1359180"/>
            <a:ext cx="3493964" cy="4778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4A9E04F9-047E-6A82-1280-70BA24817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6740" y="1498396"/>
            <a:ext cx="6335713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德国数学家、物理学家、哲学家等，</a:t>
            </a:r>
          </a:p>
          <a:p>
            <a:pPr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一个举世罕见的科学天才。</a:t>
            </a:r>
          </a:p>
          <a:p>
            <a:pPr>
              <a:buClr>
                <a:schemeClr val="tx2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研究领域涉及逻辑学、数学、力学、</a:t>
            </a:r>
          </a:p>
          <a:p>
            <a:pPr>
              <a:buClr>
                <a:schemeClr val="tx2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地质学、法学、历史学、语言学、</a:t>
            </a:r>
          </a:p>
          <a:p>
            <a:pPr>
              <a:buClr>
                <a:schemeClr val="tx2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生物学以及外交、神学等诸多方面。</a:t>
            </a:r>
          </a:p>
          <a:p>
            <a:pPr>
              <a:buClr>
                <a:schemeClr val="tx2"/>
              </a:buClr>
              <a:buFont typeface="Wingdings" panose="05000000000000000000" pitchFamily="2" charset="2"/>
              <a:buNone/>
            </a:pP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None/>
            </a:pP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70384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命题逻辑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34A597-8682-161C-4895-5F8C2E15548D}"/>
              </a:ext>
            </a:extLst>
          </p:cNvPr>
          <p:cNvSpPr txBox="1"/>
          <p:nvPr/>
        </p:nvSpPr>
        <p:spPr>
          <a:xfrm>
            <a:off x="962504" y="1650520"/>
            <a:ext cx="1076293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命题逻辑中</a:t>
            </a:r>
            <a:endParaRPr lang="en-US" altLang="zh-CN" sz="4000" b="1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zh-CN" altLang="en-US" sz="4000" dirty="0"/>
              <a:t>最基本的逻辑符号、逻辑公式</a:t>
            </a:r>
            <a:endParaRPr lang="en-US" altLang="zh-CN" sz="40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zh-CN" altLang="en-US" sz="4000" dirty="0"/>
              <a:t>最基本的等值式</a:t>
            </a:r>
            <a:endParaRPr lang="en-US" altLang="zh-CN" sz="40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zh-CN" altLang="en-US" sz="4000" dirty="0"/>
              <a:t>重要的推理定律（重言蕴含式</a:t>
            </a:r>
            <a:r>
              <a:rPr lang="zh-CN" altLang="en-US" sz="4000" b="1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3921461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命题与公式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F28B47-C787-005C-0C11-42BF3C9A1A36}"/>
              </a:ext>
            </a:extLst>
          </p:cNvPr>
          <p:cNvSpPr txBox="1"/>
          <p:nvPr/>
        </p:nvSpPr>
        <p:spPr>
          <a:xfrm>
            <a:off x="573437" y="1410346"/>
            <a:ext cx="1111228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1</a:t>
            </a:r>
            <a:r>
              <a:rPr lang="zh-CN" altLang="en-US" sz="3600" b="1" dirty="0"/>
              <a:t>命题</a:t>
            </a:r>
            <a:endParaRPr lang="en-US" altLang="zh-CN" sz="3600" b="1" dirty="0"/>
          </a:p>
          <a:p>
            <a:endParaRPr lang="en-US" altLang="zh-CN" dirty="0"/>
          </a:p>
          <a:p>
            <a:pPr marL="457200" indent="-457200">
              <a:buFont typeface="Arial" panose="020B0604020202020204" pitchFamily="34" charset="0"/>
              <a:buChar char="•"/>
              <a:tabLst>
                <a:tab pos="1708150" algn="l"/>
              </a:tabLst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所谓命题是指一句有真假意义的话。</a:t>
            </a:r>
          </a:p>
          <a:p>
            <a:pPr marL="457200" indent="-457200">
              <a:buFont typeface="Arial" panose="020B0604020202020204" pitchFamily="34" charset="0"/>
              <a:buChar char="•"/>
              <a:tabLst>
                <a:tab pos="1708150" algn="l"/>
              </a:tabLst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例如：上海是中国最大的城市</a:t>
            </a:r>
          </a:p>
          <a:p>
            <a:pPr>
              <a:tabLst>
                <a:tab pos="1708150" algn="l"/>
              </a:tabLst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	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今天是星期二</a:t>
            </a:r>
          </a:p>
          <a:p>
            <a:pPr>
              <a:tabLst>
                <a:tab pos="1708150" algn="l"/>
              </a:tabLst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	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所有素数都是奇数</a:t>
            </a:r>
          </a:p>
          <a:p>
            <a:pPr>
              <a:tabLst>
                <a:tab pos="1708150" algn="l"/>
              </a:tabLst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	1+1=2</a:t>
            </a: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  <a:tabLst>
                <a:tab pos="1708150" algn="l"/>
              </a:tabLst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命题用大写英文字母</a:t>
            </a:r>
            <a:r>
              <a:rPr lang="en-US" altLang="zh-CN" sz="2800" dirty="0">
                <a:latin typeface="Arial" panose="020B0604020202020204" pitchFamily="34" charset="0"/>
              </a:rPr>
              <a:t>P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,</a:t>
            </a:r>
            <a:r>
              <a:rPr lang="en-US" altLang="zh-CN" sz="2800" dirty="0">
                <a:latin typeface="Arial" panose="020B0604020202020204" pitchFamily="34" charset="0"/>
              </a:rPr>
              <a:t>Q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,…,</a:t>
            </a:r>
            <a:r>
              <a:rPr lang="en-US" altLang="zh-CN" sz="2800" dirty="0">
                <a:latin typeface="Arial" panose="020B0604020202020204" pitchFamily="34" charset="0"/>
              </a:rPr>
              <a:t>P</a:t>
            </a:r>
            <a:r>
              <a:rPr lang="en-US" altLang="zh-CN" sz="2800" baseline="-30000" dirty="0">
                <a:latin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,</a:t>
            </a:r>
            <a:r>
              <a:rPr lang="en-US" altLang="zh-CN" sz="2800" dirty="0">
                <a:latin typeface="Arial" panose="020B0604020202020204" pitchFamily="34" charset="0"/>
              </a:rPr>
              <a:t>P</a:t>
            </a:r>
            <a:r>
              <a:rPr lang="en-US" altLang="zh-CN" sz="2800" baseline="-30000" dirty="0">
                <a:latin typeface="Arial" panose="020B0604020202020204" pitchFamily="34" charset="0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,…,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表示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781465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命题与公式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A7A8A80-4135-8AE9-3D76-835D2B704BF5}"/>
              </a:ext>
            </a:extLst>
          </p:cNvPr>
          <p:cNvSpPr txBox="1">
            <a:spLocks noChangeArrowheads="1"/>
          </p:cNvSpPr>
          <p:nvPr/>
        </p:nvSpPr>
        <p:spPr>
          <a:xfrm>
            <a:off x="756833" y="1245030"/>
            <a:ext cx="9770489" cy="49291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8700" lvl="1" indent="-571500">
              <a:lnSpc>
                <a:spcPct val="100000"/>
              </a:lnSpc>
              <a:spcBef>
                <a:spcPct val="0"/>
              </a:spcBef>
            </a:pP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</a:rPr>
              <a:t>A. 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</a:rPr>
              <a:t>我不会解答这道题。       </a:t>
            </a:r>
          </a:p>
          <a:p>
            <a:pPr marL="1028700" lvl="1" indent="-571500">
              <a:lnSpc>
                <a:spcPct val="100000"/>
              </a:lnSpc>
              <a:spcBef>
                <a:spcPct val="0"/>
              </a:spcBef>
            </a:pP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</a:rPr>
              <a:t>B. 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</a:rPr>
              <a:t>严禁吸烟。        </a:t>
            </a:r>
          </a:p>
          <a:p>
            <a:pPr marL="1028700" lvl="1" indent="-571500">
              <a:lnSpc>
                <a:spcPct val="100000"/>
              </a:lnSpc>
              <a:spcBef>
                <a:spcPct val="0"/>
              </a:spcBef>
            </a:pP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</a:rPr>
              <a:t>C. 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</a:rPr>
              <a:t>我正在说谎。</a:t>
            </a:r>
          </a:p>
          <a:p>
            <a:pPr marL="1028700" lvl="1" indent="-571500">
              <a:lnSpc>
                <a:spcPct val="100000"/>
              </a:lnSpc>
              <a:spcBef>
                <a:spcPct val="0"/>
              </a:spcBef>
            </a:pP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</a:rPr>
              <a:t>D. 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</a:rPr>
              <a:t>如果太阳从西方升起，你就可以长生不老。      </a:t>
            </a:r>
          </a:p>
          <a:p>
            <a:pPr marL="1028700" lvl="1" indent="-571500">
              <a:lnSpc>
                <a:spcPct val="100000"/>
              </a:lnSpc>
              <a:spcBef>
                <a:spcPct val="0"/>
              </a:spcBef>
            </a:pP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</a:rPr>
              <a:t>E. 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</a:rPr>
              <a:t>别的星球上有生物。  </a:t>
            </a:r>
          </a:p>
          <a:p>
            <a:pPr marL="1028700" lvl="1" indent="-571500">
              <a:lnSpc>
                <a:spcPct val="100000"/>
              </a:lnSpc>
              <a:spcBef>
                <a:spcPct val="0"/>
              </a:spcBef>
            </a:pP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</a:rPr>
              <a:t>F. 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</a:rPr>
              <a:t>几点了？           </a:t>
            </a:r>
          </a:p>
          <a:p>
            <a:pPr marL="1028700" lvl="1" indent="-571500">
              <a:lnSpc>
                <a:spcPct val="100000"/>
              </a:lnSpc>
              <a:spcBef>
                <a:spcPct val="0"/>
              </a:spcBef>
            </a:pP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</a:rPr>
              <a:t>G. 1960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</a:rPr>
              <a:t>年长春春城电影院放映了国产故事片“白毛女”</a:t>
            </a:r>
          </a:p>
          <a:p>
            <a:pPr marL="1028700" lvl="1" indent="-571500">
              <a:lnSpc>
                <a:spcPct val="100000"/>
              </a:lnSpc>
              <a:spcBef>
                <a:spcPct val="0"/>
              </a:spcBef>
            </a:pP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</a:rPr>
              <a:t>H. 1+101=110</a:t>
            </a:r>
          </a:p>
          <a:p>
            <a:pPr marL="1028700" lvl="1" indent="-571500">
              <a:lnSpc>
                <a:spcPct val="100000"/>
              </a:lnSpc>
              <a:spcBef>
                <a:spcPct val="0"/>
              </a:spcBef>
            </a:pP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</a:rPr>
              <a:t>I. 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</a:rPr>
              <a:t>全体起立！</a:t>
            </a:r>
          </a:p>
          <a:p>
            <a:pPr marL="1028700" lvl="1" indent="-571500">
              <a:lnSpc>
                <a:spcPct val="100000"/>
              </a:lnSpc>
              <a:spcBef>
                <a:spcPct val="0"/>
              </a:spcBef>
            </a:pP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</a:rPr>
              <a:t>J. 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</a:rPr>
              <a:t>这个教室好大呀</a:t>
            </a: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345488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命题与公式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A7A8A80-4135-8AE9-3D76-835D2B704BF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609724"/>
            <a:ext cx="10931074" cy="49291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8700" lvl="1" indent="-571500">
              <a:lnSpc>
                <a:spcPct val="100000"/>
              </a:lnSpc>
              <a:spcBef>
                <a:spcPct val="0"/>
              </a:spcBef>
            </a:pP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</a:rPr>
              <a:t>如果一个命题是真的</a:t>
            </a: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</a:rPr>
              <a:t>,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</a:rPr>
              <a:t>称它的真值是</a:t>
            </a: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</a:rPr>
              <a:t>1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</a:rPr>
              <a:t>，如果一个命题是假的</a:t>
            </a: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</a:rPr>
              <a:t>,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</a:rPr>
              <a:t>称它的真值是</a:t>
            </a: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</a:rPr>
              <a:t>0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</a:rPr>
              <a:t>。</a:t>
            </a:r>
            <a:endParaRPr lang="en-US" altLang="zh-CN" sz="2800" dirty="0">
              <a:latin typeface="等线" panose="02010600030101010101" charset="-122"/>
              <a:ea typeface="等线" panose="02010600030101010101" charset="-122"/>
            </a:endParaRPr>
          </a:p>
          <a:p>
            <a:pPr marL="1028700" lvl="1" indent="-571500">
              <a:lnSpc>
                <a:spcPct val="100000"/>
              </a:lnSpc>
              <a:spcBef>
                <a:spcPct val="0"/>
              </a:spcBef>
            </a:pPr>
            <a:endParaRPr lang="en-US" altLang="zh-CN" sz="2800" dirty="0">
              <a:latin typeface="等线" panose="02010600030101010101" charset="-122"/>
              <a:ea typeface="等线" panose="02010600030101010101" charset="-122"/>
            </a:endParaRPr>
          </a:p>
          <a:p>
            <a:pPr marL="1028700" lvl="1" indent="-571500">
              <a:lnSpc>
                <a:spcPct val="100000"/>
              </a:lnSpc>
              <a:spcBef>
                <a:spcPct val="0"/>
              </a:spcBef>
            </a:pPr>
            <a:endParaRPr lang="en-US" altLang="zh-CN" sz="2800" dirty="0">
              <a:latin typeface="等线" panose="02010600030101010101" charset="-122"/>
              <a:ea typeface="等线" panose="02010600030101010101" charset="-122"/>
            </a:endParaRPr>
          </a:p>
          <a:p>
            <a:pPr marL="1028700" lvl="1" indent="-571500">
              <a:lnSpc>
                <a:spcPct val="100000"/>
              </a:lnSpc>
              <a:spcBef>
                <a:spcPct val="0"/>
              </a:spcBef>
            </a:pP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</a:rPr>
              <a:t>也用</a:t>
            </a: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</a:rPr>
              <a:t>”1”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</a:rPr>
              <a:t>代表一个抽象的真命题，用</a:t>
            </a: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</a:rPr>
              <a:t>”0”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</a:rPr>
              <a:t>代表一个抽象的假命题。</a:t>
            </a:r>
          </a:p>
        </p:txBody>
      </p:sp>
    </p:spTree>
    <p:extLst>
      <p:ext uri="{BB962C8B-B14F-4D97-AF65-F5344CB8AC3E}">
        <p14:creationId xmlns:p14="http://schemas.microsoft.com/office/powerpoint/2010/main" val="14978689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原子命题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083E904-7FB3-3260-26D4-519B2DF2EBF7}"/>
              </a:ext>
            </a:extLst>
          </p:cNvPr>
          <p:cNvSpPr txBox="1"/>
          <p:nvPr/>
        </p:nvSpPr>
        <p:spPr>
          <a:xfrm>
            <a:off x="984738" y="1433147"/>
            <a:ext cx="102225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如果命题无法被分解为更加简单的陈述句了，称这样的命题为</a:t>
            </a:r>
            <a:r>
              <a:rPr lang="zh-CN" altLang="en-US" sz="2400" b="1" dirty="0"/>
              <a:t>简单命题</a:t>
            </a:r>
            <a:r>
              <a:rPr lang="zh-CN" altLang="en-US" sz="2400" dirty="0"/>
              <a:t>或者</a:t>
            </a:r>
            <a:r>
              <a:rPr lang="zh-CN" altLang="en-US" sz="2400" b="1" dirty="0"/>
              <a:t>原子命题。</a:t>
            </a:r>
            <a:endParaRPr lang="en-US" altLang="zh-CN" sz="2400" b="1" dirty="0"/>
          </a:p>
          <a:p>
            <a:endParaRPr lang="en-US" altLang="zh-CN" sz="2400" dirty="0"/>
          </a:p>
          <a:p>
            <a:r>
              <a:rPr lang="zh-CN" altLang="en-US" sz="2400" dirty="0"/>
              <a:t>原子命题用小写英文字母</a:t>
            </a:r>
            <a:r>
              <a:rPr lang="en-US" altLang="zh-CN" sz="2400" dirty="0" err="1"/>
              <a:t>p,q</a:t>
            </a:r>
            <a:r>
              <a:rPr lang="en-US" altLang="zh-CN" sz="2400" dirty="0"/>
              <a:t>,….</a:t>
            </a:r>
            <a:r>
              <a:rPr lang="zh-CN" altLang="en-US" sz="2400" dirty="0"/>
              <a:t>表示。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p: 2</a:t>
            </a:r>
            <a:r>
              <a:rPr lang="zh-CN" altLang="en-US" sz="2400" dirty="0"/>
              <a:t>是素数</a:t>
            </a:r>
            <a:r>
              <a:rPr lang="en-US" altLang="zh-CN" sz="2400" dirty="0"/>
              <a:t>=》</a:t>
            </a:r>
            <a:r>
              <a:rPr lang="zh-CN" altLang="en-US" sz="2400" dirty="0"/>
              <a:t>真命题</a:t>
            </a:r>
            <a:endParaRPr lang="en-US" altLang="zh-CN" sz="2400" dirty="0"/>
          </a:p>
          <a:p>
            <a:r>
              <a:rPr lang="en-US" altLang="zh-CN" sz="2400" dirty="0"/>
              <a:t>q: </a:t>
            </a:r>
            <a:r>
              <a:rPr lang="zh-CN" altLang="en-US" sz="2400" dirty="0"/>
              <a:t>雪是黑色的</a:t>
            </a:r>
            <a:r>
              <a:rPr lang="en-US" altLang="zh-CN" sz="2400" dirty="0"/>
              <a:t>=》</a:t>
            </a:r>
            <a:r>
              <a:rPr lang="zh-CN" altLang="en-US" sz="2400" dirty="0"/>
              <a:t>假命题</a:t>
            </a:r>
          </a:p>
          <a:p>
            <a:endParaRPr lang="en-US" altLang="zh-CN" sz="2400" b="1" dirty="0"/>
          </a:p>
          <a:p>
            <a:r>
              <a:rPr lang="zh-CN" altLang="en-US" sz="2400" dirty="0"/>
              <a:t>简单命题的真值是确定的，称为</a:t>
            </a:r>
            <a:r>
              <a:rPr lang="zh-CN" altLang="en-US" sz="2400" b="1" dirty="0"/>
              <a:t>命题常项</a:t>
            </a:r>
            <a:r>
              <a:rPr lang="zh-CN" altLang="en-US" sz="2400" dirty="0"/>
              <a:t>或</a:t>
            </a:r>
            <a:r>
              <a:rPr lang="zh-CN" altLang="en-US" sz="2400" b="1" dirty="0"/>
              <a:t>命题常元。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复合命题：</a:t>
            </a:r>
            <a:r>
              <a:rPr lang="zh-CN" altLang="en-US" sz="2400" dirty="0"/>
              <a:t>由简单命题由联结词联结而成的命题。</a:t>
            </a:r>
          </a:p>
        </p:txBody>
      </p:sp>
    </p:spTree>
    <p:extLst>
      <p:ext uri="{BB962C8B-B14F-4D97-AF65-F5344CB8AC3E}">
        <p14:creationId xmlns:p14="http://schemas.microsoft.com/office/powerpoint/2010/main" val="7036062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逻辑联接词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659BB42-F9EF-E3F6-1B2F-8C78A2D563AE}"/>
                  </a:ext>
                </a:extLst>
              </p:cNvPr>
              <p:cNvSpPr txBox="1"/>
              <p:nvPr/>
            </p:nvSpPr>
            <p:spPr>
              <a:xfrm>
                <a:off x="750277" y="1157434"/>
                <a:ext cx="10691446" cy="3600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定义</a:t>
                </a:r>
                <a:r>
                  <a:rPr lang="en-US" altLang="zh-CN" sz="2400" dirty="0"/>
                  <a:t>1.1</a:t>
                </a:r>
                <a:r>
                  <a:rPr lang="zh-CN" altLang="en-US" sz="2400" dirty="0"/>
                  <a:t>：设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是一个命题，命题 “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是不对的”称为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的否定，记以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zh-CN" altLang="en-US" sz="2400" dirty="0"/>
                  <a:t>，读作非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。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sz="2400" dirty="0"/>
                  <a:t>真值规定：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2400" dirty="0"/>
                  <a:t>真，当且仅当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为假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例子：</a:t>
                </a:r>
                <a:endParaRPr lang="en-US" altLang="zh-CN" sz="2400" dirty="0"/>
              </a:p>
              <a:p>
                <a:r>
                  <a:rPr lang="en-US" altLang="zh-CN" sz="2400" dirty="0"/>
                  <a:t>P: </a:t>
                </a:r>
                <a:r>
                  <a:rPr lang="zh-CN" altLang="en-US" sz="2400" dirty="0"/>
                  <a:t>吉大是中国最大的大学。</a:t>
                </a:r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zh-CN" altLang="en-US" sz="2400" dirty="0"/>
                  <a:t>：吉大不是中国最大的大学。</a:t>
                </a:r>
                <a:endParaRPr lang="en-US" altLang="zh-CN" sz="2400" dirty="0"/>
              </a:p>
              <a:p>
                <a:r>
                  <a:rPr lang="en-US" altLang="zh-CN" sz="2400" dirty="0"/>
                  <a:t>Q</a:t>
                </a:r>
                <a:r>
                  <a:rPr lang="zh-CN" altLang="en-US" sz="2400" dirty="0"/>
                  <a:t>：张三是坏人。</a:t>
                </a:r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zh-CN" altLang="en-US" sz="2400" dirty="0"/>
                  <a:t>：张三是好人。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659BB42-F9EF-E3F6-1B2F-8C78A2D56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157434"/>
                <a:ext cx="10691446" cy="3600986"/>
              </a:xfrm>
              <a:prstGeom prst="rect">
                <a:avLst/>
              </a:prstGeom>
              <a:blipFill>
                <a:blip r:embed="rId3"/>
                <a:stretch>
                  <a:fillRect l="-855" t="-1184" r="-3763" b="-3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AB812435-75ED-7D4D-B973-4DDD981FF3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2159502"/>
                  </p:ext>
                </p:extLst>
              </p:nvPr>
            </p:nvGraphicFramePr>
            <p:xfrm>
              <a:off x="2430584" y="5380892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735603379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8573760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P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2809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68377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84527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AB812435-75ED-7D4D-B973-4DDD981FF3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2159502"/>
                  </p:ext>
                </p:extLst>
              </p:nvPr>
            </p:nvGraphicFramePr>
            <p:xfrm>
              <a:off x="2430584" y="5380892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735603379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8573760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300" t="-8197" r="-600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2809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68377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84527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651959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逻辑联接词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659BB42-F9EF-E3F6-1B2F-8C78A2D563AE}"/>
                  </a:ext>
                </a:extLst>
              </p:cNvPr>
              <p:cNvSpPr txBox="1"/>
              <p:nvPr/>
            </p:nvSpPr>
            <p:spPr>
              <a:xfrm>
                <a:off x="750277" y="1085292"/>
                <a:ext cx="10691446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定义</a:t>
                </a:r>
                <a:r>
                  <a:rPr lang="en-US" altLang="zh-CN" sz="2400" dirty="0"/>
                  <a:t>1.2</a:t>
                </a:r>
                <a:r>
                  <a:rPr lang="zh-CN" altLang="en-US" sz="2400" dirty="0"/>
                  <a:t>：设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，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是两个命题，命题 “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并且</a:t>
                </a:r>
                <a:r>
                  <a:rPr lang="en-US" altLang="zh-CN" sz="2400" dirty="0"/>
                  <a:t>Q”</a:t>
                </a:r>
                <a:r>
                  <a:rPr lang="zh-CN" altLang="en-US" sz="2400" dirty="0"/>
                  <a:t>（或“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和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”）称为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与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的合取式，记以</a:t>
                </a:r>
                <a:r>
                  <a:rPr lang="en-US" altLang="zh-CN" sz="2400" dirty="0"/>
                  <a:t>P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altLang="zh-CN" sz="2400" dirty="0"/>
                  <a:t>Q</a:t>
                </a:r>
                <a:r>
                  <a:rPr lang="zh-CN" altLang="en-US" sz="2400" dirty="0"/>
                  <a:t>，读作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且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sz="2400" dirty="0"/>
                  <a:t>真值规定：</a:t>
                </a:r>
                <a:r>
                  <a:rPr lang="en-US" altLang="zh-CN" sz="2400" dirty="0"/>
                  <a:t>P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altLang="zh-CN" sz="2400" dirty="0"/>
                  <a:t>Q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2400" dirty="0"/>
                  <a:t>真，当且仅当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与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都是真的。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例子：</a:t>
                </a:r>
                <a:endParaRPr lang="en-US" altLang="zh-CN" sz="2400" dirty="0"/>
              </a:p>
              <a:p>
                <a:r>
                  <a:rPr lang="en-US" altLang="zh-CN" sz="2400" dirty="0"/>
                  <a:t>P: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1+1=3</m:t>
                    </m:r>
                  </m:oMath>
                </a14:m>
                <a:r>
                  <a:rPr lang="zh-CN" altLang="en-US" sz="2400" dirty="0"/>
                  <a:t>，</a:t>
                </a:r>
                <a:r>
                  <a:rPr lang="en-US" altLang="zh-CN" sz="2400" dirty="0"/>
                  <a:t>Q: </a:t>
                </a:r>
                <a:r>
                  <a:rPr lang="zh-CN" altLang="en-US" sz="2400" dirty="0"/>
                  <a:t>太阳从西面升起。</a:t>
                </a:r>
                <a:r>
                  <a:rPr lang="en-US" altLang="zh-CN" sz="2400" dirty="0"/>
                  <a:t>P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altLang="zh-CN" sz="2400" dirty="0"/>
                  <a:t>Q</a:t>
                </a:r>
                <a:r>
                  <a:rPr lang="zh-CN" altLang="en-US" sz="2400" dirty="0"/>
                  <a:t>：为假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659BB42-F9EF-E3F6-1B2F-8C78A2D56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5292"/>
                <a:ext cx="10691446" cy="2585323"/>
              </a:xfrm>
              <a:prstGeom prst="rect">
                <a:avLst/>
              </a:prstGeom>
              <a:blipFill>
                <a:blip r:embed="rId3"/>
                <a:stretch>
                  <a:fillRect l="-855" t="-1651" r="-2908" b="-4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AEF03C9A-9366-787C-5D0B-A95D2F6F44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0042474"/>
                  </p:ext>
                </p:extLst>
              </p:nvPr>
            </p:nvGraphicFramePr>
            <p:xfrm>
              <a:off x="2032000" y="4220944"/>
              <a:ext cx="8127999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86349757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83113107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342372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/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∧</m:t>
                              </m:r>
                            </m:oMath>
                          </a14:m>
                          <a:r>
                            <a:rPr lang="en-US" altLang="zh-CN" sz="1800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7319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96188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90415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4251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3298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AEF03C9A-9366-787C-5D0B-A95D2F6F44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0042474"/>
                  </p:ext>
                </p:extLst>
              </p:nvPr>
            </p:nvGraphicFramePr>
            <p:xfrm>
              <a:off x="2032000" y="4220944"/>
              <a:ext cx="8127999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86349757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83113107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342372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8197" r="-899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7319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96188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90415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4251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3298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01347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逻辑联接词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659BB42-F9EF-E3F6-1B2F-8C78A2D563AE}"/>
                  </a:ext>
                </a:extLst>
              </p:cNvPr>
              <p:cNvSpPr txBox="1"/>
              <p:nvPr/>
            </p:nvSpPr>
            <p:spPr>
              <a:xfrm>
                <a:off x="750277" y="1085292"/>
                <a:ext cx="10691446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定义</a:t>
                </a:r>
                <a:r>
                  <a:rPr lang="en-US" altLang="zh-CN" sz="2400" dirty="0"/>
                  <a:t>1.3</a:t>
                </a:r>
                <a:r>
                  <a:rPr lang="zh-CN" altLang="en-US" sz="2400" dirty="0"/>
                  <a:t>：设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，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是两个命题，命题 “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或者</a:t>
                </a:r>
                <a:r>
                  <a:rPr lang="en-US" altLang="zh-CN" sz="2400" dirty="0"/>
                  <a:t>Q”</a:t>
                </a:r>
                <a:r>
                  <a:rPr lang="zh-CN" altLang="en-US" sz="2400" dirty="0"/>
                  <a:t>称为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与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的析取式，记以</a:t>
                </a:r>
                <a:r>
                  <a:rPr lang="en-US" altLang="zh-CN" sz="2400" dirty="0"/>
                  <a:t>P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2400" dirty="0"/>
                  <a:t>Q</a:t>
                </a:r>
                <a:r>
                  <a:rPr lang="zh-CN" altLang="en-US" sz="2400" dirty="0"/>
                  <a:t>，读作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或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sz="2400" dirty="0"/>
                  <a:t>真值规定：</a:t>
                </a:r>
                <a:r>
                  <a:rPr lang="en-US" altLang="zh-CN" sz="2400" dirty="0"/>
                  <a:t>P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2400" dirty="0"/>
                  <a:t>Q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2400" dirty="0"/>
                  <a:t>真，当且仅当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，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中至少有一个是真的。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例子：</a:t>
                </a:r>
                <a:endParaRPr lang="en-US" altLang="zh-CN" sz="2400" dirty="0"/>
              </a:p>
              <a:p>
                <a:r>
                  <a:rPr lang="en-US" altLang="zh-CN" sz="2400" dirty="0"/>
                  <a:t>P: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1+1=2</m:t>
                    </m:r>
                  </m:oMath>
                </a14:m>
                <a:r>
                  <a:rPr lang="zh-CN" altLang="en-US" sz="2400" dirty="0"/>
                  <a:t>，</a:t>
                </a:r>
                <a:r>
                  <a:rPr lang="en-US" altLang="zh-CN" sz="2400" dirty="0"/>
                  <a:t>Q: </a:t>
                </a:r>
                <a:r>
                  <a:rPr lang="zh-CN" altLang="en-US" sz="2400" dirty="0"/>
                  <a:t>太阳从西面升起。</a:t>
                </a:r>
                <a:r>
                  <a:rPr lang="en-US" altLang="zh-CN" sz="2400" dirty="0"/>
                  <a:t>P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altLang="zh-CN" sz="2400" dirty="0"/>
                  <a:t>Q</a:t>
                </a:r>
                <a:r>
                  <a:rPr lang="zh-CN" altLang="en-US" sz="2400" dirty="0"/>
                  <a:t>：为真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659BB42-F9EF-E3F6-1B2F-8C78A2D56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5292"/>
                <a:ext cx="10691446" cy="2585323"/>
              </a:xfrm>
              <a:prstGeom prst="rect">
                <a:avLst/>
              </a:prstGeom>
              <a:blipFill>
                <a:blip r:embed="rId3"/>
                <a:stretch>
                  <a:fillRect l="-855" t="-1651" b="-4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AEF03C9A-9366-787C-5D0B-A95D2F6F44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0600354"/>
                  </p:ext>
                </p:extLst>
              </p:nvPr>
            </p:nvGraphicFramePr>
            <p:xfrm>
              <a:off x="2032000" y="4086382"/>
              <a:ext cx="8127999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86349757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83113107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342372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/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</m:oMath>
                          </a14:m>
                          <a:r>
                            <a:rPr lang="en-US" altLang="zh-CN" sz="1800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7319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96188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90415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4251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3298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AEF03C9A-9366-787C-5D0B-A95D2F6F44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0600354"/>
                  </p:ext>
                </p:extLst>
              </p:nvPr>
            </p:nvGraphicFramePr>
            <p:xfrm>
              <a:off x="2032000" y="4086382"/>
              <a:ext cx="8127999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86349757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83113107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342372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8197" r="-899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7319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96188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90415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4251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3298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460641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逻辑联接词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659BB42-F9EF-E3F6-1B2F-8C78A2D563AE}"/>
                  </a:ext>
                </a:extLst>
              </p:cNvPr>
              <p:cNvSpPr txBox="1"/>
              <p:nvPr/>
            </p:nvSpPr>
            <p:spPr>
              <a:xfrm>
                <a:off x="750277" y="1085292"/>
                <a:ext cx="10691446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定义</a:t>
                </a:r>
                <a:r>
                  <a:rPr lang="en-US" altLang="zh-CN" sz="2400" dirty="0"/>
                  <a:t>1.4</a:t>
                </a:r>
                <a:r>
                  <a:rPr lang="zh-CN" altLang="en-US" sz="2400" dirty="0"/>
                  <a:t>：设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，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是两个命题，命题 “如果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，则</a:t>
                </a:r>
                <a:r>
                  <a:rPr lang="en-US" altLang="zh-CN" sz="2400" dirty="0"/>
                  <a:t>Q”</a:t>
                </a:r>
                <a:r>
                  <a:rPr lang="zh-CN" altLang="en-US" sz="2400" dirty="0"/>
                  <a:t>称为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蕴含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，记以</a:t>
                </a:r>
                <a:r>
                  <a:rPr lang="en-US" altLang="zh-CN" sz="2400" dirty="0"/>
                  <a:t>P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2400" dirty="0"/>
                  <a:t>Q</a:t>
                </a:r>
              </a:p>
              <a:p>
                <a:endParaRPr lang="en-US" altLang="zh-CN" dirty="0"/>
              </a:p>
              <a:p>
                <a:r>
                  <a:rPr lang="zh-CN" altLang="en-US" sz="2400" dirty="0"/>
                  <a:t>真值规定：</a:t>
                </a:r>
                <a:r>
                  <a:rPr lang="en-US" altLang="zh-CN" sz="2400" dirty="0"/>
                  <a:t>P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2400" dirty="0"/>
                  <a:t>Q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2400" dirty="0"/>
                  <a:t>假，当且仅当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为真而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为假。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例子：</a:t>
                </a:r>
                <a:endParaRPr lang="en-US" altLang="zh-CN" sz="2400" dirty="0"/>
              </a:p>
              <a:p>
                <a:r>
                  <a:rPr lang="en-US" altLang="zh-CN" sz="2400" dirty="0"/>
                  <a:t>P: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1+1=2</m:t>
                    </m:r>
                  </m:oMath>
                </a14:m>
                <a:r>
                  <a:rPr lang="zh-CN" altLang="en-US" sz="2400" dirty="0"/>
                  <a:t>，</a:t>
                </a:r>
                <a:r>
                  <a:rPr lang="en-US" altLang="zh-CN" sz="2400" dirty="0"/>
                  <a:t>Q: </a:t>
                </a:r>
                <a:r>
                  <a:rPr lang="zh-CN" altLang="en-US" sz="2400" dirty="0"/>
                  <a:t>太阳从西面升起。</a:t>
                </a:r>
                <a:r>
                  <a:rPr lang="en-US" altLang="zh-CN" sz="2400" dirty="0"/>
                  <a:t>P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altLang="zh-CN" sz="2400" dirty="0"/>
                  <a:t>Q</a:t>
                </a:r>
                <a:r>
                  <a:rPr lang="zh-CN" altLang="en-US" sz="2400" dirty="0"/>
                  <a:t>：为假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659BB42-F9EF-E3F6-1B2F-8C78A2D56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5292"/>
                <a:ext cx="10691446" cy="2215991"/>
              </a:xfrm>
              <a:prstGeom prst="rect">
                <a:avLst/>
              </a:prstGeom>
              <a:blipFill>
                <a:blip r:embed="rId3"/>
                <a:stretch>
                  <a:fillRect l="-855" t="-1923" b="-5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AEF03C9A-9366-787C-5D0B-A95D2F6F44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2679973"/>
                  </p:ext>
                </p:extLst>
              </p:nvPr>
            </p:nvGraphicFramePr>
            <p:xfrm>
              <a:off x="2032000" y="4086382"/>
              <a:ext cx="8127999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86349757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83113107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342372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/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</m:oMath>
                          </a14:m>
                          <a:r>
                            <a:rPr lang="en-US" altLang="zh-CN" sz="1800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7319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96188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90415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4251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3298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AEF03C9A-9366-787C-5D0B-A95D2F6F44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2679973"/>
                  </p:ext>
                </p:extLst>
              </p:nvPr>
            </p:nvGraphicFramePr>
            <p:xfrm>
              <a:off x="2032000" y="4086382"/>
              <a:ext cx="8127999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86349757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83113107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342372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8197" r="-899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7319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96188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90415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4251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3298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132835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逻辑联接词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A4C453-4C00-105A-3ABE-4C23C7F39B57}"/>
              </a:ext>
            </a:extLst>
          </p:cNvPr>
          <p:cNvSpPr txBox="1"/>
          <p:nvPr/>
        </p:nvSpPr>
        <p:spPr>
          <a:xfrm>
            <a:off x="5650523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9EAA4AE-6C5D-9585-C769-11CC68BF7C5A}"/>
                  </a:ext>
                </a:extLst>
              </p:cNvPr>
              <p:cNvSpPr txBox="1"/>
              <p:nvPr/>
            </p:nvSpPr>
            <p:spPr>
              <a:xfrm>
                <a:off x="984738" y="1433147"/>
                <a:ext cx="1022252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由定义知，如果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是假命题，则不管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是什么命题，命题 “如果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，则</a:t>
                </a:r>
                <a:r>
                  <a:rPr lang="en-US" altLang="zh-CN" sz="2400" dirty="0"/>
                  <a:t>Q”</a:t>
                </a:r>
                <a:r>
                  <a:rPr lang="zh-CN" altLang="en-US" sz="2400" dirty="0"/>
                  <a:t>在命题逻辑中都被认为是真命题。 </a:t>
                </a:r>
                <a:r>
                  <a:rPr lang="en-US" altLang="zh-CN" sz="2400" dirty="0"/>
                  <a:t>—</a:t>
                </a:r>
                <a:r>
                  <a:rPr lang="zh-CN" altLang="en-US" sz="2400" dirty="0"/>
                  <a:t>与自然语言不一样的地方，自然语言中，</a:t>
                </a:r>
                <a:r>
                  <a:rPr lang="en-US" altLang="zh-CN" sz="2400" dirty="0"/>
                  <a:t>P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2400" dirty="0"/>
                  <a:t>Q</a:t>
                </a:r>
                <a:r>
                  <a:rPr lang="zh-CN" altLang="en-US" sz="2400" dirty="0"/>
                  <a:t>往往有某种内在的关系，但在数理逻辑中，</a:t>
                </a:r>
                <a:r>
                  <a:rPr lang="en-US" altLang="zh-CN" sz="2400" dirty="0"/>
                  <a:t> P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2400" dirty="0"/>
                  <a:t>Q</a:t>
                </a:r>
                <a:r>
                  <a:rPr lang="zh-CN" altLang="en-US" sz="2400" dirty="0"/>
                  <a:t>中的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和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不一定有什么内在关系。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P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2400" dirty="0"/>
                  <a:t>Q</a:t>
                </a:r>
                <a:r>
                  <a:rPr lang="zh-CN" altLang="en-US" sz="2400" dirty="0"/>
                  <a:t>表示的基本逻辑关系：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是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的必要条件，或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是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的充分条件。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9EAA4AE-6C5D-9585-C769-11CC68BF7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38" y="1433147"/>
                <a:ext cx="10222524" cy="2308324"/>
              </a:xfrm>
              <a:prstGeom prst="rect">
                <a:avLst/>
              </a:prstGeom>
              <a:blipFill>
                <a:blip r:embed="rId3"/>
                <a:stretch>
                  <a:fillRect l="-955" t="-1847" r="-835" b="-5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51021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逻辑联接词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659BB42-F9EF-E3F6-1B2F-8C78A2D563AE}"/>
                  </a:ext>
                </a:extLst>
              </p:cNvPr>
              <p:cNvSpPr txBox="1"/>
              <p:nvPr/>
            </p:nvSpPr>
            <p:spPr>
              <a:xfrm>
                <a:off x="750277" y="1085292"/>
                <a:ext cx="10691446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定义</a:t>
                </a:r>
                <a:r>
                  <a:rPr lang="en-US" altLang="zh-CN" sz="2400" dirty="0"/>
                  <a:t>1.5</a:t>
                </a:r>
                <a:r>
                  <a:rPr lang="zh-CN" altLang="en-US" sz="2400" dirty="0"/>
                  <a:t>：设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，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是两个命题，命题 “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当且仅当</a:t>
                </a:r>
                <a:r>
                  <a:rPr lang="en-US" altLang="zh-CN" sz="2400" dirty="0"/>
                  <a:t>Q”</a:t>
                </a:r>
                <a:r>
                  <a:rPr lang="zh-CN" altLang="en-US" sz="2400" dirty="0"/>
                  <a:t>称为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等价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，记以</a:t>
                </a:r>
                <a:r>
                  <a:rPr lang="en-US" altLang="zh-CN" sz="2400" dirty="0"/>
                  <a:t>P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altLang="zh-CN" sz="2400" dirty="0"/>
                  <a:t>Q</a:t>
                </a:r>
              </a:p>
              <a:p>
                <a:endParaRPr lang="en-US" altLang="zh-CN" dirty="0"/>
              </a:p>
              <a:p>
                <a:r>
                  <a:rPr lang="zh-CN" altLang="en-US" sz="2400" dirty="0"/>
                  <a:t>真值规定：</a:t>
                </a:r>
                <a:r>
                  <a:rPr lang="en-US" altLang="zh-CN" sz="2400" dirty="0"/>
                  <a:t>P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altLang="zh-CN" sz="2400" dirty="0"/>
                  <a:t>Q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2400" dirty="0"/>
                  <a:t>假，当且仅当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，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均为真或者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，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均为假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例子：</a:t>
                </a:r>
                <a:endParaRPr lang="en-US" altLang="zh-CN" sz="2400" dirty="0"/>
              </a:p>
              <a:p>
                <a:r>
                  <a:rPr lang="en-US" altLang="zh-CN" sz="2400" dirty="0"/>
                  <a:t>P: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1+1=2</m:t>
                    </m:r>
                  </m:oMath>
                </a14:m>
                <a:r>
                  <a:rPr lang="zh-CN" altLang="en-US" sz="2400" dirty="0"/>
                  <a:t>，</a:t>
                </a:r>
                <a:r>
                  <a:rPr lang="en-US" altLang="zh-CN" sz="2400" dirty="0"/>
                  <a:t>Q: </a:t>
                </a:r>
                <a:r>
                  <a:rPr lang="zh-CN" altLang="en-US" sz="2400" dirty="0"/>
                  <a:t>太阳从西面升起。</a:t>
                </a:r>
                <a:r>
                  <a:rPr lang="en-US" altLang="zh-CN" sz="2400" dirty="0"/>
                  <a:t>P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altLang="zh-CN" sz="2400" dirty="0"/>
                  <a:t>Q</a:t>
                </a:r>
                <a:r>
                  <a:rPr lang="zh-CN" altLang="en-US" sz="2400" dirty="0"/>
                  <a:t>：为假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659BB42-F9EF-E3F6-1B2F-8C78A2D56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5292"/>
                <a:ext cx="10691446" cy="2215991"/>
              </a:xfrm>
              <a:prstGeom prst="rect">
                <a:avLst/>
              </a:prstGeom>
              <a:blipFill>
                <a:blip r:embed="rId3"/>
                <a:stretch>
                  <a:fillRect l="-855" t="-1923" b="-5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AEF03C9A-9366-787C-5D0B-A95D2F6F44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4007999"/>
                  </p:ext>
                </p:extLst>
              </p:nvPr>
            </p:nvGraphicFramePr>
            <p:xfrm>
              <a:off x="2032000" y="4086382"/>
              <a:ext cx="8127999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86349757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83113107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342372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/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</m:oMath>
                          </a14:m>
                          <a:r>
                            <a:rPr lang="en-US" altLang="zh-CN" sz="1800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7319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96188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90415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4251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3298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AEF03C9A-9366-787C-5D0B-A95D2F6F44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4007999"/>
                  </p:ext>
                </p:extLst>
              </p:nvPr>
            </p:nvGraphicFramePr>
            <p:xfrm>
              <a:off x="2032000" y="4086382"/>
              <a:ext cx="8127999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86349757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83113107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342372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8197" r="-899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7319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96188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90415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4251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3298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468293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21214"/>
            <a:ext cx="12249510" cy="688784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4054567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2395549" y="4418398"/>
            <a:ext cx="8001969" cy="830997"/>
          </a:xfrm>
          <a:prstGeom prst="rect">
            <a:avLst/>
          </a:prstGeom>
          <a:noFill/>
          <a:ln w="12700">
            <a:noFill/>
            <a:miter lim="400000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zh-CN" altLang="en-US" sz="48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谢谢！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050421" y="5500321"/>
            <a:ext cx="7946680" cy="499624"/>
            <a:chOff x="2002264" y="3399020"/>
            <a:chExt cx="8187473" cy="499622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860796" y="3399020"/>
              <a:ext cx="4395931" cy="499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邬渊</a:t>
              </a:r>
              <a:endParaRPr lang="en-US" altLang="zh-CN" sz="20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prstClr val="white"/>
                </a:solidFill>
              </a:rPr>
              <a:pPr/>
              <a:t>23</a:t>
            </a:fld>
            <a:endParaRPr lang="zh-CN" altLang="en-US" dirty="0">
              <a:solidFill>
                <a:prstClr val="white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321" r="16752"/>
          <a:stretch/>
        </p:blipFill>
        <p:spPr>
          <a:xfrm>
            <a:off x="8580033" y="0"/>
            <a:ext cx="3634971" cy="330446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7937867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清风素材 https://12sc.taobao.com/">
  <a:themeElements>
    <a:clrScheme name="6_Colored Theme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377790"/>
      </a:accent1>
      <a:accent2>
        <a:srgbClr val="189A80"/>
      </a:accent2>
      <a:accent3>
        <a:srgbClr val="F09C2A"/>
      </a:accent3>
      <a:accent4>
        <a:srgbClr val="D24132"/>
      </a:accent4>
      <a:accent5>
        <a:srgbClr val="564266"/>
      </a:accent5>
      <a:accent6>
        <a:srgbClr val="686868"/>
      </a:accent6>
      <a:hlink>
        <a:srgbClr val="FFFFFF"/>
      </a:hlink>
      <a:folHlink>
        <a:srgbClr val="595959"/>
      </a:folHlink>
    </a:clrScheme>
    <a:fontScheme name="Arial">
      <a:majorFont>
        <a:latin typeface="Arial"/>
        <a:ea typeface=""/>
        <a:cs typeface="FontAwesome"/>
      </a:majorFont>
      <a:minorFont>
        <a:latin typeface="Arial"/>
        <a:ea typeface=""/>
        <a:cs typeface="FontAwesom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38678</TotalTime>
  <Words>1419</Words>
  <Application>Microsoft Office PowerPoint</Application>
  <PresentationFormat>宽屏</PresentationFormat>
  <Paragraphs>306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FontAwesome</vt:lpstr>
      <vt:lpstr>等线</vt:lpstr>
      <vt:lpstr>等线 Light</vt:lpstr>
      <vt:lpstr>方正粗黑宋简体</vt:lpstr>
      <vt:lpstr>楷体_GB2312</vt:lpstr>
      <vt:lpstr>微软雅黑</vt:lpstr>
      <vt:lpstr>Arial</vt:lpstr>
      <vt:lpstr>Cambria Math</vt:lpstr>
      <vt:lpstr>Wingdings</vt:lpstr>
      <vt:lpstr>Office 主题​​</vt:lpstr>
      <vt:lpstr>清风素材 https://12sc.taobao.com/</vt:lpstr>
      <vt:lpstr>PowerPoint 演示文稿</vt:lpstr>
      <vt:lpstr>主要内容</vt:lpstr>
      <vt:lpstr>主要内容</vt:lpstr>
      <vt:lpstr>集合论的主要模块</vt:lpstr>
      <vt:lpstr>图论的主要模块</vt:lpstr>
      <vt:lpstr>PowerPoint 演示文稿</vt:lpstr>
      <vt:lpstr>PowerPoint 演示文稿</vt:lpstr>
      <vt:lpstr>PowerPoint 演示文稿</vt:lpstr>
      <vt:lpstr>PowerPoint 演示文稿</vt:lpstr>
      <vt:lpstr>数理逻辑</vt:lpstr>
      <vt:lpstr>数理逻辑的创始人--莱布尼兹</vt:lpstr>
      <vt:lpstr>命题逻辑</vt:lpstr>
      <vt:lpstr>命题与公式</vt:lpstr>
      <vt:lpstr>命题与公式</vt:lpstr>
      <vt:lpstr>命题与公式</vt:lpstr>
      <vt:lpstr>原子命题</vt:lpstr>
      <vt:lpstr>逻辑联接词</vt:lpstr>
      <vt:lpstr>逻辑联接词</vt:lpstr>
      <vt:lpstr>逻辑联接词</vt:lpstr>
      <vt:lpstr>逻辑联接词</vt:lpstr>
      <vt:lpstr>逻辑联接词</vt:lpstr>
      <vt:lpstr>逻辑联接词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轩宇 付</cp:lastModifiedBy>
  <cp:revision>1664</cp:revision>
  <cp:lastPrinted>2019-05-20T00:00:00Z</cp:lastPrinted>
  <dcterms:created xsi:type="dcterms:W3CDTF">2019-04-24T04:43:00Z</dcterms:created>
  <dcterms:modified xsi:type="dcterms:W3CDTF">2026-05-25T01:29:32Z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2052-11.1.0.9209</vt:lpwstr>
  </property>
</Properties>
</file>
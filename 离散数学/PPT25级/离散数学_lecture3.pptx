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8"/>
  </p:notesMasterIdLst>
  <p:sldIdLst>
    <p:sldId id="267" r:id="rId3"/>
    <p:sldId id="435" r:id="rId4"/>
    <p:sldId id="416" r:id="rId5"/>
    <p:sldId id="472" r:id="rId6"/>
    <p:sldId id="473" r:id="rId7"/>
    <p:sldId id="475" r:id="rId8"/>
    <p:sldId id="476" r:id="rId9"/>
    <p:sldId id="474" r:id="rId10"/>
    <p:sldId id="477" r:id="rId11"/>
    <p:sldId id="478" r:id="rId12"/>
    <p:sldId id="479" r:id="rId13"/>
    <p:sldId id="480" r:id="rId14"/>
    <p:sldId id="355" r:id="rId15"/>
    <p:sldId id="481" r:id="rId16"/>
    <p:sldId id="482" r:id="rId17"/>
    <p:sldId id="483" r:id="rId18"/>
    <p:sldId id="484" r:id="rId19"/>
    <p:sldId id="457" r:id="rId20"/>
    <p:sldId id="485" r:id="rId21"/>
    <p:sldId id="486" r:id="rId22"/>
    <p:sldId id="487" r:id="rId23"/>
    <p:sldId id="489" r:id="rId24"/>
    <p:sldId id="488" r:id="rId25"/>
    <p:sldId id="458" r:id="rId26"/>
    <p:sldId id="490" r:id="rId27"/>
    <p:sldId id="491" r:id="rId28"/>
    <p:sldId id="492" r:id="rId29"/>
    <p:sldId id="493" r:id="rId30"/>
    <p:sldId id="494" r:id="rId31"/>
    <p:sldId id="495" r:id="rId32"/>
    <p:sldId id="459" r:id="rId33"/>
    <p:sldId id="496" r:id="rId34"/>
    <p:sldId id="497" r:id="rId35"/>
    <p:sldId id="498" r:id="rId36"/>
    <p:sldId id="334" r:id="rId3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80" autoAdjust="0"/>
  </p:normalViewPr>
  <p:slideViewPr>
    <p:cSldViewPr snapToGrid="0" showGuides="1">
      <p:cViewPr varScale="1">
        <p:scale>
          <a:sx n="125" d="100"/>
          <a:sy n="125" d="100"/>
        </p:scale>
        <p:origin x="16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64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79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5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945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813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78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17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894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165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924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52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035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87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892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249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628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1355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4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41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346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830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3060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193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772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274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92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24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593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0464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182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2228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9112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836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命题逻辑的缺陷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/>
              <p:nvPr/>
            </p:nvSpPr>
            <p:spPr>
              <a:xfrm>
                <a:off x="577361" y="1029712"/>
                <a:ext cx="11037277" cy="5509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命题公式把问题看成一个个孤立的命题，忽略了问题之间的联系，不能反映某些重要的常见的逻辑思维过程。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en-US" altLang="zh-CN" sz="3200" dirty="0"/>
                  <a:t>“</a:t>
                </a:r>
                <a:r>
                  <a:rPr lang="zh-CN" altLang="en-US" sz="3200" dirty="0"/>
                  <a:t>苏格拉底三段论</a:t>
                </a:r>
                <a:r>
                  <a:rPr lang="en-US" altLang="zh-CN" sz="3200" dirty="0"/>
                  <a:t>”:</a:t>
                </a:r>
              </a:p>
              <a:p>
                <a:r>
                  <a:rPr lang="en-US" altLang="zh-CN" sz="3200" dirty="0"/>
                  <a:t>         P</a:t>
                </a:r>
                <a:r>
                  <a:rPr lang="zh-CN" altLang="en-US" sz="3200" dirty="0"/>
                  <a:t>：凡是人都是要死的</a:t>
                </a:r>
                <a:br>
                  <a:rPr lang="zh-CN" altLang="en-US" sz="3200" dirty="0"/>
                </a:br>
                <a:r>
                  <a:rPr lang="zh-CN" altLang="en-US" sz="3200" dirty="0"/>
                  <a:t>	</a:t>
                </a:r>
                <a:r>
                  <a:rPr lang="en-US" altLang="zh-CN" sz="3200" dirty="0"/>
                  <a:t>Q</a:t>
                </a:r>
                <a:r>
                  <a:rPr lang="zh-CN" altLang="en-US" sz="3200" dirty="0"/>
                  <a:t>：苏格拉底是人</a:t>
                </a:r>
                <a:br>
                  <a:rPr lang="zh-CN" altLang="en-US" sz="3200" dirty="0"/>
                </a:br>
                <a:r>
                  <a:rPr lang="zh-CN" altLang="en-US" sz="3200" dirty="0"/>
                  <a:t>	</a:t>
                </a:r>
                <a:r>
                  <a:rPr lang="en-US" altLang="zh-CN" sz="3200" dirty="0"/>
                  <a:t>R</a:t>
                </a:r>
                <a:r>
                  <a:rPr lang="zh-CN" altLang="en-US" sz="3200" dirty="0"/>
                  <a:t>：苏格拉底必然要死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对命题的成分、结构和命题间的共同特性等作进一步的分析，这正是谓词逻辑所要研究的问题。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1" y="1029712"/>
                <a:ext cx="11037277" cy="5509200"/>
              </a:xfrm>
              <a:prstGeom prst="rect">
                <a:avLst/>
              </a:prstGeom>
              <a:blipFill>
                <a:blip r:embed="rId3"/>
                <a:stretch>
                  <a:fillRect l="-1436" t="-1438" r="-2486" b="-2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225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F78A-28D6-0558-9A30-BE51C614B08C}"/>
                  </a:ext>
                </a:extLst>
              </p:cNvPr>
              <p:cNvSpPr txBox="1"/>
              <p:nvPr/>
            </p:nvSpPr>
            <p:spPr>
              <a:xfrm>
                <a:off x="486507" y="1029712"/>
                <a:ext cx="110372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凡是人都是要死的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3200" dirty="0"/>
                  <a:t>“</a:t>
                </a:r>
                <a:r>
                  <a:rPr lang="zh-CN" altLang="en-US" sz="3200" dirty="0">
                    <a:solidFill>
                      <a:schemeClr val="accent1"/>
                    </a:solidFill>
                  </a:rPr>
                  <a:t>凡是</a:t>
                </a:r>
                <a:r>
                  <a:rPr lang="zh-CN" altLang="en-US" sz="3200" dirty="0"/>
                  <a:t>”“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人</a:t>
                </a:r>
                <a:r>
                  <a:rPr lang="zh-CN" altLang="en-US" sz="3200" dirty="0"/>
                  <a:t>”“</a:t>
                </a:r>
                <a:r>
                  <a:rPr lang="zh-CN" alt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都是要死的</a:t>
                </a:r>
                <a:r>
                  <a:rPr lang="zh-CN" altLang="en-US" sz="3200" dirty="0"/>
                  <a:t>”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F78A-28D6-0558-9A30-BE51C614B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7" y="1029712"/>
                <a:ext cx="11037277" cy="584775"/>
              </a:xfrm>
              <a:prstGeom prst="rect">
                <a:avLst/>
              </a:prstGeom>
              <a:blipFill>
                <a:blip r:embed="rId3"/>
                <a:stretch>
                  <a:fillRect l="-1436"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7E8C9D62-3884-909C-415E-DD7D2012F3D5}"/>
              </a:ext>
            </a:extLst>
          </p:cNvPr>
          <p:cNvSpPr txBox="1"/>
          <p:nvPr/>
        </p:nvSpPr>
        <p:spPr>
          <a:xfrm>
            <a:off x="1113692" y="2356338"/>
            <a:ext cx="2473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“凡是” 量词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D6E040-CD21-AA09-B40C-4F98C667D6A0}"/>
              </a:ext>
            </a:extLst>
          </p:cNvPr>
          <p:cNvSpPr txBox="1"/>
          <p:nvPr/>
        </p:nvSpPr>
        <p:spPr>
          <a:xfrm>
            <a:off x="4923693" y="2403230"/>
            <a:ext cx="203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“人” 个体词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CE7C85-E46D-868A-851F-1CA82FE13818}"/>
                  </a:ext>
                </a:extLst>
              </p:cNvPr>
              <p:cNvSpPr txBox="1"/>
              <p:nvPr/>
            </p:nvSpPr>
            <p:spPr>
              <a:xfrm>
                <a:off x="7924800" y="2403230"/>
                <a:ext cx="28838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“是要死的” 表示具体的性质或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关系</m:t>
                    </m:r>
                    <m:r>
                      <a:rPr lang="zh-CN" altLang="en-US" sz="24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谓词</m:t>
                    </m:r>
                  </m:oMath>
                </a14:m>
                <a:r>
                  <a:rPr lang="zh-CN" alt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常项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CE7C85-E46D-868A-851F-1CA82FE1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2403230"/>
                <a:ext cx="2883877" cy="1200329"/>
              </a:xfrm>
              <a:prstGeom prst="rect">
                <a:avLst/>
              </a:prstGeom>
              <a:blipFill>
                <a:blip r:embed="rId4"/>
                <a:stretch>
                  <a:fillRect l="-3171" t="-3553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9334F53-A27D-72A7-4022-DB64A533AD33}"/>
              </a:ext>
            </a:extLst>
          </p:cNvPr>
          <p:cNvCxnSpPr>
            <a:stCxn id="5" idx="0"/>
          </p:cNvCxnSpPr>
          <p:nvPr/>
        </p:nvCxnSpPr>
        <p:spPr>
          <a:xfrm flipV="1">
            <a:off x="2350477" y="1512277"/>
            <a:ext cx="2280138" cy="8440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A91A8AC-E722-9DC9-DD59-3BEC53CF7863}"/>
              </a:ext>
            </a:extLst>
          </p:cNvPr>
          <p:cNvCxnSpPr/>
          <p:nvPr/>
        </p:nvCxnSpPr>
        <p:spPr>
          <a:xfrm flipV="1">
            <a:off x="5615354" y="1512277"/>
            <a:ext cx="0" cy="8440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EE0F93F-33F9-A272-1948-35AEE1A63155}"/>
              </a:ext>
            </a:extLst>
          </p:cNvPr>
          <p:cNvCxnSpPr/>
          <p:nvPr/>
        </p:nvCxnSpPr>
        <p:spPr>
          <a:xfrm flipH="1" flipV="1">
            <a:off x="6955436" y="1512277"/>
            <a:ext cx="1409075" cy="89095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222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个体词</a:t>
            </a:r>
          </a:p>
        </p:txBody>
      </p:sp>
      <p:sp>
        <p:nvSpPr>
          <p:cNvPr id="2" name="文本占位符 11266">
            <a:extLst>
              <a:ext uri="{FF2B5EF4-FFF2-40B4-BE49-F238E27FC236}">
                <a16:creationId xmlns:a16="http://schemas.microsoft.com/office/drawing/2014/main" id="{5DF918E4-7F0E-3CA7-800B-F9D25D10B026}"/>
              </a:ext>
            </a:extLst>
          </p:cNvPr>
          <p:cNvSpPr txBox="1">
            <a:spLocks/>
          </p:cNvSpPr>
          <p:nvPr/>
        </p:nvSpPr>
        <p:spPr>
          <a:xfrm>
            <a:off x="939287" y="2192806"/>
            <a:ext cx="10313425" cy="2472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可以</a:t>
            </a:r>
            <a:r>
              <a:rPr lang="zh-CN" altLang="en-US" sz="3200" noProof="1">
                <a:solidFill>
                  <a:srgbClr val="FFCC00"/>
                </a:solidFill>
                <a:latin typeface="Times New Roman" panose="02020603050405020304" pitchFamily="18" charset="0"/>
              </a:rPr>
              <a:t>独立存在</a:t>
            </a:r>
            <a:r>
              <a:rPr lang="zh-CN" altLang="en-US" sz="3200" noProof="1">
                <a:latin typeface="Times New Roman" panose="02020603050405020304" pitchFamily="18" charset="0"/>
              </a:rPr>
              <a:t>的客体称为</a:t>
            </a:r>
            <a:r>
              <a:rPr lang="zh-CN" altLang="en-US" sz="3200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</a:t>
            </a:r>
            <a:r>
              <a:rPr lang="zh-CN" altLang="en-US" sz="3200" noProof="1">
                <a:latin typeface="Times New Roman" panose="02020603050405020304" pitchFamily="18" charset="0"/>
              </a:rPr>
              <a:t>。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可以是一个具体的事物，也可以是一个抽象的概念。</a:t>
            </a: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如人、学生、桌子、自然数、思想等都可以作为个体词。</a:t>
            </a: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在谓词逻辑中，个体通常指一个命题里的思维对象。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endParaRPr lang="en-US" altLang="zh-CN" sz="3200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64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个体词</a:t>
            </a:r>
          </a:p>
        </p:txBody>
      </p:sp>
      <p:sp>
        <p:nvSpPr>
          <p:cNvPr id="2" name="文本占位符 11266">
            <a:extLst>
              <a:ext uri="{FF2B5EF4-FFF2-40B4-BE49-F238E27FC236}">
                <a16:creationId xmlns:a16="http://schemas.microsoft.com/office/drawing/2014/main" id="{5DF918E4-7F0E-3CA7-800B-F9D25D10B026}"/>
              </a:ext>
            </a:extLst>
          </p:cNvPr>
          <p:cNvSpPr txBox="1">
            <a:spLocks/>
          </p:cNvSpPr>
          <p:nvPr/>
        </p:nvSpPr>
        <p:spPr>
          <a:xfrm>
            <a:off x="939287" y="1286460"/>
            <a:ext cx="10313425" cy="4318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表示具体或者特定的个体的词称为</a:t>
            </a:r>
            <a:r>
              <a:rPr lang="zh-CN" altLang="en-US" sz="3200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个体常项</a:t>
            </a:r>
            <a:r>
              <a:rPr lang="zh-CN" altLang="en-US" sz="3200" noProof="1">
                <a:latin typeface="Times New Roman" panose="02020603050405020304" pitchFamily="18" charset="0"/>
              </a:rPr>
              <a:t>，一般用小写字母</a:t>
            </a:r>
            <a:r>
              <a:rPr lang="en-US" altLang="zh-CN" sz="3200" noProof="1">
                <a:latin typeface="Times New Roman" panose="02020603050405020304" pitchFamily="18" charset="0"/>
              </a:rPr>
              <a:t>a, b, c, …</a:t>
            </a:r>
            <a:r>
              <a:rPr lang="zh-CN" altLang="en-US" sz="3200" noProof="1">
                <a:latin typeface="Times New Roman" panose="02020603050405020304" pitchFamily="18" charset="0"/>
              </a:rPr>
              <a:t>表示。表示抽象的或泛指的个体的词称为</a:t>
            </a:r>
            <a:r>
              <a:rPr lang="zh-CN" altLang="en-US" sz="3200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个体变项</a:t>
            </a:r>
            <a:r>
              <a:rPr lang="zh-CN" altLang="en-US" sz="3200" noProof="1">
                <a:latin typeface="Times New Roman" panose="02020603050405020304" pitchFamily="18" charset="0"/>
              </a:rPr>
              <a:t>，通常用小写英文字母</a:t>
            </a:r>
            <a:r>
              <a:rPr lang="en-US" altLang="zh-CN" sz="3200" noProof="1">
                <a:latin typeface="Times New Roman" panose="02020603050405020304" pitchFamily="18" charset="0"/>
              </a:rPr>
              <a:t>x, y, z…</a:t>
            </a:r>
            <a:r>
              <a:rPr lang="zh-CN" altLang="en-US" sz="3200" noProof="1">
                <a:latin typeface="Times New Roman" panose="02020603050405020304" pitchFamily="18" charset="0"/>
              </a:rPr>
              <a:t>表示。个体变项的取值范围称为</a:t>
            </a:r>
            <a:r>
              <a:rPr lang="zh-CN" altLang="en-US" sz="3200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个体域</a:t>
            </a:r>
            <a:r>
              <a:rPr lang="zh-CN" altLang="en-US" sz="3200" noProof="1">
                <a:latin typeface="Times New Roman" panose="02020603050405020304" pitchFamily="18" charset="0"/>
              </a:rPr>
              <a:t>（或</a:t>
            </a:r>
            <a:r>
              <a:rPr lang="zh-CN" altLang="en-US" sz="3200" noProof="1">
                <a:solidFill>
                  <a:srgbClr val="FF0000"/>
                </a:solidFill>
                <a:latin typeface="Times New Roman" panose="02020603050405020304" pitchFamily="18" charset="0"/>
              </a:rPr>
              <a:t>论域</a:t>
            </a:r>
            <a:r>
              <a:rPr lang="zh-CN" altLang="en-US" sz="3200" noProof="1">
                <a:latin typeface="Times New Roman" panose="02020603050405020304" pitchFamily="18" charset="0"/>
              </a:rPr>
              <a:t>）。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注：个体域可以是有限的集合，如</a:t>
            </a:r>
            <a:r>
              <a:rPr lang="en-US" altLang="zh-CN" sz="3200" noProof="1">
                <a:latin typeface="Times New Roman" panose="02020603050405020304" pitchFamily="18" charset="0"/>
              </a:rPr>
              <a:t>{1</a:t>
            </a:r>
            <a:r>
              <a:rPr lang="zh-CN" altLang="en-US" sz="3200" noProof="1">
                <a:latin typeface="Times New Roman" panose="02020603050405020304" pitchFamily="18" charset="0"/>
              </a:rPr>
              <a:t>，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，</a:t>
            </a:r>
            <a:r>
              <a:rPr lang="en-US" altLang="zh-CN" sz="3200" noProof="1">
                <a:latin typeface="Times New Roman" panose="02020603050405020304" pitchFamily="18" charset="0"/>
              </a:rPr>
              <a:t>3</a:t>
            </a:r>
            <a:r>
              <a:rPr lang="zh-CN" altLang="en-US" sz="3200" noProof="1">
                <a:latin typeface="Times New Roman" panose="02020603050405020304" pitchFamily="18" charset="0"/>
              </a:rPr>
              <a:t>，</a:t>
            </a:r>
            <a:r>
              <a:rPr lang="en-US" altLang="zh-CN" sz="3200" noProof="1">
                <a:latin typeface="Times New Roman" panose="02020603050405020304" pitchFamily="18" charset="0"/>
              </a:rPr>
              <a:t>4}</a:t>
            </a: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也可以是无限的集合，如实数集。当无特殊声明时，个体域由宇宙间的一切事物组成，称为全总个体域。</a:t>
            </a:r>
            <a:endParaRPr lang="en-US" altLang="zh-CN" sz="3200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135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谓词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2290">
                <a:extLst>
                  <a:ext uri="{FF2B5EF4-FFF2-40B4-BE49-F238E27FC236}">
                    <a16:creationId xmlns:a16="http://schemas.microsoft.com/office/drawing/2014/main" id="{140C98A1-E951-0A1C-257A-1F72CF7674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3385" y="1060938"/>
                <a:ext cx="11365310" cy="529541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600" b="1" noProof="1">
                    <a:latin typeface="Times New Roman" panose="02020603050405020304" pitchFamily="18" charset="0"/>
                  </a:rPr>
                  <a:t>谓词：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表示具体性质或关系的谓词称为</a:t>
                </a:r>
                <a:r>
                  <a:rPr lang="zh-CN" altLang="en-US" noProof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谓词常项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；表示抽象的或泛指的谓词称为</a:t>
                </a:r>
                <a:r>
                  <a:rPr lang="zh-CN" altLang="en-US" noProof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谓词变项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，都用大写英文字母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F, G, H, …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表示。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。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例子：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个体变项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x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具有性质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：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F(x);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个体变项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x, y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具有关系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L: L(x,y);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 xmlns:m="http://schemas.openxmlformats.org/officeDocument/2006/math"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=“张三”, 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=“李四”, 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zh-CN" altLang="en-US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无理数，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L(x,y)=x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比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y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高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5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厘米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noProof="1">
                    <a:latin typeface="Times New Roman" panose="02020603050405020304" pitchFamily="18" charset="0"/>
                  </a:rPr>
                  <a:t>F(a)=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是无理数，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L(b, c)=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张三比李四高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5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厘米。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2290">
                <a:extLst>
                  <a:ext uri="{FF2B5EF4-FFF2-40B4-BE49-F238E27FC236}">
                    <a16:creationId xmlns:a16="http://schemas.microsoft.com/office/drawing/2014/main" id="{140C98A1-E951-0A1C-257A-1F72CF767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5" y="1060938"/>
                <a:ext cx="11365310" cy="5295411"/>
              </a:xfrm>
              <a:prstGeom prst="rect">
                <a:avLst/>
              </a:prstGeom>
              <a:blipFill>
                <a:blip r:embed="rId3"/>
                <a:stretch>
                  <a:fillRect l="-1609" t="-2762" b="-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5B260A7-7EB1-49D3-111F-8FF7AE3D6630}"/>
              </a:ext>
            </a:extLst>
          </p:cNvPr>
          <p:cNvCxnSpPr/>
          <p:nvPr/>
        </p:nvCxnSpPr>
        <p:spPr>
          <a:xfrm>
            <a:off x="3446585" y="1948721"/>
            <a:ext cx="1979854" cy="80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B5BCF37-DB1C-C49A-77F4-593E28A84894}"/>
              </a:ext>
            </a:extLst>
          </p:cNvPr>
          <p:cNvCxnSpPr/>
          <p:nvPr/>
        </p:nvCxnSpPr>
        <p:spPr>
          <a:xfrm flipH="1">
            <a:off x="5891134" y="1528997"/>
            <a:ext cx="1888761" cy="125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614D0B-31CC-6EC1-3353-3D6E27D55C12}"/>
              </a:ext>
            </a:extLst>
          </p:cNvPr>
          <p:cNvSpPr txBox="1"/>
          <p:nvPr/>
        </p:nvSpPr>
        <p:spPr>
          <a:xfrm>
            <a:off x="4436512" y="2852480"/>
            <a:ext cx="266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</a:rPr>
              <a:t>根据上下文来判断</a:t>
            </a:r>
          </a:p>
        </p:txBody>
      </p:sp>
    </p:spTree>
    <p:extLst>
      <p:ext uri="{BB962C8B-B14F-4D97-AF65-F5344CB8AC3E}">
        <p14:creationId xmlns:p14="http://schemas.microsoft.com/office/powerpoint/2010/main" val="498677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谓词</a:t>
            </a:r>
          </a:p>
        </p:txBody>
      </p:sp>
      <p:sp>
        <p:nvSpPr>
          <p:cNvPr id="2" name="文本占位符 12290">
            <a:extLst>
              <a:ext uri="{FF2B5EF4-FFF2-40B4-BE49-F238E27FC236}">
                <a16:creationId xmlns:a16="http://schemas.microsoft.com/office/drawing/2014/main" id="{140C98A1-E951-0A1C-257A-1F72CF7674D8}"/>
              </a:ext>
            </a:extLst>
          </p:cNvPr>
          <p:cNvSpPr txBox="1">
            <a:spLocks/>
          </p:cNvSpPr>
          <p:nvPr/>
        </p:nvSpPr>
        <p:spPr>
          <a:xfrm>
            <a:off x="703385" y="1060938"/>
            <a:ext cx="11365310" cy="5295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endParaRPr lang="en-US" altLang="zh-CN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endParaRPr lang="en-US" altLang="zh-CN" noProof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占位符 11266">
                <a:extLst>
                  <a:ext uri="{FF2B5EF4-FFF2-40B4-BE49-F238E27FC236}">
                    <a16:creationId xmlns:a16="http://schemas.microsoft.com/office/drawing/2014/main" id="{93A7B747-EEA7-C1BE-3EB3-47751F2C4D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060938"/>
                <a:ext cx="10313425" cy="55958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谓词中包含的个体词数被称为元数，含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个个体词的谓词被称为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元谓词。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元谓词是表示个体词性质的。当</a:t>
                </a:r>
                <a14:m>
                  <m:oMath xmlns:m="http://schemas.openxmlformats.org/officeDocument/2006/math">
                    <m:r>
                      <a:rPr lang="en-US" altLang="zh-CN" sz="3200" i="1" noProof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时，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元谓词表示个体词之间的关系。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一般来说，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元谓词，它是以个体变项的个体域为定义域，以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{0,1}</m:t>
                    </m:r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值域的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元函数。在这里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个个体变项的顺序不能随意变动。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不带个体变项的谓词称为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元谓词，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元谓词都是命题。命题可以看成是谓词的特殊情况，命题逻辑中的联结词在谓词中均可使用。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占位符 11266">
                <a:extLst>
                  <a:ext uri="{FF2B5EF4-FFF2-40B4-BE49-F238E27FC236}">
                    <a16:creationId xmlns:a16="http://schemas.microsoft.com/office/drawing/2014/main" id="{93A7B747-EEA7-C1BE-3EB3-47751F2C4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060938"/>
                <a:ext cx="10313425" cy="5595865"/>
              </a:xfrm>
              <a:prstGeom prst="rect">
                <a:avLst/>
              </a:prstGeom>
              <a:blipFill>
                <a:blip r:embed="rId3"/>
                <a:stretch>
                  <a:fillRect l="-1478" t="-2288" r="-1478" b="-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2329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" name="文本占位符 11266">
            <a:extLst>
              <a:ext uri="{FF2B5EF4-FFF2-40B4-BE49-F238E27FC236}">
                <a16:creationId xmlns:a16="http://schemas.microsoft.com/office/drawing/2014/main" id="{5DF918E4-7F0E-3CA7-800B-F9D25D10B026}"/>
              </a:ext>
            </a:extLst>
          </p:cNvPr>
          <p:cNvSpPr txBox="1">
            <a:spLocks/>
          </p:cNvSpPr>
          <p:nvPr/>
        </p:nvSpPr>
        <p:spPr>
          <a:xfrm>
            <a:off x="411690" y="2089542"/>
            <a:ext cx="11368619" cy="2712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将下列命题用</a:t>
            </a:r>
            <a:r>
              <a:rPr lang="en-US" altLang="zh-CN" sz="3200" noProof="1">
                <a:latin typeface="Times New Roman" panose="02020603050405020304" pitchFamily="18" charset="0"/>
              </a:rPr>
              <a:t>0</a:t>
            </a:r>
            <a:r>
              <a:rPr lang="zh-CN" altLang="en-US" sz="3200" noProof="1">
                <a:latin typeface="Times New Roman" panose="02020603050405020304" pitchFamily="18" charset="0"/>
              </a:rPr>
              <a:t>元谓词符号化：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1</a:t>
            </a:r>
            <a:r>
              <a:rPr lang="zh-CN" altLang="en-US" sz="3200" noProof="1">
                <a:latin typeface="Times New Roman" panose="02020603050405020304" pitchFamily="18" charset="0"/>
              </a:rPr>
              <a:t>）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是素数且是偶数；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）如果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大于</a:t>
            </a:r>
            <a:r>
              <a:rPr lang="en-US" altLang="zh-CN" sz="3200" noProof="1">
                <a:latin typeface="Times New Roman" panose="02020603050405020304" pitchFamily="18" charset="0"/>
              </a:rPr>
              <a:t>3</a:t>
            </a:r>
            <a:r>
              <a:rPr lang="zh-CN" altLang="en-US" sz="3200" noProof="1">
                <a:latin typeface="Times New Roman" panose="02020603050405020304" pitchFamily="18" charset="0"/>
              </a:rPr>
              <a:t>，则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大于</a:t>
            </a:r>
            <a:r>
              <a:rPr lang="en-US" altLang="zh-CN" sz="3200" noProof="1">
                <a:latin typeface="Times New Roman" panose="02020603050405020304" pitchFamily="18" charset="0"/>
              </a:rPr>
              <a:t>4</a:t>
            </a:r>
            <a:r>
              <a:rPr lang="zh-CN" altLang="en-US" sz="3200" noProof="1">
                <a:latin typeface="Times New Roman" panose="02020603050405020304" pitchFamily="18" charset="0"/>
              </a:rPr>
              <a:t>；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3</a:t>
            </a:r>
            <a:r>
              <a:rPr lang="zh-CN" altLang="en-US" sz="3200" noProof="1">
                <a:latin typeface="Times New Roman" panose="02020603050405020304" pitchFamily="18" charset="0"/>
              </a:rPr>
              <a:t>）如果张三比李四高，李四比王五高，则张三比王五高</a:t>
            </a:r>
            <a:endParaRPr lang="en-US" altLang="zh-CN" sz="3200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076" y="1070210"/>
                <a:ext cx="11368619" cy="271222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将下列命题用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元谓词符号化：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是素数且是偶数；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设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F(x): x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是素数；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G(x): x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是偶数；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a=2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则命题（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）可符号化为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76" y="1070210"/>
                <a:ext cx="11368619" cy="2712229"/>
              </a:xfrm>
              <a:prstGeom prst="rect">
                <a:avLst/>
              </a:prstGeom>
              <a:blipFill>
                <a:blip r:embed="rId3"/>
                <a:stretch>
                  <a:fillRect l="-1394" t="-5180"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89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690" y="1040230"/>
                <a:ext cx="11368619" cy="464104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将下列命题用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元谓词符号化：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）如果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大于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，则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大于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设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L(x, y): x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大于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y; a = 2; b = 3; c = 4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则命题（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）可符号化为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noProof="1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90" y="1040230"/>
                <a:ext cx="11368619" cy="4641042"/>
              </a:xfrm>
              <a:prstGeom prst="rect">
                <a:avLst/>
              </a:prstGeom>
              <a:blipFill>
                <a:blip r:embed="rId3"/>
                <a:stretch>
                  <a:fillRect l="-1395" t="-3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306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690" y="1265083"/>
                <a:ext cx="11368619" cy="271222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将下列命题用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元谓词符号化：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）如果张三比李四高，李四比王五高，则张三比王五高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设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H(x, y): x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比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y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高；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 =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张三；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b =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李四；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c =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王五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则命题（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）可符号化为：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90" y="1265083"/>
                <a:ext cx="11368619" cy="2712229"/>
              </a:xfrm>
              <a:prstGeom prst="rect">
                <a:avLst/>
              </a:prstGeom>
              <a:blipFill>
                <a:blip r:embed="rId3"/>
                <a:stretch>
                  <a:fillRect l="-1395" t="-5180" b="-31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729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占位符 12290">
                <a:extLst>
                  <a:ext uri="{FF2B5EF4-FFF2-40B4-BE49-F238E27FC236}">
                    <a16:creationId xmlns:a16="http://schemas.microsoft.com/office/drawing/2014/main" id="{016927B8-940F-E251-6EDF-9C93021CA2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5" y="1131277"/>
                <a:ext cx="11365310" cy="502920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表示数量的词被称为量词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全称量词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: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对应日常语言中的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一切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所有的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任意的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等词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用符号</a:t>
                </a:r>
                <a14:m>
                  <m:oMath xmlns:m="http://schemas.openxmlformats.org/officeDocument/2006/math">
                    <m:r>
                      <a:rPr lang="zh-CN" altLang="en-US" i="1" noProof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zh-CN" altLang="en-US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对个体域中的所有个体；</a:t>
                </a:r>
                <a:r>
                  <a:rPr lang="en-US" altLang="zh-CN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𝑥𝐹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表示个体域中的所有个体都具有性质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。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 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存在量词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: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对应日常用语中的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存在着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有一个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至少有一个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等词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用符号</a:t>
                </a:r>
                <a14:m>
                  <m:oMath xmlns:m="http://schemas.openxmlformats.org/officeDocument/2006/math">
                    <m:r>
                      <a:rPr lang="zh-CN" altLang="en-US" i="1" noProof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表示。</a:t>
                </a:r>
                <a:r>
                  <a:rPr lang="zh-CN" altLang="en-US" noProof="1"/>
                  <a:t> 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表示存在个体域中的个体；</a:t>
                </a:r>
                <a:r>
                  <a:rPr lang="zh-CN" altLang="en-US" noProof="1"/>
                  <a:t> 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 noProof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表示个体域中存在个体具有性质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。</a:t>
                </a:r>
                <a:endParaRPr lang="en-US" altLang="zh-CN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占位符 12290">
                <a:extLst>
                  <a:ext uri="{FF2B5EF4-FFF2-40B4-BE49-F238E27FC236}">
                    <a16:creationId xmlns:a16="http://schemas.microsoft.com/office/drawing/2014/main" id="{016927B8-940F-E251-6EDF-9C93021CA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45" y="1131277"/>
                <a:ext cx="11365310" cy="5029200"/>
              </a:xfrm>
              <a:prstGeom prst="rect">
                <a:avLst/>
              </a:prstGeom>
              <a:blipFill>
                <a:blip r:embed="rId3"/>
                <a:stretch>
                  <a:fillRect l="-1127" t="-2303" r="-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984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A2C0AA-130C-3802-3CF3-BE12F9134987}"/>
              </a:ext>
            </a:extLst>
          </p:cNvPr>
          <p:cNvSpPr txBox="1"/>
          <p:nvPr/>
        </p:nvSpPr>
        <p:spPr>
          <a:xfrm>
            <a:off x="750277" y="1003231"/>
            <a:ext cx="106914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将下列命题符号化：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）所有的人都要死的；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）有的人能活</a:t>
            </a:r>
            <a:r>
              <a:rPr lang="en-US" altLang="zh-CN" sz="2800" dirty="0"/>
              <a:t>100</a:t>
            </a:r>
            <a:r>
              <a:rPr lang="zh-CN" altLang="en-US" sz="2800" dirty="0"/>
              <a:t>岁以上。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407634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/>
              <p:nvPr/>
            </p:nvSpPr>
            <p:spPr>
              <a:xfrm>
                <a:off x="750277" y="1003231"/>
                <a:ext cx="1069144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）所有的人都要死的；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）有的人能活</a:t>
                </a:r>
                <a:r>
                  <a:rPr lang="en-US" altLang="zh-CN" sz="2800" dirty="0"/>
                  <a:t>100</a:t>
                </a:r>
                <a:r>
                  <a:rPr lang="zh-CN" altLang="en-US" sz="2800" dirty="0"/>
                  <a:t>岁以上。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）可符号化为：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其中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是要死的。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）可符号化为：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其中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可以活</a:t>
                </a:r>
                <a:r>
                  <a:rPr lang="en-US" altLang="zh-CN" sz="2800" dirty="0"/>
                  <a:t>100</a:t>
                </a:r>
                <a:r>
                  <a:rPr lang="zh-CN" altLang="en-US" sz="2800" dirty="0"/>
                  <a:t>岁以上。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3231"/>
                <a:ext cx="10691446" cy="3108543"/>
              </a:xfrm>
              <a:prstGeom prst="rect">
                <a:avLst/>
              </a:prstGeom>
              <a:blipFill>
                <a:blip r:embed="rId3"/>
                <a:stretch>
                  <a:fillRect l="-1140" t="-2353" b="-4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518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/>
              <p:nvPr/>
            </p:nvSpPr>
            <p:spPr>
              <a:xfrm>
                <a:off x="750277" y="1003231"/>
                <a:ext cx="10691446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）所有的人都要死的；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）有的人能活</a:t>
                </a:r>
                <a:r>
                  <a:rPr lang="en-US" altLang="zh-CN" sz="2800" dirty="0"/>
                  <a:t>100</a:t>
                </a:r>
                <a:r>
                  <a:rPr lang="zh-CN" altLang="en-US" sz="2800" dirty="0"/>
                  <a:t>岁以上。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）可符号化为：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其中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是要死的。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）可符号化为：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其中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可以活</a:t>
                </a:r>
                <a:r>
                  <a:rPr lang="en-US" altLang="zh-CN" sz="2800" dirty="0"/>
                  <a:t>100</a:t>
                </a:r>
                <a:r>
                  <a:rPr lang="zh-CN" altLang="en-US" sz="2800" dirty="0"/>
                  <a:t>岁以上。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en-US" altLang="zh-CN" sz="3200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所属的个体域</a:t>
                </a:r>
                <a:r>
                  <a:rPr lang="en-US" altLang="zh-CN" sz="3200" dirty="0">
                    <a:solidFill>
                      <a:srgbClr val="FF0000"/>
                    </a:solidFill>
                  </a:rPr>
                  <a:t>D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为人类集合。</a:t>
                </a:r>
                <a:endParaRPr lang="en-US" altLang="zh-CN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3231"/>
                <a:ext cx="10691446" cy="4031873"/>
              </a:xfrm>
              <a:prstGeom prst="rect">
                <a:avLst/>
              </a:prstGeom>
              <a:blipFill>
                <a:blip r:embed="rId3"/>
                <a:stretch>
                  <a:fillRect l="-1425" t="-1815" b="-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052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特性谓词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/>
              <p:nvPr/>
            </p:nvSpPr>
            <p:spPr>
              <a:xfrm>
                <a:off x="750277" y="1003231"/>
                <a:ext cx="1069144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）所有的人都要死的；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）有的人能活</a:t>
                </a:r>
                <a:r>
                  <a:rPr lang="en-US" altLang="zh-CN" sz="2800" dirty="0"/>
                  <a:t>100</a:t>
                </a:r>
                <a:r>
                  <a:rPr lang="zh-CN" altLang="en-US" sz="2800" dirty="0"/>
                  <a:t>岁以上。</a:t>
                </a:r>
                <a:endParaRPr lang="en-US" altLang="zh-CN" sz="2800" dirty="0"/>
              </a:p>
              <a:p>
                <a:r>
                  <a:rPr lang="zh-CN" altLang="en-US" sz="2800" dirty="0"/>
                  <a:t>若</a:t>
                </a:r>
                <a:r>
                  <a:rPr lang="en-US" altLang="zh-CN" sz="2800" dirty="0"/>
                  <a:t>x</a:t>
                </a:r>
                <a:r>
                  <a:rPr lang="zh-CN" altLang="en-US" sz="2800" dirty="0"/>
                  <a:t>的个体域</a:t>
                </a:r>
                <a:r>
                  <a:rPr lang="en-US" altLang="zh-CN" sz="2800" dirty="0"/>
                  <a:t>D</a:t>
                </a:r>
                <a:r>
                  <a:rPr lang="zh-CN" altLang="en-US" sz="2800" dirty="0"/>
                  <a:t>为全总集合，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3600" dirty="0">
                    <a:solidFill>
                      <a:schemeClr val="accent5"/>
                    </a:solidFill>
                  </a:rPr>
                  <a:t>特性谓词</a:t>
                </a:r>
                <a:r>
                  <a:rPr lang="en-US" altLang="zh-CN" sz="3600" dirty="0">
                    <a:solidFill>
                      <a:schemeClr val="accent5"/>
                    </a:solidFill>
                  </a:rPr>
                  <a:t>M(x): x</a:t>
                </a:r>
                <a:r>
                  <a:rPr lang="zh-CN" altLang="en-US" sz="3600" dirty="0">
                    <a:solidFill>
                      <a:schemeClr val="accent5"/>
                    </a:solidFill>
                  </a:rPr>
                  <a:t>是人。</a:t>
                </a:r>
                <a:endParaRPr lang="en-US" altLang="zh-CN" sz="3600" dirty="0">
                  <a:solidFill>
                    <a:schemeClr val="accent5"/>
                  </a:solidFill>
                </a:endParaRPr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）可符号化为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命题（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）可符号化为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3231"/>
                <a:ext cx="10691446" cy="4093428"/>
              </a:xfrm>
              <a:prstGeom prst="rect">
                <a:avLst/>
              </a:prstGeom>
              <a:blipFill>
                <a:blip r:embed="rId3"/>
                <a:stretch>
                  <a:fillRect l="-1710" t="-1788"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251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/>
              <p:nvPr/>
            </p:nvSpPr>
            <p:spPr>
              <a:xfrm>
                <a:off x="750277" y="1003231"/>
                <a:ext cx="10691446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1. </a:t>
                </a:r>
                <a:r>
                  <a:rPr lang="zh-CN" altLang="en-US" sz="2800" dirty="0"/>
                  <a:t>在不同的个体域，命题符号化的形式可能不一样；</a:t>
                </a:r>
                <a:endParaRPr lang="en-US" altLang="zh-CN" sz="2800" dirty="0"/>
              </a:p>
              <a:p>
                <a:r>
                  <a:rPr lang="en-US" altLang="zh-CN" sz="2800" dirty="0"/>
                  <a:t>2. </a:t>
                </a:r>
                <a:r>
                  <a:rPr lang="zh-CN" altLang="en-US" sz="2800" dirty="0"/>
                  <a:t>如果事先没有给出个体域，都应该以全总集合作为个体域；</a:t>
                </a:r>
                <a:endParaRPr lang="en-US" altLang="zh-CN" sz="2800" dirty="0"/>
              </a:p>
              <a:p>
                <a:r>
                  <a:rPr lang="en-US" altLang="zh-CN" sz="2800" dirty="0"/>
                  <a:t>3. </a:t>
                </a:r>
                <a:r>
                  <a:rPr lang="zh-CN" altLang="en-US" sz="2800" dirty="0"/>
                  <a:t>在引入特性谓词后，使用全称量词与存在量词符号化的形式是不一样的；</a:t>
                </a:r>
                <a:endParaRPr lang="en-US" altLang="zh-CN" sz="2800" dirty="0"/>
              </a:p>
              <a:p>
                <a:r>
                  <a:rPr lang="en-US" altLang="zh-CN" sz="2800" dirty="0"/>
                  <a:t>4.</a:t>
                </a:r>
                <a:r>
                  <a:rPr lang="zh-CN" altLang="en-US" sz="2800" dirty="0"/>
                  <a:t> 个体域和谓词的含义确定之后，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元谓词要转化为命题至少需要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个量词；</a:t>
                </a:r>
                <a:endParaRPr lang="en-US" altLang="zh-CN" sz="2800" dirty="0"/>
              </a:p>
              <a:p>
                <a:r>
                  <a:rPr lang="en-US" altLang="zh-CN" sz="2800" dirty="0"/>
                  <a:t>5. </a:t>
                </a:r>
                <a:r>
                  <a:rPr lang="zh-CN" altLang="en-US" sz="2800" dirty="0"/>
                  <a:t>当个体域为有限集合时，如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dirty="0"/>
                  <a:t>，由量词的定义可以看出，对于任意的谓词</a:t>
                </a:r>
                <a:r>
                  <a:rPr lang="en-US" altLang="zh-CN" sz="2800" dirty="0"/>
                  <a:t>A(x), </a:t>
                </a:r>
                <a:r>
                  <a:rPr lang="zh-CN" altLang="en-US" sz="2800" dirty="0"/>
                  <a:t>都有：</a:t>
                </a:r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…∨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r>
                  <a:rPr lang="zh-CN" altLang="en-US" sz="2800" dirty="0"/>
                  <a:t>在有限个体域中可以消除量词；</a:t>
                </a:r>
                <a:endParaRPr lang="en-US" altLang="zh-CN" sz="2800" dirty="0"/>
              </a:p>
              <a:p>
                <a:r>
                  <a:rPr lang="en-US" altLang="zh-CN" sz="2800" dirty="0"/>
                  <a:t>6. </a:t>
                </a:r>
                <a:r>
                  <a:rPr lang="zh-CN" altLang="en-US" sz="2800" dirty="0"/>
                  <a:t>多个量词同时出现时，不能随意改变它们的顺序。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3231"/>
                <a:ext cx="10691446" cy="5262979"/>
              </a:xfrm>
              <a:prstGeom prst="rect">
                <a:avLst/>
              </a:prstGeom>
              <a:blipFill>
                <a:blip r:embed="rId3"/>
                <a:stretch>
                  <a:fillRect l="-1140" t="-1390" b="-2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165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）凡偶数均能被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整除；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）存在着素偶数；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）没有不吃饭的人；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）素数不全是奇数。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没有给出特殊说明，则本题中的个体域</a:t>
                </a:r>
                <a:r>
                  <a:rPr lang="en-US" altLang="zh-CN" sz="2800" dirty="0"/>
                  <a:t>D</a:t>
                </a:r>
                <a:r>
                  <a:rPr lang="zh-CN" altLang="en-US" sz="2800" dirty="0"/>
                  <a:t>为全总个体域。</a:t>
                </a:r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是偶数；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能被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整除，</a:t>
                </a:r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3970318"/>
              </a:xfrm>
              <a:prstGeom prst="rect">
                <a:avLst/>
              </a:prstGeom>
              <a:blipFill>
                <a:blip r:embed="rId3"/>
                <a:stretch>
                  <a:fillRect l="-1197" t="-1687" b="-3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524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）凡偶数均能被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整除；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）存在着素偶数；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）没有不吃饭的人；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）素数不全是奇数。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是偶数；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是素数，</a:t>
                </a:r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blipFill>
                <a:blip r:embed="rId3"/>
                <a:stretch>
                  <a:fillRect l="-1197" t="-1893" b="-3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388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）凡偶数均能被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整除；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）存在着素偶数；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）没有不吃饭的人；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）素数不全是奇数。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M(x): x</a:t>
                </a:r>
                <a:r>
                  <a:rPr lang="zh-CN" altLang="en-US" sz="2800" dirty="0"/>
                  <a:t>是人；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吃饭，</a:t>
                </a:r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blipFill>
                <a:blip r:embed="rId3"/>
                <a:stretch>
                  <a:fillRect l="-1197" t="-1893" b="-3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027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）凡偶数均能被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整除；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）存在着素偶数；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）没有不吃饭的人；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）素数不全是奇数。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是素数；</a:t>
                </a:r>
                <a:r>
                  <a:rPr lang="en-US" altLang="zh-CN" sz="2800" dirty="0"/>
                  <a:t>G(x): x</a:t>
                </a:r>
                <a:r>
                  <a:rPr lang="zh-CN" altLang="en-US" sz="2800" dirty="0"/>
                  <a:t>是奇数，</a:t>
                </a:r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3539430"/>
              </a:xfrm>
              <a:prstGeom prst="rect">
                <a:avLst/>
              </a:prstGeom>
              <a:blipFill>
                <a:blip r:embed="rId3"/>
                <a:stretch>
                  <a:fillRect l="-1197" t="-1893" b="-3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4426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）所有的人都不一样高；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）每个自然数都有后继数。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题目没有特殊说明，则默认个体域</a:t>
                </a:r>
                <a:r>
                  <a:rPr lang="en-US" altLang="zh-CN" sz="2800" dirty="0"/>
                  <a:t>D</a:t>
                </a:r>
                <a:r>
                  <a:rPr lang="zh-CN" altLang="en-US" sz="2800" dirty="0"/>
                  <a:t>为全总个体域。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M(x): x</a:t>
                </a:r>
                <a:r>
                  <a:rPr lang="zh-CN" altLang="en-US" sz="2800" dirty="0"/>
                  <a:t>是人；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800" dirty="0"/>
                  <a:t>（</a:t>
                </a:r>
                <a:r>
                  <a:rPr lang="en-US" altLang="zh-CN" sz="2800" dirty="0"/>
                  <a:t>x</a:t>
                </a:r>
                <a:r>
                  <a:rPr lang="zh-CN" altLang="en-US" sz="2800" dirty="0"/>
                  <a:t>与</a:t>
                </a:r>
                <a:r>
                  <a:rPr lang="en-US" altLang="zh-CN" sz="2800" dirty="0"/>
                  <a:t>y</a:t>
                </a:r>
                <a:r>
                  <a:rPr lang="zh-CN" altLang="en-US" sz="2800" dirty="0"/>
                  <a:t>不是同一个人）；</a:t>
                </a:r>
                <a:endParaRPr lang="en-US" altLang="zh-CN" sz="2800" dirty="0"/>
              </a:p>
              <a:p>
                <a:r>
                  <a:rPr lang="en-US" altLang="zh-CN" sz="2800" dirty="0"/>
                  <a:t>L(x, y): x</a:t>
                </a:r>
                <a:r>
                  <a:rPr lang="zh-CN" altLang="en-US" sz="2800" dirty="0"/>
                  <a:t>与</a:t>
                </a:r>
                <a:r>
                  <a:rPr lang="en-US" altLang="zh-CN" sz="2800" dirty="0"/>
                  <a:t>y</a:t>
                </a:r>
                <a:r>
                  <a:rPr lang="zh-CN" altLang="en-US" sz="2800" dirty="0"/>
                  <a:t>一样高，</a:t>
                </a:r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4401205"/>
              </a:xfrm>
              <a:prstGeom prst="rect">
                <a:avLst/>
              </a:prstGeom>
              <a:blipFill>
                <a:blip r:embed="rId3"/>
                <a:stretch>
                  <a:fillRect l="-1197" t="-1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94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在一阶逻辑中将下列命题符号化：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）所有的人都不一样高；</a:t>
                </a:r>
                <a:endParaRPr lang="en-US" altLang="zh-CN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）每个自然数都有后继数。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设</a:t>
                </a:r>
                <a:r>
                  <a:rPr lang="en-US" altLang="zh-CN" sz="2800" dirty="0"/>
                  <a:t>F(x): x</a:t>
                </a:r>
                <a:r>
                  <a:rPr lang="zh-CN" altLang="en-US" sz="2800" dirty="0"/>
                  <a:t>是自然数；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y</a:t>
                </a:r>
                <a:r>
                  <a:rPr lang="zh-CN" altLang="en-US" sz="2800" dirty="0"/>
                  <a:t>是</a:t>
                </a:r>
                <a:r>
                  <a:rPr lang="en-US" altLang="zh-CN" sz="2800" dirty="0"/>
                  <a:t>x</a:t>
                </a:r>
                <a:r>
                  <a:rPr lang="zh-CN" altLang="en-US" sz="2800" dirty="0"/>
                  <a:t>的后继数，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则命题（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）可被符号化为：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)))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3108543"/>
              </a:xfrm>
              <a:prstGeom prst="rect">
                <a:avLst/>
              </a:prstGeom>
              <a:blipFill>
                <a:blip r:embed="rId3"/>
                <a:stretch>
                  <a:fillRect l="-1197" t="-2157" b="-4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719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一阶逻辑合式公式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）个体常项：</a:t>
                </a:r>
                <a:r>
                  <a:rPr lang="en-US" altLang="zh-CN" sz="3200" dirty="0" err="1">
                    <a:sym typeface="Wingdings" panose="05000000000000000000" pitchFamily="2" charset="2"/>
                  </a:rPr>
                  <a:t>a,b,c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...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）个体变项：</a:t>
                </a:r>
                <a:r>
                  <a:rPr lang="en-US" altLang="zh-CN" sz="3200" dirty="0" err="1">
                    <a:sym typeface="Wingdings" panose="05000000000000000000" pitchFamily="2" charset="2"/>
                  </a:rPr>
                  <a:t>x,y,z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,...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）函数符号：</a:t>
                </a:r>
                <a:r>
                  <a:rPr lang="en-US" altLang="zh-CN" sz="3200" dirty="0" err="1">
                    <a:sym typeface="Wingdings" panose="05000000000000000000" pitchFamily="2" charset="2"/>
                  </a:rPr>
                  <a:t>f,g,h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,...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）谓词符号：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F,G,H,...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5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）量词符号：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6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）联结符号：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7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）圆括号和逗号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: (), ,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154984"/>
              </a:xfrm>
              <a:prstGeom prst="rect">
                <a:avLst/>
              </a:prstGeom>
              <a:blipFill>
                <a:blip r:embed="rId3"/>
                <a:stretch>
                  <a:fillRect l="-1995" t="-2639" b="-3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129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项的递归定义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）个体常项和变项是项；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元函数，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是项，则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项；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）只有有限次地使用（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），（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）生成的符号串才是项。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4219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505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原子公式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R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n(n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1)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元谓词，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是项，则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R</m:t>
                    </m:r>
                    <m:d>
                      <m:d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原子公式；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35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合式公式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225969"/>
            <a:ext cx="10691446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2.4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pPr>
              <a:lnSpc>
                <a:spcPct val="105000"/>
              </a:lnSpc>
              <a:tabLst>
                <a:tab pos="56832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1</a:t>
            </a:r>
            <a:r>
              <a:rPr lang="zh-CN" altLang="en-US" sz="3200" noProof="1">
                <a:latin typeface="Times New Roman" panose="02020603050405020304" pitchFamily="18" charset="0"/>
              </a:rPr>
              <a:t>）原子公式是合式公式；</a:t>
            </a:r>
          </a:p>
          <a:p>
            <a:pPr>
              <a:lnSpc>
                <a:spcPct val="105000"/>
              </a:lnSpc>
              <a:tabLst>
                <a:tab pos="56832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2</a:t>
            </a:r>
            <a:r>
              <a:rPr lang="zh-CN" altLang="en-US" sz="3200" noProof="1">
                <a:latin typeface="Times New Roman" panose="02020603050405020304" pitchFamily="18" charset="0"/>
              </a:rPr>
              <a:t>）若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</a:rPr>
              <a:t>是合式公式，则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也是合式公式；</a:t>
            </a:r>
            <a:endParaRPr lang="en-US" altLang="zh-CN" sz="3200" noProof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tabLst>
                <a:tab pos="568325" algn="l"/>
              </a:tabLst>
            </a:pP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）若</a:t>
            </a:r>
            <a:r>
              <a:rPr lang="en-US" altLang="zh-CN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是合式公式，则</a:t>
            </a:r>
            <a:r>
              <a:rPr lang="zh-CN" altLang="en-US" sz="3200" noProof="1">
                <a:latin typeface="Times New Roman" panose="02020603050405020304" pitchFamily="18" charset="0"/>
              </a:rPr>
              <a:t>(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noProof="1">
                <a:latin typeface="Times New Roman" panose="02020603050405020304" pitchFamily="18" charset="0"/>
              </a:rPr>
              <a:t>B</a:t>
            </a:r>
            <a:r>
              <a:rPr lang="zh-CN" altLang="en-US" sz="3200" noProof="1">
                <a:latin typeface="Times New Roman" panose="02020603050405020304" pitchFamily="18" charset="0"/>
              </a:rPr>
              <a:t>)， (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noProof="1">
                <a:latin typeface="Times New Roman" panose="02020603050405020304" pitchFamily="18" charset="0"/>
              </a:rPr>
              <a:t>B</a:t>
            </a:r>
            <a:r>
              <a:rPr lang="zh-CN" altLang="en-US" sz="3200" noProof="1">
                <a:latin typeface="Times New Roman" panose="02020603050405020304" pitchFamily="18" charset="0"/>
              </a:rPr>
              <a:t>)， (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noProof="1">
                <a:latin typeface="Times New Roman" panose="02020603050405020304" pitchFamily="18" charset="0"/>
              </a:rPr>
              <a:t>B</a:t>
            </a:r>
            <a:r>
              <a:rPr lang="zh-CN" altLang="en-US" sz="3200" noProof="1">
                <a:latin typeface="Times New Roman" panose="02020603050405020304" pitchFamily="18" charset="0"/>
              </a:rPr>
              <a:t>)，(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200" noProof="1">
                <a:latin typeface="Times New Roman" panose="02020603050405020304" pitchFamily="18" charset="0"/>
              </a:rPr>
              <a:t>B</a:t>
            </a:r>
            <a:r>
              <a:rPr lang="zh-CN" altLang="en-US" sz="3200" noProof="1">
                <a:latin typeface="Times New Roman" panose="02020603050405020304" pitchFamily="18" charset="0"/>
              </a:rPr>
              <a:t>)是合式公式；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tabLst>
                <a:tab pos="56832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4</a:t>
            </a:r>
            <a:r>
              <a:rPr lang="zh-CN" altLang="en-US" sz="3200" noProof="1">
                <a:latin typeface="Times New Roman" panose="02020603050405020304" pitchFamily="18" charset="0"/>
              </a:rPr>
              <a:t>）若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</a:rPr>
              <a:t>是合式公式，则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3200" noProof="1">
                <a:latin typeface="Times New Roman" panose="02020603050405020304" pitchFamily="18" charset="0"/>
              </a:rPr>
              <a:t>x</a:t>
            </a:r>
            <a:r>
              <a:rPr lang="en-US" altLang="zh-CN" sz="3200" noProof="1">
                <a:latin typeface="Times New Roman" panose="02020603050405020304" pitchFamily="18" charset="0"/>
              </a:rPr>
              <a:t>A, </a:t>
            </a:r>
            <a:r>
              <a:rPr lang="zh-CN" altLang="en-US" sz="3200" noProof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3200" noProof="1">
                <a:latin typeface="Times New Roman" panose="02020603050405020304" pitchFamily="18" charset="0"/>
              </a:rPr>
              <a:t>x</a:t>
            </a:r>
            <a:r>
              <a:rPr lang="en-US" altLang="zh-CN" sz="3200" noProof="1">
                <a:latin typeface="Times New Roman" panose="02020603050405020304" pitchFamily="18" charset="0"/>
              </a:rPr>
              <a:t>A</a:t>
            </a:r>
            <a:r>
              <a:rPr lang="zh-CN" altLang="en-US" sz="3200" noProof="1">
                <a:latin typeface="Times New Roman" panose="02020603050405020304" pitchFamily="18" charset="0"/>
              </a:rPr>
              <a:t>是合式公式；</a:t>
            </a:r>
            <a:endParaRPr lang="en-US" altLang="zh-CN" sz="3200" noProof="1"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tabLst>
                <a:tab pos="568325" algn="l"/>
              </a:tabLst>
            </a:pP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5</a:t>
            </a:r>
            <a:r>
              <a:rPr lang="zh-CN" altLang="en-US" sz="3200" noProof="1">
                <a:latin typeface="Times New Roman" panose="02020603050405020304" pitchFamily="18" charset="0"/>
              </a:rPr>
              <a:t>）只有有限次地使用（</a:t>
            </a:r>
            <a:r>
              <a:rPr lang="en-US" altLang="zh-CN" sz="3200" noProof="1">
                <a:latin typeface="Times New Roman" panose="02020603050405020304" pitchFamily="18" charset="0"/>
              </a:rPr>
              <a:t>1</a:t>
            </a:r>
            <a:r>
              <a:rPr lang="zh-CN" altLang="en-US" sz="3200" noProof="1">
                <a:latin typeface="Times New Roman" panose="02020603050405020304" pitchFamily="18" charset="0"/>
              </a:rPr>
              <a:t>）</a:t>
            </a:r>
            <a:r>
              <a:rPr lang="en-US" altLang="zh-CN" sz="3200" noProof="1">
                <a:latin typeface="Times New Roman" panose="02020603050405020304" pitchFamily="18" charset="0"/>
              </a:rPr>
              <a:t>~</a:t>
            </a:r>
            <a:r>
              <a:rPr lang="zh-CN" altLang="en-US" sz="3200" noProof="1">
                <a:latin typeface="Times New Roman" panose="02020603050405020304" pitchFamily="18" charset="0"/>
              </a:rPr>
              <a:t>（</a:t>
            </a:r>
            <a:r>
              <a:rPr lang="en-US" altLang="zh-CN" sz="3200" noProof="1">
                <a:latin typeface="Times New Roman" panose="02020603050405020304" pitchFamily="18" charset="0"/>
              </a:rPr>
              <a:t>4</a:t>
            </a:r>
            <a:r>
              <a:rPr lang="zh-CN" altLang="en-US" sz="3200" noProof="1">
                <a:latin typeface="Times New Roman" panose="02020603050405020304" pitchFamily="18" charset="0"/>
              </a:rPr>
              <a:t>）构成地符号串才是合式公式。</a:t>
            </a:r>
          </a:p>
          <a:p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69047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合式公式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在合式公式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中，称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为指导变项，称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为相应量词的辖域。在辖域中，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的所有出现称为约束出现（即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受相应量词指导变项的约束），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中不是约束出现的其他变项的出现称为自由出现。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798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075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封闭的合式公式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225969"/>
            <a:ext cx="106914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2.6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若公式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中没有自由出现的个体变项，则称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是封闭的合式公式，简称闭式。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72245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225969"/>
            <a:ext cx="1069144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在一阶逻辑中，由于引入了函数和谓词，要讨论公式的真假会变的很复杂，需要给公式中出现的每个个体常项符号、函数变项符号以及谓词变项符号“赋值”，这就是</a:t>
            </a:r>
            <a:r>
              <a:rPr lang="zh-CN" altLang="en-US" sz="3200" dirty="0">
                <a:solidFill>
                  <a:srgbClr val="FF0000"/>
                </a:solidFill>
              </a:rPr>
              <a:t>解释。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2.7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一个解释</a:t>
            </a:r>
            <a:r>
              <a:rPr lang="en-US" altLang="zh-CN" sz="3200" dirty="0">
                <a:sym typeface="Wingdings" panose="05000000000000000000" pitchFamily="2" charset="2"/>
              </a:rPr>
              <a:t>I</a:t>
            </a:r>
            <a:r>
              <a:rPr lang="zh-CN" altLang="en-US" sz="3200" dirty="0">
                <a:sym typeface="Wingdings" panose="05000000000000000000" pitchFamily="2" charset="2"/>
              </a:rPr>
              <a:t>由下面</a:t>
            </a:r>
            <a:r>
              <a:rPr lang="en-US" altLang="zh-CN" sz="3200" dirty="0">
                <a:sym typeface="Wingdings" panose="05000000000000000000" pitchFamily="2" charset="2"/>
              </a:rPr>
              <a:t>4</a:t>
            </a:r>
            <a:r>
              <a:rPr lang="zh-CN" altLang="en-US" sz="3200" dirty="0">
                <a:sym typeface="Wingdings" panose="05000000000000000000" pitchFamily="2" charset="2"/>
              </a:rPr>
              <a:t>个部分组成：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1</a:t>
            </a:r>
            <a:r>
              <a:rPr lang="zh-CN" altLang="en-US" sz="3200" dirty="0">
                <a:sym typeface="Wingdings" panose="05000000000000000000" pitchFamily="2" charset="2"/>
              </a:rPr>
              <a:t>）非空个体域</a:t>
            </a:r>
            <a:r>
              <a:rPr lang="en-US" altLang="zh-CN" sz="3200" dirty="0">
                <a:sym typeface="Wingdings" panose="05000000000000000000" pitchFamily="2" charset="2"/>
              </a:rPr>
              <a:t>D;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2</a:t>
            </a:r>
            <a:r>
              <a:rPr lang="zh-CN" altLang="en-US" sz="3200" dirty="0">
                <a:sym typeface="Wingdings" panose="05000000000000000000" pitchFamily="2" charset="2"/>
              </a:rPr>
              <a:t>）给论及的每个个体常项符号指定一个</a:t>
            </a:r>
            <a:r>
              <a:rPr lang="en-US" altLang="zh-CN" sz="3200" dirty="0">
                <a:sym typeface="Wingdings" panose="05000000000000000000" pitchFamily="2" charset="2"/>
              </a:rPr>
              <a:t>D</a:t>
            </a:r>
            <a:r>
              <a:rPr lang="zh-CN" altLang="en-US" sz="3200" dirty="0">
                <a:sym typeface="Wingdings" panose="05000000000000000000" pitchFamily="2" charset="2"/>
              </a:rPr>
              <a:t>中的元素；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）给论及的每个函数变项符号指定一个</a:t>
            </a:r>
            <a:r>
              <a:rPr lang="en-US" altLang="zh-CN" sz="3200" dirty="0">
                <a:sym typeface="Wingdings" panose="05000000000000000000" pitchFamily="2" charset="2"/>
              </a:rPr>
              <a:t>D</a:t>
            </a:r>
            <a:r>
              <a:rPr lang="zh-CN" altLang="en-US" sz="3200" dirty="0">
                <a:sym typeface="Wingdings" panose="05000000000000000000" pitchFamily="2" charset="2"/>
              </a:rPr>
              <a:t>中的函数；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4</a:t>
            </a:r>
            <a:r>
              <a:rPr lang="zh-CN" altLang="en-US" sz="3200" dirty="0">
                <a:sym typeface="Wingdings" panose="05000000000000000000" pitchFamily="2" charset="2"/>
              </a:rPr>
              <a:t>）给论及的每个谓词变项符号指定一个</a:t>
            </a:r>
            <a:r>
              <a:rPr lang="en-US" altLang="zh-CN" sz="3200" dirty="0">
                <a:sym typeface="Wingdings" panose="05000000000000000000" pitchFamily="2" charset="2"/>
              </a:rPr>
              <a:t>D</a:t>
            </a:r>
            <a:r>
              <a:rPr lang="zh-CN" altLang="en-US" sz="3200" dirty="0">
                <a:sym typeface="Wingdings" panose="05000000000000000000" pitchFamily="2" charset="2"/>
              </a:rPr>
              <a:t>上的谓词。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1931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/>
              <p:nvPr/>
            </p:nvSpPr>
            <p:spPr>
              <a:xfrm>
                <a:off x="750277" y="1001117"/>
                <a:ext cx="10691446" cy="5318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ym typeface="Wingdings" panose="05000000000000000000" pitchFamily="2" charset="2"/>
                  </a:rPr>
                  <a:t>给定解释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I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如下：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={2,3}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 = 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）函数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）谓词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y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i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j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i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j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=2,3;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en-US" altLang="zh-CN" sz="2800" dirty="0">
                    <a:sym typeface="Wingdings" panose="05000000000000000000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2,2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2,3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在解释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I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下，求下列各式的真值：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𝑦𝐿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设公式（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）为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2,2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3,2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1117"/>
                <a:ext cx="10691446" cy="5318444"/>
              </a:xfrm>
              <a:prstGeom prst="rect">
                <a:avLst/>
              </a:prstGeom>
              <a:blipFill>
                <a:blip r:embed="rId3"/>
                <a:stretch>
                  <a:fillRect l="-1140" t="-1260" b="-1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126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/>
              <p:nvPr/>
            </p:nvSpPr>
            <p:spPr>
              <a:xfrm>
                <a:off x="750277" y="1001117"/>
                <a:ext cx="10691446" cy="5318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ym typeface="Wingdings" panose="05000000000000000000" pitchFamily="2" charset="2"/>
                  </a:rPr>
                  <a:t>给定解释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I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如下：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={2,3}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 = 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）函数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）谓词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y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G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i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j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i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j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=2,3;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en-US" altLang="zh-CN" sz="2800" dirty="0">
                    <a:sym typeface="Wingdings" panose="05000000000000000000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2,2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2,3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3,2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在解释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I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下，求下列各式的真值：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𝑦𝐿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设公式（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）为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2,2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2,3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3,2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3,3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01117"/>
                <a:ext cx="10691446" cy="5318444"/>
              </a:xfrm>
              <a:prstGeom prst="rect">
                <a:avLst/>
              </a:prstGeom>
              <a:blipFill>
                <a:blip r:embed="rId3"/>
                <a:stretch>
                  <a:fillRect l="-1140" t="-1260" b="-1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789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合式公式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225969"/>
            <a:ext cx="1069144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2.8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设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为一谓词公式，如果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在任何解释和该解释下的任何赋值下均为真，则称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为逻辑有效式；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如果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在任何解释和该解释下的任何赋值下都为假，则称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为矛盾式；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若至少存在一个解释和该解释下的一个赋值使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为真，则称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是可满足式。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1608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代换实例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含命题变项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的命题公式，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个谓词公式，用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处处代换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(1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，所得公式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的代换实例。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r="-342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078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35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39639</TotalTime>
  <Words>2945</Words>
  <Application>Microsoft Office PowerPoint</Application>
  <PresentationFormat>宽屏</PresentationFormat>
  <Paragraphs>316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FontAwesome</vt:lpstr>
      <vt:lpstr>等线</vt:lpstr>
      <vt:lpstr>等线 Light</vt:lpstr>
      <vt:lpstr>方正粗黑宋简体</vt:lpstr>
      <vt:lpstr>微软雅黑</vt:lpstr>
      <vt:lpstr>Arial</vt:lpstr>
      <vt:lpstr>Cambria Math</vt:lpstr>
      <vt:lpstr>Times New Roman</vt:lpstr>
      <vt:lpstr>Wingdings</vt:lpstr>
      <vt:lpstr>Office 主题​​</vt:lpstr>
      <vt:lpstr>清风素材 https://12sc.taobao.com/</vt:lpstr>
      <vt:lpstr>PowerPoint 演示文稿</vt:lpstr>
      <vt:lpstr>命题逻辑的缺陷</vt:lpstr>
      <vt:lpstr>命题成分分析</vt:lpstr>
      <vt:lpstr>个体词</vt:lpstr>
      <vt:lpstr>个体词</vt:lpstr>
      <vt:lpstr>谓词</vt:lpstr>
      <vt:lpstr>谓词</vt:lpstr>
      <vt:lpstr>例题</vt:lpstr>
      <vt:lpstr>例题</vt:lpstr>
      <vt:lpstr>例题</vt:lpstr>
      <vt:lpstr>例题</vt:lpstr>
      <vt:lpstr>量词</vt:lpstr>
      <vt:lpstr>例题</vt:lpstr>
      <vt:lpstr>例题</vt:lpstr>
      <vt:lpstr>例题</vt:lpstr>
      <vt:lpstr>特性谓词</vt:lpstr>
      <vt:lpstr>注意事项</vt:lpstr>
      <vt:lpstr>例题</vt:lpstr>
      <vt:lpstr>例题</vt:lpstr>
      <vt:lpstr>例题</vt:lpstr>
      <vt:lpstr>例题</vt:lpstr>
      <vt:lpstr>例题</vt:lpstr>
      <vt:lpstr>例题</vt:lpstr>
      <vt:lpstr>一阶逻辑合式公式</vt:lpstr>
      <vt:lpstr>项的递归定义</vt:lpstr>
      <vt:lpstr>原子公式</vt:lpstr>
      <vt:lpstr>合式公式</vt:lpstr>
      <vt:lpstr>合式公式</vt:lpstr>
      <vt:lpstr>封闭的合式公式</vt:lpstr>
      <vt:lpstr>解释</vt:lpstr>
      <vt:lpstr>例子</vt:lpstr>
      <vt:lpstr>例子</vt:lpstr>
      <vt:lpstr>合式公式</vt:lpstr>
      <vt:lpstr>代换实例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1750</cp:revision>
  <cp:lastPrinted>2019-05-20T00:00:00Z</cp:lastPrinted>
  <dcterms:created xsi:type="dcterms:W3CDTF">2019-04-24T04:43:00Z</dcterms:created>
  <dcterms:modified xsi:type="dcterms:W3CDTF">2025-03-10T04:22:14Z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
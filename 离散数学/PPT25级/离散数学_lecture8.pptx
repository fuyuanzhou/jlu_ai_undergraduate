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4"/>
  </p:notesMasterIdLst>
  <p:sldIdLst>
    <p:sldId id="267" r:id="rId3"/>
    <p:sldId id="500" r:id="rId4"/>
    <p:sldId id="501" r:id="rId5"/>
    <p:sldId id="565" r:id="rId6"/>
    <p:sldId id="504" r:id="rId7"/>
    <p:sldId id="505" r:id="rId8"/>
    <p:sldId id="508" r:id="rId9"/>
    <p:sldId id="509" r:id="rId10"/>
    <p:sldId id="510" r:id="rId11"/>
    <p:sldId id="566" r:id="rId12"/>
    <p:sldId id="588" r:id="rId13"/>
    <p:sldId id="567" r:id="rId14"/>
    <p:sldId id="589" r:id="rId15"/>
    <p:sldId id="590" r:id="rId16"/>
    <p:sldId id="568" r:id="rId17"/>
    <p:sldId id="569" r:id="rId18"/>
    <p:sldId id="511" r:id="rId19"/>
    <p:sldId id="591" r:id="rId20"/>
    <p:sldId id="592" r:id="rId21"/>
    <p:sldId id="593" r:id="rId22"/>
    <p:sldId id="594" r:id="rId23"/>
    <p:sldId id="595" r:id="rId24"/>
    <p:sldId id="532" r:id="rId25"/>
    <p:sldId id="533" r:id="rId26"/>
    <p:sldId id="596" r:id="rId27"/>
    <p:sldId id="597" r:id="rId28"/>
    <p:sldId id="598" r:id="rId29"/>
    <p:sldId id="599" r:id="rId30"/>
    <p:sldId id="600" r:id="rId31"/>
    <p:sldId id="601" r:id="rId32"/>
    <p:sldId id="334" r:id="rId33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948025412@qq.com" initials="9" lastIdx="1" clrIdx="0">
    <p:extLst>
      <p:ext uri="{19B8F6BF-5375-455C-9EA6-DF929625EA0E}">
        <p15:presenceInfo xmlns:p15="http://schemas.microsoft.com/office/powerpoint/2012/main" userId="9e74ee9f37df7a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4B5"/>
    <a:srgbClr val="9DC3E6"/>
    <a:srgbClr val="FFF2CC"/>
    <a:srgbClr val="FFD966"/>
    <a:srgbClr val="266980"/>
    <a:srgbClr val="2E75B5"/>
    <a:srgbClr val="572808"/>
    <a:srgbClr val="BDD7EE"/>
    <a:srgbClr val="1C647E"/>
    <a:srgbClr val="AC4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6280" autoAdjust="0"/>
  </p:normalViewPr>
  <p:slideViewPr>
    <p:cSldViewPr snapToGrid="0" showGuides="1">
      <p:cViewPr varScale="1">
        <p:scale>
          <a:sx n="125" d="100"/>
          <a:sy n="125" d="100"/>
        </p:scale>
        <p:origin x="1668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commentAuthors" Target="commentAuthor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B095CFA-2E4A-4DA6-A291-36D909D1A46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2025/4/7</a:t>
            </a:fld>
            <a:endParaRPr lang="zh-CN" altLang="en-US" strike="noStrike" noProof="1"/>
          </a:p>
        </p:txBody>
      </p:sp>
      <p:sp>
        <p:nvSpPr>
          <p:cNvPr id="17203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203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 indent="0"/>
            <a:r>
              <a:rPr lang="zh-CN" altLang="en-US"/>
              <a:t>第二级</a:t>
            </a:r>
          </a:p>
          <a:p>
            <a:pPr lvl="2" indent="0"/>
            <a:r>
              <a:rPr lang="zh-CN" altLang="en-US"/>
              <a:t>第三级</a:t>
            </a:r>
          </a:p>
          <a:p>
            <a:pPr lvl="3" indent="0"/>
            <a:r>
              <a:rPr lang="zh-CN" altLang="en-US"/>
              <a:t>第四级</a:t>
            </a:r>
          </a:p>
          <a:p>
            <a:pPr lvl="4" indent="0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7F7DBCC3-39B1-4490-B912-0E3D3B92F8A3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A3554-0430-45DB-BDFE-3C446509E54A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348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583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583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35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231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006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190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816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8554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08954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7845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1396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9707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141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6101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3985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14728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3102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227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9079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1465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7303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6924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388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2956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2878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3937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0786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139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0967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A3554-0430-45DB-BDFE-3C446509E54A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007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1B8381E7-25DC-4DAD-A078-DA58656A5B95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2025/4/7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49486E14-F3C0-4B3B-9E53-DA47772D7B76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2025/4/7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A97A5AE-033E-4E33-8F05-5A54772AF24E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2025/4/7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390F8BA-2E15-4A27-8E64-A1395E298AB3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2025/4/7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55B6809-9057-4661-BDBB-E2BB416E6555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2025/4/7</a:t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26E46B70-6FA3-4863-839E-B21676BF3A54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2025/4/7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7B4A683-24CA-491D-9609-C24094856540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2025/4/7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BD7108D-04DE-425A-80BA-67916C21E75E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2025/4/7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46A49D0B-3845-47D6-9C86-D430593DB3A4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2025/4/7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C1663EE6-C5DC-47E4-9CB4-43F4A762AC87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2025/4/7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4FAC9D7C-BD8B-49F5-9748-43BBC1F050D4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2025/4/7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80" y="52363"/>
            <a:ext cx="1445387" cy="80242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69467" y="127668"/>
            <a:ext cx="10422533" cy="4209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96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80" y="52363"/>
            <a:ext cx="1445387" cy="80242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324080" y="590440"/>
            <a:ext cx="11867920" cy="3401"/>
          </a:xfrm>
          <a:prstGeom prst="line">
            <a:avLst/>
          </a:prstGeom>
          <a:ln w="28575">
            <a:solidFill>
              <a:srgbClr val="16407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769467" y="192002"/>
            <a:ext cx="10422533" cy="3984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2E73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674" y="97631"/>
            <a:ext cx="290095" cy="52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57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Smal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5188321" y="1676728"/>
            <a:ext cx="1815163" cy="1814739"/>
          </a:xfrm>
          <a:prstGeom prst="ellipse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12191997" cy="258409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1072707" y="1777295"/>
            <a:ext cx="1989629" cy="1989165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3687191" y="1777295"/>
            <a:ext cx="1989629" cy="1989165"/>
          </a:xfrm>
          <a:prstGeom prst="ellipse">
            <a:avLst/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378022" y="1777295"/>
            <a:ext cx="1989629" cy="1989165"/>
          </a:xfrm>
          <a:prstGeom prst="ellipse">
            <a:avLst/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9054524" y="1777295"/>
            <a:ext cx="1989629" cy="1989165"/>
          </a:xfrm>
          <a:prstGeom prst="ellipse">
            <a:avLst/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1072707" y="1777295"/>
            <a:ext cx="1989629" cy="1989165"/>
          </a:xfrm>
          <a:prstGeom prst="roundRect">
            <a:avLst/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3687191" y="1777295"/>
            <a:ext cx="1989629" cy="1989165"/>
          </a:xfrm>
          <a:prstGeom prst="roundRect">
            <a:avLst/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378022" y="1777295"/>
            <a:ext cx="1989629" cy="1989165"/>
          </a:xfrm>
          <a:prstGeom prst="roundRect">
            <a:avLst/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9054524" y="1777295"/>
            <a:ext cx="1989629" cy="1989165"/>
          </a:xfrm>
          <a:prstGeom prst="roundRect">
            <a:avLst/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900057" y="1777294"/>
            <a:ext cx="3244279" cy="3260313"/>
          </a:xfrm>
          <a:prstGeom prst="roundRect">
            <a:avLst>
              <a:gd name="adj" fmla="val 8446"/>
            </a:avLst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99380" y="1488610"/>
            <a:ext cx="1806275" cy="1805853"/>
          </a:xfrm>
          <a:prstGeom prst="roundRect">
            <a:avLst>
              <a:gd name="adj" fmla="val 11041"/>
            </a:avLst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557144" y="1488610"/>
            <a:ext cx="1806275" cy="1805853"/>
          </a:xfrm>
          <a:prstGeom prst="roundRect">
            <a:avLst>
              <a:gd name="adj" fmla="val 13151"/>
            </a:avLst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4614908" y="1488610"/>
            <a:ext cx="1806275" cy="1805853"/>
          </a:xfrm>
          <a:prstGeom prst="roundRect">
            <a:avLst>
              <a:gd name="adj" fmla="val 11744"/>
            </a:avLst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6674923" y="1488610"/>
            <a:ext cx="1806275" cy="1805853"/>
          </a:xfrm>
          <a:prstGeom prst="roundRect">
            <a:avLst>
              <a:gd name="adj" fmla="val 7524"/>
            </a:avLst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4226225" y="1742904"/>
            <a:ext cx="1806275" cy="1805853"/>
          </a:xfrm>
          <a:prstGeom prst="roundRect">
            <a:avLst>
              <a:gd name="adj" fmla="val 11744"/>
            </a:avLst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6173535" y="1742904"/>
            <a:ext cx="1806275" cy="1805853"/>
          </a:xfrm>
          <a:prstGeom prst="roundRect">
            <a:avLst>
              <a:gd name="adj" fmla="val 7524"/>
            </a:avLst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596691" y="3207051"/>
            <a:ext cx="1297573" cy="1297272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5391886" y="1377389"/>
            <a:ext cx="1297573" cy="1297272"/>
          </a:xfrm>
          <a:prstGeom prst="ellipse">
            <a:avLst/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7224747" y="3198356"/>
            <a:ext cx="1297573" cy="1297272"/>
          </a:xfrm>
          <a:prstGeom prst="ellipse">
            <a:avLst/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5399164" y="5012383"/>
            <a:ext cx="1297573" cy="1297272"/>
          </a:xfrm>
          <a:prstGeom prst="ellipse">
            <a:avLst/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72416"/>
            <a:ext cx="12191997" cy="4921720"/>
          </a:xfrm>
          <a:prstGeom prst="downArrowCallout">
            <a:avLst>
              <a:gd name="adj1" fmla="val 50000"/>
              <a:gd name="adj2" fmla="val 15352"/>
              <a:gd name="adj3" fmla="val 5443"/>
              <a:gd name="adj4" fmla="val 94557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Top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3"/>
            <a:ext cx="12191997" cy="3966661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Top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880608" y="1639333"/>
            <a:ext cx="4908153" cy="427018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Lef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42381" cy="6858000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6249619" y="0"/>
            <a:ext cx="5942381" cy="6858000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83399" y="1575370"/>
            <a:ext cx="3597455" cy="3543436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297274" y="1575370"/>
            <a:ext cx="3597455" cy="3543436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411149" y="1575370"/>
            <a:ext cx="3597455" cy="3543436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Pictures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75895" y="1445657"/>
            <a:ext cx="3469533" cy="235168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361234" y="1445657"/>
            <a:ext cx="3469533" cy="235168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241795" y="1445657"/>
            <a:ext cx="3469533" cy="235168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w Left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83399" y="1575369"/>
            <a:ext cx="3597455" cy="3400024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411149" y="1575371"/>
            <a:ext cx="3597455" cy="3400023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dle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Off-page Connector 5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8" name="Flowchart: Off-page Connector 7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5020671" y="1382568"/>
            <a:ext cx="3360699" cy="4965187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522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463041" y="1758206"/>
            <a:ext cx="3250392" cy="427018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7478569" y="1758206"/>
            <a:ext cx="3250392" cy="4270188"/>
          </a:xfrm>
          <a:prstGeom prst="rect">
            <a:avLst/>
          </a:prstGeom>
        </p:spPr>
        <p:txBody>
          <a:bodyPr anchor="t"/>
          <a:lstStyle>
            <a:lvl1pPr algn="ctr" rtl="0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4344776" y="1438846"/>
            <a:ext cx="3647921" cy="4908909"/>
          </a:xfrm>
          <a:prstGeom prst="rect">
            <a:avLst/>
          </a:prstGeom>
        </p:spPr>
        <p:txBody>
          <a:bodyPr anchor="t"/>
          <a:lstStyle>
            <a:lvl1pPr algn="ctr" rtl="0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21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3169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6217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6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9265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75894" y="1201531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0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361234" y="1201531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1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241795" y="1201531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2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475894" y="3806159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3" name="Picture Placeholder 6"/>
          <p:cNvSpPr>
            <a:spLocks noGrp="1"/>
          </p:cNvSpPr>
          <p:nvPr>
            <p:ph type="pic" sz="quarter" idx="17" hasCustomPrompt="1"/>
          </p:nvPr>
        </p:nvSpPr>
        <p:spPr>
          <a:xfrm>
            <a:off x="8241795" y="3806159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4" name="Picture Placeholder 6"/>
          <p:cNvSpPr>
            <a:spLocks noGrp="1"/>
          </p:cNvSpPr>
          <p:nvPr>
            <p:ph type="pic" sz="quarter" idx="18" hasCustomPrompt="1"/>
          </p:nvPr>
        </p:nvSpPr>
        <p:spPr>
          <a:xfrm>
            <a:off x="4361234" y="3806159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296334" y="215900"/>
            <a:ext cx="5880100" cy="6426200"/>
          </a:xfrm>
          <a:prstGeom prst="round1Rect">
            <a:avLst>
              <a:gd name="adj" fmla="val 5318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06867" y="216720"/>
            <a:ext cx="5488240" cy="451804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406865" y="4978885"/>
            <a:ext cx="5488240" cy="166238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296333" y="215900"/>
            <a:ext cx="5646048" cy="451804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296333" y="4978885"/>
            <a:ext cx="5646048" cy="166238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6249619" y="215900"/>
            <a:ext cx="5646048" cy="451804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6249619" y="4978885"/>
            <a:ext cx="5646048" cy="166238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Callout 11"/>
          <p:cNvSpPr/>
          <p:nvPr userDrawn="1"/>
        </p:nvSpPr>
        <p:spPr>
          <a:xfrm>
            <a:off x="487363" y="1423988"/>
            <a:ext cx="2676525" cy="2662238"/>
          </a:xfrm>
          <a:prstGeom prst="downArrowCallout">
            <a:avLst>
              <a:gd name="adj1" fmla="val 23554"/>
              <a:gd name="adj2" fmla="val 10346"/>
              <a:gd name="adj3" fmla="val 10003"/>
              <a:gd name="adj4" fmla="val 89997"/>
            </a:avLst>
          </a:prstGeom>
          <a:solidFill>
            <a:schemeClr val="accent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58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ontAwesome" pitchFamily="2" charset="0"/>
              <a:ea typeface="+mn-ea"/>
            </a:endParaRPr>
          </a:p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3" name="Up Arrow Callout 12"/>
          <p:cNvSpPr/>
          <p:nvPr userDrawn="1"/>
        </p:nvSpPr>
        <p:spPr>
          <a:xfrm>
            <a:off x="3343275" y="3317875"/>
            <a:ext cx="2678113" cy="2689225"/>
          </a:xfrm>
          <a:prstGeom prst="upArrowCallout">
            <a:avLst>
              <a:gd name="adj1" fmla="val 25000"/>
              <a:gd name="adj2" fmla="val 9346"/>
              <a:gd name="adj3" fmla="val 11156"/>
              <a:gd name="adj4" fmla="val 88844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533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ontAwesome" pitchFamily="2" charset="0"/>
              <a:ea typeface="+mn-ea"/>
            </a:endParaRPr>
          </a:p>
        </p:txBody>
      </p:sp>
      <p:sp>
        <p:nvSpPr>
          <p:cNvPr id="15" name="Down Arrow Callout 14"/>
          <p:cNvSpPr/>
          <p:nvPr userDrawn="1"/>
        </p:nvSpPr>
        <p:spPr>
          <a:xfrm>
            <a:off x="6170613" y="1423988"/>
            <a:ext cx="2678113" cy="2662238"/>
          </a:xfrm>
          <a:prstGeom prst="downArrowCallout">
            <a:avLst>
              <a:gd name="adj1" fmla="val 23554"/>
              <a:gd name="adj2" fmla="val 10346"/>
              <a:gd name="adj3" fmla="val 10003"/>
              <a:gd name="adj4" fmla="val 89997"/>
            </a:avLst>
          </a:prstGeom>
          <a:solidFill>
            <a:schemeClr val="accent3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3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 </a:t>
            </a:r>
          </a:p>
        </p:txBody>
      </p:sp>
      <p:sp>
        <p:nvSpPr>
          <p:cNvPr id="17" name="Up Arrow Callout 16"/>
          <p:cNvSpPr/>
          <p:nvPr userDrawn="1"/>
        </p:nvSpPr>
        <p:spPr>
          <a:xfrm>
            <a:off x="9013825" y="3317875"/>
            <a:ext cx="2676525" cy="2689225"/>
          </a:xfrm>
          <a:prstGeom prst="upArrowCallout">
            <a:avLst>
              <a:gd name="adj1" fmla="val 25000"/>
              <a:gd name="adj2" fmla="val 9346"/>
              <a:gd name="adj3" fmla="val 11156"/>
              <a:gd name="adj4" fmla="val 88844"/>
            </a:avLst>
          </a:prstGeom>
          <a:solidFill>
            <a:schemeClr val="accent4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ontAwesome" pitchFamily="2" charset="0"/>
                <a:ea typeface="+mn-ea"/>
              </a:rPr>
            </a:b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30" name="Flowchart: Off-page Connector 29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26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87251" y="3625657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3343837" y="1438845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8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171142" y="3625657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9013086" y="1438845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31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7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 with three Colum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lowchart: Off-page Connector 29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4" name="Down Arrow Callout 13"/>
          <p:cNvSpPr/>
          <p:nvPr userDrawn="1"/>
        </p:nvSpPr>
        <p:spPr>
          <a:xfrm>
            <a:off x="6192838" y="1662113"/>
            <a:ext cx="2473325" cy="4302125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6" name="Down Arrow Callout 15"/>
          <p:cNvSpPr/>
          <p:nvPr userDrawn="1"/>
        </p:nvSpPr>
        <p:spPr>
          <a:xfrm>
            <a:off x="3540125" y="1662113"/>
            <a:ext cx="2471738" cy="4302125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Down Arrow Callout 18"/>
          <p:cNvSpPr/>
          <p:nvPr userDrawn="1"/>
        </p:nvSpPr>
        <p:spPr>
          <a:xfrm>
            <a:off x="8847138" y="1662113"/>
            <a:ext cx="2471738" cy="4302125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3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86069" y="1662386"/>
            <a:ext cx="2472192" cy="4301321"/>
          </a:xfrm>
          <a:prstGeom prst="downArrowCallout">
            <a:avLst>
              <a:gd name="adj1" fmla="val 26120"/>
              <a:gd name="adj2" fmla="val 6382"/>
              <a:gd name="adj3" fmla="val 5273"/>
              <a:gd name="adj4" fmla="val 96969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1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9" grpId="0" animBg="1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ulome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8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896091" y="1448890"/>
            <a:ext cx="4913419" cy="3072372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6385667" y="1445657"/>
            <a:ext cx="4910243" cy="307560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Blank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Off-page Connector 4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ree Blank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Off-page Connector 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ree Blank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Off-page Connector 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791720" y="541356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r">
              <a:defRPr sz="2665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z="2665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823720" y="1010678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r">
              <a:buNone/>
              <a:defRPr sz="14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4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 indent="-22860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2B4B57BF-D235-4043-BA3E-BB73EDFD9DF0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2025/4/7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2549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fld id="{CE004C5E-B19A-4C6C-B3AC-9AE9ACCC0581}" type="slidenum">
              <a:rPr lang="zh-CN" altLang="en-US" noProof="1" smtClean="0">
                <a:latin typeface="+mn-lt"/>
                <a:ea typeface="+mn-ea"/>
              </a:rPr>
              <a:t>‹#›</a:t>
            </a:fld>
            <a:endParaRPr lang="zh-CN" altLang="en-US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91" r:id="rId12"/>
    <p:sldLayoutId id="214748369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</p:sldLayoutIdLst>
  <p:transition spd="slow" advTm="3000"/>
  <p:hf hdr="0" ftr="0" dt="0"/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microsoft.com/office/2007/relationships/hdphoto" Target="../media/hdphoto2.wdp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microsoft.com/office/2007/relationships/hdphoto" Target="../media/hdphoto2.wdp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" t="-376" r="1097" b="376"/>
          <a:stretch/>
        </p:blipFill>
        <p:spPr>
          <a:xfrm>
            <a:off x="-34506" y="-44388"/>
            <a:ext cx="12202130" cy="691101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34506" y="4050175"/>
            <a:ext cx="12249510" cy="28280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0" name="Shape 45"/>
          <p:cNvSpPr/>
          <p:nvPr/>
        </p:nvSpPr>
        <p:spPr>
          <a:xfrm>
            <a:off x="343800" y="4484700"/>
            <a:ext cx="11525644" cy="830997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45720" tIns="45720" rIns="45720" bIns="4572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algn="ctr"/>
            <a:r>
              <a:rPr lang="zh-CN" altLang="en-US" sz="2400" b="1" dirty="0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离散数学</a:t>
            </a:r>
            <a:endParaRPr lang="en-US" altLang="zh-CN" sz="2400" b="1" dirty="0">
              <a:solidFill>
                <a:schemeClr val="bg1"/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  <a:p>
            <a:pPr algn="ctr"/>
            <a:r>
              <a:rPr lang="en-US" altLang="zh-CN" sz="2400" b="1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2024~2025</a:t>
            </a:r>
            <a:r>
              <a:rPr lang="zh-CN" altLang="en-US" sz="2400" b="1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第二</a:t>
            </a:r>
            <a:r>
              <a:rPr lang="zh-CN" altLang="en-US" sz="2400" b="1" dirty="0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学期</a:t>
            </a:r>
          </a:p>
        </p:txBody>
      </p:sp>
      <p:grpSp>
        <p:nvGrpSpPr>
          <p:cNvPr id="9" name="组合 45"/>
          <p:cNvGrpSpPr/>
          <p:nvPr/>
        </p:nvGrpSpPr>
        <p:grpSpPr>
          <a:xfrm>
            <a:off x="2131181" y="5452617"/>
            <a:ext cx="7946680" cy="499624"/>
            <a:chOff x="2002264" y="3493031"/>
            <a:chExt cx="8187473" cy="352610"/>
          </a:xfrm>
        </p:grpSpPr>
        <p:sp>
          <p:nvSpPr>
            <p:cNvPr id="17" name="矩形 17"/>
            <p:cNvSpPr>
              <a:spLocks noChangeArrowheads="1"/>
            </p:cNvSpPr>
            <p:nvPr/>
          </p:nvSpPr>
          <p:spPr bwMode="auto">
            <a:xfrm>
              <a:off x="3784402" y="3493031"/>
              <a:ext cx="4395931" cy="352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微软雅黑"/>
                  <a:ea typeface="微软雅黑"/>
                </a:rPr>
                <a:t>邬渊 </a:t>
              </a:r>
              <a:endParaRPr lang="en-US" altLang="zh-CN" sz="2000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endParaRPr>
            </a:p>
          </p:txBody>
        </p:sp>
        <p:cxnSp>
          <p:nvCxnSpPr>
            <p:cNvPr id="18" name="直接连接符 13"/>
            <p:cNvCxnSpPr/>
            <p:nvPr/>
          </p:nvCxnSpPr>
          <p:spPr bwMode="auto">
            <a:xfrm>
              <a:off x="2002264" y="3705778"/>
              <a:ext cx="2329187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  <p:cxnSp>
          <p:nvCxnSpPr>
            <p:cNvPr id="19" name="直接连接符 14"/>
            <p:cNvCxnSpPr/>
            <p:nvPr/>
          </p:nvCxnSpPr>
          <p:spPr bwMode="auto">
            <a:xfrm>
              <a:off x="7828119" y="3705778"/>
              <a:ext cx="2361618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8" r="55688" b="42178"/>
          <a:stretch/>
        </p:blipFill>
        <p:spPr>
          <a:xfrm flipH="1">
            <a:off x="1727201" y="685800"/>
            <a:ext cx="1118396" cy="1422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6" t="40799" r="31019" b="39942"/>
          <a:stretch/>
        </p:blipFill>
        <p:spPr>
          <a:xfrm>
            <a:off x="7874000" y="1348059"/>
            <a:ext cx="3048000" cy="1320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505178" y="1026073"/>
            <a:ext cx="1137053" cy="48577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9956800" y="2935491"/>
            <a:ext cx="1137053" cy="48577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389" y="943829"/>
            <a:ext cx="5228265" cy="2902521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71" t="23333" r="16751"/>
          <a:stretch/>
        </p:blipFill>
        <p:spPr>
          <a:xfrm>
            <a:off x="8683551" y="-43132"/>
            <a:ext cx="3531454" cy="3347597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0" cstate="print">
            <a:grayscl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412" y="639326"/>
            <a:ext cx="931677" cy="93318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>
                <a:solidFill>
                  <a:schemeClr val="bg1"/>
                </a:solidFill>
              </a:rPr>
              <a:pPr/>
              <a:t>1</a:t>
            </a:fld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051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048169"/>
                <a:ext cx="1069144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6.8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一个简单平面图，如果在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任意不相邻的两个顶点之间再加一条边，所得图为非平面图，则称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极大平面图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若在非平面图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任意删除一条边，所得图为平面图，则称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极小非平面图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48169"/>
                <a:ext cx="10691446" cy="2677656"/>
              </a:xfrm>
              <a:prstGeom prst="rect">
                <a:avLst/>
              </a:prstGeom>
              <a:blipFill>
                <a:blip r:embed="rId3"/>
                <a:stretch>
                  <a:fillRect l="-1995" t="-4100" r="-5245" b="-6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5E0A2501-8257-37A5-3F25-64C77FE51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9120" y="3956605"/>
            <a:ext cx="5953760" cy="209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6377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089164"/>
                <a:ext cx="10691446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6.10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≥3)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阶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简单平面图是极大平面图当且仅当它是连通的且每个面的次数都为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3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89164"/>
                <a:ext cx="10691446" cy="1692771"/>
              </a:xfrm>
              <a:prstGeom prst="rect">
                <a:avLst/>
              </a:prstGeom>
              <a:blipFill>
                <a:blip r:embed="rId3"/>
                <a:stretch>
                  <a:fillRect l="-1995" t="-6498" b="-11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流程图: 接点 1">
            <a:extLst>
              <a:ext uri="{FF2B5EF4-FFF2-40B4-BE49-F238E27FC236}">
                <a16:creationId xmlns:a16="http://schemas.microsoft.com/office/drawing/2014/main" id="{05701211-47AF-A906-B0C1-39FD4ED5C45E}"/>
              </a:ext>
            </a:extLst>
          </p:cNvPr>
          <p:cNvSpPr/>
          <p:nvPr/>
        </p:nvSpPr>
        <p:spPr>
          <a:xfrm>
            <a:off x="1524753" y="3550920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流程图: 接点 4">
            <a:extLst>
              <a:ext uri="{FF2B5EF4-FFF2-40B4-BE49-F238E27FC236}">
                <a16:creationId xmlns:a16="http://schemas.microsoft.com/office/drawing/2014/main" id="{0C9DBFA6-AED5-BFCE-0F3B-2DCBF447F951}"/>
              </a:ext>
            </a:extLst>
          </p:cNvPr>
          <p:cNvSpPr/>
          <p:nvPr/>
        </p:nvSpPr>
        <p:spPr>
          <a:xfrm>
            <a:off x="2825233" y="3550920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流程图: 接点 5">
            <a:extLst>
              <a:ext uri="{FF2B5EF4-FFF2-40B4-BE49-F238E27FC236}">
                <a16:creationId xmlns:a16="http://schemas.microsoft.com/office/drawing/2014/main" id="{9DA320C8-6539-6C7C-F139-AEF6425F7ECE}"/>
              </a:ext>
            </a:extLst>
          </p:cNvPr>
          <p:cNvSpPr/>
          <p:nvPr/>
        </p:nvSpPr>
        <p:spPr>
          <a:xfrm>
            <a:off x="1524753" y="5013960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接点 6">
            <a:extLst>
              <a:ext uri="{FF2B5EF4-FFF2-40B4-BE49-F238E27FC236}">
                <a16:creationId xmlns:a16="http://schemas.microsoft.com/office/drawing/2014/main" id="{E1F242FB-3F0B-B082-4867-1312FC852986}"/>
              </a:ext>
            </a:extLst>
          </p:cNvPr>
          <p:cNvSpPr/>
          <p:nvPr/>
        </p:nvSpPr>
        <p:spPr>
          <a:xfrm>
            <a:off x="2825233" y="5013960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B4F7A18-0612-C6C8-E67F-0F56B90F1A9C}"/>
              </a:ext>
            </a:extLst>
          </p:cNvPr>
          <p:cNvCxnSpPr>
            <a:stCxn id="2" idx="6"/>
            <a:endCxn id="5" idx="2"/>
          </p:cNvCxnSpPr>
          <p:nvPr/>
        </p:nvCxnSpPr>
        <p:spPr>
          <a:xfrm>
            <a:off x="1665665" y="3616960"/>
            <a:ext cx="1159568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0DED415-4D1D-AAE8-A528-09986EE2C61A}"/>
              </a:ext>
            </a:extLst>
          </p:cNvPr>
          <p:cNvCxnSpPr>
            <a:cxnSpLocks/>
            <a:stCxn id="2" idx="4"/>
            <a:endCxn id="6" idx="0"/>
          </p:cNvCxnSpPr>
          <p:nvPr/>
        </p:nvCxnSpPr>
        <p:spPr>
          <a:xfrm>
            <a:off x="1595209" y="3683000"/>
            <a:ext cx="0" cy="133096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75C27B3-F15D-0284-E2B7-C68593D74B6F}"/>
              </a:ext>
            </a:extLst>
          </p:cNvPr>
          <p:cNvCxnSpPr/>
          <p:nvPr/>
        </p:nvCxnSpPr>
        <p:spPr>
          <a:xfrm>
            <a:off x="1665665" y="5080000"/>
            <a:ext cx="1159568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22B12F8-9A52-36F3-55DF-2940686C1162}"/>
              </a:ext>
            </a:extLst>
          </p:cNvPr>
          <p:cNvCxnSpPr>
            <a:cxnSpLocks/>
          </p:cNvCxnSpPr>
          <p:nvPr/>
        </p:nvCxnSpPr>
        <p:spPr>
          <a:xfrm>
            <a:off x="2895689" y="3683000"/>
            <a:ext cx="0" cy="133096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0060BE41-12F0-6A81-D789-914F65681301}"/>
              </a:ext>
            </a:extLst>
          </p:cNvPr>
          <p:cNvSpPr/>
          <p:nvPr/>
        </p:nvSpPr>
        <p:spPr>
          <a:xfrm>
            <a:off x="1595209" y="3170965"/>
            <a:ext cx="1960938" cy="1964915"/>
          </a:xfrm>
          <a:custGeom>
            <a:avLst/>
            <a:gdLst>
              <a:gd name="connsiteX0" fmla="*/ 0 w 1960938"/>
              <a:gd name="connsiteY0" fmla="*/ 384646 h 1964915"/>
              <a:gd name="connsiteX1" fmla="*/ 1920240 w 1960938"/>
              <a:gd name="connsiteY1" fmla="*/ 95086 h 1964915"/>
              <a:gd name="connsiteX2" fmla="*/ 1310640 w 1960938"/>
              <a:gd name="connsiteY2" fmla="*/ 1837526 h 1964915"/>
              <a:gd name="connsiteX3" fmla="*/ 1315720 w 1960938"/>
              <a:gd name="connsiteY3" fmla="*/ 1832446 h 1964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0938" h="1964915">
                <a:moveTo>
                  <a:pt x="0" y="384646"/>
                </a:moveTo>
                <a:cubicBezTo>
                  <a:pt x="850900" y="118792"/>
                  <a:pt x="1701800" y="-147061"/>
                  <a:pt x="1920240" y="95086"/>
                </a:cubicBezTo>
                <a:cubicBezTo>
                  <a:pt x="2138680" y="337233"/>
                  <a:pt x="1411393" y="1547966"/>
                  <a:pt x="1310640" y="1837526"/>
                </a:cubicBezTo>
                <a:cubicBezTo>
                  <a:pt x="1209887" y="2127086"/>
                  <a:pt x="1315720" y="1832446"/>
                  <a:pt x="1315720" y="183244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3981C88-3258-64EB-92CE-F02AF4A41594}"/>
              </a:ext>
            </a:extLst>
          </p:cNvPr>
          <p:cNvCxnSpPr>
            <a:cxnSpLocks/>
            <a:stCxn id="6" idx="7"/>
            <a:endCxn id="5" idx="3"/>
          </p:cNvCxnSpPr>
          <p:nvPr/>
        </p:nvCxnSpPr>
        <p:spPr>
          <a:xfrm flipV="1">
            <a:off x="1645029" y="3663657"/>
            <a:ext cx="1200840" cy="1369646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流程图: 接点 25">
            <a:extLst>
              <a:ext uri="{FF2B5EF4-FFF2-40B4-BE49-F238E27FC236}">
                <a16:creationId xmlns:a16="http://schemas.microsoft.com/office/drawing/2014/main" id="{4E7FFC72-17A4-55C6-2761-4DE308725E57}"/>
              </a:ext>
            </a:extLst>
          </p:cNvPr>
          <p:cNvSpPr/>
          <p:nvPr/>
        </p:nvSpPr>
        <p:spPr>
          <a:xfrm>
            <a:off x="6867346" y="3531577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流程图: 接点 26">
            <a:extLst>
              <a:ext uri="{FF2B5EF4-FFF2-40B4-BE49-F238E27FC236}">
                <a16:creationId xmlns:a16="http://schemas.microsoft.com/office/drawing/2014/main" id="{F3189E14-FB89-9C4C-0A09-61F4807C1BE2}"/>
              </a:ext>
            </a:extLst>
          </p:cNvPr>
          <p:cNvSpPr/>
          <p:nvPr/>
        </p:nvSpPr>
        <p:spPr>
          <a:xfrm>
            <a:off x="9325495" y="3531577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流程图: 接点 27">
            <a:extLst>
              <a:ext uri="{FF2B5EF4-FFF2-40B4-BE49-F238E27FC236}">
                <a16:creationId xmlns:a16="http://schemas.microsoft.com/office/drawing/2014/main" id="{2CC3735B-65B3-4CA8-CAA6-E773186719F2}"/>
              </a:ext>
            </a:extLst>
          </p:cNvPr>
          <p:cNvSpPr/>
          <p:nvPr/>
        </p:nvSpPr>
        <p:spPr>
          <a:xfrm>
            <a:off x="6867346" y="4947920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流程图: 接点 28">
            <a:extLst>
              <a:ext uri="{FF2B5EF4-FFF2-40B4-BE49-F238E27FC236}">
                <a16:creationId xmlns:a16="http://schemas.microsoft.com/office/drawing/2014/main" id="{85A4C75A-2DBD-80BE-85B5-2C1BFCAA0D8A}"/>
              </a:ext>
            </a:extLst>
          </p:cNvPr>
          <p:cNvSpPr/>
          <p:nvPr/>
        </p:nvSpPr>
        <p:spPr>
          <a:xfrm>
            <a:off x="9325495" y="4943817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流程图: 接点 29">
            <a:extLst>
              <a:ext uri="{FF2B5EF4-FFF2-40B4-BE49-F238E27FC236}">
                <a16:creationId xmlns:a16="http://schemas.microsoft.com/office/drawing/2014/main" id="{E664A572-2045-5A74-FEA3-29782D979615}"/>
              </a:ext>
            </a:extLst>
          </p:cNvPr>
          <p:cNvSpPr/>
          <p:nvPr/>
        </p:nvSpPr>
        <p:spPr>
          <a:xfrm>
            <a:off x="8121535" y="4216400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11D9FFC-92B5-9AAF-597B-EEE18E1584C8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7008258" y="3597617"/>
            <a:ext cx="2317237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94A51EA-B25C-2DE5-3F01-0D18BDF83BEF}"/>
              </a:ext>
            </a:extLst>
          </p:cNvPr>
          <p:cNvCxnSpPr>
            <a:cxnSpLocks/>
          </p:cNvCxnSpPr>
          <p:nvPr/>
        </p:nvCxnSpPr>
        <p:spPr>
          <a:xfrm>
            <a:off x="7008258" y="5009857"/>
            <a:ext cx="2317237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D04BB787-4DD7-B4BB-6DB6-3B900D3CBF5B}"/>
              </a:ext>
            </a:extLst>
          </p:cNvPr>
          <p:cNvCxnSpPr>
            <a:cxnSpLocks/>
            <a:stCxn id="26" idx="4"/>
            <a:endCxn id="28" idx="0"/>
          </p:cNvCxnSpPr>
          <p:nvPr/>
        </p:nvCxnSpPr>
        <p:spPr>
          <a:xfrm>
            <a:off x="6937802" y="3663657"/>
            <a:ext cx="0" cy="1284263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61B31F0-81AD-7AA8-1913-AB2E6B34F9C4}"/>
              </a:ext>
            </a:extLst>
          </p:cNvPr>
          <p:cNvCxnSpPr>
            <a:cxnSpLocks/>
          </p:cNvCxnSpPr>
          <p:nvPr/>
        </p:nvCxnSpPr>
        <p:spPr>
          <a:xfrm>
            <a:off x="9395951" y="3659554"/>
            <a:ext cx="0" cy="1284263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B32654D-92F3-A1A7-A2F9-4A84C2F88A9D}"/>
              </a:ext>
            </a:extLst>
          </p:cNvPr>
          <p:cNvCxnSpPr>
            <a:cxnSpLocks/>
            <a:stCxn id="26" idx="5"/>
            <a:endCxn id="30" idx="1"/>
          </p:cNvCxnSpPr>
          <p:nvPr/>
        </p:nvCxnSpPr>
        <p:spPr>
          <a:xfrm>
            <a:off x="6987622" y="3644314"/>
            <a:ext cx="1154549" cy="591429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95FEF814-9D36-AD08-200D-D17EB9D64D33}"/>
              </a:ext>
            </a:extLst>
          </p:cNvPr>
          <p:cNvCxnSpPr>
            <a:cxnSpLocks/>
            <a:stCxn id="28" idx="7"/>
            <a:endCxn id="30" idx="3"/>
          </p:cNvCxnSpPr>
          <p:nvPr/>
        </p:nvCxnSpPr>
        <p:spPr>
          <a:xfrm flipV="1">
            <a:off x="6987622" y="4329137"/>
            <a:ext cx="1154549" cy="638126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CA0E8C53-E9C5-D0FA-86C8-DDC21C4C6269}"/>
              </a:ext>
            </a:extLst>
          </p:cNvPr>
          <p:cNvCxnSpPr>
            <a:cxnSpLocks/>
            <a:stCxn id="27" idx="3"/>
            <a:endCxn id="30" idx="7"/>
          </p:cNvCxnSpPr>
          <p:nvPr/>
        </p:nvCxnSpPr>
        <p:spPr>
          <a:xfrm flipH="1">
            <a:off x="8241811" y="3644314"/>
            <a:ext cx="1104320" cy="591429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5F128A6E-70C4-9312-9178-DEC0F5766BEA}"/>
              </a:ext>
            </a:extLst>
          </p:cNvPr>
          <p:cNvCxnSpPr>
            <a:cxnSpLocks/>
            <a:stCxn id="29" idx="1"/>
            <a:endCxn id="30" idx="5"/>
          </p:cNvCxnSpPr>
          <p:nvPr/>
        </p:nvCxnSpPr>
        <p:spPr>
          <a:xfrm flipH="1" flipV="1">
            <a:off x="8241811" y="4329137"/>
            <a:ext cx="1104320" cy="634023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2532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欧拉公式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987209"/>
                <a:ext cx="10691446" cy="2185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6.11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（欧拉公式）：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任意的连通平面图，有：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𝑛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𝑚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𝑟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=2</m:t>
                      </m:r>
                    </m:oMath>
                  </m:oMathPara>
                </a14:m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其中，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顶点数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边数，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𝑟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面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数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987209"/>
                <a:ext cx="10691446" cy="2185214"/>
              </a:xfrm>
              <a:prstGeom prst="rect">
                <a:avLst/>
              </a:prstGeom>
              <a:blipFill>
                <a:blip r:embed="rId3"/>
                <a:stretch>
                  <a:fillRect l="-1995" t="-5028" b="-83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48313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欧拉公式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246240" y="923627"/>
                <a:ext cx="11699519" cy="46399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证明（归纳法）：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</m:t>
                    </m:r>
                    <m: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</m:t>
                    </m:r>
                    <m:r>
                      <a:rPr lang="zh-CN" altLang="en-US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时</m:t>
                    </m:r>
                  </m:oMath>
                </a14:m>
                <a:r>
                  <a:rPr lang="zh-CN" altLang="en-US" sz="32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3200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zh-CN" altLang="en-US" sz="3200" dirty="0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3200" dirty="0"/>
                  <a:t>孤立点，此时</a:t>
                </a:r>
                <a14:m>
                  <m:oMath xmlns:m="http://schemas.openxmlformats.org/officeDocument/2006/math">
                    <m:r>
                      <a:rPr lang="en-US" altLang="zh-CN" sz="320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>
                        <a:latin typeface="Cambria Math" panose="02040503050406030204" pitchFamily="18" charset="0"/>
                      </a:rPr>
                      <m:t>=1,</m:t>
                    </m:r>
                    <m:r>
                      <a:rPr lang="en-US" altLang="zh-CN" sz="320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3200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sz="320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200" dirty="0"/>
                  <a:t>结论成立。</a:t>
                </a:r>
                <a:endParaRPr lang="en-US" altLang="zh-CN" sz="3200" dirty="0"/>
              </a:p>
              <a:p>
                <a:r>
                  <a:rPr lang="zh-CN" altLang="en-US" sz="3200" dirty="0"/>
                  <a:t>（</a:t>
                </a:r>
                <a:r>
                  <a:rPr lang="en-US" altLang="zh-CN" sz="3200" dirty="0"/>
                  <a:t>2</a:t>
                </a:r>
                <a:r>
                  <a:rPr lang="zh-CN" altLang="en-US" sz="3200" dirty="0"/>
                  <a:t>）假设</a:t>
                </a:r>
                <a14:m>
                  <m:oMath xmlns:m="http://schemas.openxmlformats.org/officeDocument/2006/math">
                    <m:r>
                      <a:rPr lang="en-US" altLang="zh-CN" sz="320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3200">
                        <a:latin typeface="Cambria Math" panose="02040503050406030204" pitchFamily="18" charset="0"/>
                      </a:rPr>
                      <m:t>−1(</m:t>
                    </m:r>
                    <m:r>
                      <a:rPr lang="en-US" altLang="zh-CN" sz="32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3200">
                        <a:latin typeface="Cambria Math" panose="02040503050406030204" pitchFamily="18" charset="0"/>
                      </a:rPr>
                      <m:t>≥1)</m:t>
                    </m:r>
                    <m:r>
                      <a:rPr lang="zh-CN" altLang="en-US" sz="3200">
                        <a:latin typeface="Cambria Math" panose="02040503050406030204" pitchFamily="18" charset="0"/>
                      </a:rPr>
                      <m:t>时</m:t>
                    </m:r>
                  </m:oMath>
                </a14:m>
                <a:r>
                  <a:rPr lang="zh-CN" altLang="en-US" sz="3200" dirty="0"/>
                  <a:t>结论成立，要证明</a:t>
                </a:r>
                <a14:m>
                  <m:oMath xmlns:m="http://schemas.openxmlformats.org/officeDocument/2006/math">
                    <m:r>
                      <a:rPr lang="en-US" altLang="zh-CN" sz="320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3200">
                        <a:latin typeface="Cambria Math" panose="02040503050406030204" pitchFamily="18" charset="0"/>
                      </a:rPr>
                      <m:t>时</m:t>
                    </m:r>
                  </m:oMath>
                </a14:m>
                <a:r>
                  <a:rPr lang="zh-CN" altLang="en-US" sz="3200" dirty="0"/>
                  <a:t>结论成立。</a:t>
                </a:r>
                <a:endParaRPr lang="en-US" altLang="zh-CN" sz="3200" dirty="0"/>
              </a:p>
              <a:p>
                <a:r>
                  <a:rPr lang="zh-CN" altLang="en-US" sz="3200" dirty="0"/>
                  <a:t>若</a:t>
                </a:r>
                <a14:m>
                  <m:oMath xmlns:m="http://schemas.openxmlformats.org/officeDocument/2006/math">
                    <m:r>
                      <a:rPr lang="en-US" altLang="zh-CN" sz="3200">
                        <a:latin typeface="Cambria Math" panose="02040503050406030204" pitchFamily="18" charset="0"/>
                      </a:rPr>
                      <m:t>𝐺</m:t>
                    </m:r>
                    <m:r>
                      <a:rPr lang="zh-CN" altLang="en-US" sz="3200">
                        <a:latin typeface="Cambria Math" panose="02040503050406030204" pitchFamily="18" charset="0"/>
                      </a:rPr>
                      <m:t>中</m:t>
                    </m:r>
                  </m:oMath>
                </a14:m>
                <a:r>
                  <a:rPr lang="zh-CN" altLang="en-US" sz="3200" dirty="0"/>
                  <a:t>至少有一个</a:t>
                </a:r>
                <a:r>
                  <a:rPr lang="en-US" altLang="zh-CN" sz="3200" dirty="0"/>
                  <a:t>1</a:t>
                </a:r>
                <a:r>
                  <a:rPr lang="zh-CN" altLang="en-US" sz="3200" dirty="0"/>
                  <a:t>度顶点。设</a:t>
                </a:r>
                <a14:m>
                  <m:oMath xmlns:m="http://schemas.openxmlformats.org/officeDocument/2006/math">
                    <m:r>
                      <a:rPr lang="en-US" altLang="zh-CN" sz="3200"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 sz="3200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en-US" altLang="zh-CN" sz="3200" dirty="0"/>
                  <a:t>1</a:t>
                </a:r>
                <a:r>
                  <a:rPr lang="zh-CN" altLang="en-US" sz="3200" dirty="0"/>
                  <a:t>度顶点，删除</a:t>
                </a:r>
                <a14:m>
                  <m:oMath xmlns:m="http://schemas.openxmlformats.org/officeDocument/2006/math">
                    <m:r>
                      <a:rPr lang="en-US" altLang="zh-CN" sz="3200"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 sz="320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200" dirty="0"/>
                  <a:t>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3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32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200"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 sz="320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200" dirty="0"/>
                  <a:t>则</a:t>
                </a:r>
                <a14:m>
                  <m:oMath xmlns:m="http://schemas.openxmlformats.org/officeDocument/2006/math">
                    <m:r>
                      <a:rPr lang="en-US" altLang="zh-CN" sz="3200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3200" dirty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zh-CN" altLang="en-US" sz="3200" dirty="0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sz="3200" dirty="0"/>
                  <a:t>连通的，</a:t>
                </a:r>
                <a14:m>
                  <m:oMath xmlns:m="http://schemas.openxmlformats.org/officeDocument/2006/math">
                    <m:r>
                      <a:rPr lang="en-US" altLang="zh-CN" sz="320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3200">
                        <a:latin typeface="Cambria Math" panose="02040503050406030204" pitchFamily="18" charset="0"/>
                      </a:rPr>
                      <m:t>′</m:t>
                    </m:r>
                    <m:r>
                      <a:rPr lang="zh-CN" altLang="en-US" sz="3200">
                        <a:latin typeface="Cambria Math" panose="02040503050406030204" pitchFamily="18" charset="0"/>
                      </a:rPr>
                      <m:t>中</m:t>
                    </m:r>
                  </m:oMath>
                </a14:m>
                <a:r>
                  <a:rPr lang="zh-CN" altLang="en-US" sz="3200" dirty="0"/>
                  <a:t>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3200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32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3200" dirty="0"/>
                  <a:t>个顶点，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3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200">
                        <a:latin typeface="Cambria Math" panose="02040503050406030204" pitchFamily="18" charset="0"/>
                      </a:rPr>
                      <m:t>−1</m:t>
                    </m:r>
                    <m:r>
                      <a:rPr lang="zh-CN" altLang="en-US" sz="3200">
                        <a:latin typeface="Cambria Math" panose="02040503050406030204" pitchFamily="18" charset="0"/>
                      </a:rPr>
                      <m:t>条</m:t>
                    </m:r>
                  </m:oMath>
                </a14:m>
                <a:r>
                  <a:rPr lang="zh-CN" altLang="en-US" sz="3200" dirty="0"/>
                  <a:t>边，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3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sz="320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200" dirty="0"/>
                  <a:t>由归纳假设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320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320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3200">
                        <a:latin typeface="Cambria Math" panose="02040503050406030204" pitchFamily="18" charset="0"/>
                      </a:rPr>
                      <m:t>=2</m:t>
                    </m:r>
                    <m:r>
                      <a:rPr lang="zh-CN" altLang="en-US" sz="320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3200" smtClean="0">
                        <a:latin typeface="Cambria Math" panose="02040503050406030204" pitchFamily="18" charset="0"/>
                      </a:rPr>
                      <m:t>即</m:t>
                    </m:r>
                  </m:oMath>
                </a14:m>
                <a:endParaRPr lang="en-US" altLang="zh-CN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altLang="zh-CN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40" y="923627"/>
                <a:ext cx="11699519" cy="4639925"/>
              </a:xfrm>
              <a:prstGeom prst="rect">
                <a:avLst/>
              </a:prstGeom>
              <a:blipFill>
                <a:blip r:embed="rId3"/>
                <a:stretch>
                  <a:fillRect l="-1302" t="-1708" r="-2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88290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欧拉公式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910659"/>
                <a:ext cx="10691446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推论：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对于任意的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≥2)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个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连通分支的平面图，有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𝑛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𝑚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𝑟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𝑝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+1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910659"/>
                <a:ext cx="10691446" cy="1692771"/>
              </a:xfrm>
              <a:prstGeom prst="rect">
                <a:avLst/>
              </a:prstGeom>
              <a:blipFill>
                <a:blip r:embed="rId3"/>
                <a:stretch>
                  <a:fillRect l="-1995" t="-6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78670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4084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6.12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连通的平面图，且每个面的次数至少为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𝑙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𝑙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≥3)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则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𝑚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≤</m:t>
                      </m:r>
                      <m:f>
                        <m:f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𝑙</m:t>
                          </m:r>
                        </m:num>
                        <m:den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𝑙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−2</m:t>
                          </m:r>
                        </m:den>
                      </m:f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𝑛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−2)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≥2)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个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连通分支的平面图，每个面的次数至少</a:t>
                </a:r>
                <a14:m>
                  <m:oMath xmlns:m="http://schemas.openxmlformats.org/officeDocument/2006/math">
                    <m:r>
                      <a:rPr lang="zh-CN" altLang="en-US" sz="3200" b="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𝑙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𝑙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≥3)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则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𝑚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≤</m:t>
                      </m:r>
                      <m:f>
                        <m:f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𝑙</m:t>
                          </m:r>
                        </m:num>
                        <m:den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𝑙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−2</m:t>
                          </m:r>
                        </m:den>
                      </m:f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𝑛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𝑝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−1)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4084644"/>
              </a:xfrm>
              <a:prstGeom prst="rect">
                <a:avLst/>
              </a:prstGeom>
              <a:blipFill>
                <a:blip r:embed="rId3"/>
                <a:stretch>
                  <a:fillRect l="-1995" t="-26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82904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28678"/>
                <a:ext cx="10691446" cy="3518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证明：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连通平面图，且每个面的次数至少为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𝑙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由定理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6.9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得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2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𝑚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𝑙𝑟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带入欧拉公式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2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𝑚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𝑙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(2+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𝑚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𝑛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𝑚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≤</m:t>
                      </m:r>
                      <m:f>
                        <m:f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𝑙</m:t>
                          </m:r>
                        </m:num>
                        <m:den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𝑙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−2</m:t>
                          </m:r>
                        </m:den>
                      </m:f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𝑛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−2)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28678"/>
                <a:ext cx="10691446" cy="3518977"/>
              </a:xfrm>
              <a:prstGeom prst="rect">
                <a:avLst/>
              </a:prstGeom>
              <a:blipFill>
                <a:blip r:embed="rId3"/>
                <a:stretch>
                  <a:fillRect l="-1425" t="-22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72431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561091" y="920621"/>
                <a:ext cx="10774316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1"/>
                <a:r>
                  <a:rPr lang="zh-CN" altLang="en-US" sz="3200" dirty="0"/>
                  <a:t>例题：证明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zh-CN" altLang="en-US" sz="3200" dirty="0"/>
                  <a:t>不是平面图。</a:t>
                </a:r>
                <a:endParaRPr lang="en-US" altLang="zh-CN" sz="3200" dirty="0"/>
              </a:p>
              <a:p>
                <a:pPr latinLnBrk="1"/>
                <a:endParaRPr lang="en-US" altLang="zh-CN" sz="3200" dirty="0"/>
              </a:p>
              <a:p>
                <a:pPr latinLnBrk="1"/>
                <a:r>
                  <a:rPr lang="zh-CN" altLang="en-US" sz="3200" dirty="0"/>
                  <a:t>证明：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有</m:t>
                    </m:r>
                  </m:oMath>
                </a14:m>
                <a:r>
                  <a:rPr lang="en-US" altLang="zh-CN" sz="3200" dirty="0"/>
                  <a:t>5</a:t>
                </a:r>
                <a:r>
                  <a:rPr lang="zh-CN" altLang="en-US" sz="3200" dirty="0"/>
                  <a:t>个顶点，</a:t>
                </a:r>
                <a:r>
                  <a:rPr lang="en-US" altLang="zh-CN" sz="3200" dirty="0"/>
                  <a:t>10</a:t>
                </a:r>
                <a:r>
                  <a:rPr lang="zh-CN" altLang="en-US" sz="3200" dirty="0"/>
                  <a:t>条边，假如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sz="3200" dirty="0"/>
                  <a:t>平面图，则每个面的次数至少为</a:t>
                </a:r>
                <a:r>
                  <a:rPr lang="en-US" altLang="zh-CN" sz="3200" dirty="0"/>
                  <a:t>3</a:t>
                </a:r>
                <a:r>
                  <a:rPr lang="zh-CN" altLang="en-US" sz="3200" dirty="0"/>
                  <a:t>，由定理</a:t>
                </a:r>
                <a:r>
                  <a:rPr lang="en-US" altLang="zh-CN" sz="3200" dirty="0"/>
                  <a:t>6.12</a:t>
                </a:r>
                <a:r>
                  <a:rPr lang="zh-CN" altLang="en-US" sz="3200" dirty="0"/>
                  <a:t>可得</a:t>
                </a:r>
                <a:endParaRPr lang="en-US" altLang="zh-CN" sz="3200" dirty="0"/>
              </a:p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10≤3×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5−2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US" altLang="zh-CN" sz="3200" dirty="0"/>
              </a:p>
              <a:p>
                <a:pPr latinLnBrk="1"/>
                <a:r>
                  <a:rPr lang="zh-CN" altLang="en-US" sz="3200" dirty="0"/>
                  <a:t>矛盾，所以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不是</m:t>
                    </m:r>
                  </m:oMath>
                </a14:m>
                <a:r>
                  <a:rPr lang="zh-CN" altLang="en-US" sz="3200" dirty="0"/>
                  <a:t>平面图。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91" y="920621"/>
                <a:ext cx="10774316" cy="3046988"/>
              </a:xfrm>
              <a:prstGeom prst="rect">
                <a:avLst/>
              </a:prstGeom>
              <a:blipFill>
                <a:blip r:embed="rId3"/>
                <a:stretch>
                  <a:fillRect l="-1415" t="-2600" r="-509" b="-56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46124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消除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插入顶点</a:t>
            </a:r>
          </a:p>
        </p:txBody>
      </p:sp>
      <p:sp>
        <p:nvSpPr>
          <p:cNvPr id="2" name="流程图: 接点 1">
            <a:extLst>
              <a:ext uri="{FF2B5EF4-FFF2-40B4-BE49-F238E27FC236}">
                <a16:creationId xmlns:a16="http://schemas.microsoft.com/office/drawing/2014/main" id="{DAC36196-B2D3-D84C-ABC4-3F185D6193EA}"/>
              </a:ext>
            </a:extLst>
          </p:cNvPr>
          <p:cNvSpPr/>
          <p:nvPr/>
        </p:nvSpPr>
        <p:spPr>
          <a:xfrm>
            <a:off x="1414395" y="2013782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流程图: 接点 4">
            <a:extLst>
              <a:ext uri="{FF2B5EF4-FFF2-40B4-BE49-F238E27FC236}">
                <a16:creationId xmlns:a16="http://schemas.microsoft.com/office/drawing/2014/main" id="{DD5D5FDA-CB15-26BD-9E0D-89DAACE7B944}"/>
              </a:ext>
            </a:extLst>
          </p:cNvPr>
          <p:cNvSpPr/>
          <p:nvPr/>
        </p:nvSpPr>
        <p:spPr>
          <a:xfrm>
            <a:off x="1422278" y="2856362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流程图: 接点 5">
            <a:extLst>
              <a:ext uri="{FF2B5EF4-FFF2-40B4-BE49-F238E27FC236}">
                <a16:creationId xmlns:a16="http://schemas.microsoft.com/office/drawing/2014/main" id="{54953473-C77C-7417-8F8E-2BAABAB7A60A}"/>
              </a:ext>
            </a:extLst>
          </p:cNvPr>
          <p:cNvSpPr/>
          <p:nvPr/>
        </p:nvSpPr>
        <p:spPr>
          <a:xfrm>
            <a:off x="1430161" y="3664959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B904E67-3CF6-B3D2-45DB-215273F440F4}"/>
              </a:ext>
            </a:extLst>
          </p:cNvPr>
          <p:cNvCxnSpPr>
            <a:cxnSpLocks/>
          </p:cNvCxnSpPr>
          <p:nvPr/>
        </p:nvCxnSpPr>
        <p:spPr>
          <a:xfrm>
            <a:off x="1480348" y="2145862"/>
            <a:ext cx="4503" cy="698238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418B382-6B28-D19F-FE46-5CA3E33BA45D}"/>
              </a:ext>
            </a:extLst>
          </p:cNvPr>
          <p:cNvCxnSpPr>
            <a:cxnSpLocks/>
          </p:cNvCxnSpPr>
          <p:nvPr/>
        </p:nvCxnSpPr>
        <p:spPr>
          <a:xfrm>
            <a:off x="1492734" y="2969699"/>
            <a:ext cx="4503" cy="698238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DFC4344-A470-A952-DCB8-B889866DFD17}"/>
                  </a:ext>
                </a:extLst>
              </p:cNvPr>
              <p:cNvSpPr txBox="1"/>
              <p:nvPr/>
            </p:nvSpPr>
            <p:spPr>
              <a:xfrm>
                <a:off x="959885" y="1895156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DFC4344-A470-A952-DCB8-B889866DF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885" y="1895156"/>
                <a:ext cx="44080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CBDACEC-57BF-833B-77A3-6142333F8AB5}"/>
                  </a:ext>
                </a:extLst>
              </p:cNvPr>
              <p:cNvSpPr txBox="1"/>
              <p:nvPr/>
            </p:nvSpPr>
            <p:spPr>
              <a:xfrm>
                <a:off x="959885" y="2737736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CBDACEC-57BF-833B-77A3-6142333F8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885" y="2737736"/>
                <a:ext cx="44080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6B64455-030C-14B3-3782-29BC8F005892}"/>
                  </a:ext>
                </a:extLst>
              </p:cNvPr>
              <p:cNvSpPr txBox="1"/>
              <p:nvPr/>
            </p:nvSpPr>
            <p:spPr>
              <a:xfrm>
                <a:off x="954131" y="3480293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6B64455-030C-14B3-3782-29BC8F005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131" y="3480293"/>
                <a:ext cx="44080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DD0D7AEF-2662-B233-C435-4473E77FC5B6}"/>
              </a:ext>
            </a:extLst>
          </p:cNvPr>
          <p:cNvSpPr/>
          <p:nvPr/>
        </p:nvSpPr>
        <p:spPr>
          <a:xfrm>
            <a:off x="2418133" y="2013782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流程图: 接点 15">
            <a:extLst>
              <a:ext uri="{FF2B5EF4-FFF2-40B4-BE49-F238E27FC236}">
                <a16:creationId xmlns:a16="http://schemas.microsoft.com/office/drawing/2014/main" id="{F0B174D4-3977-8185-EFFB-D81297693473}"/>
              </a:ext>
            </a:extLst>
          </p:cNvPr>
          <p:cNvSpPr/>
          <p:nvPr/>
        </p:nvSpPr>
        <p:spPr>
          <a:xfrm>
            <a:off x="2433899" y="3664959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B62D164-22FE-F7C5-0261-F78606C7DE1D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2484086" y="2145862"/>
            <a:ext cx="20269" cy="1519097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0D87CCB-8DA0-1C68-4294-381CEEAE1B02}"/>
                  </a:ext>
                </a:extLst>
              </p:cNvPr>
              <p:cNvSpPr txBox="1"/>
              <p:nvPr/>
            </p:nvSpPr>
            <p:spPr>
              <a:xfrm>
                <a:off x="1963623" y="1895156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0D87CCB-8DA0-1C68-4294-381CEEAE1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3623" y="1895156"/>
                <a:ext cx="44080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DDBE271-9BBA-D8DB-C844-F07BE0058E7C}"/>
                  </a:ext>
                </a:extLst>
              </p:cNvPr>
              <p:cNvSpPr txBox="1"/>
              <p:nvPr/>
            </p:nvSpPr>
            <p:spPr>
              <a:xfrm>
                <a:off x="1957869" y="3480293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DDBE271-9BBA-D8DB-C844-F07BE0058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869" y="3480293"/>
                <a:ext cx="44080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572DD7F-D1F3-C63D-9819-7BC142015B66}"/>
              </a:ext>
            </a:extLst>
          </p:cNvPr>
          <p:cNvCxnSpPr>
            <a:cxnSpLocks/>
          </p:cNvCxnSpPr>
          <p:nvPr/>
        </p:nvCxnSpPr>
        <p:spPr>
          <a:xfrm>
            <a:off x="1748837" y="2919426"/>
            <a:ext cx="53716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DF695C4-C1A0-D029-7ABF-A601C1002795}"/>
                  </a:ext>
                </a:extLst>
              </p:cNvPr>
              <p:cNvSpPr txBox="1"/>
              <p:nvPr/>
            </p:nvSpPr>
            <p:spPr>
              <a:xfrm>
                <a:off x="1201552" y="3938574"/>
                <a:ext cx="16317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消除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度顶点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DF695C4-C1A0-D029-7ABF-A601C1002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552" y="3938574"/>
                <a:ext cx="1631731" cy="369332"/>
              </a:xfrm>
              <a:prstGeom prst="rect">
                <a:avLst/>
              </a:prstGeom>
              <a:blipFill>
                <a:blip r:embed="rId8"/>
                <a:stretch>
                  <a:fillRect l="-2985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流程图: 接点 26">
            <a:extLst>
              <a:ext uri="{FF2B5EF4-FFF2-40B4-BE49-F238E27FC236}">
                <a16:creationId xmlns:a16="http://schemas.microsoft.com/office/drawing/2014/main" id="{D18B0AD8-CFE9-44A1-1D92-D8EE4456F806}"/>
              </a:ext>
            </a:extLst>
          </p:cNvPr>
          <p:cNvSpPr/>
          <p:nvPr/>
        </p:nvSpPr>
        <p:spPr>
          <a:xfrm>
            <a:off x="9913075" y="2038443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流程图: 接点 27">
            <a:extLst>
              <a:ext uri="{FF2B5EF4-FFF2-40B4-BE49-F238E27FC236}">
                <a16:creationId xmlns:a16="http://schemas.microsoft.com/office/drawing/2014/main" id="{BB93BBB0-DEAB-2C92-3845-BA7414770217}"/>
              </a:ext>
            </a:extLst>
          </p:cNvPr>
          <p:cNvSpPr/>
          <p:nvPr/>
        </p:nvSpPr>
        <p:spPr>
          <a:xfrm>
            <a:off x="9920958" y="2881023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流程图: 接点 28">
            <a:extLst>
              <a:ext uri="{FF2B5EF4-FFF2-40B4-BE49-F238E27FC236}">
                <a16:creationId xmlns:a16="http://schemas.microsoft.com/office/drawing/2014/main" id="{8F11976B-A6C7-F01F-3C4E-F62BD5DEA4C4}"/>
              </a:ext>
            </a:extLst>
          </p:cNvPr>
          <p:cNvSpPr/>
          <p:nvPr/>
        </p:nvSpPr>
        <p:spPr>
          <a:xfrm>
            <a:off x="9928841" y="3689620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E573F632-2ADB-8C83-1079-62B5446B2603}"/>
              </a:ext>
            </a:extLst>
          </p:cNvPr>
          <p:cNvCxnSpPr>
            <a:cxnSpLocks/>
          </p:cNvCxnSpPr>
          <p:nvPr/>
        </p:nvCxnSpPr>
        <p:spPr>
          <a:xfrm>
            <a:off x="9979028" y="2170523"/>
            <a:ext cx="4503" cy="698238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05147040-D457-BAC1-0976-C9EB20C7C7D8}"/>
              </a:ext>
            </a:extLst>
          </p:cNvPr>
          <p:cNvCxnSpPr>
            <a:cxnSpLocks/>
          </p:cNvCxnSpPr>
          <p:nvPr/>
        </p:nvCxnSpPr>
        <p:spPr>
          <a:xfrm>
            <a:off x="9991414" y="2994360"/>
            <a:ext cx="4503" cy="698238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C9807F3A-CD18-DE6F-4572-0FB3DC49BA84}"/>
                  </a:ext>
                </a:extLst>
              </p:cNvPr>
              <p:cNvSpPr txBox="1"/>
              <p:nvPr/>
            </p:nvSpPr>
            <p:spPr>
              <a:xfrm>
                <a:off x="9458565" y="1919817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C9807F3A-CD18-DE6F-4572-0FB3DC49B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8565" y="1919817"/>
                <a:ext cx="44080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D4538A4-F6A2-87A9-D896-9C7CE68B1EE0}"/>
                  </a:ext>
                </a:extLst>
              </p:cNvPr>
              <p:cNvSpPr txBox="1"/>
              <p:nvPr/>
            </p:nvSpPr>
            <p:spPr>
              <a:xfrm>
                <a:off x="10130164" y="2776674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D4538A4-F6A2-87A9-D896-9C7CE68B1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0164" y="2776674"/>
                <a:ext cx="44080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3EB30B81-7929-1908-AE7C-CAEA16EFCA41}"/>
                  </a:ext>
                </a:extLst>
              </p:cNvPr>
              <p:cNvSpPr txBox="1"/>
              <p:nvPr/>
            </p:nvSpPr>
            <p:spPr>
              <a:xfrm>
                <a:off x="9452811" y="3504954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3EB30B81-7929-1908-AE7C-CAEA16EFC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2811" y="3504954"/>
                <a:ext cx="44080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流程图: 接点 34">
            <a:extLst>
              <a:ext uri="{FF2B5EF4-FFF2-40B4-BE49-F238E27FC236}">
                <a16:creationId xmlns:a16="http://schemas.microsoft.com/office/drawing/2014/main" id="{1AEE707A-8CFC-24BF-1A00-7733FDD6D253}"/>
              </a:ext>
            </a:extLst>
          </p:cNvPr>
          <p:cNvSpPr/>
          <p:nvPr/>
        </p:nvSpPr>
        <p:spPr>
          <a:xfrm>
            <a:off x="8857021" y="2043418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流程图: 接点 35">
            <a:extLst>
              <a:ext uri="{FF2B5EF4-FFF2-40B4-BE49-F238E27FC236}">
                <a16:creationId xmlns:a16="http://schemas.microsoft.com/office/drawing/2014/main" id="{5B0E3702-E53D-3FA5-B885-4CEFE7B8143A}"/>
              </a:ext>
            </a:extLst>
          </p:cNvPr>
          <p:cNvSpPr/>
          <p:nvPr/>
        </p:nvSpPr>
        <p:spPr>
          <a:xfrm>
            <a:off x="8872787" y="3694595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7C8911F5-BF7A-09AD-E1F4-FBE1D7DE0EF1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8922974" y="2175498"/>
            <a:ext cx="20269" cy="1519097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757AC723-EC88-5C23-C94D-3351DB69D24A}"/>
                  </a:ext>
                </a:extLst>
              </p:cNvPr>
              <p:cNvSpPr txBox="1"/>
              <p:nvPr/>
            </p:nvSpPr>
            <p:spPr>
              <a:xfrm>
                <a:off x="8402511" y="1924792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757AC723-EC88-5C23-C94D-3351DB69D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511" y="1924792"/>
                <a:ext cx="44080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55E1D1D1-2E12-331C-DAA0-388412AB5976}"/>
                  </a:ext>
                </a:extLst>
              </p:cNvPr>
              <p:cNvSpPr txBox="1"/>
              <p:nvPr/>
            </p:nvSpPr>
            <p:spPr>
              <a:xfrm>
                <a:off x="8396757" y="3509929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55E1D1D1-2E12-331C-DAA0-388412AB5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6757" y="3509929"/>
                <a:ext cx="440802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3A98A307-373C-FE66-0268-8679E52FE69B}"/>
              </a:ext>
            </a:extLst>
          </p:cNvPr>
          <p:cNvCxnSpPr>
            <a:cxnSpLocks/>
          </p:cNvCxnSpPr>
          <p:nvPr/>
        </p:nvCxnSpPr>
        <p:spPr>
          <a:xfrm>
            <a:off x="9143931" y="2983714"/>
            <a:ext cx="53716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E74A064B-4329-5D05-FFEE-BF05B557A90C}"/>
                  </a:ext>
                </a:extLst>
              </p:cNvPr>
              <p:cNvSpPr txBox="1"/>
              <p:nvPr/>
            </p:nvSpPr>
            <p:spPr>
              <a:xfrm>
                <a:off x="8596646" y="4002862"/>
                <a:ext cx="16317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插入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度顶点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E74A064B-4329-5D05-FFEE-BF05B557A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6646" y="4002862"/>
                <a:ext cx="1631731" cy="369332"/>
              </a:xfrm>
              <a:prstGeom prst="rect">
                <a:avLst/>
              </a:prstGeom>
              <a:blipFill>
                <a:blip r:embed="rId14"/>
                <a:stretch>
                  <a:fillRect l="-2985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66547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048169"/>
                <a:ext cx="10691446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6.9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如果两个图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和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同构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，或经过反复消去或插入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度顶点后同构，则称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和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胚。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48169"/>
                <a:ext cx="10691446" cy="1692771"/>
              </a:xfrm>
              <a:prstGeom prst="rect">
                <a:avLst/>
              </a:prstGeom>
              <a:blipFill>
                <a:blip r:embed="rId3"/>
                <a:stretch>
                  <a:fillRect l="-1995" t="-6475" r="-741" b="-107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流程图: 接点 4">
            <a:extLst>
              <a:ext uri="{FF2B5EF4-FFF2-40B4-BE49-F238E27FC236}">
                <a16:creationId xmlns:a16="http://schemas.microsoft.com/office/drawing/2014/main" id="{B775D4CA-EBCA-20E0-646F-C41BD361F631}"/>
              </a:ext>
            </a:extLst>
          </p:cNvPr>
          <p:cNvSpPr/>
          <p:nvPr/>
        </p:nvSpPr>
        <p:spPr>
          <a:xfrm>
            <a:off x="1414395" y="3479975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流程图: 接点 5">
            <a:extLst>
              <a:ext uri="{FF2B5EF4-FFF2-40B4-BE49-F238E27FC236}">
                <a16:creationId xmlns:a16="http://schemas.microsoft.com/office/drawing/2014/main" id="{23025091-0961-51C8-018D-A35FB20A326D}"/>
              </a:ext>
            </a:extLst>
          </p:cNvPr>
          <p:cNvSpPr/>
          <p:nvPr/>
        </p:nvSpPr>
        <p:spPr>
          <a:xfrm>
            <a:off x="1422278" y="4322555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接点 6">
            <a:extLst>
              <a:ext uri="{FF2B5EF4-FFF2-40B4-BE49-F238E27FC236}">
                <a16:creationId xmlns:a16="http://schemas.microsoft.com/office/drawing/2014/main" id="{FEBA3D47-0028-AF28-56BE-9CC75A850216}"/>
              </a:ext>
            </a:extLst>
          </p:cNvPr>
          <p:cNvSpPr/>
          <p:nvPr/>
        </p:nvSpPr>
        <p:spPr>
          <a:xfrm>
            <a:off x="1430161" y="5131152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6118329-6E94-B4FA-AF89-687AF86F84DA}"/>
              </a:ext>
            </a:extLst>
          </p:cNvPr>
          <p:cNvCxnSpPr>
            <a:cxnSpLocks/>
          </p:cNvCxnSpPr>
          <p:nvPr/>
        </p:nvCxnSpPr>
        <p:spPr>
          <a:xfrm>
            <a:off x="1480348" y="3612055"/>
            <a:ext cx="4503" cy="698238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A01CC92-613C-BB8C-7D3D-769ECCF07C69}"/>
              </a:ext>
            </a:extLst>
          </p:cNvPr>
          <p:cNvCxnSpPr>
            <a:cxnSpLocks/>
          </p:cNvCxnSpPr>
          <p:nvPr/>
        </p:nvCxnSpPr>
        <p:spPr>
          <a:xfrm>
            <a:off x="1492734" y="4435892"/>
            <a:ext cx="4503" cy="698238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1A3C071-D13F-0A93-3A71-CC6C6BCEF7F4}"/>
                  </a:ext>
                </a:extLst>
              </p:cNvPr>
              <p:cNvSpPr txBox="1"/>
              <p:nvPr/>
            </p:nvSpPr>
            <p:spPr>
              <a:xfrm>
                <a:off x="959885" y="3361349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1A3C071-D13F-0A93-3A71-CC6C6BCEF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885" y="3361349"/>
                <a:ext cx="44080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ADFC15F-171A-8ED3-E5A8-03B763DE3088}"/>
                  </a:ext>
                </a:extLst>
              </p:cNvPr>
              <p:cNvSpPr txBox="1"/>
              <p:nvPr/>
            </p:nvSpPr>
            <p:spPr>
              <a:xfrm>
                <a:off x="959885" y="4203929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ADFC15F-171A-8ED3-E5A8-03B763DE3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885" y="4203929"/>
                <a:ext cx="44080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5A2904B-6ABB-9890-F49B-4832D4E9E7A1}"/>
                  </a:ext>
                </a:extLst>
              </p:cNvPr>
              <p:cNvSpPr txBox="1"/>
              <p:nvPr/>
            </p:nvSpPr>
            <p:spPr>
              <a:xfrm>
                <a:off x="954131" y="4946486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5A2904B-6ABB-9890-F49B-4832D4E9E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131" y="4946486"/>
                <a:ext cx="44080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12BDAFAB-1106-4E6E-7325-C7F6A358620D}"/>
              </a:ext>
            </a:extLst>
          </p:cNvPr>
          <p:cNvSpPr/>
          <p:nvPr/>
        </p:nvSpPr>
        <p:spPr>
          <a:xfrm>
            <a:off x="2150120" y="5131152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流程图: 接点 14">
            <a:extLst>
              <a:ext uri="{FF2B5EF4-FFF2-40B4-BE49-F238E27FC236}">
                <a16:creationId xmlns:a16="http://schemas.microsoft.com/office/drawing/2014/main" id="{A637EEDB-AE8A-68CA-FB19-A4721754A770}"/>
              </a:ext>
            </a:extLst>
          </p:cNvPr>
          <p:cNvSpPr/>
          <p:nvPr/>
        </p:nvSpPr>
        <p:spPr>
          <a:xfrm>
            <a:off x="2901004" y="5131152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流程图: 接点 15">
            <a:extLst>
              <a:ext uri="{FF2B5EF4-FFF2-40B4-BE49-F238E27FC236}">
                <a16:creationId xmlns:a16="http://schemas.microsoft.com/office/drawing/2014/main" id="{1F74B05D-270B-FAFF-FB75-CE7973717300}"/>
              </a:ext>
            </a:extLst>
          </p:cNvPr>
          <p:cNvSpPr/>
          <p:nvPr/>
        </p:nvSpPr>
        <p:spPr>
          <a:xfrm>
            <a:off x="2901004" y="3452780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流程图: 接点 16">
            <a:extLst>
              <a:ext uri="{FF2B5EF4-FFF2-40B4-BE49-F238E27FC236}">
                <a16:creationId xmlns:a16="http://schemas.microsoft.com/office/drawing/2014/main" id="{DACE6821-AC48-22FE-FDCF-70E7BA7BCC58}"/>
              </a:ext>
            </a:extLst>
          </p:cNvPr>
          <p:cNvSpPr/>
          <p:nvPr/>
        </p:nvSpPr>
        <p:spPr>
          <a:xfrm>
            <a:off x="2150120" y="2964780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F870A4C-0912-6A8C-47E2-FDA3CB263AE3}"/>
              </a:ext>
            </a:extLst>
          </p:cNvPr>
          <p:cNvCxnSpPr>
            <a:cxnSpLocks/>
            <a:stCxn id="5" idx="7"/>
            <a:endCxn id="17" idx="3"/>
          </p:cNvCxnSpPr>
          <p:nvPr/>
        </p:nvCxnSpPr>
        <p:spPr>
          <a:xfrm flipV="1">
            <a:off x="1534671" y="3077517"/>
            <a:ext cx="636085" cy="42180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CCB2D65-284E-2013-E5B5-85AB711F24E7}"/>
              </a:ext>
            </a:extLst>
          </p:cNvPr>
          <p:cNvCxnSpPr>
            <a:cxnSpLocks/>
            <a:stCxn id="17" idx="5"/>
            <a:endCxn id="16" idx="1"/>
          </p:cNvCxnSpPr>
          <p:nvPr/>
        </p:nvCxnSpPr>
        <p:spPr>
          <a:xfrm>
            <a:off x="2270396" y="3077517"/>
            <a:ext cx="651244" cy="394606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5D10081-775E-7DD5-4E20-75AB8FBD0226}"/>
              </a:ext>
            </a:extLst>
          </p:cNvPr>
          <p:cNvCxnSpPr>
            <a:cxnSpLocks/>
            <a:stCxn id="5" idx="6"/>
            <a:endCxn id="16" idx="2"/>
          </p:cNvCxnSpPr>
          <p:nvPr/>
        </p:nvCxnSpPr>
        <p:spPr>
          <a:xfrm flipV="1">
            <a:off x="1555307" y="3518820"/>
            <a:ext cx="1345697" cy="2719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873BE7B-7824-4CAA-6775-FCDCEA987D84}"/>
              </a:ext>
            </a:extLst>
          </p:cNvPr>
          <p:cNvCxnSpPr>
            <a:cxnSpLocks/>
            <a:stCxn id="16" idx="4"/>
            <a:endCxn id="15" idx="0"/>
          </p:cNvCxnSpPr>
          <p:nvPr/>
        </p:nvCxnSpPr>
        <p:spPr>
          <a:xfrm>
            <a:off x="2971460" y="3584860"/>
            <a:ext cx="0" cy="1546292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2A7FACB1-DA0B-F994-387E-59BDC59C7C0F}"/>
              </a:ext>
            </a:extLst>
          </p:cNvPr>
          <p:cNvCxnSpPr>
            <a:cxnSpLocks/>
            <a:stCxn id="7" idx="6"/>
            <a:endCxn id="14" idx="2"/>
          </p:cNvCxnSpPr>
          <p:nvPr/>
        </p:nvCxnSpPr>
        <p:spPr>
          <a:xfrm>
            <a:off x="1571073" y="5197192"/>
            <a:ext cx="579047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3A9CF070-2ADA-7B59-479F-B8D241E33BAA}"/>
              </a:ext>
            </a:extLst>
          </p:cNvPr>
          <p:cNvCxnSpPr>
            <a:cxnSpLocks/>
            <a:stCxn id="14" idx="6"/>
            <a:endCxn id="15" idx="2"/>
          </p:cNvCxnSpPr>
          <p:nvPr/>
        </p:nvCxnSpPr>
        <p:spPr>
          <a:xfrm>
            <a:off x="2291032" y="5197192"/>
            <a:ext cx="609972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0D07993F-5054-A319-50D6-947BB4D7450E}"/>
                  </a:ext>
                </a:extLst>
              </p:cNvPr>
              <p:cNvSpPr txBox="1"/>
              <p:nvPr/>
            </p:nvSpPr>
            <p:spPr>
              <a:xfrm>
                <a:off x="2007754" y="2575697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0D07993F-5054-A319-50D6-947BB4D74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754" y="2575697"/>
                <a:ext cx="44080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E08E76E0-B458-4E74-E115-893E6A4FCDF1}"/>
                  </a:ext>
                </a:extLst>
              </p:cNvPr>
              <p:cNvSpPr txBox="1"/>
              <p:nvPr/>
            </p:nvSpPr>
            <p:spPr>
              <a:xfrm>
                <a:off x="2000175" y="5329272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E08E76E0-B458-4E74-E115-893E6A4FC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175" y="5329272"/>
                <a:ext cx="44080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DFE73307-4B58-485F-F39B-47321C269A27}"/>
                  </a:ext>
                </a:extLst>
              </p:cNvPr>
              <p:cNvSpPr txBox="1"/>
              <p:nvPr/>
            </p:nvSpPr>
            <p:spPr>
              <a:xfrm>
                <a:off x="2992431" y="4946486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DFE73307-4B58-485F-F39B-47321C269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431" y="4946486"/>
                <a:ext cx="440802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2B50A7BC-93AF-F227-E062-2F76B54799F5}"/>
                  </a:ext>
                </a:extLst>
              </p:cNvPr>
              <p:cNvSpPr txBox="1"/>
              <p:nvPr/>
            </p:nvSpPr>
            <p:spPr>
              <a:xfrm>
                <a:off x="2971460" y="3347751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2B50A7BC-93AF-F227-E062-2F76B5479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460" y="3347751"/>
                <a:ext cx="440802" cy="369332"/>
              </a:xfrm>
              <a:prstGeom prst="rect">
                <a:avLst/>
              </a:prstGeom>
              <a:blipFill>
                <a:blip r:embed="rId10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流程图: 接点 41">
            <a:extLst>
              <a:ext uri="{FF2B5EF4-FFF2-40B4-BE49-F238E27FC236}">
                <a16:creationId xmlns:a16="http://schemas.microsoft.com/office/drawing/2014/main" id="{E0D3EAF8-A3D0-055F-1014-B82ADF257B3C}"/>
              </a:ext>
            </a:extLst>
          </p:cNvPr>
          <p:cNvSpPr/>
          <p:nvPr/>
        </p:nvSpPr>
        <p:spPr>
          <a:xfrm>
            <a:off x="8061800" y="3347895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流程图: 接点 42">
            <a:extLst>
              <a:ext uri="{FF2B5EF4-FFF2-40B4-BE49-F238E27FC236}">
                <a16:creationId xmlns:a16="http://schemas.microsoft.com/office/drawing/2014/main" id="{A0479142-6C27-F3A6-09F6-D4635AA29825}"/>
              </a:ext>
            </a:extLst>
          </p:cNvPr>
          <p:cNvSpPr/>
          <p:nvPr/>
        </p:nvSpPr>
        <p:spPr>
          <a:xfrm>
            <a:off x="8069683" y="4190475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流程图: 接点 43">
            <a:extLst>
              <a:ext uri="{FF2B5EF4-FFF2-40B4-BE49-F238E27FC236}">
                <a16:creationId xmlns:a16="http://schemas.microsoft.com/office/drawing/2014/main" id="{66D0009B-64D8-F637-4B06-EA5D2AD23F41}"/>
              </a:ext>
            </a:extLst>
          </p:cNvPr>
          <p:cNvSpPr/>
          <p:nvPr/>
        </p:nvSpPr>
        <p:spPr>
          <a:xfrm>
            <a:off x="8077566" y="4999072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61A9AF45-3F0C-9205-DB30-F3A2DFB4BCCB}"/>
              </a:ext>
            </a:extLst>
          </p:cNvPr>
          <p:cNvCxnSpPr>
            <a:cxnSpLocks/>
          </p:cNvCxnSpPr>
          <p:nvPr/>
        </p:nvCxnSpPr>
        <p:spPr>
          <a:xfrm>
            <a:off x="8127753" y="3479975"/>
            <a:ext cx="4503" cy="698238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AC08FA9-F1AA-D56C-423B-DED975A2A7BF}"/>
              </a:ext>
            </a:extLst>
          </p:cNvPr>
          <p:cNvCxnSpPr>
            <a:cxnSpLocks/>
          </p:cNvCxnSpPr>
          <p:nvPr/>
        </p:nvCxnSpPr>
        <p:spPr>
          <a:xfrm>
            <a:off x="8140139" y="4303812"/>
            <a:ext cx="4503" cy="698238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99237E18-4F9D-EDD4-1F98-EB5FFCC5B95D}"/>
                  </a:ext>
                </a:extLst>
              </p:cNvPr>
              <p:cNvSpPr txBox="1"/>
              <p:nvPr/>
            </p:nvSpPr>
            <p:spPr>
              <a:xfrm>
                <a:off x="7607290" y="3229269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99237E18-4F9D-EDD4-1F98-EB5FFCC5B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7290" y="3229269"/>
                <a:ext cx="44080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2A070BAE-69D6-C329-A93C-1D48C495B7BD}"/>
                  </a:ext>
                </a:extLst>
              </p:cNvPr>
              <p:cNvSpPr txBox="1"/>
              <p:nvPr/>
            </p:nvSpPr>
            <p:spPr>
              <a:xfrm>
                <a:off x="7607290" y="4071849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2A070BAE-69D6-C329-A93C-1D48C495B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7290" y="4071849"/>
                <a:ext cx="44080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2934532D-A251-00D7-0E8C-FA79DA2FC85C}"/>
                  </a:ext>
                </a:extLst>
              </p:cNvPr>
              <p:cNvSpPr txBox="1"/>
              <p:nvPr/>
            </p:nvSpPr>
            <p:spPr>
              <a:xfrm>
                <a:off x="7601536" y="4814406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2934532D-A251-00D7-0E8C-FA79DA2FC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1536" y="4814406"/>
                <a:ext cx="440802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流程图: 接点 50">
            <a:extLst>
              <a:ext uri="{FF2B5EF4-FFF2-40B4-BE49-F238E27FC236}">
                <a16:creationId xmlns:a16="http://schemas.microsoft.com/office/drawing/2014/main" id="{596390DE-02BA-A89C-055F-7C77ACF6A97C}"/>
              </a:ext>
            </a:extLst>
          </p:cNvPr>
          <p:cNvSpPr/>
          <p:nvPr/>
        </p:nvSpPr>
        <p:spPr>
          <a:xfrm>
            <a:off x="9548409" y="4999072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流程图: 接点 51">
            <a:extLst>
              <a:ext uri="{FF2B5EF4-FFF2-40B4-BE49-F238E27FC236}">
                <a16:creationId xmlns:a16="http://schemas.microsoft.com/office/drawing/2014/main" id="{D97D52C9-7F15-DE58-FB99-66DF9D979479}"/>
              </a:ext>
            </a:extLst>
          </p:cNvPr>
          <p:cNvSpPr/>
          <p:nvPr/>
        </p:nvSpPr>
        <p:spPr>
          <a:xfrm>
            <a:off x="9548409" y="3320700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9F40390F-EE28-E39E-2086-8DB745BEE8CC}"/>
              </a:ext>
            </a:extLst>
          </p:cNvPr>
          <p:cNvCxnSpPr>
            <a:cxnSpLocks/>
            <a:stCxn id="42" idx="7"/>
          </p:cNvCxnSpPr>
          <p:nvPr/>
        </p:nvCxnSpPr>
        <p:spPr>
          <a:xfrm flipV="1">
            <a:off x="8182076" y="3130864"/>
            <a:ext cx="651244" cy="236374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897B8EB6-B246-7B7B-2419-500BF6552482}"/>
              </a:ext>
            </a:extLst>
          </p:cNvPr>
          <p:cNvCxnSpPr>
            <a:cxnSpLocks/>
            <a:endCxn id="52" idx="1"/>
          </p:cNvCxnSpPr>
          <p:nvPr/>
        </p:nvCxnSpPr>
        <p:spPr>
          <a:xfrm>
            <a:off x="8833320" y="3123398"/>
            <a:ext cx="735725" cy="21664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6BDCD7B5-8DF5-F16A-6819-3367AD19B51D}"/>
              </a:ext>
            </a:extLst>
          </p:cNvPr>
          <p:cNvCxnSpPr>
            <a:cxnSpLocks/>
            <a:stCxn id="42" idx="6"/>
            <a:endCxn id="52" idx="2"/>
          </p:cNvCxnSpPr>
          <p:nvPr/>
        </p:nvCxnSpPr>
        <p:spPr>
          <a:xfrm flipV="1">
            <a:off x="8202712" y="3386740"/>
            <a:ext cx="1345697" cy="2719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7DE363CB-A0C8-7CE3-45D6-B99BCA56214E}"/>
              </a:ext>
            </a:extLst>
          </p:cNvPr>
          <p:cNvCxnSpPr>
            <a:cxnSpLocks/>
            <a:stCxn id="52" idx="4"/>
            <a:endCxn id="51" idx="0"/>
          </p:cNvCxnSpPr>
          <p:nvPr/>
        </p:nvCxnSpPr>
        <p:spPr>
          <a:xfrm>
            <a:off x="9618865" y="3452780"/>
            <a:ext cx="0" cy="1546292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7829793E-0D77-A26C-9354-528A215A200A}"/>
              </a:ext>
            </a:extLst>
          </p:cNvPr>
          <p:cNvCxnSpPr>
            <a:cxnSpLocks/>
            <a:stCxn id="44" idx="6"/>
            <a:endCxn id="51" idx="2"/>
          </p:cNvCxnSpPr>
          <p:nvPr/>
        </p:nvCxnSpPr>
        <p:spPr>
          <a:xfrm>
            <a:off x="8218478" y="5065112"/>
            <a:ext cx="1329931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52232634-E241-6571-F1BC-FB1184F49FB5}"/>
                  </a:ext>
                </a:extLst>
              </p:cNvPr>
              <p:cNvSpPr txBox="1"/>
              <p:nvPr/>
            </p:nvSpPr>
            <p:spPr>
              <a:xfrm>
                <a:off x="8641438" y="3487484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52232634-E241-6571-F1BC-FB1184F49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1438" y="3487484"/>
                <a:ext cx="440802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6A3FE0FF-B055-4812-5719-E2CE6E3BC2A4}"/>
                  </a:ext>
                </a:extLst>
              </p:cNvPr>
              <p:cNvSpPr txBox="1"/>
              <p:nvPr/>
            </p:nvSpPr>
            <p:spPr>
              <a:xfrm>
                <a:off x="9639836" y="4814406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6A3FE0FF-B055-4812-5719-E2CE6E3BC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9836" y="4814406"/>
                <a:ext cx="440802" cy="369332"/>
              </a:xfrm>
              <a:prstGeom prst="rect">
                <a:avLst/>
              </a:prstGeom>
              <a:blipFill>
                <a:blip r:embed="rId1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B02A9EE7-46DB-8CA9-B795-FF99511438BB}"/>
                  </a:ext>
                </a:extLst>
              </p:cNvPr>
              <p:cNvSpPr txBox="1"/>
              <p:nvPr/>
            </p:nvSpPr>
            <p:spPr>
              <a:xfrm>
                <a:off x="9618865" y="3215671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B02A9EE7-46DB-8CA9-B795-FF9951143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8865" y="3215671"/>
                <a:ext cx="440802" cy="369332"/>
              </a:xfrm>
              <a:prstGeom prst="rect">
                <a:avLst/>
              </a:prstGeom>
              <a:blipFill>
                <a:blip r:embed="rId1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流程图: 接点 65">
            <a:extLst>
              <a:ext uri="{FF2B5EF4-FFF2-40B4-BE49-F238E27FC236}">
                <a16:creationId xmlns:a16="http://schemas.microsoft.com/office/drawing/2014/main" id="{F7E43A4D-F1B6-739E-073E-56B33AC916C6}"/>
              </a:ext>
            </a:extLst>
          </p:cNvPr>
          <p:cNvSpPr/>
          <p:nvPr/>
        </p:nvSpPr>
        <p:spPr>
          <a:xfrm>
            <a:off x="8791383" y="3336466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流程图: 接点 67">
            <a:extLst>
              <a:ext uri="{FF2B5EF4-FFF2-40B4-BE49-F238E27FC236}">
                <a16:creationId xmlns:a16="http://schemas.microsoft.com/office/drawing/2014/main" id="{272D355D-E8E9-BDD2-4849-91961DD72D9E}"/>
              </a:ext>
            </a:extLst>
          </p:cNvPr>
          <p:cNvSpPr/>
          <p:nvPr/>
        </p:nvSpPr>
        <p:spPr>
          <a:xfrm>
            <a:off x="9545695" y="4190475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072CFB2C-B6B5-C0C4-B2F9-5D196994DC6B}"/>
                  </a:ext>
                </a:extLst>
              </p:cNvPr>
              <p:cNvSpPr txBox="1"/>
              <p:nvPr/>
            </p:nvSpPr>
            <p:spPr>
              <a:xfrm>
                <a:off x="9715415" y="4071849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072CFB2C-B6B5-C0C4-B2F9-5D196994D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415" y="4071849"/>
                <a:ext cx="440802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823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08842" y="1094042"/>
                <a:ext cx="10774316" cy="2616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1"/>
                <a:r>
                  <a:rPr lang="zh-CN" altLang="en-US" sz="3200" dirty="0"/>
                  <a:t>收缩：删除边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200" b="0" i="0" dirty="0">
                    <a:solidFill>
                      <a:srgbClr val="191B1F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用新的顶点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191B1F"/>
                        </a:solidFill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𝑤</m:t>
                    </m:r>
                    <m:r>
                      <a:rPr lang="zh-CN" altLang="en-US" sz="3200" i="1">
                        <a:solidFill>
                          <a:srgbClr val="191B1F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（</m:t>
                    </m:r>
                    <m:r>
                      <a:rPr lang="zh-CN" altLang="en-US" sz="3200" i="1" smtClean="0">
                        <a:solidFill>
                          <a:srgbClr val="191B1F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可以</m:t>
                    </m:r>
                  </m:oMath>
                </a14:m>
                <a:r>
                  <a:rPr lang="zh-CN" altLang="en-US" sz="3200" b="0" i="0" dirty="0">
                    <a:solidFill>
                      <a:srgbClr val="191B1F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用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191B1F"/>
                        </a:solidFill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CN" altLang="en-US" sz="3200" i="1" dirty="0">
                        <a:solidFill>
                          <a:srgbClr val="191B1F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或</m:t>
                    </m:r>
                    <m:r>
                      <a:rPr lang="en-US" altLang="zh-CN" sz="3200" b="0" i="1" dirty="0" smtClean="0">
                        <a:solidFill>
                          <a:srgbClr val="191B1F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 sz="3200" i="1" dirty="0">
                        <a:solidFill>
                          <a:srgbClr val="191B1F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充当</m:t>
                    </m:r>
                    <m:r>
                      <a:rPr lang="en-US" altLang="zh-CN" sz="3200" b="0" i="1" dirty="0" smtClean="0">
                        <a:solidFill>
                          <a:srgbClr val="191B1F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3200" b="0" i="0" dirty="0">
                    <a:solidFill>
                      <a:srgbClr val="191B1F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）取代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191B1F"/>
                        </a:solidFill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3200" b="0" i="1" smtClean="0">
                        <a:solidFill>
                          <a:srgbClr val="191B1F"/>
                        </a:solidFill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solidFill>
                          <a:srgbClr val="191B1F"/>
                        </a:solidFill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 sz="3200" i="1">
                        <a:solidFill>
                          <a:srgbClr val="191B1F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200" b="0" i="0" dirty="0">
                    <a:solidFill>
                      <a:srgbClr val="191B1F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并使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191B1F"/>
                        </a:solidFill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𝑤</m:t>
                    </m:r>
                    <m:r>
                      <a:rPr lang="zh-CN" altLang="en-US" sz="3200" i="1">
                        <a:solidFill>
                          <a:srgbClr val="191B1F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和</m:t>
                    </m:r>
                    <m:r>
                      <a:rPr lang="en-US" altLang="zh-CN" sz="3200" b="0" i="1" smtClean="0">
                        <a:solidFill>
                          <a:srgbClr val="191B1F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solidFill>
                          <a:srgbClr val="191B1F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3200" b="0" i="1" smtClean="0">
                        <a:solidFill>
                          <a:srgbClr val="191B1F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solidFill>
                          <a:srgbClr val="191B1F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3200" b="0" i="1" smtClean="0">
                        <a:solidFill>
                          <a:srgbClr val="191B1F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3200" i="1">
                        <a:solidFill>
                          <a:srgbClr val="191B1F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外</m:t>
                    </m:r>
                  </m:oMath>
                </a14:m>
                <a:r>
                  <a:rPr lang="zh-CN" altLang="en-US" sz="3200" b="0" i="0" dirty="0">
                    <a:solidFill>
                      <a:srgbClr val="191B1F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所有与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191B1F"/>
                        </a:solidFill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solidFill>
                          <a:srgbClr val="191B1F"/>
                        </a:solidFill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3200" b="0" i="1" smtClean="0">
                        <a:solidFill>
                          <a:srgbClr val="191B1F"/>
                        </a:solidFill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solidFill>
                          <a:srgbClr val="191B1F"/>
                        </a:solidFill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3200" b="0" i="1" smtClean="0">
                        <a:solidFill>
                          <a:srgbClr val="191B1F"/>
                        </a:solidFill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3200" i="1">
                        <a:solidFill>
                          <a:srgbClr val="191B1F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关联</m:t>
                    </m:r>
                  </m:oMath>
                </a14:m>
                <a:r>
                  <a:rPr lang="zh-CN" altLang="en-US" sz="3200" b="0" i="0" dirty="0">
                    <a:solidFill>
                      <a:srgbClr val="191B1F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的边关联，称这个变换为</a:t>
                </a:r>
                <a:r>
                  <a:rPr lang="zh-CN" altLang="en-US" sz="3200" b="1" i="0" dirty="0">
                    <a:solidFill>
                      <a:srgbClr val="FF0000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收缩边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191B1F"/>
                        </a:solidFill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solidFill>
                          <a:srgbClr val="191B1F"/>
                        </a:solidFill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3200" b="0" i="1" smtClean="0">
                        <a:solidFill>
                          <a:srgbClr val="191B1F"/>
                        </a:solidFill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solidFill>
                          <a:srgbClr val="191B1F"/>
                        </a:solidFill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3200" b="0" i="1" smtClean="0">
                        <a:solidFill>
                          <a:srgbClr val="191B1F"/>
                        </a:solidFill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b="0" i="0" dirty="0">
                  <a:solidFill>
                    <a:srgbClr val="191B1F"/>
                  </a:solidFill>
                  <a:effectLst/>
                  <a:highlight>
                    <a:srgbClr val="FFFFFF"/>
                  </a:highlight>
                  <a:latin typeface="-apple-system"/>
                </a:endParaRPr>
              </a:p>
              <a:p>
                <a:r>
                  <a:rPr lang="zh-CN" altLang="en-US" sz="36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3600" b="1" dirty="0">
                    <a:solidFill>
                      <a:schemeClr val="accent5"/>
                    </a:solidFill>
                  </a:rPr>
                  <a:t>6.10</a:t>
                </a:r>
                <a:r>
                  <a:rPr lang="zh-CN" altLang="en-US" sz="36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olidFill>
                      <a:srgbClr val="191B1F"/>
                    </a:solidFill>
                    <a:highlight>
                      <a:srgbClr val="FFFFFF"/>
                    </a:highlight>
                    <a:latin typeface="-apple-system"/>
                    <a:sym typeface="Wingdings" panose="05000000000000000000" pitchFamily="2" charset="2"/>
                  </a:rPr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rgbClr val="191B1F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>
                            <a:solidFill>
                              <a:srgbClr val="191B1F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  <m:sub>
                        <m:r>
                          <a:rPr lang="en-US" altLang="zh-CN" sz="3200">
                            <a:solidFill>
                              <a:srgbClr val="191B1F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zh-CN" altLang="en-US" sz="3200">
                        <a:solidFill>
                          <a:srgbClr val="191B1F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可以</m:t>
                    </m:r>
                  </m:oMath>
                </a14:m>
                <a:r>
                  <a:rPr lang="zh-CN" altLang="en-US" sz="3200" b="0" i="0" dirty="0">
                    <a:solidFill>
                      <a:srgbClr val="191B1F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通过若干次收缩边得到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191B1F"/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191B1F"/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191B1F"/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3200" i="1">
                        <a:solidFill>
                          <a:srgbClr val="191B1F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200" b="0" i="0" dirty="0">
                    <a:solidFill>
                      <a:srgbClr val="191B1F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则称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191B1F"/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191B1F"/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191B1F"/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3200" i="1">
                        <a:solidFill>
                          <a:srgbClr val="191B1F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可</m:t>
                    </m:r>
                  </m:oMath>
                </a14:m>
                <a:r>
                  <a:rPr lang="zh-CN" altLang="en-US" sz="3200" b="0" i="0" dirty="0">
                    <a:solidFill>
                      <a:srgbClr val="191B1F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收缩到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rgbClr val="191B1F"/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191B1F"/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rgbClr val="191B1F"/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200" b="0" i="0" dirty="0">
                    <a:solidFill>
                      <a:srgbClr val="191B1F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。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842" y="1094042"/>
                <a:ext cx="10774316" cy="2616101"/>
              </a:xfrm>
              <a:prstGeom prst="rect">
                <a:avLst/>
              </a:prstGeom>
              <a:blipFill>
                <a:blip r:embed="rId3"/>
                <a:stretch>
                  <a:fillRect l="-1697" t="-3023" r="-5204" b="-65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流程图: 接点 1">
            <a:extLst>
              <a:ext uri="{FF2B5EF4-FFF2-40B4-BE49-F238E27FC236}">
                <a16:creationId xmlns:a16="http://schemas.microsoft.com/office/drawing/2014/main" id="{6E1B5505-FCF9-5FC3-CAB4-7C28F0C56FBA}"/>
              </a:ext>
            </a:extLst>
          </p:cNvPr>
          <p:cNvSpPr/>
          <p:nvPr/>
        </p:nvSpPr>
        <p:spPr>
          <a:xfrm>
            <a:off x="2762347" y="5911545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流程图: 接点 4">
            <a:extLst>
              <a:ext uri="{FF2B5EF4-FFF2-40B4-BE49-F238E27FC236}">
                <a16:creationId xmlns:a16="http://schemas.microsoft.com/office/drawing/2014/main" id="{9BB646FC-F76A-8599-3890-A8DACABCBF8E}"/>
              </a:ext>
            </a:extLst>
          </p:cNvPr>
          <p:cNvSpPr/>
          <p:nvPr/>
        </p:nvSpPr>
        <p:spPr>
          <a:xfrm>
            <a:off x="1759982" y="5054952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流程图: 接点 5">
            <a:extLst>
              <a:ext uri="{FF2B5EF4-FFF2-40B4-BE49-F238E27FC236}">
                <a16:creationId xmlns:a16="http://schemas.microsoft.com/office/drawing/2014/main" id="{2ED5263A-793E-F448-D977-C212663EF86F}"/>
              </a:ext>
            </a:extLst>
          </p:cNvPr>
          <p:cNvSpPr/>
          <p:nvPr/>
        </p:nvSpPr>
        <p:spPr>
          <a:xfrm>
            <a:off x="2762347" y="4316507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接点 6">
            <a:extLst>
              <a:ext uri="{FF2B5EF4-FFF2-40B4-BE49-F238E27FC236}">
                <a16:creationId xmlns:a16="http://schemas.microsoft.com/office/drawing/2014/main" id="{EA48B927-75BE-4EFF-AF21-4C9241EB526A}"/>
              </a:ext>
            </a:extLst>
          </p:cNvPr>
          <p:cNvSpPr/>
          <p:nvPr/>
        </p:nvSpPr>
        <p:spPr>
          <a:xfrm>
            <a:off x="3837030" y="5054952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FB2842D-0CD5-5D96-ECC5-BD1E5F35E362}"/>
              </a:ext>
            </a:extLst>
          </p:cNvPr>
          <p:cNvCxnSpPr>
            <a:cxnSpLocks/>
            <a:stCxn id="5" idx="7"/>
            <a:endCxn id="6" idx="3"/>
          </p:cNvCxnSpPr>
          <p:nvPr/>
        </p:nvCxnSpPr>
        <p:spPr>
          <a:xfrm flipV="1">
            <a:off x="1880258" y="4429244"/>
            <a:ext cx="902725" cy="64505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2213C60-6DA3-908D-B3E6-56AA8690B9F6}"/>
              </a:ext>
            </a:extLst>
          </p:cNvPr>
          <p:cNvCxnSpPr>
            <a:cxnSpLocks/>
            <a:stCxn id="5" idx="5"/>
            <a:endCxn id="2" idx="1"/>
          </p:cNvCxnSpPr>
          <p:nvPr/>
        </p:nvCxnSpPr>
        <p:spPr>
          <a:xfrm>
            <a:off x="1880258" y="5167689"/>
            <a:ext cx="902725" cy="763199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6614BFA-55F7-8972-0B07-C582F36E23CD}"/>
              </a:ext>
            </a:extLst>
          </p:cNvPr>
          <p:cNvCxnSpPr>
            <a:cxnSpLocks/>
            <a:stCxn id="2" idx="7"/>
            <a:endCxn id="7" idx="3"/>
          </p:cNvCxnSpPr>
          <p:nvPr/>
        </p:nvCxnSpPr>
        <p:spPr>
          <a:xfrm flipV="1">
            <a:off x="2882623" y="5167689"/>
            <a:ext cx="975043" cy="763199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BD306A7-7CCB-E1FF-ECA8-4D28E2122683}"/>
              </a:ext>
            </a:extLst>
          </p:cNvPr>
          <p:cNvCxnSpPr>
            <a:cxnSpLocks/>
            <a:stCxn id="6" idx="5"/>
            <a:endCxn id="7" idx="1"/>
          </p:cNvCxnSpPr>
          <p:nvPr/>
        </p:nvCxnSpPr>
        <p:spPr>
          <a:xfrm>
            <a:off x="2882623" y="4429244"/>
            <a:ext cx="975043" cy="64505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A5838A9-D1B5-58D6-8EF5-BD2A7C09028F}"/>
              </a:ext>
            </a:extLst>
          </p:cNvPr>
          <p:cNvCxnSpPr>
            <a:cxnSpLocks/>
            <a:stCxn id="6" idx="4"/>
            <a:endCxn id="2" idx="0"/>
          </p:cNvCxnSpPr>
          <p:nvPr/>
        </p:nvCxnSpPr>
        <p:spPr>
          <a:xfrm>
            <a:off x="2832803" y="4448587"/>
            <a:ext cx="0" cy="1462958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77D85D39-8663-469E-588E-A8B57B47D17D}"/>
                  </a:ext>
                </a:extLst>
              </p:cNvPr>
              <p:cNvSpPr txBox="1"/>
              <p:nvPr/>
            </p:nvSpPr>
            <p:spPr>
              <a:xfrm>
                <a:off x="2612402" y="3899890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77D85D39-8663-469E-588E-A8B57B47D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402" y="3899890"/>
                <a:ext cx="44080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2FCF38B-6823-4EE4-A721-620D9AB1C974}"/>
                  </a:ext>
                </a:extLst>
              </p:cNvPr>
              <p:cNvSpPr txBox="1"/>
              <p:nvPr/>
            </p:nvSpPr>
            <p:spPr>
              <a:xfrm>
                <a:off x="1269360" y="4870286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2FCF38B-6823-4EE4-A721-620D9AB1C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0" y="4870286"/>
                <a:ext cx="44080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DAC6B1B-CE57-CB9F-D822-99E4BB62550D}"/>
                  </a:ext>
                </a:extLst>
              </p:cNvPr>
              <p:cNvSpPr txBox="1"/>
              <p:nvPr/>
            </p:nvSpPr>
            <p:spPr>
              <a:xfrm>
                <a:off x="4078250" y="4889629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DAC6B1B-CE57-CB9F-D822-99E4BB625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250" y="4889629"/>
                <a:ext cx="44080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79B2E0CD-7A88-51F6-4B83-E37884FEB4D9}"/>
                  </a:ext>
                </a:extLst>
              </p:cNvPr>
              <p:cNvSpPr txBox="1"/>
              <p:nvPr/>
            </p:nvSpPr>
            <p:spPr>
              <a:xfrm>
                <a:off x="2612402" y="6024282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79B2E0CD-7A88-51F6-4B83-E37884FEB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402" y="6024282"/>
                <a:ext cx="44080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流程图: 接点 27">
            <a:extLst>
              <a:ext uri="{FF2B5EF4-FFF2-40B4-BE49-F238E27FC236}">
                <a16:creationId xmlns:a16="http://schemas.microsoft.com/office/drawing/2014/main" id="{87621D34-8E65-B9A5-EB81-5517682703E8}"/>
              </a:ext>
            </a:extLst>
          </p:cNvPr>
          <p:cNvSpPr/>
          <p:nvPr/>
        </p:nvSpPr>
        <p:spPr>
          <a:xfrm>
            <a:off x="9154914" y="5952620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流程图: 接点 28">
            <a:extLst>
              <a:ext uri="{FF2B5EF4-FFF2-40B4-BE49-F238E27FC236}">
                <a16:creationId xmlns:a16="http://schemas.microsoft.com/office/drawing/2014/main" id="{3BB20934-0FCD-EFA5-AA21-F359EBF7F098}"/>
              </a:ext>
            </a:extLst>
          </p:cNvPr>
          <p:cNvSpPr/>
          <p:nvPr/>
        </p:nvSpPr>
        <p:spPr>
          <a:xfrm>
            <a:off x="8152549" y="5096027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流程图: 接点 29">
            <a:extLst>
              <a:ext uri="{FF2B5EF4-FFF2-40B4-BE49-F238E27FC236}">
                <a16:creationId xmlns:a16="http://schemas.microsoft.com/office/drawing/2014/main" id="{ED587972-EE50-1001-BA6D-3A261D93A7F1}"/>
              </a:ext>
            </a:extLst>
          </p:cNvPr>
          <p:cNvSpPr/>
          <p:nvPr/>
        </p:nvSpPr>
        <p:spPr>
          <a:xfrm>
            <a:off x="9154914" y="4357582"/>
            <a:ext cx="140912" cy="1320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2350DE7-3982-456A-5C0A-59D2D749866E}"/>
              </a:ext>
            </a:extLst>
          </p:cNvPr>
          <p:cNvCxnSpPr>
            <a:cxnSpLocks/>
            <a:stCxn id="29" idx="7"/>
            <a:endCxn id="30" idx="3"/>
          </p:cNvCxnSpPr>
          <p:nvPr/>
        </p:nvCxnSpPr>
        <p:spPr>
          <a:xfrm flipV="1">
            <a:off x="8272825" y="4470319"/>
            <a:ext cx="902725" cy="64505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95E791E3-B205-F01D-B29C-AD683FAE296A}"/>
              </a:ext>
            </a:extLst>
          </p:cNvPr>
          <p:cNvCxnSpPr>
            <a:cxnSpLocks/>
            <a:stCxn id="29" idx="5"/>
            <a:endCxn id="28" idx="1"/>
          </p:cNvCxnSpPr>
          <p:nvPr/>
        </p:nvCxnSpPr>
        <p:spPr>
          <a:xfrm>
            <a:off x="8272825" y="5208764"/>
            <a:ext cx="902725" cy="763199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48D23980-6AD1-F973-E399-BF09A67E6951}"/>
              </a:ext>
            </a:extLst>
          </p:cNvPr>
          <p:cNvCxnSpPr>
            <a:cxnSpLocks/>
            <a:stCxn id="28" idx="7"/>
          </p:cNvCxnSpPr>
          <p:nvPr/>
        </p:nvCxnSpPr>
        <p:spPr>
          <a:xfrm flipV="1">
            <a:off x="9275190" y="5147547"/>
            <a:ext cx="389072" cy="824416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BAB01539-F5E4-61D7-D937-E4C5F224AEE6}"/>
              </a:ext>
            </a:extLst>
          </p:cNvPr>
          <p:cNvCxnSpPr>
            <a:cxnSpLocks/>
            <a:stCxn id="30" idx="5"/>
          </p:cNvCxnSpPr>
          <p:nvPr/>
        </p:nvCxnSpPr>
        <p:spPr>
          <a:xfrm>
            <a:off x="9275190" y="4470319"/>
            <a:ext cx="389072" cy="69737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31352D1B-C543-6731-32E7-89A40D9EA86B}"/>
              </a:ext>
            </a:extLst>
          </p:cNvPr>
          <p:cNvCxnSpPr>
            <a:cxnSpLocks/>
            <a:stCxn id="30" idx="4"/>
            <a:endCxn id="28" idx="0"/>
          </p:cNvCxnSpPr>
          <p:nvPr/>
        </p:nvCxnSpPr>
        <p:spPr>
          <a:xfrm>
            <a:off x="9225370" y="4489662"/>
            <a:ext cx="0" cy="1462958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550E9973-99EB-94D1-F4C3-00895A74E077}"/>
                  </a:ext>
                </a:extLst>
              </p:cNvPr>
              <p:cNvSpPr txBox="1"/>
              <p:nvPr/>
            </p:nvSpPr>
            <p:spPr>
              <a:xfrm>
                <a:off x="9004969" y="3940965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550E9973-99EB-94D1-F4C3-00895A74E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4969" y="3940965"/>
                <a:ext cx="440802" cy="369332"/>
              </a:xfrm>
              <a:prstGeom prst="rect">
                <a:avLst/>
              </a:prstGeom>
              <a:blipFill>
                <a:blip r:embed="rId8"/>
                <a:stretch>
                  <a:fillRect r="-904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89583846-47DF-245E-F06B-B99D25B2B801}"/>
                  </a:ext>
                </a:extLst>
              </p:cNvPr>
              <p:cNvSpPr txBox="1"/>
              <p:nvPr/>
            </p:nvSpPr>
            <p:spPr>
              <a:xfrm>
                <a:off x="7661927" y="4911361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89583846-47DF-245E-F06B-B99D25B2B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927" y="4911361"/>
                <a:ext cx="44080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BE913A5E-E759-3ECA-138B-956235B7664C}"/>
                  </a:ext>
                </a:extLst>
              </p:cNvPr>
              <p:cNvSpPr txBox="1"/>
              <p:nvPr/>
            </p:nvSpPr>
            <p:spPr>
              <a:xfrm>
                <a:off x="9004969" y="6065357"/>
                <a:ext cx="4408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BE913A5E-E759-3ECA-138B-956235B76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4969" y="6065357"/>
                <a:ext cx="44080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92769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库拉图斯基定理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048169"/>
                <a:ext cx="10691446" cy="3807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6.13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一个图是平面图当且仅当它不含与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𝐾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胚的子图，也不含与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𝐾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3,3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同胚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的子图。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6.14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一个图是平面图当且仅当它没有可收缩到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𝐾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子图，也没有可收缩到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𝐾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3,3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子图。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48169"/>
                <a:ext cx="10691446" cy="3807261"/>
              </a:xfrm>
              <a:prstGeom prst="rect">
                <a:avLst/>
              </a:prstGeom>
              <a:blipFill>
                <a:blip r:embed="rId3"/>
                <a:stretch>
                  <a:fillRect l="-1995" t="-28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18697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048169"/>
                <a:ext cx="10691446" cy="17143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6.10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一个图是平面图当且仅当它不含与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𝐾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胚的子图，也不含与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𝐾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3,3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同胚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的子图。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48169"/>
                <a:ext cx="10691446" cy="1714380"/>
              </a:xfrm>
              <a:prstGeom prst="rect">
                <a:avLst/>
              </a:prstGeom>
              <a:blipFill>
                <a:blip r:embed="rId3"/>
                <a:stretch>
                  <a:fillRect l="-1995" t="-6406" b="-99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24841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地图着色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55FDE8-AB67-5CC4-BF9C-432DFCB257A3}"/>
              </a:ext>
            </a:extLst>
          </p:cNvPr>
          <p:cNvSpPr txBox="1"/>
          <p:nvPr/>
        </p:nvSpPr>
        <p:spPr>
          <a:xfrm>
            <a:off x="708842" y="1094042"/>
            <a:ext cx="10774316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zh-CN" altLang="en-US" sz="3200" dirty="0"/>
              <a:t>在历史上，着色问题起源于地图着色。地图是连通无桥平面图的平面嵌入，每个面是一个国家。若两个国家有公共的边界，则称这两个国家是相邻的。对地图的每个国家涂上一种颜色，使相邻国家涂不同的颜色，称为地图着色。</a:t>
            </a:r>
            <a:endParaRPr lang="en-US" altLang="zh-CN" sz="3200" dirty="0"/>
          </a:p>
          <a:p>
            <a:pPr latinLnBrk="1"/>
            <a:endParaRPr lang="en-US" altLang="zh-CN" sz="3200" dirty="0"/>
          </a:p>
          <a:p>
            <a:r>
              <a:rPr lang="zh-CN" altLang="en-US" sz="4000" b="1" dirty="0">
                <a:solidFill>
                  <a:schemeClr val="accent5"/>
                </a:solidFill>
              </a:rPr>
              <a:t>定理</a:t>
            </a:r>
            <a:r>
              <a:rPr lang="en-US" altLang="zh-CN" sz="4000" b="1" dirty="0">
                <a:solidFill>
                  <a:schemeClr val="accent5"/>
                </a:solidFill>
              </a:rPr>
              <a:t>6.15</a:t>
            </a:r>
            <a:r>
              <a:rPr lang="zh-CN" altLang="en-US" sz="4000" b="1" dirty="0">
                <a:solidFill>
                  <a:schemeClr val="accent5"/>
                </a:solidFill>
              </a:rPr>
              <a:t>（四色定理）：</a:t>
            </a:r>
          </a:p>
          <a:p>
            <a:r>
              <a:rPr lang="zh-CN" altLang="en-US" sz="3200" dirty="0">
                <a:sym typeface="Wingdings" panose="05000000000000000000" pitchFamily="2" charset="2"/>
              </a:rPr>
              <a:t>任何平面图都是</a:t>
            </a:r>
            <a:r>
              <a:rPr lang="en-US" altLang="zh-CN" sz="3200" dirty="0">
                <a:sym typeface="Wingdings" panose="05000000000000000000" pitchFamily="2" charset="2"/>
              </a:rPr>
              <a:t>4-</a:t>
            </a:r>
            <a:r>
              <a:rPr lang="zh-CN" altLang="en-US" sz="3200" dirty="0">
                <a:sym typeface="Wingdings" panose="05000000000000000000" pitchFamily="2" charset="2"/>
              </a:rPr>
              <a:t>可着色的。</a:t>
            </a:r>
            <a:endParaRPr lang="en-US" altLang="zh-CN" sz="3200" dirty="0"/>
          </a:p>
          <a:p>
            <a:pPr latinLnBrk="1"/>
            <a:endParaRPr lang="en-US" altLang="zh-CN" sz="3200" b="0" i="0" dirty="0">
              <a:solidFill>
                <a:srgbClr val="191B1F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pPr latinLnBrk="1"/>
            <a:endParaRPr lang="en-US" altLang="zh-CN" sz="3200" b="0" i="0" dirty="0">
              <a:solidFill>
                <a:srgbClr val="191B1F"/>
              </a:solidFill>
              <a:effectLst/>
              <a:highlight>
                <a:srgbClr val="FFFFFF"/>
              </a:highlight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9825060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无向树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55FDE8-AB67-5CC4-BF9C-432DFCB257A3}"/>
              </a:ext>
            </a:extLst>
          </p:cNvPr>
          <p:cNvSpPr txBox="1"/>
          <p:nvPr/>
        </p:nvSpPr>
        <p:spPr>
          <a:xfrm>
            <a:off x="708842" y="1094042"/>
            <a:ext cx="10774316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5"/>
                </a:solidFill>
              </a:rPr>
              <a:t>定义</a:t>
            </a:r>
            <a:r>
              <a:rPr lang="en-US" altLang="zh-CN" sz="4000" b="1" dirty="0">
                <a:solidFill>
                  <a:schemeClr val="accent5"/>
                </a:solidFill>
              </a:rPr>
              <a:t>7.1</a:t>
            </a:r>
            <a:r>
              <a:rPr lang="zh-CN" altLang="en-US" sz="4000" b="1" dirty="0">
                <a:solidFill>
                  <a:schemeClr val="accent5"/>
                </a:solidFill>
              </a:rPr>
              <a:t>：</a:t>
            </a:r>
          </a:p>
          <a:p>
            <a:r>
              <a:rPr lang="zh-CN" altLang="en-US" sz="3200" dirty="0">
                <a:sym typeface="Wingdings" panose="05000000000000000000" pitchFamily="2" charset="2"/>
              </a:rPr>
              <a:t>不含回路的连通无向图称为</a:t>
            </a:r>
            <a:r>
              <a:rPr lang="zh-CN" altLang="en-US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无向树</a:t>
            </a:r>
            <a:r>
              <a:rPr lang="zh-CN" altLang="en-US" sz="3200" dirty="0">
                <a:sym typeface="Wingdings" panose="05000000000000000000" pitchFamily="2" charset="2"/>
              </a:rPr>
              <a:t>，简称</a:t>
            </a:r>
            <a:r>
              <a:rPr lang="zh-CN" altLang="en-US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树</a:t>
            </a:r>
            <a:r>
              <a:rPr lang="zh-CN" altLang="en-US" sz="3200" dirty="0">
                <a:sym typeface="Wingdings" panose="05000000000000000000" pitchFamily="2" charset="2"/>
              </a:rPr>
              <a:t>。每个连通分支均是无向图称为</a:t>
            </a:r>
            <a:r>
              <a:rPr lang="zh-CN" altLang="en-US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森林</a:t>
            </a:r>
            <a:r>
              <a:rPr lang="zh-CN" altLang="en-US" sz="3200" dirty="0">
                <a:sym typeface="Wingdings" panose="05000000000000000000" pitchFamily="2" charset="2"/>
              </a:rPr>
              <a:t>。平凡图称为</a:t>
            </a:r>
            <a:r>
              <a:rPr lang="zh-CN" altLang="en-US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平凡树</a:t>
            </a:r>
            <a:r>
              <a:rPr lang="zh-CN" altLang="en-US" sz="3200" dirty="0">
                <a:sym typeface="Wingdings" panose="05000000000000000000" pitchFamily="2" charset="2"/>
              </a:rPr>
              <a:t>。树中度数为</a:t>
            </a:r>
            <a:r>
              <a:rPr lang="en-US" altLang="zh-CN" sz="3200" dirty="0">
                <a:sym typeface="Wingdings" panose="05000000000000000000" pitchFamily="2" charset="2"/>
              </a:rPr>
              <a:t>1</a:t>
            </a:r>
            <a:r>
              <a:rPr lang="zh-CN" altLang="en-US" sz="3200" dirty="0">
                <a:sym typeface="Wingdings" panose="05000000000000000000" pitchFamily="2" charset="2"/>
              </a:rPr>
              <a:t>的顶点称为</a:t>
            </a:r>
            <a:r>
              <a:rPr lang="zh-CN" altLang="en-US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树叶</a:t>
            </a:r>
            <a:r>
              <a:rPr lang="zh-CN" altLang="en-US" sz="3200" dirty="0">
                <a:sym typeface="Wingdings" panose="05000000000000000000" pitchFamily="2" charset="2"/>
              </a:rPr>
              <a:t>，度数大于或等于</a:t>
            </a:r>
            <a:r>
              <a:rPr lang="en-US" altLang="zh-CN" sz="3200" dirty="0">
                <a:sym typeface="Wingdings" panose="05000000000000000000" pitchFamily="2" charset="2"/>
              </a:rPr>
              <a:t>2</a:t>
            </a:r>
            <a:r>
              <a:rPr lang="zh-CN" altLang="en-US" sz="3200" dirty="0">
                <a:sym typeface="Wingdings" panose="05000000000000000000" pitchFamily="2" charset="2"/>
              </a:rPr>
              <a:t>的顶点称为</a:t>
            </a:r>
            <a:r>
              <a:rPr lang="zh-CN" altLang="en-US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分支点</a:t>
            </a:r>
            <a:r>
              <a:rPr lang="zh-CN" altLang="en-US" sz="3200" dirty="0">
                <a:sym typeface="Wingdings" panose="05000000000000000000" pitchFamily="2" charset="2"/>
              </a:rPr>
              <a:t>。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25906021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17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190294-A09C-EFF5-F0BC-1CBC5147E758}"/>
                  </a:ext>
                </a:extLst>
              </p:cNvPr>
              <p:cNvSpPr txBox="1"/>
              <p:nvPr/>
            </p:nvSpPr>
            <p:spPr>
              <a:xfrm>
                <a:off x="593531" y="906500"/>
                <a:ext cx="11004937" cy="4647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7.1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/>
                  <a:t>则下面各命题是等价的：</a:t>
                </a:r>
                <a:endParaRPr lang="en-US" altLang="zh-CN" sz="3200" dirty="0"/>
              </a:p>
              <a:p>
                <a:r>
                  <a:rPr lang="zh-CN" altLang="en-US" sz="3200" dirty="0"/>
                  <a:t>（</a:t>
                </a:r>
                <a:r>
                  <a:rPr lang="en-US" altLang="zh-CN" sz="3200" dirty="0"/>
                  <a:t>1</a:t>
                </a:r>
                <a:r>
                  <a:rPr lang="zh-CN" altLang="en-US" sz="3200" dirty="0"/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连通</m:t>
                    </m:r>
                  </m:oMath>
                </a14:m>
                <a:r>
                  <a:rPr lang="zh-CN" altLang="en-US" sz="3200" dirty="0"/>
                  <a:t>且不含回路；</a:t>
                </a:r>
                <a:endParaRPr lang="en-US" altLang="zh-CN" sz="3200" dirty="0"/>
              </a:p>
              <a:p>
                <a:r>
                  <a:rPr lang="zh-CN" altLang="en-US" sz="3200" dirty="0"/>
                  <a:t>（</a:t>
                </a:r>
                <a:r>
                  <a:rPr lang="en-US" altLang="zh-CN" sz="3200" dirty="0"/>
                  <a:t>2</a:t>
                </a:r>
                <a:r>
                  <a:rPr lang="zh-CN" altLang="en-US" sz="3200" dirty="0"/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dirty="0"/>
                  <a:t>每对顶点之间有唯一的一条路径；</a:t>
                </a:r>
                <a:endParaRPr lang="en-US" altLang="zh-CN" sz="3200" dirty="0"/>
              </a:p>
              <a:p>
                <a:r>
                  <a:rPr lang="zh-CN" altLang="en-US" sz="3200" dirty="0"/>
                  <a:t>（</a:t>
                </a:r>
                <a:r>
                  <a:rPr lang="en-US" altLang="zh-CN" sz="3200" dirty="0"/>
                  <a:t>3</a:t>
                </a:r>
                <a:r>
                  <a:rPr lang="zh-CN" altLang="en-US" sz="3200" dirty="0"/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sz="3200" dirty="0"/>
                  <a:t>连通的且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；</m:t>
                    </m:r>
                  </m:oMath>
                </a14:m>
                <a:endParaRPr lang="en-US" altLang="zh-CN" sz="3200" dirty="0"/>
              </a:p>
              <a:p>
                <a:r>
                  <a:rPr lang="zh-CN" altLang="en-US" sz="3200" dirty="0"/>
                  <a:t>（</a:t>
                </a:r>
                <a:r>
                  <a:rPr lang="en-US" altLang="zh-CN" sz="3200" dirty="0"/>
                  <a:t>4</a:t>
                </a:r>
                <a:r>
                  <a:rPr lang="zh-CN" altLang="en-US" sz="3200" dirty="0"/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中</m:t>
                    </m:r>
                  </m:oMath>
                </a14:m>
                <a:r>
                  <a:rPr lang="zh-CN" altLang="en-US" sz="3200" dirty="0"/>
                  <a:t>无回路且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3200" dirty="0"/>
                  <a:t>；</a:t>
                </a:r>
                <a:endParaRPr lang="en-US" altLang="zh-CN" sz="3200" dirty="0"/>
              </a:p>
              <a:p>
                <a:r>
                  <a:rPr lang="zh-CN" altLang="en-US" sz="3200" dirty="0"/>
                  <a:t>（</a:t>
                </a:r>
                <a:r>
                  <a:rPr lang="en-US" altLang="zh-CN" sz="3200" dirty="0"/>
                  <a:t>5</a:t>
                </a:r>
                <a:r>
                  <a:rPr lang="zh-CN" altLang="en-US" sz="3200" dirty="0"/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中</m:t>
                    </m:r>
                  </m:oMath>
                </a14:m>
                <a:r>
                  <a:rPr lang="zh-CN" altLang="en-US" sz="3200" dirty="0"/>
                  <a:t>无回路，但在任两个不相邻的顶点之间增加一条边，就形成唯一的一条初级回路；</a:t>
                </a:r>
                <a:endParaRPr lang="en-US" altLang="zh-CN" sz="3200" dirty="0"/>
              </a:p>
              <a:p>
                <a:r>
                  <a:rPr lang="zh-CN" altLang="en-US" sz="3200" dirty="0"/>
                  <a:t>（</a:t>
                </a:r>
                <a:r>
                  <a:rPr lang="en-US" altLang="zh-CN" sz="3200" dirty="0"/>
                  <a:t>6</a:t>
                </a:r>
                <a:r>
                  <a:rPr lang="zh-CN" altLang="en-US" sz="3200" dirty="0"/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sz="3200" dirty="0"/>
                  <a:t>连通的且每条边都是桥。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190294-A09C-EFF5-F0BC-1CBC5147E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531" y="906500"/>
                <a:ext cx="11004937" cy="4647426"/>
              </a:xfrm>
              <a:prstGeom prst="rect">
                <a:avLst/>
              </a:prstGeom>
              <a:blipFill>
                <a:blip r:embed="rId3"/>
                <a:stretch>
                  <a:fillRect l="-1938" t="-2362" r="-5039" b="-3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59435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190294-A09C-EFF5-F0BC-1CBC5147E758}"/>
                  </a:ext>
                </a:extLst>
              </p:cNvPr>
              <p:cNvSpPr txBox="1"/>
              <p:nvPr/>
            </p:nvSpPr>
            <p:spPr>
              <a:xfrm>
                <a:off x="593531" y="906500"/>
                <a:ext cx="11004937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7.2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200" dirty="0"/>
                  <a:t>阶非平凡的树中至少有两片树叶。</a:t>
                </a:r>
                <a:endParaRPr lang="en-US" altLang="zh-CN" sz="3200" dirty="0"/>
              </a:p>
              <a:p>
                <a:r>
                  <a:rPr lang="zh-CN" altLang="en-US" sz="3200" dirty="0"/>
                  <a:t>证明：非平凡的树的每个顶点的度数都大于或等于</a:t>
                </a:r>
                <a:r>
                  <a:rPr lang="en-US" altLang="zh-CN" sz="3200" dirty="0"/>
                  <a:t>1</a:t>
                </a:r>
                <a:r>
                  <a:rPr lang="zh-CN" altLang="en-US" sz="3200" dirty="0"/>
                  <a:t>，设有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片</m:t>
                    </m:r>
                  </m:oMath>
                </a14:m>
                <a:r>
                  <a:rPr lang="zh-CN" altLang="en-US" sz="3200" dirty="0"/>
                  <a:t>树叶，则有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个</m:t>
                    </m:r>
                  </m:oMath>
                </a14:m>
                <a:r>
                  <a:rPr lang="zh-CN" altLang="en-US" sz="3200" dirty="0"/>
                  <a:t>顶点度数大于或等于</a:t>
                </a:r>
                <a:r>
                  <a:rPr lang="en-US" altLang="zh-CN" sz="3200" dirty="0"/>
                  <a:t>2</a:t>
                </a:r>
                <a:r>
                  <a:rPr lang="zh-CN" altLang="en-US" sz="3200" dirty="0"/>
                  <a:t>。由握手定理，</a:t>
                </a:r>
                <a:endParaRPr lang="en-US" altLang="zh-CN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+2(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3200" dirty="0"/>
              </a:p>
              <a:p>
                <a:r>
                  <a:rPr lang="zh-CN" altLang="en-US" sz="3200" dirty="0"/>
                  <a:t>有定理</a:t>
                </a:r>
                <a:r>
                  <a:rPr lang="en-US" altLang="zh-CN" sz="3200" dirty="0"/>
                  <a:t>7.1</a:t>
                </a:r>
                <a:r>
                  <a:rPr lang="zh-CN" altLang="en-US" sz="32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200" dirty="0"/>
                  <a:t>可得</a:t>
                </a:r>
                <a:endParaRPr lang="en-US" altLang="zh-CN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+2(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≥2</m:t>
                      </m:r>
                    </m:oMath>
                  </m:oMathPara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190294-A09C-EFF5-F0BC-1CBC5147E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531" y="906500"/>
                <a:ext cx="11004937" cy="4154984"/>
              </a:xfrm>
              <a:prstGeom prst="rect">
                <a:avLst/>
              </a:prstGeom>
              <a:blipFill>
                <a:blip r:embed="rId3"/>
                <a:stretch>
                  <a:fillRect l="-1938" t="-2643" r="-7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50544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190294-A09C-EFF5-F0BC-1CBC5147E758}"/>
                  </a:ext>
                </a:extLst>
              </p:cNvPr>
              <p:cNvSpPr txBox="1"/>
              <p:nvPr/>
            </p:nvSpPr>
            <p:spPr>
              <a:xfrm>
                <a:off x="593531" y="906500"/>
                <a:ext cx="11004937" cy="3662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7.2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  <a:endParaRPr lang="en-US" altLang="zh-CN" sz="4000" b="1" dirty="0">
                  <a:solidFill>
                    <a:schemeClr val="accent5"/>
                  </a:solidFill>
                </a:endParaRPr>
              </a:p>
              <a:p>
                <a:r>
                  <a:rPr lang="zh-CN" altLang="en-US" sz="3200" dirty="0"/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sz="3200" dirty="0"/>
                  <a:t>无向连通图，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是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dirty="0"/>
                  <a:t>生成子图并且是树，则称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是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</a:rPr>
                  <a:t>生成树</a:t>
                </a:r>
                <a:r>
                  <a:rPr lang="zh-CN" altLang="en-US" sz="3200" dirty="0"/>
                  <a:t>。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在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中</m:t>
                    </m:r>
                  </m:oMath>
                </a14:m>
                <a:r>
                  <a:rPr lang="zh-CN" altLang="en-US" sz="3200" dirty="0"/>
                  <a:t>的边称为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</a:rPr>
                  <a:t>树枝</a:t>
                </a:r>
                <a:r>
                  <a:rPr lang="zh-CN" altLang="en-US" sz="3200" dirty="0"/>
                  <a:t>，不在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中</m:t>
                    </m:r>
                  </m:oMath>
                </a14:m>
                <a:r>
                  <a:rPr lang="zh-CN" altLang="en-US" sz="3200" dirty="0"/>
                  <a:t>的边称为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弦</m:t>
                    </m:r>
                  </m:oMath>
                </a14:m>
                <a:r>
                  <a:rPr lang="zh-CN" altLang="en-US" sz="3200" dirty="0"/>
                  <a:t>。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dirty="0"/>
                  <a:t>所有弦的集合的导出子图称为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</a:rPr>
                  <a:t>余树</a:t>
                </a:r>
                <a:r>
                  <a:rPr lang="zh-CN" altLang="en-US" sz="3200" dirty="0"/>
                  <a:t>。</a:t>
                </a:r>
                <a:endParaRPr lang="en-US" altLang="zh-CN" sz="3200" dirty="0"/>
              </a:p>
              <a:p>
                <a:endParaRPr lang="en-US" altLang="zh-CN" sz="3200" dirty="0"/>
              </a:p>
              <a:p>
                <a:r>
                  <a:rPr lang="zh-CN" altLang="en-US" sz="3200" dirty="0"/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阶</m:t>
                    </m:r>
                  </m:oMath>
                </a14:m>
                <a:r>
                  <a:rPr lang="zh-CN" altLang="en-US" sz="3200" dirty="0"/>
                  <a:t>连通无向图有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条边</m:t>
                    </m:r>
                  </m:oMath>
                </a14:m>
                <a:r>
                  <a:rPr lang="zh-CN" altLang="en-US" sz="3200" dirty="0"/>
                  <a:t>，则它的生成树有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条</m:t>
                    </m:r>
                  </m:oMath>
                </a14:m>
                <a:r>
                  <a:rPr lang="zh-CN" altLang="en-US" sz="3200" dirty="0"/>
                  <a:t>边，余树有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条</m:t>
                    </m:r>
                  </m:oMath>
                </a14:m>
                <a:r>
                  <a:rPr lang="zh-CN" altLang="en-US" sz="3200" dirty="0"/>
                  <a:t>边。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190294-A09C-EFF5-F0BC-1CBC5147E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531" y="906500"/>
                <a:ext cx="11004937" cy="3662541"/>
              </a:xfrm>
              <a:prstGeom prst="rect">
                <a:avLst/>
              </a:prstGeom>
              <a:blipFill>
                <a:blip r:embed="rId3"/>
                <a:stretch>
                  <a:fillRect l="-1938" t="-2995" b="-4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47388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190294-A09C-EFF5-F0BC-1CBC5147E758}"/>
                  </a:ext>
                </a:extLst>
              </p:cNvPr>
              <p:cNvSpPr txBox="1"/>
              <p:nvPr/>
            </p:nvSpPr>
            <p:spPr>
              <a:xfrm>
                <a:off x="593531" y="906500"/>
                <a:ext cx="11004937" cy="280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7.3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  <a:endParaRPr lang="en-US" altLang="zh-CN" sz="4000" b="1" dirty="0">
                  <a:solidFill>
                    <a:schemeClr val="accent5"/>
                  </a:solidFill>
                </a:endParaRPr>
              </a:p>
              <a:p>
                <a:r>
                  <a:rPr lang="zh-CN" altLang="en-US" sz="3200" dirty="0"/>
                  <a:t>任何无向连通图都有生成树。</a:t>
                </a:r>
                <a:endParaRPr lang="en-US" altLang="zh-CN" sz="3200" dirty="0"/>
              </a:p>
              <a:p>
                <a:endParaRPr lang="en-US" altLang="zh-CN" sz="3200" dirty="0"/>
              </a:p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推论：</a:t>
                </a:r>
                <a:endParaRPr lang="en-US" altLang="zh-CN" sz="4000" b="1" dirty="0">
                  <a:solidFill>
                    <a:schemeClr val="accent5"/>
                  </a:solidFill>
                </a:endParaRPr>
              </a:p>
              <a:p>
                <a:r>
                  <a:rPr lang="zh-CN" altLang="en-US" sz="3200" dirty="0"/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阶</m:t>
                    </m:r>
                  </m:oMath>
                </a14:m>
                <a:r>
                  <a:rPr lang="zh-CN" altLang="en-US" sz="3200" dirty="0"/>
                  <a:t>无向连通图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条</m:t>
                    </m:r>
                  </m:oMath>
                </a14:m>
                <a:r>
                  <a:rPr lang="zh-CN" altLang="en-US" sz="3200" dirty="0"/>
                  <a:t>边，则有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190294-A09C-EFF5-F0BC-1CBC5147E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531" y="906500"/>
                <a:ext cx="11004937" cy="2800767"/>
              </a:xfrm>
              <a:prstGeom prst="rect">
                <a:avLst/>
              </a:prstGeom>
              <a:blipFill>
                <a:blip r:embed="rId3"/>
                <a:stretch>
                  <a:fillRect l="-1938" t="-3922" b="-63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4343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21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190294-A09C-EFF5-F0BC-1CBC5147E758}"/>
                  </a:ext>
                </a:extLst>
              </p:cNvPr>
              <p:cNvSpPr txBox="1"/>
              <p:nvPr/>
            </p:nvSpPr>
            <p:spPr>
              <a:xfrm>
                <a:off x="593531" y="906500"/>
                <a:ext cx="11004937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7.3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  <a:endParaRPr lang="en-US" altLang="zh-CN" sz="4000" b="1" dirty="0">
                  <a:solidFill>
                    <a:schemeClr val="accent5"/>
                  </a:solidFill>
                </a:endParaRPr>
              </a:p>
              <a:p>
                <a:r>
                  <a:rPr lang="zh-CN" altLang="en-US" sz="3200" dirty="0"/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sz="3200" dirty="0"/>
                  <a:t>连通图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=&lt;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dirty="0"/>
                  <a:t>一颗生成树，对每条弦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200" dirty="0"/>
                  <a:t>存在唯一的由弦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和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3200" dirty="0"/>
                  <a:t>的树枝构成的初级回路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200" dirty="0"/>
                  <a:t>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zh-CN" altLang="en-US" sz="3200" i="1" dirty="0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3200" dirty="0"/>
                  <a:t>对应于弦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</a:rPr>
                  <a:t>基本回路</a:t>
                </a:r>
                <a:r>
                  <a:rPr lang="zh-CN" altLang="en-US" sz="3200" dirty="0"/>
                  <a:t>，称所有基本回路的集合为对应生成树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</a:rPr>
                  <a:t>基本回路系统</a:t>
                </a:r>
                <a:r>
                  <a:rPr lang="zh-CN" altLang="en-US" sz="3200" dirty="0"/>
                  <a:t>。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190294-A09C-EFF5-F0BC-1CBC5147E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531" y="906500"/>
                <a:ext cx="11004937" cy="2677656"/>
              </a:xfrm>
              <a:prstGeom prst="rect">
                <a:avLst/>
              </a:prstGeom>
              <a:blipFill>
                <a:blip r:embed="rId3"/>
                <a:stretch>
                  <a:fillRect l="-1938" t="-4100" b="-6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86275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190294-A09C-EFF5-F0BC-1CBC5147E758}"/>
                  </a:ext>
                </a:extLst>
              </p:cNvPr>
              <p:cNvSpPr txBox="1"/>
              <p:nvPr/>
            </p:nvSpPr>
            <p:spPr>
              <a:xfrm>
                <a:off x="593531" y="906500"/>
                <a:ext cx="11004937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7.4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  <a:endParaRPr lang="en-US" altLang="zh-CN" sz="4000" b="1" dirty="0">
                  <a:solidFill>
                    <a:schemeClr val="accent5"/>
                  </a:solidFill>
                </a:endParaRPr>
              </a:p>
              <a:p>
                <a:r>
                  <a:rPr lang="zh-CN" altLang="en-US" sz="3200" dirty="0"/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sz="3200" dirty="0"/>
                  <a:t>连通图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=&lt;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dirty="0"/>
                  <a:t>一颗生成树，对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dirty="0"/>
                  <a:t>每条树枝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200" dirty="0"/>
                  <a:t>存在唯一的由树枝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200" dirty="0"/>
                  <a:t>其余的边都是弦的割集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200" dirty="0"/>
                  <a:t>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zh-CN" altLang="en-US" sz="3200" i="1" dirty="0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3200" dirty="0"/>
                  <a:t>对应树枝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</a:rPr>
                  <a:t>基本割集</a:t>
                </a:r>
                <a:r>
                  <a:rPr lang="zh-CN" altLang="en-US" sz="3200" dirty="0"/>
                  <a:t>，称所有基本割集的集合为对应生成树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</a:rPr>
                  <a:t>基本割集系统</a:t>
                </a:r>
                <a:r>
                  <a:rPr lang="zh-CN" altLang="en-US" sz="3200" dirty="0"/>
                  <a:t>。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190294-A09C-EFF5-F0BC-1CBC5147E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531" y="906500"/>
                <a:ext cx="11004937" cy="2677656"/>
              </a:xfrm>
              <a:prstGeom prst="rect">
                <a:avLst/>
              </a:prstGeom>
              <a:blipFill>
                <a:blip r:embed="rId3"/>
                <a:stretch>
                  <a:fillRect l="-1938" t="-4100" r="-1384" b="-6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47978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最小生成树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262C05B-24D3-88E8-3827-362F2A6EACB9}"/>
                  </a:ext>
                </a:extLst>
              </p:cNvPr>
              <p:cNvSpPr txBox="1"/>
              <p:nvPr/>
            </p:nvSpPr>
            <p:spPr>
              <a:xfrm>
                <a:off x="593531" y="906500"/>
                <a:ext cx="1100493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/>
                  <a:t>定义：设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sz="3200" dirty="0"/>
                  <a:t>无向连通带权图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dirty="0"/>
                  <a:t>生成树，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中</m:t>
                    </m:r>
                  </m:oMath>
                </a14:m>
                <a:r>
                  <a:rPr lang="zh-CN" altLang="en-US" sz="3200" dirty="0"/>
                  <a:t>所有边的权之和称为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dirty="0"/>
                  <a:t>权，记作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。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dirty="0"/>
                  <a:t>所有生成树中权值最小的生成树被称为</a:t>
                </a:r>
                <a:r>
                  <a:rPr lang="zh-CN" altLang="en-US" sz="3200" b="1" dirty="0">
                    <a:solidFill>
                      <a:srgbClr val="FF0000"/>
                    </a:solidFill>
                  </a:rPr>
                  <a:t>最小生成树</a:t>
                </a:r>
                <a:r>
                  <a:rPr lang="zh-CN" altLang="en-US" sz="3200" dirty="0"/>
                  <a:t>。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262C05B-24D3-88E8-3827-362F2A6EA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531" y="906500"/>
                <a:ext cx="11004937" cy="1569660"/>
              </a:xfrm>
              <a:prstGeom prst="rect">
                <a:avLst/>
              </a:prstGeom>
              <a:blipFill>
                <a:blip r:embed="rId3"/>
                <a:stretch>
                  <a:fillRect l="-1384" t="-5058" b="-120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09708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Kruskal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6461E8E-6063-22D6-5DAB-ED9C4721F370}"/>
                  </a:ext>
                </a:extLst>
              </p:cNvPr>
              <p:cNvSpPr txBox="1"/>
              <p:nvPr/>
            </p:nvSpPr>
            <p:spPr>
              <a:xfrm>
                <a:off x="326982" y="938031"/>
                <a:ext cx="11538035" cy="4031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/>
                  <a:t>输入：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阶</m:t>
                    </m:r>
                  </m:oMath>
                </a14:m>
                <a:r>
                  <a:rPr lang="zh-CN" altLang="en-US" sz="3200" dirty="0"/>
                  <a:t>无向连通带权图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200" dirty="0"/>
                  <a:t>其中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3200" dirty="0"/>
              </a:p>
              <a:p>
                <a:r>
                  <a:rPr lang="zh-CN" altLang="en-US" sz="3200" dirty="0"/>
                  <a:t>输出：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dirty="0"/>
                  <a:t>最小生成树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3200" dirty="0"/>
              </a:p>
              <a:p>
                <a:r>
                  <a:rPr lang="zh-CN" altLang="en-US" sz="3200" dirty="0"/>
                  <a:t>（</a:t>
                </a:r>
                <a:r>
                  <a:rPr lang="en-US" altLang="zh-CN" sz="3200" dirty="0"/>
                  <a:t>1</a:t>
                </a:r>
                <a:r>
                  <a:rPr lang="zh-CN" altLang="en-US" sz="3200" dirty="0"/>
                  <a:t>）按权值从小到大排列边，设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≤…≤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200" dirty="0"/>
                  <a:t>。</a:t>
                </a:r>
                <a:endParaRPr lang="en-US" altLang="zh-CN" sz="3200" dirty="0"/>
              </a:p>
              <a:p>
                <a:r>
                  <a:rPr lang="zh-CN" altLang="en-US" sz="3200" dirty="0"/>
                  <a:t>（</a:t>
                </a:r>
                <a:r>
                  <a:rPr lang="en-US" altLang="zh-CN" sz="3200" dirty="0"/>
                  <a:t>2</a:t>
                </a:r>
                <a:r>
                  <a:rPr lang="zh-CN" altLang="en-US" sz="3200" dirty="0"/>
                  <a:t>）令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←∅,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←1,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←0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3200" dirty="0"/>
              </a:p>
              <a:p>
                <a:r>
                  <a:rPr lang="zh-CN" altLang="en-US" sz="3200" dirty="0"/>
                  <a:t>（</a:t>
                </a:r>
                <a:r>
                  <a:rPr lang="en-US" altLang="zh-CN" sz="3200" dirty="0"/>
                  <a:t>3</a:t>
                </a:r>
                <a:r>
                  <a:rPr lang="zh-CN" altLang="en-US" sz="3200" dirty="0"/>
                  <a:t>）若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与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中</m:t>
                    </m:r>
                  </m:oMath>
                </a14:m>
                <a:r>
                  <a:rPr lang="zh-CN" altLang="en-US" sz="3200" dirty="0"/>
                  <a:t>的边不构成回路，则令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zh-CN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+1。</m:t>
                    </m:r>
                  </m:oMath>
                </a14:m>
                <a:r>
                  <a:rPr lang="en-US" altLang="zh-CN" sz="3200" dirty="0"/>
                  <a:t>/</a:t>
                </a:r>
                <a:r>
                  <a:rPr lang="zh-CN" altLang="en-US" sz="3200" dirty="0"/>
                  <a:t>若条件成立，则取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200" dirty="0"/>
                  <a:t>否则弃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3200" dirty="0"/>
              </a:p>
              <a:p>
                <a:r>
                  <a:rPr lang="zh-CN" altLang="en-US" sz="3200" dirty="0"/>
                  <a:t>（</a:t>
                </a:r>
                <a:r>
                  <a:rPr lang="en-US" altLang="zh-CN" sz="3200" dirty="0"/>
                  <a:t>4</a:t>
                </a:r>
                <a:r>
                  <a:rPr lang="zh-CN" altLang="en-US" sz="3200" dirty="0"/>
                  <a:t>）若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</a:rPr>
                      <m:t>则</m:t>
                    </m:r>
                  </m:oMath>
                </a14:m>
                <a:r>
                  <a:rPr lang="zh-CN" altLang="en-US" sz="32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3200" dirty="0"/>
                  <a:t>，转</a:t>
                </a:r>
                <a:r>
                  <a:rPr lang="en-US" altLang="zh-CN" sz="3200" dirty="0"/>
                  <a:t>(3)</a:t>
                </a:r>
                <a:r>
                  <a:rPr lang="zh-CN" altLang="en-US" sz="3200" dirty="0"/>
                  <a:t>。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6461E8E-6063-22D6-5DAB-ED9C4721F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82" y="938031"/>
                <a:ext cx="11538035" cy="4031873"/>
              </a:xfrm>
              <a:prstGeom prst="rect">
                <a:avLst/>
              </a:prstGeom>
              <a:blipFill>
                <a:blip r:embed="rId3"/>
                <a:stretch>
                  <a:fillRect l="-1374" t="-1967" r="-4915" b="-4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6154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190294-A09C-EFF5-F0BC-1CBC5147E758}"/>
                  </a:ext>
                </a:extLst>
              </p:cNvPr>
              <p:cNvSpPr txBox="1"/>
              <p:nvPr/>
            </p:nvSpPr>
            <p:spPr>
              <a:xfrm>
                <a:off x="593531" y="906500"/>
                <a:ext cx="11004937" cy="5139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7.5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  <a:endParaRPr lang="en-US" altLang="zh-CN" sz="4000" b="1" dirty="0">
                  <a:solidFill>
                    <a:schemeClr val="accent5"/>
                  </a:solidFill>
                </a:endParaRPr>
              </a:p>
              <a:p>
                <a:r>
                  <a:rPr lang="zh-CN" altLang="en-US" sz="3200" dirty="0"/>
                  <a:t>一个有向图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200" dirty="0"/>
                  <a:t>如果略去有向边的方向所得无向图为一颗无向树，则称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</a:rPr>
                  <a:t>有向树</a:t>
                </a:r>
                <a:r>
                  <a:rPr lang="zh-CN" altLang="en-US" sz="3200" dirty="0"/>
                  <a:t>。</a:t>
                </a:r>
                <a:endParaRPr lang="en-US" altLang="zh-CN" sz="3200" dirty="0"/>
              </a:p>
              <a:p>
                <a:r>
                  <a:rPr lang="zh-CN" altLang="en-US" sz="3200" dirty="0"/>
                  <a:t>一颗非平凡的有向树，如果有一个顶点的入度为</a:t>
                </a:r>
                <a:r>
                  <a:rPr lang="en-US" altLang="zh-CN" sz="3200" dirty="0"/>
                  <a:t>0</a:t>
                </a:r>
                <a:r>
                  <a:rPr lang="zh-CN" altLang="en-US" sz="3200" dirty="0"/>
                  <a:t>，其余顶点的入度均为</a:t>
                </a:r>
                <a:r>
                  <a:rPr lang="en-US" altLang="zh-CN" sz="3200" dirty="0"/>
                  <a:t>1</a:t>
                </a:r>
                <a:r>
                  <a:rPr lang="zh-CN" altLang="en-US" sz="3200" dirty="0"/>
                  <a:t>，则称此有向树为</a:t>
                </a:r>
                <a:r>
                  <a:rPr lang="zh-CN" altLang="en-US" sz="3200" b="1" dirty="0">
                    <a:solidFill>
                      <a:srgbClr val="FF0000"/>
                    </a:solidFill>
                  </a:rPr>
                  <a:t>根树</a:t>
                </a:r>
                <a:r>
                  <a:rPr lang="zh-CN" altLang="en-US" sz="3200" dirty="0"/>
                  <a:t>。入度为</a:t>
                </a:r>
                <a:r>
                  <a:rPr lang="en-US" altLang="zh-CN" sz="3200" dirty="0"/>
                  <a:t>0</a:t>
                </a:r>
                <a:r>
                  <a:rPr lang="zh-CN" altLang="en-US" sz="3200" dirty="0"/>
                  <a:t>的顶点一般称为</a:t>
                </a:r>
                <a:r>
                  <a:rPr lang="zh-CN" altLang="en-US" sz="3200" b="1" dirty="0">
                    <a:solidFill>
                      <a:srgbClr val="FF0000"/>
                    </a:solidFill>
                  </a:rPr>
                  <a:t>树根</a:t>
                </a:r>
                <a:r>
                  <a:rPr lang="zh-CN" altLang="en-US" sz="3200" dirty="0"/>
                  <a:t>，入度为</a:t>
                </a:r>
                <a:r>
                  <a:rPr lang="en-US" altLang="zh-CN" sz="3200" dirty="0"/>
                  <a:t>1</a:t>
                </a:r>
                <a:r>
                  <a:rPr lang="zh-CN" altLang="en-US" sz="3200" dirty="0"/>
                  <a:t>，出度为</a:t>
                </a:r>
                <a:r>
                  <a:rPr lang="en-US" altLang="zh-CN" sz="3200" dirty="0"/>
                  <a:t>0</a:t>
                </a:r>
                <a:r>
                  <a:rPr lang="zh-CN" altLang="en-US" sz="3200" dirty="0"/>
                  <a:t>的顶点称为</a:t>
                </a:r>
                <a:r>
                  <a:rPr lang="zh-CN" altLang="en-US" sz="3200" b="1" dirty="0">
                    <a:solidFill>
                      <a:srgbClr val="FF0000"/>
                    </a:solidFill>
                  </a:rPr>
                  <a:t>树叶</a:t>
                </a:r>
                <a:r>
                  <a:rPr lang="zh-CN" altLang="en-US" sz="3200" dirty="0"/>
                  <a:t>，入度为</a:t>
                </a:r>
                <a:r>
                  <a:rPr lang="en-US" altLang="zh-CN" sz="3200" dirty="0"/>
                  <a:t>1</a:t>
                </a:r>
                <a:r>
                  <a:rPr lang="zh-CN" altLang="en-US" sz="3200" dirty="0"/>
                  <a:t>，出度大于</a:t>
                </a:r>
                <a:r>
                  <a:rPr lang="en-US" altLang="zh-CN" sz="3200" dirty="0"/>
                  <a:t>0</a:t>
                </a:r>
                <a:r>
                  <a:rPr lang="zh-CN" altLang="en-US" sz="3200" dirty="0"/>
                  <a:t>的顶点称为</a:t>
                </a:r>
                <a:r>
                  <a:rPr lang="zh-CN" altLang="en-US" sz="3200" b="1" dirty="0">
                    <a:solidFill>
                      <a:srgbClr val="FF0000"/>
                    </a:solidFill>
                  </a:rPr>
                  <a:t>内点</a:t>
                </a:r>
                <a:r>
                  <a:rPr lang="zh-CN" altLang="en-US" sz="3200" dirty="0"/>
                  <a:t>，内点和树根统称为</a:t>
                </a:r>
                <a:r>
                  <a:rPr lang="zh-CN" altLang="en-US" sz="3200" b="1" dirty="0">
                    <a:solidFill>
                      <a:srgbClr val="FF0000"/>
                    </a:solidFill>
                  </a:rPr>
                  <a:t>分支点</a:t>
                </a:r>
                <a:r>
                  <a:rPr lang="zh-CN" altLang="en-US" sz="3200" dirty="0"/>
                  <a:t>。</a:t>
                </a:r>
                <a:endParaRPr lang="en-US" altLang="zh-CN" sz="3200" dirty="0"/>
              </a:p>
              <a:p>
                <a:r>
                  <a:rPr lang="zh-CN" altLang="en-US" sz="3200" dirty="0"/>
                  <a:t>在根树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中</m:t>
                    </m:r>
                  </m:oMath>
                </a14:m>
                <a:r>
                  <a:rPr lang="zh-CN" altLang="en-US" sz="3200" dirty="0"/>
                  <a:t>，从树根到顶点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dirty="0"/>
                  <a:t>通路长度称为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</a:rPr>
                  <a:t>层数</a:t>
                </a:r>
                <a:r>
                  <a:rPr lang="zh-CN" altLang="en-US" sz="3200" dirty="0"/>
                  <a:t>，记为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en-US" sz="3200" dirty="0"/>
                  <a:t>称层数相同的顶点在同一层上。顶点的最大层数称为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</a:rPr>
                  <a:t>树高</a:t>
                </a:r>
                <a:r>
                  <a:rPr lang="zh-CN" altLang="en-US" sz="3200" dirty="0"/>
                  <a:t>，记为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190294-A09C-EFF5-F0BC-1CBC5147E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531" y="906500"/>
                <a:ext cx="11004937" cy="5139869"/>
              </a:xfrm>
              <a:prstGeom prst="rect">
                <a:avLst/>
              </a:prstGeom>
              <a:blipFill>
                <a:blip r:embed="rId3"/>
                <a:stretch>
                  <a:fillRect l="-1938" t="-2135" r="-1384" b="-2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48806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26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190294-A09C-EFF5-F0BC-1CBC5147E758}"/>
                  </a:ext>
                </a:extLst>
              </p:cNvPr>
              <p:cNvSpPr txBox="1"/>
              <p:nvPr/>
            </p:nvSpPr>
            <p:spPr>
              <a:xfrm>
                <a:off x="593531" y="906500"/>
                <a:ext cx="11004937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/>
                  <a:t>一颗根树可以看成是一颗家族树。</a:t>
                </a:r>
                <a:endParaRPr lang="en-US" altLang="zh-CN" sz="3200" dirty="0"/>
              </a:p>
              <a:p>
                <a:r>
                  <a:rPr lang="zh-CN" altLang="en-US" sz="3200" dirty="0"/>
                  <a:t>（</a:t>
                </a:r>
                <a:r>
                  <a:rPr lang="en-US" altLang="zh-CN" sz="3200" dirty="0"/>
                  <a:t>1</a:t>
                </a:r>
                <a:r>
                  <a:rPr lang="zh-CN" altLang="en-US" sz="3200" dirty="0"/>
                  <a:t>）若顶点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邻接</m:t>
                    </m:r>
                  </m:oMath>
                </a14:m>
                <a:r>
                  <a:rPr lang="zh-CN" altLang="en-US" sz="3200" dirty="0"/>
                  <a:t>到顶点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200" dirty="0"/>
                  <a:t>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dirty="0"/>
                  <a:t>儿子，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dirty="0"/>
                  <a:t>父亲；</a:t>
                </a:r>
                <a:endParaRPr lang="en-US" altLang="zh-CN" sz="3200" dirty="0"/>
              </a:p>
              <a:p>
                <a:r>
                  <a:rPr lang="zh-CN" altLang="en-US" sz="3200" dirty="0"/>
                  <a:t>（</a:t>
                </a:r>
                <a:r>
                  <a:rPr lang="en-US" altLang="zh-CN" sz="3200" dirty="0"/>
                  <a:t>2</a:t>
                </a:r>
                <a:r>
                  <a:rPr lang="zh-CN" altLang="en-US" sz="3200" dirty="0"/>
                  <a:t>）若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有</m:t>
                    </m:r>
                  </m:oMath>
                </a14:m>
                <a:r>
                  <a:rPr lang="zh-CN" altLang="en-US" sz="3200" dirty="0"/>
                  <a:t>同一个父亲，则称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3200" dirty="0"/>
                  <a:t>兄弟；</a:t>
                </a:r>
                <a:endParaRPr lang="en-US" altLang="zh-CN" sz="3200" dirty="0"/>
              </a:p>
              <a:p>
                <a:r>
                  <a:rPr lang="zh-CN" altLang="en-US" sz="3200" dirty="0"/>
                  <a:t>（</a:t>
                </a:r>
                <a:r>
                  <a:rPr lang="en-US" altLang="zh-CN" sz="3200" dirty="0"/>
                  <a:t>3</a:t>
                </a:r>
                <a:r>
                  <a:rPr lang="zh-CN" altLang="en-US" sz="3200" dirty="0"/>
                  <a:t>）若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200" dirty="0"/>
                  <a:t>而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</a:rPr>
                      <m:t>可达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200" dirty="0"/>
                  <a:t>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dirty="0"/>
                  <a:t>祖先，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dirty="0"/>
                  <a:t>后代。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190294-A09C-EFF5-F0BC-1CBC5147E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531" y="906500"/>
                <a:ext cx="11004937" cy="2062103"/>
              </a:xfrm>
              <a:prstGeom prst="rect">
                <a:avLst/>
              </a:prstGeom>
              <a:blipFill>
                <a:blip r:embed="rId3"/>
                <a:stretch>
                  <a:fillRect l="-1384" t="-3846" r="-5039" b="-88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95205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27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根子树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190294-A09C-EFF5-F0BC-1CBC5147E758}"/>
                  </a:ext>
                </a:extLst>
              </p:cNvPr>
              <p:cNvSpPr txBox="1"/>
              <p:nvPr/>
            </p:nvSpPr>
            <p:spPr>
              <a:xfrm>
                <a:off x="593531" y="906500"/>
                <a:ext cx="11004937" cy="280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7.6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  <a:endParaRPr lang="en-US" altLang="zh-CN" sz="4000" b="1" dirty="0">
                  <a:solidFill>
                    <a:schemeClr val="accent5"/>
                  </a:solidFill>
                </a:endParaRPr>
              </a:p>
              <a:p>
                <a:r>
                  <a:rPr lang="zh-CN" altLang="en-US" sz="3200" dirty="0"/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3200" dirty="0"/>
                  <a:t>一颗根树，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中</m:t>
                    </m:r>
                  </m:oMath>
                </a14:m>
                <a:r>
                  <a:rPr lang="zh-CN" altLang="en-US" sz="3200" dirty="0"/>
                  <a:t>一个顶点且不是树根，称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及其</m:t>
                    </m:r>
                  </m:oMath>
                </a14:m>
                <a:r>
                  <a:rPr lang="zh-CN" altLang="en-US" sz="3200" dirty="0"/>
                  <a:t>后代导出的子图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`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dirty="0"/>
                  <a:t>以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3200" dirty="0"/>
                  <a:t>根的子树，简称</a:t>
                </a:r>
                <a:r>
                  <a:rPr lang="zh-CN" altLang="en-US" sz="3200" b="1" dirty="0">
                    <a:solidFill>
                      <a:srgbClr val="FF0000"/>
                    </a:solidFill>
                  </a:rPr>
                  <a:t>根子树</a:t>
                </a:r>
                <a:r>
                  <a:rPr lang="zh-CN" altLang="en-US" sz="3200" dirty="0"/>
                  <a:t>。</a:t>
                </a:r>
                <a:endParaRPr lang="en-US" altLang="zh-CN" sz="3200" dirty="0"/>
              </a:p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7.7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  <a:endParaRPr lang="en-US" altLang="zh-CN" sz="4000" b="1" dirty="0">
                  <a:solidFill>
                    <a:schemeClr val="accent5"/>
                  </a:solidFill>
                </a:endParaRPr>
              </a:p>
              <a:p>
                <a:r>
                  <a:rPr lang="zh-CN" altLang="en-US" sz="3200" dirty="0"/>
                  <a:t>如果对根树每层上的顶点规定次序，称这样的根树为有序树。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190294-A09C-EFF5-F0BC-1CBC5147E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531" y="906500"/>
                <a:ext cx="11004937" cy="2800767"/>
              </a:xfrm>
              <a:prstGeom prst="rect">
                <a:avLst/>
              </a:prstGeom>
              <a:blipFill>
                <a:blip r:embed="rId3"/>
                <a:stretch>
                  <a:fillRect l="-1938" t="-3922" r="-2769" b="-63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71042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28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根树的分类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190294-A09C-EFF5-F0BC-1CBC5147E758}"/>
                  </a:ext>
                </a:extLst>
              </p:cNvPr>
              <p:cNvSpPr txBox="1"/>
              <p:nvPr/>
            </p:nvSpPr>
            <p:spPr>
              <a:xfrm>
                <a:off x="593531" y="906500"/>
                <a:ext cx="11004937" cy="5139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7.8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/>
                  <a:t>（</a:t>
                </a:r>
                <a:r>
                  <a:rPr lang="en-US" altLang="zh-CN" sz="3200" dirty="0"/>
                  <a:t>1</a:t>
                </a:r>
                <a:r>
                  <a:rPr lang="zh-CN" altLang="en-US" sz="3200" dirty="0"/>
                  <a:t>）若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dirty="0"/>
                  <a:t>每个分支点至多有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个</m:t>
                    </m:r>
                  </m:oMath>
                </a14:m>
                <a:r>
                  <a:rPr lang="zh-CN" altLang="en-US" sz="3200" dirty="0"/>
                  <a:t>儿子，则称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叉</m:t>
                    </m:r>
                  </m:oMath>
                </a14:m>
                <a:r>
                  <a:rPr lang="zh-CN" altLang="en-US" sz="3200" dirty="0"/>
                  <a:t>树；</a:t>
                </a:r>
                <a:endParaRPr lang="en-US" altLang="zh-CN" sz="3200" dirty="0"/>
              </a:p>
              <a:p>
                <a:r>
                  <a:rPr lang="zh-CN" altLang="en-US" sz="3200" dirty="0"/>
                  <a:t>（</a:t>
                </a:r>
                <a:r>
                  <a:rPr lang="en-US" altLang="zh-CN" sz="3200" dirty="0"/>
                  <a:t>2</a:t>
                </a:r>
                <a:r>
                  <a:rPr lang="zh-CN" altLang="en-US" sz="3200" dirty="0"/>
                  <a:t>）若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dirty="0"/>
                  <a:t>每个分支点都恰好有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个</m:t>
                    </m:r>
                  </m:oMath>
                </a14:m>
                <a:r>
                  <a:rPr lang="zh-CN" altLang="en-US" sz="3200" dirty="0"/>
                  <a:t>儿子，则称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叉</m:t>
                    </m:r>
                  </m:oMath>
                </a14:m>
                <a:r>
                  <a:rPr lang="zh-CN" altLang="en-US" sz="3200" dirty="0"/>
                  <a:t>正则树；</a:t>
                </a:r>
                <a:endParaRPr lang="en-US" altLang="zh-CN" sz="3200" dirty="0"/>
              </a:p>
              <a:p>
                <a:r>
                  <a:rPr lang="zh-CN" altLang="en-US" sz="3200" dirty="0"/>
                  <a:t>（</a:t>
                </a:r>
                <a:r>
                  <a:rPr lang="en-US" altLang="zh-CN" sz="3200" dirty="0"/>
                  <a:t>3</a:t>
                </a:r>
                <a:r>
                  <a:rPr lang="zh-CN" altLang="en-US" sz="3200" dirty="0"/>
                  <a:t>）若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是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叉</m:t>
                    </m:r>
                  </m:oMath>
                </a14:m>
                <a:r>
                  <a:rPr lang="zh-CN" altLang="en-US" sz="3200" dirty="0"/>
                  <a:t>正则树，且所有树叶的层数都等于树高，则称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叉</m:t>
                    </m:r>
                  </m:oMath>
                </a14:m>
                <a:r>
                  <a:rPr lang="zh-CN" altLang="en-US" sz="3200" dirty="0"/>
                  <a:t>完全正则树；</a:t>
                </a:r>
                <a:endParaRPr lang="en-US" altLang="zh-CN" sz="3200" dirty="0"/>
              </a:p>
              <a:p>
                <a:r>
                  <a:rPr lang="zh-CN" altLang="en-US" sz="3200" dirty="0"/>
                  <a:t>（</a:t>
                </a:r>
                <a:r>
                  <a:rPr lang="en-US" altLang="zh-CN" sz="3200" dirty="0"/>
                  <a:t>4</a:t>
                </a:r>
                <a:r>
                  <a:rPr lang="zh-CN" altLang="en-US" sz="3200" dirty="0"/>
                  <a:t>）若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叉</m:t>
                    </m:r>
                  </m:oMath>
                </a14:m>
                <a:r>
                  <a:rPr lang="zh-CN" altLang="en-US" sz="3200" dirty="0"/>
                  <a:t>树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sz="3200" dirty="0"/>
                  <a:t>有序的，则称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是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叉</m:t>
                    </m:r>
                  </m:oMath>
                </a14:m>
                <a:r>
                  <a:rPr lang="zh-CN" altLang="en-US" sz="3200" dirty="0"/>
                  <a:t>正则有序树；</a:t>
                </a:r>
                <a:endParaRPr lang="en-US" altLang="zh-CN" sz="3200" dirty="0"/>
              </a:p>
              <a:p>
                <a:r>
                  <a:rPr lang="zh-CN" altLang="en-US" sz="3200" dirty="0"/>
                  <a:t>（</a:t>
                </a:r>
                <a:r>
                  <a:rPr lang="en-US" altLang="zh-CN" sz="3200" dirty="0"/>
                  <a:t>5</a:t>
                </a:r>
                <a:r>
                  <a:rPr lang="zh-CN" altLang="en-US" sz="3200" dirty="0"/>
                  <a:t>）若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叉</m:t>
                    </m:r>
                  </m:oMath>
                </a14:m>
                <a:r>
                  <a:rPr lang="zh-CN" altLang="en-US" sz="3200" dirty="0"/>
                  <a:t>正则树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sz="3200" dirty="0"/>
                  <a:t>有序的，则称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是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叉</m:t>
                    </m:r>
                  </m:oMath>
                </a14:m>
                <a:r>
                  <a:rPr lang="zh-CN" altLang="en-US" sz="3200" dirty="0"/>
                  <a:t>正则有序树；</a:t>
                </a:r>
                <a:endParaRPr lang="en-US" altLang="zh-CN" sz="3200" dirty="0"/>
              </a:p>
              <a:p>
                <a:r>
                  <a:rPr lang="zh-CN" altLang="en-US" sz="3200" dirty="0"/>
                  <a:t>（</a:t>
                </a:r>
                <a:r>
                  <a:rPr lang="en-US" altLang="zh-CN" sz="3200" dirty="0"/>
                  <a:t>6</a:t>
                </a:r>
                <a:r>
                  <a:rPr lang="zh-CN" altLang="en-US" sz="3200" dirty="0"/>
                  <a:t>）若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叉</m:t>
                    </m:r>
                  </m:oMath>
                </a14:m>
                <a:r>
                  <a:rPr lang="zh-CN" altLang="en-US" sz="3200" dirty="0"/>
                  <a:t>完全正则树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sz="3200" dirty="0"/>
                  <a:t>有序的，则称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是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叉</m:t>
                    </m:r>
                  </m:oMath>
                </a14:m>
                <a:r>
                  <a:rPr lang="zh-CN" altLang="en-US" sz="3200" dirty="0"/>
                  <a:t>完全正则有序树；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190294-A09C-EFF5-F0BC-1CBC5147E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531" y="906500"/>
                <a:ext cx="11004937" cy="5139869"/>
              </a:xfrm>
              <a:prstGeom prst="rect">
                <a:avLst/>
              </a:prstGeom>
              <a:blipFill>
                <a:blip r:embed="rId3"/>
                <a:stretch>
                  <a:fillRect l="-1938" t="-2135" r="-1384" b="-2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47675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29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最优二叉树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190294-A09C-EFF5-F0BC-1CBC5147E758}"/>
                  </a:ext>
                </a:extLst>
              </p:cNvPr>
              <p:cNvSpPr txBox="1"/>
              <p:nvPr/>
            </p:nvSpPr>
            <p:spPr>
              <a:xfrm>
                <a:off x="593531" y="906500"/>
                <a:ext cx="11004937" cy="2701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7.9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/>
                  <a:t>设二叉树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片</m:t>
                    </m:r>
                  </m:oMath>
                </a14:m>
                <a:r>
                  <a:rPr lang="zh-CN" altLang="en-US" sz="3200" dirty="0"/>
                  <a:t>树叶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sz="3200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200" dirty="0"/>
                  <a:t>权分别为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3200" dirty="0"/>
                  <a:t>，称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dirty="0"/>
                  <a:t>权值，其中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sz="3200" dirty="0"/>
                  <a:t>树叶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3200" i="1" dirty="0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dirty="0"/>
                  <a:t>层数。在所有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片</m:t>
                    </m:r>
                  </m:oMath>
                </a14:m>
                <a:r>
                  <a:rPr lang="zh-CN" altLang="en-US" sz="3200" dirty="0"/>
                  <a:t>树叶，其权值为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dirty="0"/>
                  <a:t>二叉树中，权值最小的二叉树称作权值为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</a:rPr>
                  <a:t>最优二叉树</a:t>
                </a:r>
                <a:r>
                  <a:rPr lang="zh-CN" altLang="en-US" sz="3200" dirty="0"/>
                  <a:t>。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190294-A09C-EFF5-F0BC-1CBC5147E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531" y="906500"/>
                <a:ext cx="11004937" cy="2701060"/>
              </a:xfrm>
              <a:prstGeom prst="rect">
                <a:avLst/>
              </a:prstGeom>
              <a:blipFill>
                <a:blip r:embed="rId3"/>
                <a:stretch>
                  <a:fillRect l="-1938" t="-4063" r="-1329" b="-65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2208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30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最优二叉树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190294-A09C-EFF5-F0BC-1CBC5147E758}"/>
                  </a:ext>
                </a:extLst>
              </p:cNvPr>
              <p:cNvSpPr txBox="1"/>
              <p:nvPr/>
            </p:nvSpPr>
            <p:spPr>
              <a:xfrm>
                <a:off x="593531" y="906500"/>
                <a:ext cx="11004937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4000" b="1" dirty="0">
                    <a:solidFill>
                      <a:schemeClr val="accent5"/>
                    </a:solidFill>
                  </a:rPr>
                  <a:t>Huffman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算法：</a:t>
                </a:r>
              </a:p>
              <a:p>
                <a:r>
                  <a:rPr lang="zh-CN" altLang="en-US" sz="3200" dirty="0"/>
                  <a:t>给定实数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3200" dirty="0"/>
              </a:p>
              <a:p>
                <a:r>
                  <a:rPr lang="zh-CN" altLang="en-US" sz="3200" dirty="0"/>
                  <a:t>（</a:t>
                </a:r>
                <a:r>
                  <a:rPr lang="en-US" altLang="zh-CN" sz="3200" dirty="0"/>
                  <a:t>1</a:t>
                </a:r>
                <a:r>
                  <a:rPr lang="zh-CN" altLang="en-US" sz="3200" dirty="0"/>
                  <a:t>）做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片</m:t>
                    </m:r>
                  </m:oMath>
                </a14:m>
                <a:r>
                  <a:rPr lang="zh-CN" altLang="en-US" sz="3200" dirty="0"/>
                  <a:t>树叶，分别以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3200" dirty="0"/>
                  <a:t>权重。</a:t>
                </a:r>
                <a:endParaRPr lang="en-US" altLang="zh-CN" sz="3200" dirty="0"/>
              </a:p>
              <a:p>
                <a:r>
                  <a:rPr lang="zh-CN" altLang="en-US" sz="3200" dirty="0"/>
                  <a:t>（</a:t>
                </a:r>
                <a:r>
                  <a:rPr lang="en-US" altLang="zh-CN" sz="3200" dirty="0"/>
                  <a:t>2</a:t>
                </a:r>
                <a:r>
                  <a:rPr lang="zh-CN" altLang="en-US" sz="3200" dirty="0"/>
                  <a:t>）在所有入度为</a:t>
                </a:r>
                <a:r>
                  <a:rPr lang="en-US" altLang="zh-CN" sz="3200" dirty="0"/>
                  <a:t>0</a:t>
                </a:r>
                <a:r>
                  <a:rPr lang="zh-CN" altLang="en-US" sz="3200" dirty="0"/>
                  <a:t>的顶点（不一定是树叶）中选出两个权值最小的顶点，添加一个新分支点，它以这两个顶点为儿子，其权等于这两个儿子的权值之和。</a:t>
                </a:r>
                <a:endParaRPr lang="en-US" altLang="zh-CN" sz="3200" dirty="0"/>
              </a:p>
              <a:p>
                <a:r>
                  <a:rPr lang="zh-CN" altLang="en-US" sz="3200" dirty="0"/>
                  <a:t>（</a:t>
                </a:r>
                <a:r>
                  <a:rPr lang="en-US" altLang="zh-CN" sz="3200" dirty="0"/>
                  <a:t>3</a:t>
                </a:r>
                <a:r>
                  <a:rPr lang="zh-CN" altLang="en-US" sz="3200" dirty="0"/>
                  <a:t>）重复（</a:t>
                </a:r>
                <a:r>
                  <a:rPr lang="en-US" altLang="zh-CN" sz="3200" dirty="0"/>
                  <a:t>2</a:t>
                </a:r>
                <a:r>
                  <a:rPr lang="zh-CN" altLang="en-US" sz="3200" dirty="0"/>
                  <a:t>），直到只有</a:t>
                </a:r>
                <a:r>
                  <a:rPr lang="en-US" altLang="zh-CN" sz="3200" dirty="0"/>
                  <a:t>1</a:t>
                </a:r>
                <a:r>
                  <a:rPr lang="zh-CN" altLang="en-US" sz="3200" dirty="0"/>
                  <a:t>个入度为</a:t>
                </a:r>
                <a:r>
                  <a:rPr lang="en-US" altLang="zh-CN" sz="3200" dirty="0"/>
                  <a:t>0</a:t>
                </a:r>
                <a:r>
                  <a:rPr lang="zh-CN" altLang="en-US" sz="3200" dirty="0"/>
                  <a:t>的顶点为之。</a:t>
                </a:r>
                <a:endParaRPr lang="en-US" altLang="zh-CN" sz="3200" dirty="0"/>
              </a:p>
              <a:p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等于</m:t>
                    </m:r>
                  </m:oMath>
                </a14:m>
                <a:r>
                  <a:rPr lang="zh-CN" altLang="en-US" sz="3200" dirty="0"/>
                  <a:t>所有分支点的权值之和。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190294-A09C-EFF5-F0BC-1CBC5147E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531" y="906500"/>
                <a:ext cx="11004937" cy="4154984"/>
              </a:xfrm>
              <a:prstGeom prst="rect">
                <a:avLst/>
              </a:prstGeom>
              <a:blipFill>
                <a:blip r:embed="rId3"/>
                <a:stretch>
                  <a:fillRect l="-1938" t="-2643" r="-2769" b="-39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94294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" t="-376" r="1097" b="376"/>
          <a:stretch/>
        </p:blipFill>
        <p:spPr>
          <a:xfrm>
            <a:off x="-34506" y="-21214"/>
            <a:ext cx="12249510" cy="688784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4054567"/>
            <a:ext cx="12249510" cy="28280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0" name="Shape 45"/>
          <p:cNvSpPr/>
          <p:nvPr/>
        </p:nvSpPr>
        <p:spPr>
          <a:xfrm>
            <a:off x="2395549" y="4418398"/>
            <a:ext cx="8001969" cy="830997"/>
          </a:xfrm>
          <a:prstGeom prst="rect">
            <a:avLst/>
          </a:prstGeom>
          <a:noFill/>
          <a:ln w="12700">
            <a:noFill/>
            <a:miter lim="400000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lIns="45720" tIns="45720" rIns="45720" bIns="4572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algn="ctr"/>
            <a:r>
              <a:rPr lang="zh-CN" altLang="en-US" sz="4800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谢谢！</a:t>
            </a:r>
          </a:p>
        </p:txBody>
      </p:sp>
      <p:grpSp>
        <p:nvGrpSpPr>
          <p:cNvPr id="9" name="组合 45"/>
          <p:cNvGrpSpPr/>
          <p:nvPr/>
        </p:nvGrpSpPr>
        <p:grpSpPr>
          <a:xfrm>
            <a:off x="2050421" y="5500321"/>
            <a:ext cx="7946680" cy="499624"/>
            <a:chOff x="2002264" y="3399020"/>
            <a:chExt cx="8187473" cy="499622"/>
          </a:xfrm>
        </p:grpSpPr>
        <p:sp>
          <p:nvSpPr>
            <p:cNvPr id="17" name="矩形 17"/>
            <p:cNvSpPr>
              <a:spLocks noChangeArrowheads="1"/>
            </p:cNvSpPr>
            <p:nvPr/>
          </p:nvSpPr>
          <p:spPr bwMode="auto">
            <a:xfrm>
              <a:off x="3860796" y="3399020"/>
              <a:ext cx="4395931" cy="499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微软雅黑"/>
                  <a:ea typeface="微软雅黑"/>
                </a:rPr>
                <a:t>邬渊</a:t>
              </a:r>
              <a:endParaRPr lang="en-US" altLang="zh-CN" sz="2000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endParaRPr>
            </a:p>
          </p:txBody>
        </p:sp>
        <p:cxnSp>
          <p:nvCxnSpPr>
            <p:cNvPr id="18" name="直接连接符 13"/>
            <p:cNvCxnSpPr/>
            <p:nvPr/>
          </p:nvCxnSpPr>
          <p:spPr bwMode="auto">
            <a:xfrm>
              <a:off x="2002264" y="3705778"/>
              <a:ext cx="2329187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  <p:cxnSp>
          <p:nvCxnSpPr>
            <p:cNvPr id="19" name="直接连接符 14"/>
            <p:cNvCxnSpPr/>
            <p:nvPr/>
          </p:nvCxnSpPr>
          <p:spPr bwMode="auto">
            <a:xfrm>
              <a:off x="7828119" y="3705778"/>
              <a:ext cx="2361618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8" r="55688" b="42178"/>
          <a:stretch/>
        </p:blipFill>
        <p:spPr>
          <a:xfrm flipH="1">
            <a:off x="1727201" y="685800"/>
            <a:ext cx="1118396" cy="1422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6" t="40799" r="31019" b="39942"/>
          <a:stretch/>
        </p:blipFill>
        <p:spPr>
          <a:xfrm>
            <a:off x="7874000" y="1348059"/>
            <a:ext cx="3048000" cy="1320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505178" y="1026073"/>
            <a:ext cx="1137053" cy="48577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9956800" y="2935491"/>
            <a:ext cx="1137053" cy="48577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389" y="943829"/>
            <a:ext cx="5228265" cy="2902521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>
                <a:solidFill>
                  <a:prstClr val="white"/>
                </a:solidFill>
              </a:rPr>
              <a:pPr/>
              <a:t>31</a:t>
            </a:fld>
            <a:endParaRPr lang="zh-CN" altLang="en-US" dirty="0">
              <a:solidFill>
                <a:prstClr val="white"/>
              </a:solidFill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321" r="16752"/>
          <a:stretch/>
        </p:blipFill>
        <p:spPr>
          <a:xfrm>
            <a:off x="8580033" y="0"/>
            <a:ext cx="3634971" cy="330446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412" y="639326"/>
            <a:ext cx="931677" cy="93318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27937867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清风素材 https://12sc.taobao.com/">
  <a:themeElements>
    <a:clrScheme name="6_Colored Theme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377790"/>
      </a:accent1>
      <a:accent2>
        <a:srgbClr val="189A80"/>
      </a:accent2>
      <a:accent3>
        <a:srgbClr val="F09C2A"/>
      </a:accent3>
      <a:accent4>
        <a:srgbClr val="D24132"/>
      </a:accent4>
      <a:accent5>
        <a:srgbClr val="564266"/>
      </a:accent5>
      <a:accent6>
        <a:srgbClr val="686868"/>
      </a:accent6>
      <a:hlink>
        <a:srgbClr val="FFFFFF"/>
      </a:hlink>
      <a:folHlink>
        <a:srgbClr val="595959"/>
      </a:folHlink>
    </a:clrScheme>
    <a:fontScheme name="Arial">
      <a:majorFont>
        <a:latin typeface="Arial"/>
        <a:ea typeface=""/>
        <a:cs typeface="FontAwesome"/>
      </a:majorFont>
      <a:minorFont>
        <a:latin typeface="Arial"/>
        <a:ea typeface=""/>
        <a:cs typeface="FontAwesom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42271</TotalTime>
  <Words>2341</Words>
  <Application>Microsoft Office PowerPoint</Application>
  <PresentationFormat>宽屏</PresentationFormat>
  <Paragraphs>242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42" baseType="lpstr">
      <vt:lpstr>-apple-system</vt:lpstr>
      <vt:lpstr>FontAwesome</vt:lpstr>
      <vt:lpstr>等线</vt:lpstr>
      <vt:lpstr>等线 Light</vt:lpstr>
      <vt:lpstr>方正粗黑宋简体</vt:lpstr>
      <vt:lpstr>微软雅黑</vt:lpstr>
      <vt:lpstr>Arial</vt:lpstr>
      <vt:lpstr>Cambria Math</vt:lpstr>
      <vt:lpstr>Wingdings</vt:lpstr>
      <vt:lpstr>Office 主题​​</vt:lpstr>
      <vt:lpstr>清风素材 https://12sc.taobao.com/</vt:lpstr>
      <vt:lpstr>PowerPoint 演示文稿</vt:lpstr>
      <vt:lpstr>平面图</vt:lpstr>
      <vt:lpstr>平面图</vt:lpstr>
      <vt:lpstr>欧拉公式</vt:lpstr>
      <vt:lpstr>欧拉公式</vt:lpstr>
      <vt:lpstr>欧拉公式</vt:lpstr>
      <vt:lpstr>平面图</vt:lpstr>
      <vt:lpstr>平面图</vt:lpstr>
      <vt:lpstr>平面图</vt:lpstr>
      <vt:lpstr>消除\插入顶点</vt:lpstr>
      <vt:lpstr>平面图</vt:lpstr>
      <vt:lpstr>平面图</vt:lpstr>
      <vt:lpstr>库拉图斯基定理</vt:lpstr>
      <vt:lpstr>平面图</vt:lpstr>
      <vt:lpstr>地图着色</vt:lpstr>
      <vt:lpstr>无向树</vt:lpstr>
      <vt:lpstr>树</vt:lpstr>
      <vt:lpstr>树</vt:lpstr>
      <vt:lpstr>树</vt:lpstr>
      <vt:lpstr>树</vt:lpstr>
      <vt:lpstr>树</vt:lpstr>
      <vt:lpstr>树</vt:lpstr>
      <vt:lpstr>最小生成树</vt:lpstr>
      <vt:lpstr>Kruskal算法</vt:lpstr>
      <vt:lpstr>根树</vt:lpstr>
      <vt:lpstr>根树</vt:lpstr>
      <vt:lpstr>根子树</vt:lpstr>
      <vt:lpstr>根树的分类</vt:lpstr>
      <vt:lpstr>最优二叉树</vt:lpstr>
      <vt:lpstr>最优二叉树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邬 渊</cp:lastModifiedBy>
  <cp:revision>1984</cp:revision>
  <cp:lastPrinted>2019-05-20T00:00:00Z</cp:lastPrinted>
  <dcterms:created xsi:type="dcterms:W3CDTF">2019-04-24T04:43:00Z</dcterms:created>
  <dcterms:modified xsi:type="dcterms:W3CDTF">2025-04-07T05:10:40Z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2052-11.1.0.9209</vt:lpwstr>
  </property>
</Properties>
</file>
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0"/>
  </p:notesMasterIdLst>
  <p:sldIdLst>
    <p:sldId id="267" r:id="rId3"/>
    <p:sldId id="565" r:id="rId4"/>
    <p:sldId id="500" r:id="rId5"/>
    <p:sldId id="501" r:id="rId6"/>
    <p:sldId id="502" r:id="rId7"/>
    <p:sldId id="531" r:id="rId8"/>
    <p:sldId id="503" r:id="rId9"/>
    <p:sldId id="504" r:id="rId10"/>
    <p:sldId id="505" r:id="rId11"/>
    <p:sldId id="508" r:id="rId12"/>
    <p:sldId id="509" r:id="rId13"/>
    <p:sldId id="510" r:id="rId14"/>
    <p:sldId id="511" r:id="rId15"/>
    <p:sldId id="532" r:id="rId16"/>
    <p:sldId id="533" r:id="rId17"/>
    <p:sldId id="534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57" r:id="rId41"/>
    <p:sldId id="558" r:id="rId42"/>
    <p:sldId id="559" r:id="rId43"/>
    <p:sldId id="560" r:id="rId44"/>
    <p:sldId id="561" r:id="rId45"/>
    <p:sldId id="562" r:id="rId46"/>
    <p:sldId id="563" r:id="rId47"/>
    <p:sldId id="564" r:id="rId48"/>
    <p:sldId id="334" r:id="rId4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280" autoAdjust="0"/>
  </p:normalViewPr>
  <p:slideViewPr>
    <p:cSldViewPr snapToGrid="0" showGuides="1">
      <p:cViewPr varScale="1">
        <p:scale>
          <a:sx n="125" d="100"/>
          <a:sy n="125" d="100"/>
        </p:scale>
        <p:origin x="16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66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83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83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17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733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3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3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6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90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16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55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472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692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8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329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289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489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166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44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771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485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298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3678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17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6584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978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644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846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42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2911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255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328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188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0279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332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6519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7349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261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056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040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353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559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8452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197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7560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2025/3/19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多重集：集合中的元素不重复出现，当允许元素重复出现时称作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多重集。</a:t>
                </a:r>
                <a:endParaRPr lang="en-US" altLang="zh-CN" sz="32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endParaRPr lang="en-US" altLang="zh-CN" sz="32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</m:e>
                    </m:d>
                    <m:r>
                      <a:rPr lang="zh-CN" altLang="en-US" sz="3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作为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集合是相同的，而作为多重集是不相同的。</a:t>
                </a:r>
                <a:endParaRPr lang="en-US" altLang="zh-CN" sz="32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两个集合，称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{{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}|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无序积，记作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&amp;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无序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也可以被记作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031873"/>
              </a:xfrm>
              <a:prstGeom prst="rect">
                <a:avLst/>
              </a:prstGeom>
              <a:blipFill>
                <a:blip r:embed="rId3"/>
                <a:stretch>
                  <a:fillRect l="-1425" t="-1964" b="-3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077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是一个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二元组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其中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一个非空的有穷集合，称为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顶点集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顶点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结点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无序积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&amp;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一个多重子集，称为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边集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无向边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或简称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边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边集记作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顶点集为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图为空图。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684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637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168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例题：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，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</m:oMath>
                  </m:oMathPara>
                </a14:m>
                <a:endParaRPr lang="en-US" altLang="zh-CN" sz="3200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1681422"/>
              </a:xfrm>
              <a:prstGeom prst="rect">
                <a:avLst/>
              </a:prstGeom>
              <a:blipFill>
                <a:blip r:embed="rId3"/>
                <a:stretch>
                  <a:fillRect l="-1995" t="-6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253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一个有向图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是一个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二元组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其中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一个非空的有穷集合，称为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元素称为顶点或结点；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卡氏积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多重子图，称为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边集，其元素称为有向边或边。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使用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顶点集和边集。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3000" r="-114" b="-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632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17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例题：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𝐷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，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</m:oMath>
                  </m:oMathPara>
                </a14:m>
                <a:endParaRPr lang="en-US" altLang="zh-CN" sz="3200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 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173865"/>
              </a:xfrm>
              <a:prstGeom prst="rect">
                <a:avLst/>
              </a:prstGeom>
              <a:blipFill>
                <a:blip r:embed="rId3"/>
                <a:stretch>
                  <a:fillRect l="-1995" t="-5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195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/>
              <p:nvPr/>
            </p:nvSpPr>
            <p:spPr>
              <a:xfrm>
                <a:off x="577361" y="1029712"/>
                <a:ext cx="11037277" cy="249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dirty="0"/>
                  <a:t>顶点的图（无向图或有向图）称为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阶</m:t>
                    </m:r>
                  </m:oMath>
                </a14:m>
                <a:r>
                  <a:rPr lang="zh-CN" altLang="en-US" sz="3200" dirty="0"/>
                  <a:t>图。没有一条边的图称为零图。一阶零图，即只有一个顶点、没有边的图，称为平凡图。</a:t>
                </a:r>
                <a:endParaRPr lang="en-US" altLang="zh-CN" sz="3200" dirty="0"/>
              </a:p>
              <a:p>
                <a:endParaRPr lang="en-US" altLang="zh-CN" sz="2800" dirty="0"/>
              </a:p>
              <a:p>
                <a:endParaRPr lang="en-US" altLang="zh-CN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1" y="1029712"/>
                <a:ext cx="11037277" cy="2492990"/>
              </a:xfrm>
              <a:prstGeom prst="rect">
                <a:avLst/>
              </a:prstGeom>
              <a:blipFill>
                <a:blip r:embed="rId3"/>
                <a:stretch>
                  <a:fillRect l="-1436" t="-3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939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931509"/>
                <a:ext cx="10691446" cy="6309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600" dirty="0"/>
                  <a:t>，设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600" dirty="0"/>
                  <a:t>一条边，则称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3600" i="1" smtClean="0">
                        <a:latin typeface="Cambria Math" panose="02040503050406030204" pitchFamily="18" charset="0"/>
                      </a:rPr>
                      <m:t>端点</m:t>
                    </m:r>
                  </m:oMath>
                </a14:m>
                <a:r>
                  <a:rPr lang="zh-CN" altLang="en-US" sz="36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关联</m:t>
                    </m:r>
                  </m:oMath>
                </a14:m>
                <a:r>
                  <a:rPr lang="zh-CN" altLang="en-US" sz="3600" dirty="0"/>
                  <a:t>。无边关联的顶点称为孤立点。若一条边所关联的两个顶点重合，则称此边为环。若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dirty="0"/>
                  <a:t>则称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600" dirty="0"/>
                  <a:t>关联次数为</a:t>
                </a:r>
                <a:r>
                  <a:rPr lang="en-US" altLang="zh-CN" sz="3600" dirty="0"/>
                  <a:t>1</a:t>
                </a:r>
                <a:r>
                  <a:rPr lang="zh-CN" altLang="en-US" sz="3600" dirty="0"/>
                  <a:t>；若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dirty="0"/>
                  <a:t>称</a:t>
                </a: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600" dirty="0"/>
                  <a:t>关联次数为</a:t>
                </a:r>
                <a:r>
                  <a:rPr lang="en-US" altLang="zh-CN" sz="3600" dirty="0"/>
                  <a:t>2</a:t>
                </a:r>
                <a:r>
                  <a:rPr lang="zh-CN" altLang="en-US" sz="3600" dirty="0"/>
                  <a:t>；若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不是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3600" i="1" smtClean="0">
                        <a:latin typeface="Cambria Math" panose="02040503050406030204" pitchFamily="18" charset="0"/>
                      </a:rPr>
                      <m:t>端点</m:t>
                    </m:r>
                  </m:oMath>
                </a14:m>
                <a:r>
                  <a:rPr lang="zh-CN" altLang="en-US" sz="3600" dirty="0"/>
                  <a:t>，则称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600" dirty="0"/>
                  <a:t>关联次数为</a:t>
                </a:r>
                <a:r>
                  <a:rPr lang="en-US" altLang="zh-CN" sz="3600" dirty="0"/>
                  <a:t>0</a:t>
                </a:r>
                <a:r>
                  <a:rPr lang="zh-CN" altLang="en-US" sz="3600" dirty="0"/>
                  <a:t>。</a:t>
                </a:r>
                <a:endParaRPr lang="en-US" altLang="zh-CN" sz="3600" dirty="0"/>
              </a:p>
              <a:p>
                <a:r>
                  <a:rPr lang="zh-CN" altLang="en-US" sz="3600" dirty="0"/>
                  <a:t>若存在一条边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以</m:t>
                    </m:r>
                  </m:oMath>
                </a14:m>
                <a:r>
                  <a:rPr lang="zh-CN" altLang="en-US" sz="3600" dirty="0"/>
                  <a:t>顶点</a:t>
                </a: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600" i="1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600" dirty="0"/>
                  <a:t>端点，则称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是相邻</m:t>
                    </m:r>
                  </m:oMath>
                </a14:m>
                <a:r>
                  <a:rPr lang="zh-CN" altLang="en-US" sz="3600" dirty="0"/>
                  <a:t>的。若两条边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至少</m:t>
                    </m:r>
                  </m:oMath>
                </a14:m>
                <a:r>
                  <a:rPr lang="zh-CN" altLang="en-US" sz="3600" dirty="0"/>
                  <a:t>有一个公共端点，则称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sz="36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600" b="0" dirty="0"/>
                  <a:t>相邻的。</a:t>
                </a:r>
                <a:endParaRPr lang="en-US" altLang="zh-CN" sz="3600" b="0" dirty="0"/>
              </a:p>
              <a:p>
                <a:endParaRPr lang="en-US" altLang="zh-CN" sz="36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931509"/>
                <a:ext cx="10691446" cy="6309420"/>
              </a:xfrm>
              <a:prstGeom prst="rect">
                <a:avLst/>
              </a:prstGeom>
              <a:blipFill>
                <a:blip r:embed="rId3"/>
                <a:stretch>
                  <a:fillRect l="-1995" t="-1739" r="-6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29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91065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一条有向边，则称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始点，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终点，也称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端点，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关联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。无边关联的顶点称为孤立点。若一条有向边的始点与终点重合，则称此边为环。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若存在一条边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以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始点，以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终点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邻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接到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若边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终点与边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始点重合，则称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相邻的。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91065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r="-28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867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图的度数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在无向图中，称顶点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作为边的端点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的次数之和为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度数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，简称度，记作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在有向图中，称顶点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作为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边的始点的次数之和为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出度，记作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作为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边的终点的次数之和为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入度，记作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作为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边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的端点的次数之和为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度数，简称度，记作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r="-5302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290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图的度数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称度数为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的顶点为悬挂顶点，它所关联的边为悬挂边。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对于无向图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记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∆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𝐺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max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⁡{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𝑑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𝛿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𝐺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min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⁡{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分别为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最大度和最小度。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b="-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4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图的度数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对于有向图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除了最大度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∆(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最小度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外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，还有最大出度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最大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入度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最小出度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𝛿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最小入度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𝛿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∆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max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⁡{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∆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m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𝑎𝑥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−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∈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min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⁡{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min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⁡{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𝑣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 l="-1425" t="-2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612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02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无向图或有向图，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)</m:t>
                          </m:r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证明：每条边有两个端点，所有顶点的度数之和等于它们作为端点的次数之和，因此恰好等于边数的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倍。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021998"/>
              </a:xfrm>
              <a:prstGeom prst="rect">
                <a:avLst/>
              </a:prstGeom>
              <a:blipFill>
                <a:blip r:embed="rId3"/>
                <a:stretch>
                  <a:fillRect l="-1995" t="-2727" b="-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943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握手定理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860209"/>
            <a:ext cx="106914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推论：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任何图（无向图或有向图）中，度数为奇数的顶点个数是偶数。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20970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44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44671"/>
              </a:xfrm>
              <a:prstGeom prst="rect">
                <a:avLst/>
              </a:prstGeom>
              <a:blipFill>
                <a:blip r:embed="rId3"/>
                <a:stretch>
                  <a:fillRect l="-1995" t="-4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15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度数序列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度数序列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。有向图还包括入度序列和出度序列。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1569660"/>
              </a:xfrm>
              <a:prstGeom prst="rect">
                <a:avLst/>
              </a:prstGeom>
              <a:blipFill>
                <a:blip r:embed="rId3"/>
                <a:stretch>
                  <a:fillRect l="-1425" t="-5039" r="-1425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298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例题：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3,3,2,3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(5,2,3,1,4)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能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图的度数序列吗？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）已知图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10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条边，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个度数为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的顶点，其余顶点的度数均小于或等于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至少有多少个顶点。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428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848732-FE4C-BA67-502B-B676631BB756}"/>
              </a:ext>
            </a:extLst>
          </p:cNvPr>
          <p:cNvSpPr txBox="1"/>
          <p:nvPr/>
        </p:nvSpPr>
        <p:spPr>
          <a:xfrm>
            <a:off x="750277" y="860209"/>
            <a:ext cx="1069144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5.6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在无向图中，关联一对顶点的无向边如果多于</a:t>
            </a:r>
            <a:r>
              <a:rPr lang="en-US" altLang="zh-CN" sz="3200" dirty="0">
                <a:sym typeface="Wingdings" panose="05000000000000000000" pitchFamily="2" charset="2"/>
              </a:rPr>
              <a:t>1</a:t>
            </a:r>
            <a:r>
              <a:rPr lang="zh-CN" altLang="en-US" sz="3200" dirty="0">
                <a:sym typeface="Wingdings" panose="05000000000000000000" pitchFamily="2" charset="2"/>
              </a:rPr>
              <a:t>条，称这些边为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平行边</a:t>
            </a:r>
            <a:r>
              <a:rPr lang="zh-CN" altLang="en-US" sz="3200" dirty="0">
                <a:sym typeface="Wingdings" panose="05000000000000000000" pitchFamily="2" charset="2"/>
              </a:rPr>
              <a:t>，平行边的条数成为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重数</a:t>
            </a:r>
            <a:r>
              <a:rPr lang="zh-CN" altLang="en-US" sz="3200" dirty="0">
                <a:sym typeface="Wingdings" panose="05000000000000000000" pitchFamily="2" charset="2"/>
              </a:rPr>
              <a:t>。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在有向图中，如果有多余</a:t>
            </a:r>
            <a:r>
              <a:rPr lang="en-US" altLang="zh-CN" sz="3200" dirty="0">
                <a:sym typeface="Wingdings" panose="05000000000000000000" pitchFamily="2" charset="2"/>
              </a:rPr>
              <a:t>1</a:t>
            </a:r>
            <a:r>
              <a:rPr lang="zh-CN" altLang="en-US" sz="3200" dirty="0">
                <a:sym typeface="Wingdings" panose="05000000000000000000" pitchFamily="2" charset="2"/>
              </a:rPr>
              <a:t>条的边的始点与终点相同，则称这些边为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有向平行边</a:t>
            </a:r>
            <a:r>
              <a:rPr lang="zh-CN" altLang="en-US" sz="3200" dirty="0">
                <a:sym typeface="Wingdings" panose="05000000000000000000" pitchFamily="2" charset="2"/>
              </a:rPr>
              <a:t>，简称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平行边</a:t>
            </a:r>
            <a:r>
              <a:rPr lang="zh-CN" altLang="en-US" sz="3200" dirty="0">
                <a:sym typeface="Wingdings" panose="05000000000000000000" pitchFamily="2" charset="2"/>
              </a:rPr>
              <a:t>。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含平行边的图称为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多重图</a:t>
            </a:r>
            <a:r>
              <a:rPr lang="zh-CN" altLang="en-US" sz="3200" dirty="0">
                <a:sym typeface="Wingdings" panose="05000000000000000000" pitchFamily="2" charset="2"/>
              </a:rPr>
              <a:t>。既不含平行边也不含环的图称为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简单图</a:t>
            </a:r>
            <a:r>
              <a:rPr lang="zh-CN" altLang="en-US" sz="3200" dirty="0">
                <a:sym typeface="Wingdings" panose="05000000000000000000" pitchFamily="2" charset="2"/>
              </a:rPr>
              <a:t>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468307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无向简单图，若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任何顶点都与其余的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个顶点相邻，则称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𝒏</m:t>
                    </m:r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无向完全图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𝐾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有向简单图，若对于任意的顶点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既有有向边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又有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𝒏</m:t>
                    </m:r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有向完全图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946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6124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两个图。若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且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子图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母图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且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（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即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或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），则称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真子图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且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生成子图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以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顶点集，以所有两个端点均在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中的边为边集的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子图，称为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导出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导出子图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≠∅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为边集，以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边关联的所有顶点为顶点集的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子图，成为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导出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导出子图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6124754"/>
              </a:xfrm>
              <a:prstGeom prst="rect">
                <a:avLst/>
              </a:prstGeom>
              <a:blipFill>
                <a:blip r:embed="rId3"/>
                <a:stretch>
                  <a:fillRect l="-1995" t="-1793" r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9336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1737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无向简单图。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补图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2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acc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定义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如下：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2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acc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，其中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且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1737527"/>
              </a:xfrm>
              <a:prstGeom prst="rect">
                <a:avLst/>
              </a:prstGeom>
              <a:blipFill>
                <a:blip r:embed="rId3"/>
                <a:stretch>
                  <a:fillRect l="-1995" t="-6316" b="-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753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710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图是表达事物之间关系的工具。在画图时，由于顶点位置的不同，边的直、曲不同，同一个事物之间的关系可能画出不同形状的图来，因此引出了图同构的概念。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两个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无向图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 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如果存在双射函数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，使得对于任意的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当且仅当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并且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重数相同，则称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同构的，记作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≅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710841"/>
              </a:xfrm>
              <a:prstGeom prst="rect">
                <a:avLst/>
              </a:prstGeom>
              <a:blipFill>
                <a:blip r:embed="rId3"/>
                <a:stretch>
                  <a:fillRect l="-1995" t="-1682" r="-969" b="-3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138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通路与回路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顶点和边的交替序列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…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端点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（当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有向图时，要求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始点，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终点），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=1,2,…,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通路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称为此通路的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起点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和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终点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的边的数目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称为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长度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，此通路称为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回路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 b="-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553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通路与回路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的所有边互不相同，则称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简单通路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，称此简单通路为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简单回路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Γ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除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外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所有顶点互不相同，所有边也互不相同，则称此通路为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初级通路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路径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，称此初级通路为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初级回路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圈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有边重复出现的通路称为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复杂通路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，有边重复出现的回路称为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复杂回路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524315"/>
              </a:xfrm>
              <a:prstGeom prst="rect">
                <a:avLst/>
              </a:prstGeom>
              <a:blipFill>
                <a:blip r:embed="rId3"/>
                <a:stretch>
                  <a:fillRect l="-1425" t="-1752" r="-530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978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通路与回路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图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中，若从顶点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通路，则从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通路。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推论：</a:t>
                </a: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图中，若从顶点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通路，则从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初级通路。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278094"/>
              </a:xfrm>
              <a:prstGeom prst="rect">
                <a:avLst/>
              </a:prstGeom>
              <a:blipFill>
                <a:blip r:embed="rId3"/>
                <a:stretch>
                  <a:fillRect l="-1995" t="-2564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49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通路与回路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图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中，如果存在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自身的回路，则存在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自身长度小于或等于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回路。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推论：</a:t>
                </a: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在一个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图中，如果存在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自身的简单回路，则存在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自身长度小于或等于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初级回路。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3785652"/>
              </a:xfrm>
              <a:prstGeom prst="rect">
                <a:avLst/>
              </a:prstGeom>
              <a:blipFill>
                <a:blip r:embed="rId3"/>
                <a:stretch>
                  <a:fillRect l="-1995" t="-2899" r="-912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4408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在一个无向图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，若从顶点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通路（当然从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存在通路），则称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zh-CN" altLang="en-US" sz="3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连通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的。规定任何顶点与自身总是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连通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的。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在一个有向图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，若从</a:t>
                </a:r>
                <a14:m>
                  <m:oMath xmlns:m="http://schemas.openxmlformats.org/officeDocument/2006/math"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顶点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存在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通路，则称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可达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规定任何顶点到自身总是可达的。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287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是平凡图或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任意两个顶点都是连通的，则称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；否则，称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非连通图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在无向图中，顶点之间的连通关系是等价关系。设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为一个无向图，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顶点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之间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的连通关系。按照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可将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划分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若干等价类，设为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。由它们导出的导出子图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…,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称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连通分支，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连通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分支个数记为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969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4672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是一个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有向图，如果略去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各有向边的方向后所得无向图是连通图，则称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弱连通图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，简称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任意两个顶点至少一个可达另一个，则称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单向连通图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任何一对顶点都是相互可达的，则称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强连通图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1026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239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强连通图一定是单向连通图，单向连通图一定是弱连通图，但反之不一定为真。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设无向图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所有顶点及其关联的边，称作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，把删除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后的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图记作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又设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删除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的所有边，称作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把删除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后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的图记作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031873"/>
              </a:xfrm>
              <a:prstGeom prst="rect">
                <a:avLst/>
              </a:prstGeom>
              <a:blipFill>
                <a:blip r:embed="rId3"/>
                <a:stretch>
                  <a:fillRect l="-1425" t="-1967" r="-1995" b="-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046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割集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。且对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任何真子集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′′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点割集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。若点割集中只有一个顶点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割点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且对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任何真子集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′′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边割集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。若边割集中只有一条边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割边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桥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154984"/>
              </a:xfrm>
              <a:prstGeom prst="rect">
                <a:avLst/>
              </a:prstGeom>
              <a:blipFill>
                <a:blip r:embed="rId3"/>
                <a:stretch>
                  <a:fillRect l="-1995" t="-2643" r="-684" b="-3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0477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割集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750277" y="778929"/>
                <a:ext cx="1069144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5.15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。且对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任何真子集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′′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点割集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。若点割集中只有一个顶点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割点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且对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任何真子集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′′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边割集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。若边割集中只有一条边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割边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桥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778929"/>
                <a:ext cx="10691446" cy="4154984"/>
              </a:xfrm>
              <a:prstGeom prst="rect">
                <a:avLst/>
              </a:prstGeom>
              <a:blipFill>
                <a:blip r:embed="rId3"/>
                <a:stretch>
                  <a:fillRect l="-1995" t="-2643" r="-684" b="-3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257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割点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848732-FE4C-BA67-502B-B676631BB756}"/>
              </a:ext>
            </a:extLst>
          </p:cNvPr>
          <p:cNvSpPr txBox="1"/>
          <p:nvPr/>
        </p:nvSpPr>
        <p:spPr>
          <a:xfrm>
            <a:off x="750277" y="77892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割点</a:t>
            </a:r>
            <a:r>
              <a:rPr lang="zh-CN" altLang="en-US" sz="3200" dirty="0">
                <a:sym typeface="Wingdings" panose="05000000000000000000" pitchFamily="2" charset="2"/>
              </a:rPr>
              <a:t>：在一个无向图中，如果删除某个顶点，这个图就不再连通（任意两点之间无法互相到达），那么这个顶点就是这个图的割点。</a:t>
            </a:r>
            <a:endParaRPr lang="en-US" altLang="zh-CN" sz="3200" b="0" dirty="0">
              <a:sym typeface="Wingdings" panose="05000000000000000000" pitchFamily="2" charset="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C10DE8-D850-454E-BF7C-340047D1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460" y="2373809"/>
            <a:ext cx="3431080" cy="39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62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割边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848732-FE4C-BA67-502B-B676631BB756}"/>
              </a:ext>
            </a:extLst>
          </p:cNvPr>
          <p:cNvSpPr txBox="1"/>
          <p:nvPr/>
        </p:nvSpPr>
        <p:spPr>
          <a:xfrm>
            <a:off x="750277" y="778929"/>
            <a:ext cx="10691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割边</a:t>
            </a:r>
            <a:r>
              <a:rPr lang="zh-CN" altLang="en-US" sz="3200" dirty="0">
                <a:sym typeface="Wingdings" panose="05000000000000000000" pitchFamily="2" charset="2"/>
              </a:rPr>
              <a:t>：在一个无向图中，如果删除某条边后，这个图就不再连通（任意两点之间无法互相到达），那么这条边就是这个图的割边。</a:t>
            </a:r>
            <a:endParaRPr lang="en-US" altLang="zh-CN" sz="3200" b="0" dirty="0">
              <a:sym typeface="Wingdings" panose="05000000000000000000" pitchFamily="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E85891-5EC4-B892-0524-6EBF5E7A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205" y="2348589"/>
            <a:ext cx="367141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34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图的矩阵表示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848732-FE4C-BA67-502B-B676631BB756}"/>
              </a:ext>
            </a:extLst>
          </p:cNvPr>
          <p:cNvSpPr txBox="1"/>
          <p:nvPr/>
        </p:nvSpPr>
        <p:spPr>
          <a:xfrm>
            <a:off x="750277" y="1388529"/>
            <a:ext cx="1069144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sym typeface="Wingdings" panose="05000000000000000000" pitchFamily="2" charset="2"/>
              </a:rPr>
              <a:t>必要性：</a:t>
            </a:r>
            <a:r>
              <a:rPr lang="zh-CN" altLang="en-US" sz="3200" dirty="0">
                <a:sym typeface="Wingdings" panose="05000000000000000000" pitchFamily="2" charset="2"/>
              </a:rPr>
              <a:t>用矩阵表示图便于用代数方法研究图，同时也便于计算机的存储和处理。</a:t>
            </a:r>
            <a:endParaRPr lang="en-US" altLang="zh-CN" sz="3200" b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7985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无向图的关联矩阵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956729"/>
                <a:ext cx="11218204" cy="1711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关联次数，称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关联矩阵，记为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956729"/>
                <a:ext cx="11218204" cy="1711238"/>
              </a:xfrm>
              <a:prstGeom prst="rect">
                <a:avLst/>
              </a:prstGeom>
              <a:blipFill>
                <a:blip r:embed="rId3"/>
                <a:stretch>
                  <a:fillRect l="-1413" t="-4626" r="-5000" b="-10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440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无向图的关联矩阵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3636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无向图的关联矩阵具有如下性质：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）每列恰好有两个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或一个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，这是因为每条边关联两个顶点（环关联的两个顶点重合）；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元素之和为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度数，即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）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所有元素之和等于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（握手定理）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孤立点当且仅当第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全为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0.</a:t>
                </a: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5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与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平行边当且仅当第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列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与第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列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相同。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3636380"/>
              </a:xfrm>
              <a:prstGeom prst="rect">
                <a:avLst/>
              </a:prstGeom>
              <a:blipFill>
                <a:blip r:embed="rId3"/>
                <a:stretch>
                  <a:fillRect l="-1413" t="-2181" b="-3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090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有向图的关联矩阵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956729"/>
                <a:ext cx="11218204" cy="3594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首先，需要有向图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没有环。设无环有向图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令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为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的</m:t>
                              </m:r>
                              <m:r>
                                <a:rPr lang="zh-CN" altLang="en-US" sz="320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始点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与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不关联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为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的</m:t>
                              </m:r>
                              <m:r>
                                <a:rPr lang="zh-CN" altLang="en-US" sz="320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终点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关联矩阵，记作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956729"/>
                <a:ext cx="11218204" cy="3594958"/>
              </a:xfrm>
              <a:prstGeom prst="rect">
                <a:avLst/>
              </a:prstGeom>
              <a:blipFill>
                <a:blip r:embed="rId3"/>
                <a:stretch>
                  <a:fillRect l="-1413" t="-2203" b="-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554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有向图的关联矩阵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有向图的关联矩阵具有如下性质：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）每列恰好有一个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和一个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-1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；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的个数等于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en-US" altLang="zh-CN" sz="3200" b="0" dirty="0">
                    <a:sym typeface="Wingdings" panose="05000000000000000000" pitchFamily="2" charset="2"/>
                  </a:rPr>
                  <a:t>-1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的个数等于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所有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的个数等于所有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-1</a:t>
                </a:r>
                <a:r>
                  <a:rPr lang="zh-CN" altLang="en-US" sz="3200" b="0" dirty="0">
                    <a:sym typeface="Wingdings" panose="05000000000000000000" pitchFamily="2" charset="2"/>
                  </a:rPr>
                  <a:t>的个数，都等于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2062103"/>
              </a:xfrm>
              <a:prstGeom prst="rect">
                <a:avLst/>
              </a:prstGeom>
              <a:blipFill>
                <a:blip r:embed="rId3"/>
                <a:stretch>
                  <a:fillRect l="-1413" t="-3846" b="-8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083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2071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令</m:t>
                    </m:r>
                    <m:sSubSup>
                      <m:sSub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(1)</m:t>
                        </m:r>
                      </m:sup>
                    </m:sSub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邻接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的边的条数，称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邻接矩阵，记作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2071144"/>
              </a:xfrm>
              <a:prstGeom prst="rect">
                <a:avLst/>
              </a:prstGeom>
              <a:blipFill>
                <a:blip r:embed="rId3"/>
                <a:stretch>
                  <a:fillRect l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671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492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有向图的邻接矩阵具有下述性质：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元素之和等于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(1)</m:t>
                            </m:r>
                          </m:sup>
                        </m:sSub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）第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列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元素之和等于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(1)</m:t>
                            </m:r>
                          </m:sup>
                        </m:sSub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）所有元素之和等于边数，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(1)</m:t>
                                </m:r>
                              </m:sup>
                            </m:sSub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每条边是一条长度为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的通路，而环是长度为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的回路，因而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(1)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的通路（含回路）数，而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𝑖𝑖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(1)</m:t>
                            </m:r>
                          </m:sup>
                        </m:sSubSup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的回路总数。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4927054"/>
              </a:xfrm>
              <a:prstGeom prst="rect">
                <a:avLst/>
              </a:prstGeom>
              <a:blipFill>
                <a:blip r:embed="rId3"/>
                <a:stretch>
                  <a:fillRect l="-1413" t="-1609" b="-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268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3011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5.5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有向图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的邻接矩阵，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≥1)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中元素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sup>
                    </m:sSub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长度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通路数，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(1)</m:t>
                                </m:r>
                              </m:sup>
                            </m:sSubSup>
                            <m:r>
                              <a:rPr lang="zh-CN" altLang="en-US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为</m:t>
                            </m:r>
                          </m:e>
                        </m:nary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通路（含回路）总数，其中，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𝑖𝑖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𝑙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)</m:t>
                            </m:r>
                          </m:sup>
                        </m:sSubSup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回路数。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3011145"/>
              </a:xfrm>
              <a:prstGeom prst="rect">
                <a:avLst/>
              </a:prstGeom>
              <a:blipFill>
                <a:blip r:embed="rId3"/>
                <a:stretch>
                  <a:fillRect l="-1957" t="-3644" r="-1359" b="-5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861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3192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推论：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+…+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≥1)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元素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长度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通路数，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𝑟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)</m:t>
                                </m:r>
                              </m:sup>
                            </m:sSubSup>
                          </m:e>
                        </m:nary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通路（含回路）总数，其中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𝑖𝑖</m:t>
                            </m:r>
                          </m:sub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𝑟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)</m:t>
                            </m:r>
                          </m:sup>
                        </m:sSubSup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长度小于或等于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回路总数。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3192477"/>
              </a:xfrm>
              <a:prstGeom prst="rect">
                <a:avLst/>
              </a:prstGeom>
              <a:blipFill>
                <a:blip r:embed="rId3"/>
                <a:stretch>
                  <a:fillRect l="-1957" t="-3435" r="-1250" b="-5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457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有向图的可达矩阵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3482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一有向图，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令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可达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0, 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否则</m:t>
                              </m:r>
                            </m:e>
                          </m:eqArr>
                        </m:e>
                      </m:d>
                      <m:r>
                        <a:rPr lang="zh-CN" altLang="en-US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，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𝑖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=1,2,…,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×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可达矩阵，记作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注：任何顶点到自身都是可达的。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3482685"/>
              </a:xfrm>
              <a:prstGeom prst="rect">
                <a:avLst/>
              </a:prstGeom>
              <a:blipFill>
                <a:blip r:embed="rId3"/>
                <a:stretch>
                  <a:fillRect l="-1413" t="-2277" b="-4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778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带权图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3192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给有向图或无向图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每条边附加一个实数，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连同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附加在边上的实数称为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带权图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𝑊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附加在边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上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的实数，称作边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权值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带权图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子图，称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sub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权，记作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当无向边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或有向边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</m:d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常记为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3192284"/>
              </a:xfrm>
              <a:prstGeom prst="rect">
                <a:avLst/>
              </a:prstGeom>
              <a:blipFill>
                <a:blip r:embed="rId3"/>
                <a:stretch>
                  <a:fillRect l="-1413" t="-2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766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/>
              <p:nvPr/>
            </p:nvSpPr>
            <p:spPr>
              <a:xfrm>
                <a:off x="486898" y="834809"/>
                <a:ext cx="11218204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设带权图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直观上把一条边的权看成这条边的长度，通路的长度等于它上面所有边的长度之和，即这条通路的权。设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的两个顶点，从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所有通路中权最小的通路称为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最短路径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最短路径的权称作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距离，记作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最短路径问题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：任给一个简单带权图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之间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的最短路径及距离。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848732-FE4C-BA67-502B-B676631BB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98" y="834809"/>
                <a:ext cx="11218204" cy="4031873"/>
              </a:xfrm>
              <a:prstGeom prst="rect">
                <a:avLst/>
              </a:prstGeom>
              <a:blipFill>
                <a:blip r:embed="rId3"/>
                <a:stretch>
                  <a:fillRect l="-1413" t="-1967" r="-1304" b="-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22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47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41068</TotalTime>
  <Words>3898</Words>
  <Application>Microsoft Office PowerPoint</Application>
  <PresentationFormat>宽屏</PresentationFormat>
  <Paragraphs>295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7" baseType="lpstr">
      <vt:lpstr>FontAwesome</vt:lpstr>
      <vt:lpstr>等线</vt:lpstr>
      <vt:lpstr>等线 Light</vt:lpstr>
      <vt:lpstr>方正粗黑宋简体</vt:lpstr>
      <vt:lpstr>微软雅黑</vt:lpstr>
      <vt:lpstr>Arial</vt:lpstr>
      <vt:lpstr>Cambria Math</vt:lpstr>
      <vt:lpstr>Wingdings</vt:lpstr>
      <vt:lpstr>Office 主题​​</vt:lpstr>
      <vt:lpstr>清风素材 https://12sc.taobao.com/</vt:lpstr>
      <vt:lpstr>PowerPoint 演示文稿</vt:lpstr>
      <vt:lpstr>图</vt:lpstr>
      <vt:lpstr>无向图</vt:lpstr>
      <vt:lpstr>无向图</vt:lpstr>
      <vt:lpstr>有向图</vt:lpstr>
      <vt:lpstr>有向图</vt:lpstr>
      <vt:lpstr>图</vt:lpstr>
      <vt:lpstr>端点</vt:lpstr>
      <vt:lpstr>图</vt:lpstr>
      <vt:lpstr>图的度数</vt:lpstr>
      <vt:lpstr>图的度数</vt:lpstr>
      <vt:lpstr>图的度数</vt:lpstr>
      <vt:lpstr>握手定理</vt:lpstr>
      <vt:lpstr>握手定理</vt:lpstr>
      <vt:lpstr>图</vt:lpstr>
      <vt:lpstr>度数序列</vt:lpstr>
      <vt:lpstr>握手定理</vt:lpstr>
      <vt:lpstr>图</vt:lpstr>
      <vt:lpstr>图</vt:lpstr>
      <vt:lpstr>图</vt:lpstr>
      <vt:lpstr>图</vt:lpstr>
      <vt:lpstr>同构图</vt:lpstr>
      <vt:lpstr>通路与回路</vt:lpstr>
      <vt:lpstr>通路与回路</vt:lpstr>
      <vt:lpstr>通路与回路</vt:lpstr>
      <vt:lpstr>通路与回路</vt:lpstr>
      <vt:lpstr>连通图</vt:lpstr>
      <vt:lpstr>连通图</vt:lpstr>
      <vt:lpstr>连通图</vt:lpstr>
      <vt:lpstr>连通图</vt:lpstr>
      <vt:lpstr>割集</vt:lpstr>
      <vt:lpstr>割集</vt:lpstr>
      <vt:lpstr>割点</vt:lpstr>
      <vt:lpstr>割边</vt:lpstr>
      <vt:lpstr>图的矩阵表示</vt:lpstr>
      <vt:lpstr>无向图的关联矩阵</vt:lpstr>
      <vt:lpstr>无向图的关联矩阵</vt:lpstr>
      <vt:lpstr>有向图的关联矩阵</vt:lpstr>
      <vt:lpstr>有向图的关联矩阵</vt:lpstr>
      <vt:lpstr>有向图的邻接矩阵</vt:lpstr>
      <vt:lpstr>有向图的邻接矩阵</vt:lpstr>
      <vt:lpstr>有向图的邻接矩阵</vt:lpstr>
      <vt:lpstr>有向图的邻接矩阵</vt:lpstr>
      <vt:lpstr>有向图的可达矩阵</vt:lpstr>
      <vt:lpstr>带权图</vt:lpstr>
      <vt:lpstr>最短路径问题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1886</cp:revision>
  <cp:lastPrinted>2019-05-20T00:00:00Z</cp:lastPrinted>
  <dcterms:created xsi:type="dcterms:W3CDTF">2019-04-24T04:43:00Z</dcterms:created>
  <dcterms:modified xsi:type="dcterms:W3CDTF">2025-03-19T07:05:10Z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
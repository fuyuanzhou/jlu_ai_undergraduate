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1"/>
  </p:notesMasterIdLst>
  <p:sldIdLst>
    <p:sldId id="267" r:id="rId3"/>
    <p:sldId id="499" r:id="rId4"/>
    <p:sldId id="500" r:id="rId5"/>
    <p:sldId id="501" r:id="rId6"/>
    <p:sldId id="435" r:id="rId7"/>
    <p:sldId id="502" r:id="rId8"/>
    <p:sldId id="503" r:id="rId9"/>
    <p:sldId id="504" r:id="rId10"/>
    <p:sldId id="505" r:id="rId11"/>
    <p:sldId id="506" r:id="rId12"/>
    <p:sldId id="507" r:id="rId13"/>
    <p:sldId id="416" r:id="rId14"/>
    <p:sldId id="472" r:id="rId15"/>
    <p:sldId id="473" r:id="rId16"/>
    <p:sldId id="508" r:id="rId17"/>
    <p:sldId id="509" r:id="rId18"/>
    <p:sldId id="510" r:id="rId19"/>
    <p:sldId id="511" r:id="rId20"/>
    <p:sldId id="512" r:id="rId21"/>
    <p:sldId id="513" r:id="rId22"/>
    <p:sldId id="514" r:id="rId23"/>
    <p:sldId id="515" r:id="rId24"/>
    <p:sldId id="516" r:id="rId25"/>
    <p:sldId id="517" r:id="rId26"/>
    <p:sldId id="518" r:id="rId27"/>
    <p:sldId id="519" r:id="rId28"/>
    <p:sldId id="520" r:id="rId29"/>
    <p:sldId id="521" r:id="rId30"/>
    <p:sldId id="522" r:id="rId31"/>
    <p:sldId id="523" r:id="rId32"/>
    <p:sldId id="524" r:id="rId33"/>
    <p:sldId id="525" r:id="rId34"/>
    <p:sldId id="526" r:id="rId35"/>
    <p:sldId id="527" r:id="rId36"/>
    <p:sldId id="529" r:id="rId37"/>
    <p:sldId id="528" r:id="rId38"/>
    <p:sldId id="530" r:id="rId39"/>
    <p:sldId id="334" r:id="rId40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948025412@qq.com" initials="9" lastIdx="1" clrIdx="0">
    <p:extLst>
      <p:ext uri="{19B8F6BF-5375-455C-9EA6-DF929625EA0E}">
        <p15:presenceInfo xmlns:p15="http://schemas.microsoft.com/office/powerpoint/2012/main" userId="9e74ee9f37df7a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4B5"/>
    <a:srgbClr val="9DC3E6"/>
    <a:srgbClr val="FFF2CC"/>
    <a:srgbClr val="FFD966"/>
    <a:srgbClr val="266980"/>
    <a:srgbClr val="2E75B5"/>
    <a:srgbClr val="572808"/>
    <a:srgbClr val="BDD7EE"/>
    <a:srgbClr val="1C647E"/>
    <a:srgbClr val="AC4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280" autoAdjust="0"/>
  </p:normalViewPr>
  <p:slideViewPr>
    <p:cSldViewPr snapToGrid="0" showGuides="1">
      <p:cViewPr varScale="1">
        <p:scale>
          <a:sx n="125" d="100"/>
          <a:sy n="125" d="100"/>
        </p:scale>
        <p:origin x="166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B095CFA-2E4A-4DA6-A291-36D909D1A46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2025/3/12</a:t>
            </a:fld>
            <a:endParaRPr lang="zh-CN" altLang="en-US" strike="noStrike" noProof="1"/>
          </a:p>
        </p:txBody>
      </p:sp>
      <p:sp>
        <p:nvSpPr>
          <p:cNvPr id="17203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03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7F7DBCC3-39B1-4490-B912-0E3D3B92F8A3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34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178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583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583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649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817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734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231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006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717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823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795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645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945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1902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8168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855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4728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1002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721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7034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6863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9020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254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4733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5759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1213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5443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6418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8970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1636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311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4574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126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7965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0841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6608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07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1B8381E7-25DC-4DAD-A078-DA58656A5B9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2025/3/12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9486E14-F3C0-4B3B-9E53-DA47772D7B76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2025/3/12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A97A5AE-033E-4E33-8F05-5A54772AF24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2025/3/12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390F8BA-2E15-4A27-8E64-A1395E298AB3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2025/3/12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55B6809-9057-4661-BDBB-E2BB416E655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2025/3/12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26E46B70-6FA3-4863-839E-B21676BF3A5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2025/3/12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7B4A683-24CA-491D-9609-C2409485654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2025/3/12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BD7108D-04DE-425A-80BA-67916C21E75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2025/3/12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6A49D0B-3845-47D6-9C86-D430593DB3A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2025/3/12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C1663EE6-C5DC-47E4-9CB4-43F4A762AC87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2025/3/12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FAC9D7C-BD8B-49F5-9748-43BBC1F050D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2025/3/12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69467" y="127668"/>
            <a:ext cx="10422533" cy="4209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96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324080" y="590440"/>
            <a:ext cx="11867920" cy="3401"/>
          </a:xfrm>
          <a:prstGeom prst="line">
            <a:avLst/>
          </a:prstGeom>
          <a:ln w="28575">
            <a:solidFill>
              <a:srgbClr val="16407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769467" y="192002"/>
            <a:ext cx="10422533" cy="3984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E7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74" y="97631"/>
            <a:ext cx="290095" cy="52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7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Smal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5188321" y="1676728"/>
            <a:ext cx="1815163" cy="1814739"/>
          </a:xfrm>
          <a:prstGeom prst="ellipse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1997" cy="258409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roundRect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roundRect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roundRect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900057" y="1777294"/>
            <a:ext cx="3244279" cy="3260313"/>
          </a:xfrm>
          <a:prstGeom prst="roundRect">
            <a:avLst>
              <a:gd name="adj" fmla="val 8446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99380" y="1488610"/>
            <a:ext cx="1806275" cy="1805853"/>
          </a:xfrm>
          <a:prstGeom prst="roundRect">
            <a:avLst>
              <a:gd name="adj" fmla="val 11041"/>
            </a:avLst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57144" y="1488610"/>
            <a:ext cx="1806275" cy="1805853"/>
          </a:xfrm>
          <a:prstGeom prst="roundRect">
            <a:avLst>
              <a:gd name="adj" fmla="val 13151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14908" y="1488610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674923" y="1488610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226225" y="1742904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173535" y="1742904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596691" y="3207051"/>
            <a:ext cx="1297573" cy="1297272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5391886" y="1377389"/>
            <a:ext cx="1297573" cy="1297272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224747" y="3198356"/>
            <a:ext cx="1297573" cy="1297272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5399164" y="5012383"/>
            <a:ext cx="1297573" cy="1297272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72416"/>
            <a:ext cx="12191997" cy="4921720"/>
          </a:xfrm>
          <a:prstGeom prst="downArrowCallout">
            <a:avLst>
              <a:gd name="adj1" fmla="val 50000"/>
              <a:gd name="adj2" fmla="val 15352"/>
              <a:gd name="adj3" fmla="val 5443"/>
              <a:gd name="adj4" fmla="val 94557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"/>
            <a:ext cx="12191997" cy="3966661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80608" y="1639333"/>
            <a:ext cx="4908153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ef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249619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297274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ictures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w Left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69"/>
            <a:ext cx="3597455" cy="3400024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1"/>
            <a:ext cx="3597455" cy="3400023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Off-page Connector 5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Flowchart: Off-page Connector 7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5020671" y="1382568"/>
            <a:ext cx="3360699" cy="4965187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522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463041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7478569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4344776" y="1438846"/>
            <a:ext cx="3647921" cy="4908909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21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3169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17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9265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47589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17" hasCustomPrompt="1"/>
          </p:nvPr>
        </p:nvSpPr>
        <p:spPr>
          <a:xfrm>
            <a:off x="8241795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18" hasCustomPrompt="1"/>
          </p:nvPr>
        </p:nvSpPr>
        <p:spPr>
          <a:xfrm>
            <a:off x="436123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296334" y="215900"/>
            <a:ext cx="5880100" cy="6426200"/>
          </a:xfrm>
          <a:prstGeom prst="round1Rect">
            <a:avLst>
              <a:gd name="adj" fmla="val 5318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06867" y="216720"/>
            <a:ext cx="5488240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06865" y="4978885"/>
            <a:ext cx="5488240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296333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96333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49619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6249619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Callout 11"/>
          <p:cNvSpPr/>
          <p:nvPr userDrawn="1"/>
        </p:nvSpPr>
        <p:spPr>
          <a:xfrm>
            <a:off x="487363" y="1423988"/>
            <a:ext cx="2676525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8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3" name="Up Arrow Callout 12"/>
          <p:cNvSpPr/>
          <p:nvPr userDrawn="1"/>
        </p:nvSpPr>
        <p:spPr>
          <a:xfrm>
            <a:off x="3343275" y="3317875"/>
            <a:ext cx="2678113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3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</p:txBody>
      </p:sp>
      <p:sp>
        <p:nvSpPr>
          <p:cNvPr id="15" name="Down Arrow Callout 14"/>
          <p:cNvSpPr/>
          <p:nvPr userDrawn="1"/>
        </p:nvSpPr>
        <p:spPr>
          <a:xfrm>
            <a:off x="6170613" y="1423988"/>
            <a:ext cx="2678113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 </a:t>
            </a:r>
          </a:p>
        </p:txBody>
      </p:sp>
      <p:sp>
        <p:nvSpPr>
          <p:cNvPr id="17" name="Up Arrow Callout 16"/>
          <p:cNvSpPr/>
          <p:nvPr userDrawn="1"/>
        </p:nvSpPr>
        <p:spPr>
          <a:xfrm>
            <a:off x="9013825" y="3317875"/>
            <a:ext cx="2676525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ntAwesome" pitchFamily="2" charset="0"/>
                <a:ea typeface="+mn-ea"/>
              </a:rPr>
            </a:b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87251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3343837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171142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013086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 with three Colum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Down Arrow Callout 13"/>
          <p:cNvSpPr/>
          <p:nvPr userDrawn="1"/>
        </p:nvSpPr>
        <p:spPr>
          <a:xfrm>
            <a:off x="6192838" y="1662113"/>
            <a:ext cx="2473325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Down Arrow Callout 15"/>
          <p:cNvSpPr/>
          <p:nvPr userDrawn="1"/>
        </p:nvSpPr>
        <p:spPr>
          <a:xfrm>
            <a:off x="3540125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Down Arrow Callout 18"/>
          <p:cNvSpPr/>
          <p:nvPr userDrawn="1"/>
        </p:nvSpPr>
        <p:spPr>
          <a:xfrm>
            <a:off x="8847138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86069" y="1662386"/>
            <a:ext cx="2472192" cy="4301321"/>
          </a:xfrm>
          <a:prstGeom prst="downArrowCallout">
            <a:avLst>
              <a:gd name="adj1" fmla="val 26120"/>
              <a:gd name="adj2" fmla="val 6382"/>
              <a:gd name="adj3" fmla="val 5273"/>
              <a:gd name="adj4" fmla="val 96969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9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ulome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96091" y="1448890"/>
            <a:ext cx="4913419" cy="3072372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385667" y="1445657"/>
            <a:ext cx="4910243" cy="307560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Off-page Connector 4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791720" y="541356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r">
              <a:defRPr sz="2665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z="2665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823720" y="1010678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>
              <a:buNone/>
              <a:defRPr sz="14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-22860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2B4B57BF-D235-4043-BA3E-BB73EDFD9DF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2025/3/12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2549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fld id="{CE004C5E-B19A-4C6C-B3AC-9AE9ACCC0581}" type="slidenum">
              <a:rPr lang="zh-CN" altLang="en-US" noProof="1" smtClean="0">
                <a:latin typeface="+mn-lt"/>
                <a:ea typeface="+mn-ea"/>
              </a:rPr>
              <a:t>‹#›</a:t>
            </a:fld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91" r:id="rId12"/>
    <p:sldLayoutId id="214748369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</p:sldLayoutIdLst>
  <p:transition spd="slow" advTm="3000"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44388"/>
            <a:ext cx="12202130" cy="691101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4506" y="4050175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343800" y="4484700"/>
            <a:ext cx="11525644" cy="830997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离散数学</a:t>
            </a:r>
            <a:endParaRPr lang="en-US" altLang="zh-CN" sz="2400" b="1" dirty="0">
              <a:solidFill>
                <a:schemeClr val="bg1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/>
            <a:r>
              <a:rPr lang="en-US" altLang="zh-CN" sz="2400" b="1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2024~2025</a:t>
            </a:r>
            <a:r>
              <a:rPr lang="zh-CN" altLang="en-US" sz="2400" b="1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第二</a:t>
            </a:r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学期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131181" y="5452617"/>
            <a:ext cx="7946680" cy="499624"/>
            <a:chOff x="2002264" y="3493031"/>
            <a:chExt cx="8187473" cy="352610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784402" y="3493031"/>
              <a:ext cx="4395931" cy="352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 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71" t="23333" r="16751"/>
          <a:stretch/>
        </p:blipFill>
        <p:spPr>
          <a:xfrm>
            <a:off x="8683551" y="-43132"/>
            <a:ext cx="3531454" cy="334759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 cstate="print">
            <a:grayscl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1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51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等值式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2.10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是一阶逻辑中的两个公式，若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</a:t>
                </a:r>
                <a:r>
                  <a:rPr lang="zh-CN" altLang="en-US" sz="3200" b="1" dirty="0">
                    <a:sym typeface="Wingdings" panose="05000000000000000000" pitchFamily="2" charset="2"/>
                  </a:rPr>
                  <a:t>逻辑有效式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zh-CN" altLang="en-US" sz="3200" b="1" dirty="0">
                    <a:sym typeface="Wingdings" panose="05000000000000000000" pitchFamily="2" charset="2"/>
                  </a:rPr>
                  <a:t>等值的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，称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</a:t>
                </a:r>
                <a:r>
                  <a:rPr lang="zh-CN" altLang="en-US" sz="3200" b="1" dirty="0">
                    <a:sym typeface="Wingdings" panose="05000000000000000000" pitchFamily="2" charset="2"/>
                  </a:rPr>
                  <a:t>等值式。</a:t>
                </a:r>
                <a:endParaRPr lang="en-US" altLang="zh-CN" sz="3200" b="1" dirty="0">
                  <a:sym typeface="Wingdings" panose="05000000000000000000" pitchFamily="2" charset="2"/>
                </a:endParaRPr>
              </a:p>
              <a:p>
                <a:endParaRPr lang="en-US" altLang="zh-CN" sz="3200" b="1" dirty="0">
                  <a:sym typeface="Wingdings" panose="05000000000000000000" pitchFamily="2" charset="2"/>
                </a:endParaRPr>
              </a:p>
              <a:p>
                <a:endParaRPr lang="en-US" altLang="zh-CN" sz="3200" b="1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注：由于重言式都是逻辑有效式，所以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1.3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节中给出的命题公式中的等值式在一阶逻辑中也是等值式。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3662541"/>
              </a:xfrm>
              <a:prstGeom prst="rect">
                <a:avLst/>
              </a:prstGeom>
              <a:blipFill>
                <a:blip r:embed="rId3"/>
                <a:stretch>
                  <a:fillRect l="-1995" t="-2995" r="-5245" b="-4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01946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量词否定等值式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46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2.1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)⟺∃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)⟺</m:t>
                    </m:r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其中，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A(x)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是任意的公式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当个体域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D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是有限集时，设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)⟺¬(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))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⟺¬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)∨</m:t>
                    </m:r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)∨</m:t>
                    </m:r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⟺∃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4647426"/>
              </a:xfrm>
              <a:prstGeom prst="rect">
                <a:avLst/>
              </a:prstGeom>
              <a:blipFill>
                <a:blip r:embed="rId3"/>
                <a:stretch>
                  <a:fillRect l="-1995" t="-23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6377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量词辖域收缩或扩张等值式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2.2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         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         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x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         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        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        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x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        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→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其中，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A(x)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是含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自由出现的任意的公式，而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中不含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的自由出现。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5632311"/>
              </a:xfrm>
              <a:prstGeom prst="rect">
                <a:avLst/>
              </a:prstGeom>
              <a:blipFill>
                <a:blip r:embed="rId3"/>
                <a:stretch>
                  <a:fillRect l="-1995" t="-1948" b="-25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2532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量词辖域收缩或扩张等值式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4F422FB-6122-FD40-0BE9-2E76813D2178}"/>
                  </a:ext>
                </a:extLst>
              </p:cNvPr>
              <p:cNvSpPr txBox="1"/>
              <p:nvPr/>
            </p:nvSpPr>
            <p:spPr>
              <a:xfrm>
                <a:off x="577361" y="1029712"/>
                <a:ext cx="11037277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/>
                  <a:t>当个体域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sz="3200" dirty="0"/>
                  <a:t>，</a:t>
                </a:r>
                <a:endParaRPr lang="en-US" altLang="zh-CN" sz="3200" dirty="0"/>
              </a:p>
              <a:p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sz="3200" dirty="0"/>
                  <a:t> </a:t>
                </a:r>
                <a:endParaRPr lang="en-US" altLang="zh-CN" sz="3200" dirty="0"/>
              </a:p>
              <a:p>
                <a:r>
                  <a:rPr lang="en-US" altLang="zh-CN" sz="3200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32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  <m:r>
                          <a:rPr lang="en-US" altLang="zh-CN" sz="32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))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sz="3200" dirty="0"/>
                  <a:t> </a:t>
                </a:r>
                <a:endParaRPr lang="en-US" altLang="zh-CN" sz="3200" dirty="0"/>
              </a:p>
              <a:p>
                <a:r>
                  <a:rPr lang="en-US" altLang="zh-CN" sz="3200" dirty="0"/>
                  <a:t>                     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4F422FB-6122-FD40-0BE9-2E76813D2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61" y="1029712"/>
                <a:ext cx="11037277" cy="2062103"/>
              </a:xfrm>
              <a:prstGeom prst="rect">
                <a:avLst/>
              </a:prstGeom>
              <a:blipFill>
                <a:blip r:embed="rId3"/>
                <a:stretch>
                  <a:fillRect l="-1436" t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2255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量词分配等值式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2665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2.3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)∧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)（∀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对</m:t>
                    </m:r>
                    <m:r>
                      <a:rPr lang="en-US" altLang="zh-CN" sz="2800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分配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）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)（∃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对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分配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）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注：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对</m:t>
                    </m:r>
                    <m:r>
                      <a:rPr lang="en-US" altLang="zh-CN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以及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3200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都不存在分配等值式。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2665473"/>
              </a:xfrm>
              <a:prstGeom prst="rect">
                <a:avLst/>
              </a:prstGeom>
              <a:blipFill>
                <a:blip r:embed="rId3"/>
                <a:stretch>
                  <a:fillRect l="-1995" t="-4119" b="-6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4632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量词分配等值式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4F422FB-6122-FD40-0BE9-2E76813D2178}"/>
                  </a:ext>
                </a:extLst>
              </p:cNvPr>
              <p:cNvSpPr txBox="1"/>
              <p:nvPr/>
            </p:nvSpPr>
            <p:spPr>
              <a:xfrm>
                <a:off x="577361" y="1029712"/>
                <a:ext cx="11037277" cy="6402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/>
                  <a:t>证明：</a:t>
                </a:r>
                <a:endParaRPr lang="en-US" altLang="zh-CN" sz="3200" dirty="0"/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6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  <m:d>
                          <m:d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⇎</m:t>
                    </m:r>
                    <m:r>
                      <a:rPr lang="zh-CN" altLang="en-US" sz="36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6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36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36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6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36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zh-CN" altLang="en-US" sz="36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6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/>
              </a:p>
              <a:p>
                <a:endParaRPr lang="en-US" altLang="zh-CN" sz="3200" dirty="0"/>
              </a:p>
              <a:p>
                <a:r>
                  <a:rPr lang="zh-CN" altLang="en-US" sz="3200" dirty="0"/>
                  <a:t>取谓词公式</a:t>
                </a:r>
                <a:r>
                  <a:rPr lang="en-US" altLang="zh-CN" sz="3200" dirty="0"/>
                  <a:t>F(x)</a:t>
                </a:r>
                <a:r>
                  <a:rPr lang="zh-CN" altLang="en-US" sz="3200" dirty="0"/>
                  <a:t>、</a:t>
                </a:r>
                <a:r>
                  <a:rPr lang="en-US" altLang="zh-CN" sz="3200" dirty="0"/>
                  <a:t>G(x)</a:t>
                </a:r>
                <a:r>
                  <a:rPr lang="zh-CN" altLang="en-US" sz="3200" dirty="0"/>
                  <a:t>分别代替</a:t>
                </a:r>
                <a:r>
                  <a:rPr lang="en-US" altLang="zh-CN" sz="3200" dirty="0"/>
                  <a:t>A(x)</a:t>
                </a:r>
                <a:r>
                  <a:rPr lang="zh-CN" altLang="en-US" sz="3200" dirty="0"/>
                  <a:t>和</a:t>
                </a:r>
                <a:r>
                  <a:rPr lang="en-US" altLang="zh-CN" sz="3200" dirty="0"/>
                  <a:t>B(x)</a:t>
                </a:r>
                <a:r>
                  <a:rPr lang="zh-CN" altLang="en-US" sz="3200" dirty="0"/>
                  <a:t>，证明</a:t>
                </a:r>
                <a:endParaRPr lang="en-US" altLang="zh-CN" sz="3200" dirty="0"/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6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  <m:d>
                          <m:d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3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↮</m:t>
                    </m:r>
                    <m:r>
                      <a:rPr lang="zh-CN" altLang="en-US" sz="36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6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6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6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36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3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zh-CN" altLang="en-US" sz="36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6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/>
              </a:p>
              <a:p>
                <a:r>
                  <a:rPr lang="zh-CN" altLang="en-US" sz="3200" dirty="0"/>
                  <a:t>不是逻辑有效式即可。</a:t>
                </a:r>
                <a:endParaRPr lang="en-US" altLang="zh-CN" sz="3200" dirty="0"/>
              </a:p>
              <a:p>
                <a:endParaRPr lang="en-US" altLang="zh-CN" sz="3200" dirty="0"/>
              </a:p>
              <a:p>
                <a:r>
                  <a:rPr lang="zh-CN" altLang="en-US" sz="3200" dirty="0"/>
                  <a:t>取解释</a:t>
                </a:r>
                <a:r>
                  <a:rPr lang="en-US" altLang="zh-CN" sz="3200" dirty="0"/>
                  <a:t>I</a:t>
                </a:r>
                <a:r>
                  <a:rPr lang="zh-CN" altLang="en-US" sz="3200" dirty="0"/>
                  <a:t>如下：个体域</a:t>
                </a:r>
                <a:r>
                  <a:rPr lang="en-US" altLang="zh-CN" sz="3200" dirty="0"/>
                  <a:t>D</a:t>
                </a:r>
                <a:r>
                  <a:rPr lang="zh-CN" altLang="en-US" sz="3200" dirty="0"/>
                  <a:t>为自然数集，</a:t>
                </a:r>
                <a:r>
                  <a:rPr lang="en-US" altLang="zh-CN" sz="3200" dirty="0"/>
                  <a:t>F(x)</a:t>
                </a:r>
                <a:r>
                  <a:rPr lang="zh-CN" altLang="en-US" sz="3200" dirty="0"/>
                  <a:t>：</a:t>
                </a:r>
                <a:r>
                  <a:rPr lang="en-US" altLang="zh-CN" sz="3200" dirty="0"/>
                  <a:t>x</a:t>
                </a:r>
                <a:r>
                  <a:rPr lang="zh-CN" altLang="en-US" sz="3200" dirty="0"/>
                  <a:t>为奇数，</a:t>
                </a:r>
                <a:r>
                  <a:rPr lang="en-US" altLang="zh-CN" sz="3200" dirty="0"/>
                  <a:t>G(x)</a:t>
                </a:r>
                <a:r>
                  <a:rPr lang="zh-CN" altLang="en-US" sz="3200" dirty="0"/>
                  <a:t>：</a:t>
                </a:r>
                <a:r>
                  <a:rPr lang="en-US" altLang="zh-CN" sz="3200" dirty="0"/>
                  <a:t>x</a:t>
                </a:r>
                <a:r>
                  <a:rPr lang="zh-CN" altLang="en-US" sz="3200" dirty="0"/>
                  <a:t>是偶数。此时</a:t>
                </a:r>
                <a14:m>
                  <m:oMath xmlns:m="http://schemas.openxmlformats.org/officeDocument/2006/math">
                    <m:r>
                      <a:rPr lang="zh-CN" altLang="en-US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32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3200" dirty="0"/>
                  <a:t>为真，但</a:t>
                </a:r>
                <a14:m>
                  <m:oMath xmlns:m="http://schemas.openxmlformats.org/officeDocument/2006/math">
                    <m:r>
                      <a:rPr lang="zh-CN" altLang="en-US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𝑥𝐹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)∨∀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𝑥𝐺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3200" dirty="0"/>
                  <a:t>为假。于是</a:t>
                </a:r>
                <a14:m>
                  <m:oMath xmlns:m="http://schemas.openxmlformats.org/officeDocument/2006/math">
                    <m:r>
                      <a:rPr lang="zh-CN" altLang="en-US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∨</m:t>
                        </m:r>
                        <m:r>
                          <a:rPr lang="en-US" altLang="zh-CN" sz="32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↮</m:t>
                    </m:r>
                    <m:r>
                      <a:rPr lang="zh-CN" altLang="en-US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𝑥𝐹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)∨∀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𝑥𝐺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3200" dirty="0"/>
                  <a:t>不是逻辑有效式。</a:t>
                </a:r>
                <a:endParaRPr lang="en-US" altLang="zh-CN" sz="3200" dirty="0"/>
              </a:p>
              <a:p>
                <a:endParaRPr lang="en-US" altLang="zh-CN" sz="2800" dirty="0"/>
              </a:p>
              <a:p>
                <a:endParaRPr lang="en-US" altLang="zh-CN" sz="3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4F422FB-6122-FD40-0BE9-2E76813D2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61" y="1029712"/>
                <a:ext cx="11037277" cy="6402265"/>
              </a:xfrm>
              <a:prstGeom prst="rect">
                <a:avLst/>
              </a:prstGeom>
              <a:blipFill>
                <a:blip r:embed="rId3"/>
                <a:stretch>
                  <a:fillRect l="-1436" t="-1238" r="-50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89394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等值式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2.4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)⟺∀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y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)⟺∃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x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y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任意含有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y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的谓词公式。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2554545"/>
              </a:xfrm>
              <a:prstGeom prst="rect">
                <a:avLst/>
              </a:prstGeom>
              <a:blipFill>
                <a:blip r:embed="rId3"/>
                <a:stretch>
                  <a:fillRect l="-1995" t="-4296" b="-69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829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前束范式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2.11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为一谓词公式，如果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具有如下形式：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…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𝑘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zh-CN" altLang="en-US" sz="3200" b="1" dirty="0">
                    <a:sym typeface="Wingdings" panose="05000000000000000000" pitchFamily="2" charset="2"/>
                  </a:rPr>
                  <a:t>前束范式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𝑄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≤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≤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或</a:t>
                </a:r>
                <a14:m>
                  <m:oMath xmlns:m="http://schemas.openxmlformats.org/officeDocument/2006/math">
                    <m:r>
                      <a:rPr lang="zh-CN" altLang="en-US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为不含量词的谓词公式。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一个公式的前束范式不是唯一的。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3662541"/>
              </a:xfrm>
              <a:prstGeom prst="rect">
                <a:avLst/>
              </a:prstGeom>
              <a:blipFill>
                <a:blip r:embed="rId3"/>
                <a:stretch>
                  <a:fillRect l="-1995" t="-2995" b="-4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8670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前束范式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例如：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))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是前束范式；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)∨∃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不是前束范式。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求下列公式的前束范式：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)∧¬∃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𝑥𝐹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)∧¬∃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)⟺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𝑥𝐹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¬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   (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定理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2.1(2))</a:t>
                </a: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)∧¬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))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      (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定理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2.3(1))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4031873"/>
              </a:xfrm>
              <a:prstGeom prst="rect">
                <a:avLst/>
              </a:prstGeom>
              <a:blipFill>
                <a:blip r:embed="rId3"/>
                <a:stretch>
                  <a:fillRect l="-1425" t="-1964" b="-3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8806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前束范式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例如：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))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是前束范式；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)∨∃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不是前束范式。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求下列公式的前束范式：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)∧¬∃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𝑥𝐹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𝑥𝐹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)⟺¬∀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𝑥𝐹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𝑥𝐺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¬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)∨∃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𝑥𝐺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      (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定理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2.1(1))</a:t>
                </a: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(¬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)∨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))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       (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定理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2.3(2))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4524315"/>
              </a:xfrm>
              <a:prstGeom prst="rect">
                <a:avLst/>
              </a:prstGeom>
              <a:blipFill>
                <a:blip r:embed="rId3"/>
                <a:stretch>
                  <a:fillRect l="-1425" t="-1752" b="-35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7525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58F78A-28D6-0558-9A30-BE51C614B08C}"/>
              </a:ext>
            </a:extLst>
          </p:cNvPr>
          <p:cNvSpPr txBox="1"/>
          <p:nvPr/>
        </p:nvSpPr>
        <p:spPr>
          <a:xfrm>
            <a:off x="486507" y="1029712"/>
            <a:ext cx="1103727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集合是不能精确定义的基本的数学概念。</a:t>
            </a:r>
            <a:endParaRPr lang="en-US" altLang="zh-CN" sz="3200" dirty="0"/>
          </a:p>
          <a:p>
            <a:r>
              <a:rPr lang="zh-CN" altLang="en-US" sz="3200" dirty="0"/>
              <a:t>一般认为一个集合指的是一些可确定的、可分辨的事物构成的整体。</a:t>
            </a:r>
            <a:endParaRPr lang="en-US" altLang="zh-CN" sz="3200" dirty="0"/>
          </a:p>
          <a:p>
            <a:r>
              <a:rPr lang="zh-CN" altLang="en-US" sz="3200" dirty="0"/>
              <a:t>对于给定的集合和事物，可以断定这个特定的事物是否属于这个集合。如果属于，就称它为这个集合的元素。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集合举例：</a:t>
            </a:r>
            <a:endParaRPr lang="en-US" altLang="zh-CN" sz="3200" dirty="0"/>
          </a:p>
          <a:p>
            <a:r>
              <a:rPr lang="en-US" altLang="zh-CN" sz="3200" dirty="0"/>
              <a:t>26</a:t>
            </a:r>
            <a:r>
              <a:rPr lang="zh-CN" altLang="en-US" sz="3200" dirty="0"/>
              <a:t>英文字母；</a:t>
            </a:r>
            <a:endParaRPr lang="en-US" altLang="zh-CN" sz="3200" dirty="0"/>
          </a:p>
          <a:p>
            <a:r>
              <a:rPr lang="zh-CN" altLang="en-US" sz="3200" dirty="0"/>
              <a:t>全体中国人；</a:t>
            </a:r>
            <a:endParaRPr lang="en-US" altLang="zh-CN" sz="3200" dirty="0"/>
          </a:p>
          <a:p>
            <a:r>
              <a:rPr lang="zh-CN" altLang="en-US" sz="3200" dirty="0"/>
              <a:t>全班同学。</a:t>
            </a:r>
          </a:p>
        </p:txBody>
      </p:sp>
    </p:spTree>
    <p:extLst>
      <p:ext uri="{BB962C8B-B14F-4D97-AF65-F5344CB8AC3E}">
        <p14:creationId xmlns:p14="http://schemas.microsoft.com/office/powerpoint/2010/main" val="15352227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DF918E4-7F0E-3CA7-800B-F9D25D10B0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9287" y="1044726"/>
                <a:ext cx="10313425" cy="505635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集合通常用大写的英文字母来标记：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N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代表自然数集合，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R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代表实数集合。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集合的表示：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一、列出集合的所有元素，元素之间用逗号隔开，并把它们用花括号括起来：</a:t>
                </a:r>
                <a14:m>
                  <m:oMath xmlns:m="http://schemas.openxmlformats.org/officeDocument/2006/math"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其中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是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的元素，</a:t>
                </a:r>
                <a14:m>
                  <m:oMath xmlns:m="http://schemas.openxmlformats.org/officeDocument/2006/math"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zh-CN" altLang="en-US" sz="3200" i="1" noProof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3200" noProof="1">
                    <a:latin typeface="Times New Roman" panose="02020603050405020304" pitchFamily="18" charset="0"/>
                  </a:rPr>
                  <a:t>e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不是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的元素，</a:t>
                </a:r>
                <a14:m>
                  <m:oMath xmlns:m="http://schemas.openxmlformats.org/officeDocument/2006/math"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zh-CN" altLang="en-US" sz="3200" i="1" noProof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二、用谓词概括该集合中所有元素的属性：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3200" b="0" i="1" noProof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noProof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≤3</m:t>
                      </m:r>
                    </m:oMath>
                  </m:oMathPara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DF918E4-7F0E-3CA7-800B-F9D25D10B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87" y="1044726"/>
                <a:ext cx="10313425" cy="5056354"/>
              </a:xfrm>
              <a:prstGeom prst="rect">
                <a:avLst/>
              </a:prstGeom>
              <a:blipFill>
                <a:blip r:embed="rId3"/>
                <a:stretch>
                  <a:fillRect l="-1478" t="-2771" r="-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59642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DF918E4-7F0E-3CA7-800B-F9D25D10B0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9287" y="1286460"/>
                <a:ext cx="10313425" cy="431839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注：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en-US" altLang="zh-CN" sz="3200" noProof="1">
                    <a:latin typeface="Times New Roman" panose="02020603050405020304" pitchFamily="18" charset="0"/>
                  </a:rPr>
                  <a:t>1.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 集合中的元素可以是任何类型的事物，也可以是另一个集合。</a:t>
                </a:r>
                <a14:m>
                  <m:oMath xmlns:m="http://schemas.openxmlformats.org/officeDocument/2006/math"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en-US" altLang="zh-CN" sz="3200" noProof="1">
                    <a:latin typeface="Times New Roman" panose="02020603050405020304" pitchFamily="18" charset="0"/>
                  </a:rPr>
                  <a:t>2. 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集合中的元素必须是彼此相异的。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en-US" altLang="zh-CN" sz="3200" noProof="1">
                    <a:latin typeface="Times New Roman" panose="02020603050405020304" pitchFamily="18" charset="0"/>
                  </a:rPr>
                  <a:t>3. 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集合中的元素没有顺序关系。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en-US" altLang="zh-CN" sz="3200" noProof="1">
                    <a:latin typeface="Times New Roman" panose="02020603050405020304" pitchFamily="18" charset="0"/>
                  </a:rPr>
                  <a:t>{3,4,5}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、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{3,4,4,5,5}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、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{5,3,4}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都表示同一个集合。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DF918E4-7F0E-3CA7-800B-F9D25D10B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87" y="1286460"/>
                <a:ext cx="10313425" cy="4318392"/>
              </a:xfrm>
              <a:prstGeom prst="rect">
                <a:avLst/>
              </a:prstGeom>
              <a:blipFill>
                <a:blip r:embed="rId3"/>
                <a:stretch>
                  <a:fillRect l="-1478" t="-28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31352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513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3.1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是集合，如果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中的每个元素都是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中的元素，则称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b="1" dirty="0">
                    <a:solidFill>
                      <a:schemeClr val="accent1"/>
                    </a:solidFill>
                    <a:sym typeface="Wingdings" panose="05000000000000000000" pitchFamily="2" charset="2"/>
                  </a:rPr>
                  <a:t>子集合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，简称</a:t>
                </a:r>
                <a:r>
                  <a:rPr lang="zh-CN" altLang="en-US" sz="3200" b="1" dirty="0">
                    <a:solidFill>
                      <a:schemeClr val="accent1"/>
                    </a:solidFill>
                    <a:sym typeface="Wingdings" panose="05000000000000000000" pitchFamily="2" charset="2"/>
                  </a:rPr>
                  <a:t>子集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这时也称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被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包含，或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包含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，记作：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⊇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；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如果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不被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包含，则记作：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包含的符号化表示为：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⊆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⟺∀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例如：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A={0,1,2};B={0,1};C={1,2}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C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，但是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任何集合都是它自己的子集：</a:t>
                </a:r>
                <a:r>
                  <a:rPr lang="en-US" altLang="zh-CN" sz="3200" b="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5139869"/>
              </a:xfrm>
              <a:prstGeom prst="rect">
                <a:avLst/>
              </a:prstGeom>
              <a:blipFill>
                <a:blip r:embed="rId3"/>
                <a:stretch>
                  <a:fillRect l="-1995" t="-2135" r="-456" b="-2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8290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集合相等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3.2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是集合，如果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相等，记作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A=B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。符号化表示为：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⟺</m:t>
                      </m:r>
                      <m:r>
                        <m:rPr>
                          <m:sty m:val="p"/>
                        </m:rPr>
                        <a:rPr lang="en-US" altLang="zh-CN" sz="3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A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⊆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⊆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如果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不相等，则记作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677656"/>
              </a:xfrm>
              <a:prstGeom prst="rect">
                <a:avLst/>
              </a:prstGeom>
              <a:blipFill>
                <a:blip r:embed="rId3"/>
                <a:stretch>
                  <a:fillRect l="-1995" t="-4100" r="-741" b="-6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2431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真子集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3.3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为集合，如果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的真子集，记作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⊂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如果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不是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的真子集，则记作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⊄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∨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185214"/>
              </a:xfrm>
              <a:prstGeom prst="rect">
                <a:avLst/>
              </a:prstGeom>
              <a:blipFill>
                <a:blip r:embed="rId3"/>
                <a:stretch>
                  <a:fillRect l="-1995" t="-5014" r="-798" b="-8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6124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3.4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不含任何元素的集合称为空集，记作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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。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空集可以符号化表示为：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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={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空集是客观存在的。例如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|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+1=0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677656"/>
              </a:xfrm>
              <a:prstGeom prst="rect">
                <a:avLst/>
              </a:prstGeom>
              <a:blipFill>
                <a:blip r:embed="rId3"/>
                <a:stretch>
                  <a:fillRect l="-1995" t="-4100" r="-1482" b="-68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9435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3.1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空集是一切集合的子集。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证明：任意集合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，由子集定义有：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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⊆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⟺∀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∈→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𝑥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右边的蕴含式中因为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∈为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假，所以整个蕴含式为真。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600" b="1" dirty="0">
                    <a:solidFill>
                      <a:schemeClr val="accent1"/>
                    </a:solidFill>
                    <a:sym typeface="Wingdings" panose="05000000000000000000" pitchFamily="2" charset="2"/>
                  </a:rPr>
                  <a:t>推论：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空集是唯一的。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证明：假设存在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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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由定理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3.1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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⊆</m:t>
                    </m:r>
                  </m:oMath>
                </a14:m>
                <a:r>
                  <a:rPr lang="en-US" altLang="zh-CN" sz="32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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以及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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⊆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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，根据集合相等的定义得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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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4708981"/>
              </a:xfrm>
              <a:prstGeom prst="rect">
                <a:avLst/>
              </a:prstGeom>
              <a:blipFill>
                <a:blip r:embed="rId3"/>
                <a:stretch>
                  <a:fillRect l="-1995" t="-2329" b="-32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9724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CDBF55A-39D5-5B4E-7F42-B690E015AD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9287" y="1286460"/>
                <a:ext cx="10313425" cy="431839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确定下列命题是否为真：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（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⊆</m:t>
                    </m:r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；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（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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</m:t>
                    </m:r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；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（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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{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}</m:t>
                    </m:r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；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（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4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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∈ </m:t>
                    </m:r>
                  </m:oMath>
                </a14:m>
                <a:r>
                  <a:rPr lang="en-US" altLang="zh-CN" sz="3200" noProof="1">
                    <a:latin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</m:t>
                    </m:r>
                  </m:oMath>
                </a14:m>
                <a:r>
                  <a:rPr lang="en-US" altLang="zh-CN" sz="3200" noProof="1">
                    <a:latin typeface="Times New Roman" panose="020206030504050203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CDBF55A-39D5-5B4E-7F42-B690E015A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87" y="1286460"/>
                <a:ext cx="10313425" cy="4318392"/>
              </a:xfrm>
              <a:prstGeom prst="rect">
                <a:avLst/>
              </a:prstGeom>
              <a:blipFill>
                <a:blip r:embed="rId3"/>
                <a:stretch>
                  <a:fillRect l="-1478" t="-28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1606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CDBF55A-39D5-5B4E-7F42-B690E015AD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9287" y="1062939"/>
                <a:ext cx="10313425" cy="543501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en-US" altLang="zh-CN" sz="3200" noProof="1">
                    <a:latin typeface="Times New Roman" panose="02020603050405020304" pitchFamily="18" charset="0"/>
                  </a:rPr>
                  <a:t>A={a, b, c}, 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求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的全部子集。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en-US" altLang="zh-CN" sz="3200" noProof="1">
                    <a:latin typeface="Times New Roman" panose="02020603050405020304" pitchFamily="18" charset="0"/>
                  </a:rPr>
                  <a:t>0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元子集，即空集，只有一个：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</m:t>
                    </m:r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；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en-US" altLang="zh-CN" sz="3200" noProof="1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元子集，即单位集，有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zh-CN" altLang="en-US" sz="3200" i="1" noProof="1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：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{a}, {b}, {c}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；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en-US" altLang="zh-CN" sz="3200" noProof="1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元子集，有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zh-CN" altLang="en-US" sz="3200" i="1" noProof="1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：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{a, b}, {a, c}, {b, c};</a:t>
                </a: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en-US" altLang="zh-CN" sz="3200" noProof="1"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元子集，有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zh-CN" altLang="en-US" sz="3200" i="1" noProof="1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：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{a, b, c}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。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一般来说，对于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n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元集合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A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，它的</a:t>
                </a:r>
                <a14:m>
                  <m:oMath xmlns:m="http://schemas.openxmlformats.org/officeDocument/2006/math"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(0≤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200" i="1" noProof="1">
                        <a:latin typeface="Cambria Math" panose="02040503050406030204" pitchFamily="18" charset="0"/>
                      </a:rPr>
                      <m:t>元</m:t>
                    </m:r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子集有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zh-CN" altLang="en-US" sz="3200" i="1" noProof="1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，所以不同的子集总数为：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+…</m:t>
                      </m:r>
                      <m:sSubSup>
                        <m:sSubSup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CDBF55A-39D5-5B4E-7F42-B690E015A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87" y="1062939"/>
                <a:ext cx="10313425" cy="5435015"/>
              </a:xfrm>
              <a:prstGeom prst="rect">
                <a:avLst/>
              </a:prstGeom>
              <a:blipFill>
                <a:blip r:embed="rId3"/>
                <a:stretch>
                  <a:fillRect l="-1478" t="-2578" r="-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90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幂集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3.5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为集合，把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的全体子集构成的集合称为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的幂集，记作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符号化为：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⊆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若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A={a, b, c}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 则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P(A)={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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,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 {a}, {b}, {c}, {a, b}, {a, c}, {b, c}, {a, b, c}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}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blipFill>
                <a:blip r:embed="rId3"/>
                <a:stretch>
                  <a:fillRect l="-1995" t="-2995" r="-2452" b="-46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5054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5FDE8-AB67-5CC4-BF9C-432DFCB257A3}"/>
              </a:ext>
            </a:extLst>
          </p:cNvPr>
          <p:cNvSpPr txBox="1"/>
          <p:nvPr/>
        </p:nvSpPr>
        <p:spPr>
          <a:xfrm>
            <a:off x="750277" y="860209"/>
            <a:ext cx="1069144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5"/>
                </a:solidFill>
              </a:rPr>
              <a:t>定义</a:t>
            </a:r>
            <a:r>
              <a:rPr lang="en-US" altLang="zh-CN" sz="4000" b="1" dirty="0">
                <a:solidFill>
                  <a:schemeClr val="accent5"/>
                </a:solidFill>
              </a:rPr>
              <a:t>3.6</a:t>
            </a:r>
            <a:r>
              <a:rPr lang="zh-CN" altLang="en-US" sz="4000" b="1" dirty="0">
                <a:solidFill>
                  <a:schemeClr val="accent5"/>
                </a:solidFill>
              </a:rPr>
              <a:t>：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在一个具体问题中，如果所涉及的集合都是某个集合的子集，则称这个集合为全集，记作</a:t>
            </a:r>
            <a:r>
              <a:rPr lang="en-US" altLang="zh-CN" sz="3200" dirty="0">
                <a:sym typeface="Wingdings" panose="05000000000000000000" pitchFamily="2" charset="2"/>
              </a:rPr>
              <a:t>E</a:t>
            </a:r>
            <a:r>
              <a:rPr lang="zh-CN" altLang="en-US" sz="3200" dirty="0">
                <a:sym typeface="Wingdings" panose="05000000000000000000" pitchFamily="2" charset="2"/>
              </a:rPr>
              <a:t>（或</a:t>
            </a:r>
            <a:r>
              <a:rPr lang="en-US" altLang="zh-CN" sz="3200" dirty="0">
                <a:sym typeface="Wingdings" panose="05000000000000000000" pitchFamily="2" charset="2"/>
              </a:rPr>
              <a:t>U</a:t>
            </a:r>
            <a:r>
              <a:rPr lang="zh-CN" altLang="en-US" sz="3200" dirty="0">
                <a:sym typeface="Wingdings" panose="05000000000000000000" pitchFamily="2" charset="2"/>
              </a:rPr>
              <a:t>）。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703954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集合的基本运算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3.7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为集合，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的并集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交集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∩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对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的相对补集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分别定义如下：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∪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={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x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x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∨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={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sz="320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x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sz="320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x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∉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170099"/>
              </a:xfrm>
              <a:prstGeom prst="rect">
                <a:avLst/>
              </a:prstGeom>
              <a:blipFill>
                <a:blip r:embed="rId3"/>
                <a:stretch>
                  <a:fillRect l="-1995" t="-3462" r="-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62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集合的基本运算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ym typeface="Wingdings" panose="05000000000000000000" pitchFamily="2" charset="2"/>
                  </a:rPr>
                  <a:t>A={1,2,3}, B={1,4}, C={3}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则有：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∪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1,2,3,4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∪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={4}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b="0" dirty="0">
                    <a:sym typeface="Wingdings" panose="05000000000000000000" pitchFamily="2" charset="2"/>
                  </a:rPr>
                  <a:t>                                      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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=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当两个集合的交集是空集时，称它们是不交的。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4524315"/>
              </a:xfrm>
              <a:prstGeom prst="rect">
                <a:avLst/>
              </a:prstGeom>
              <a:blipFill>
                <a:blip r:embed="rId3"/>
                <a:stretch>
                  <a:fillRect l="-1425" t="-1752" b="-35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7167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集合的基本运算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52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个集合的并和交简记为：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                              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zh-CN" altLang="en-US" sz="3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∪…∪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⋂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∩…∩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523319"/>
              </a:xfrm>
              <a:prstGeom prst="rect">
                <a:avLst/>
              </a:prstGeom>
              <a:blipFill>
                <a:blip r:embed="rId3"/>
                <a:stretch>
                  <a:fillRect l="-1425" t="-3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35896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集合的基本运算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46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3.8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E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为全集，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对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E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的相对补集为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的绝对补集，记作：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~A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，即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~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𝐸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∉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例子：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E={0,1,2,3}, A={0,1,2}, B={0,1,2,3},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=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则有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~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~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=,~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𝐶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𝐸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4647426"/>
              </a:xfrm>
              <a:prstGeom prst="rect">
                <a:avLst/>
              </a:prstGeom>
              <a:blipFill>
                <a:blip r:embed="rId3"/>
                <a:stretch>
                  <a:fillRect l="-1995" t="-2362" r="-1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2869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集合的基本运算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3.9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为集合，则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的对称差为：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⨁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)⋃(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例：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A={0,1,2}, B={2,3}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⨁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0,1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={0,1,3}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⨁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∪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−(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170099"/>
              </a:xfrm>
              <a:prstGeom prst="rect">
                <a:avLst/>
              </a:prstGeom>
              <a:blipFill>
                <a:blip r:embed="rId3"/>
                <a:stretch>
                  <a:fillRect l="-1995" t="-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009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集合的文氏图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5FDE8-AB67-5CC4-BF9C-432DFCB257A3}"/>
              </a:ext>
            </a:extLst>
          </p:cNvPr>
          <p:cNvSpPr txBox="1"/>
          <p:nvPr/>
        </p:nvSpPr>
        <p:spPr>
          <a:xfrm>
            <a:off x="750277" y="860209"/>
            <a:ext cx="1069144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ym typeface="Wingdings" panose="05000000000000000000" pitchFamily="2" charset="2"/>
              </a:rPr>
              <a:t>用</a:t>
            </a:r>
            <a:r>
              <a:rPr lang="zh-CN" altLang="en-US" sz="3200" dirty="0"/>
              <a:t>一个大的</a:t>
            </a:r>
            <a:r>
              <a:rPr lang="zh-CN" altLang="en-US" sz="3200" dirty="0">
                <a:latin typeface="宋体" panose="02010600030101010101" pitchFamily="2" charset="-122"/>
              </a:rPr>
              <a:t>矩形表示全集，在矩形内画一些圆或其它简单封闭曲线，用其内部来表示集合，可以用一些点来表示集合中的特定元素</a:t>
            </a:r>
            <a:endParaRPr lang="en-US" altLang="zh-CN" sz="3200" dirty="0">
              <a:latin typeface="宋体" panose="02010600030101010101" pitchFamily="2" charset="-122"/>
            </a:endParaRPr>
          </a:p>
          <a:p>
            <a:endParaRPr lang="en-US" altLang="zh-CN" sz="3200" dirty="0">
              <a:latin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zh-CN" altLang="en-US" sz="3200" dirty="0">
                <a:latin typeface="宋体" panose="02010600030101010101" pitchFamily="2" charset="-122"/>
              </a:rPr>
              <a:t>例</a:t>
            </a:r>
            <a:r>
              <a:rPr lang="en-US" altLang="zh-CN" sz="3200" dirty="0">
                <a:latin typeface="宋体" panose="02010600030101010101" pitchFamily="2" charset="-122"/>
              </a:rPr>
              <a:t>.</a:t>
            </a:r>
            <a:r>
              <a:rPr lang="zh-CN" altLang="en-US" sz="3200" dirty="0">
                <a:latin typeface="宋体" panose="02010600030101010101" pitchFamily="2" charset="-122"/>
              </a:rPr>
              <a:t>集合</a:t>
            </a:r>
            <a:r>
              <a:rPr lang="en-US" altLang="zh-CN" sz="3200" dirty="0">
                <a:latin typeface="宋体" panose="02010600030101010101" pitchFamily="2" charset="-122"/>
              </a:rPr>
              <a:t>V={</a:t>
            </a:r>
            <a:r>
              <a:rPr lang="en-US" altLang="zh-CN" sz="3200" dirty="0" err="1">
                <a:latin typeface="宋体" panose="02010600030101010101" pitchFamily="2" charset="-122"/>
              </a:rPr>
              <a:t>a,e,i,o,u</a:t>
            </a:r>
            <a:r>
              <a:rPr lang="en-US" altLang="zh-CN" sz="3200" dirty="0">
                <a:latin typeface="宋体" panose="02010600030101010101" pitchFamily="2" charset="-122"/>
              </a:rPr>
              <a:t>} </a:t>
            </a:r>
            <a:r>
              <a:rPr lang="zh-CN" altLang="en-US" sz="3200" dirty="0">
                <a:latin typeface="宋体" panose="02010600030101010101" pitchFamily="2" charset="-122"/>
              </a:rPr>
              <a:t>，用文氏图表示如下</a:t>
            </a:r>
            <a:r>
              <a:rPr lang="en-US" altLang="zh-CN" sz="3200" dirty="0">
                <a:latin typeface="宋体" panose="02010600030101010101" pitchFamily="2" charset="-122"/>
              </a:rPr>
              <a:t>:</a:t>
            </a:r>
          </a:p>
          <a:p>
            <a:endParaRPr lang="en-US" altLang="zh-CN" sz="3200" dirty="0">
              <a:sym typeface="Wingdings" panose="05000000000000000000" pitchFamily="2" charset="2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8A4355C-A9DF-CB15-701C-10D08DEF0D8D}"/>
              </a:ext>
            </a:extLst>
          </p:cNvPr>
          <p:cNvGrpSpPr>
            <a:grpSpLocks/>
          </p:cNvGrpSpPr>
          <p:nvPr/>
        </p:nvGrpSpPr>
        <p:grpSpPr bwMode="auto">
          <a:xfrm>
            <a:off x="1390650" y="3048000"/>
            <a:ext cx="7209790" cy="3308350"/>
            <a:chOff x="0" y="0"/>
            <a:chExt cx="3220" cy="1546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204D2566-74A2-0B22-84C5-D2727E2ED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9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lang="zh-CN" altLang="en-US" sz="1800" b="1">
                <a:latin typeface="Arial" panose="020B0604020202020204" pitchFamily="34" charset="0"/>
              </a:endParaRP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E3BEEE21-A767-D1F8-6EB7-243B6A2A8D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0" y="276"/>
              <a:ext cx="2150" cy="1270"/>
              <a:chOff x="0" y="0"/>
              <a:chExt cx="2150" cy="1270"/>
            </a:xfrm>
          </p:grpSpPr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ED52B974-A908-9A80-5F56-2F5CF23B3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4"/>
                <a:ext cx="2149" cy="12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buFont typeface="Wingdings" panose="05000000000000000000" pitchFamily="2" charset="2"/>
                  <a:buNone/>
                </a:pPr>
                <a:endParaRPr lang="zh-CN" alt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104E436-96CE-AD80-9576-D75BE7299E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0" y="194"/>
                <a:ext cx="1056" cy="100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buFont typeface="Wingdings" panose="05000000000000000000" pitchFamily="2" charset="2"/>
                  <a:buNone/>
                </a:pPr>
                <a:endParaRPr lang="zh-CN" altLang="en-US"/>
              </a:p>
            </p:txBody>
          </p:sp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64D6C1A6-A7D6-6438-DF04-3CFECAA1D7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05" y="0"/>
                <a:ext cx="545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000" b="1"/>
                  <a:t>全集E</a:t>
                </a:r>
              </a:p>
            </p:txBody>
          </p:sp>
          <p:sp>
            <p:nvSpPr>
              <p:cNvPr id="11" name="Text Box 10">
                <a:extLst>
                  <a:ext uri="{FF2B5EF4-FFF2-40B4-BE49-F238E27FC236}">
                    <a16:creationId xmlns:a16="http://schemas.microsoft.com/office/drawing/2014/main" id="{E1C62E55-2E7A-8395-A067-0AB558BB4A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4" y="253"/>
                <a:ext cx="2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  <a:buNone/>
                </a:pPr>
                <a:r>
                  <a:rPr lang="en-US" altLang="zh-CN" sz="2000" b="1"/>
                  <a:t>V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99FF92D-4B51-285E-7D5E-71CDECE8C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701"/>
                <a:ext cx="48" cy="48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buFont typeface="Wingdings" panose="05000000000000000000" pitchFamily="2" charset="2"/>
                  <a:buNone/>
                </a:pPr>
                <a:endParaRPr lang="zh-CN" altLang="en-US"/>
              </a:p>
            </p:txBody>
          </p:sp>
          <p:sp>
            <p:nvSpPr>
              <p:cNvPr id="13" name="Text Box 12">
                <a:extLst>
                  <a:ext uri="{FF2B5EF4-FFF2-40B4-BE49-F238E27FC236}">
                    <a16:creationId xmlns:a16="http://schemas.microsoft.com/office/drawing/2014/main" id="{D7D7CF2C-2231-6817-82CE-45E694E025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9" y="510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  <a:buNone/>
                </a:pPr>
                <a:r>
                  <a:rPr lang="en-US" altLang="zh-CN" sz="1800" b="1"/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1580CF3-2ECD-B2E5-8B4B-DE2788BCE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1" y="701"/>
                <a:ext cx="48" cy="48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buFont typeface="Wingdings" panose="05000000000000000000" pitchFamily="2" charset="2"/>
                  <a:buNone/>
                </a:pPr>
                <a:endParaRPr lang="zh-CN" alt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6B707D4-0A30-DDB3-3710-F1A9CDE3B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8" y="701"/>
                <a:ext cx="48" cy="48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buFont typeface="Wingdings" panose="05000000000000000000" pitchFamily="2" charset="2"/>
                  <a:buNone/>
                </a:pPr>
                <a:endParaRPr lang="zh-CN" alt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716F29D-6F71-8F3A-5FDF-01D87235D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" y="974"/>
                <a:ext cx="48" cy="48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buFont typeface="Wingdings" panose="05000000000000000000" pitchFamily="2" charset="2"/>
                  <a:buNone/>
                </a:pPr>
                <a:endParaRPr lang="zh-CN" alt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D2E8AA2-7ADB-940D-C1AF-0B3564840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" y="976"/>
                <a:ext cx="48" cy="48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buFont typeface="Wingdings" panose="05000000000000000000" pitchFamily="2" charset="2"/>
                  <a:buNone/>
                </a:pPr>
                <a:endParaRPr lang="zh-CN" altLang="en-US"/>
              </a:p>
            </p:txBody>
          </p:sp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69F4CC0E-D83F-44F6-4677-BA408C96A2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9" y="518"/>
                <a:ext cx="1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  <a:buNone/>
                </a:pPr>
                <a:r>
                  <a:rPr lang="en-US" altLang="zh-CN" sz="1800" b="1"/>
                  <a:t>e</a:t>
                </a:r>
              </a:p>
            </p:txBody>
          </p:sp>
          <p:sp>
            <p:nvSpPr>
              <p:cNvPr id="19" name="Text Box 18">
                <a:extLst>
                  <a:ext uri="{FF2B5EF4-FFF2-40B4-BE49-F238E27FC236}">
                    <a16:creationId xmlns:a16="http://schemas.microsoft.com/office/drawing/2014/main" id="{5FE16048-4725-54CB-A394-7BA17E06E9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0" y="523"/>
                <a:ext cx="1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  <a:buNone/>
                </a:pPr>
                <a:r>
                  <a:rPr lang="en-US" altLang="zh-CN" sz="1800" b="1"/>
                  <a:t>i</a:t>
                </a:r>
              </a:p>
            </p:txBody>
          </p:sp>
          <p:sp>
            <p:nvSpPr>
              <p:cNvPr id="20" name="Text Box 19">
                <a:extLst>
                  <a:ext uri="{FF2B5EF4-FFF2-40B4-BE49-F238E27FC236}">
                    <a16:creationId xmlns:a16="http://schemas.microsoft.com/office/drawing/2014/main" id="{1F52060C-C139-62D6-58C4-DAC212EA1E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5" y="79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  <a:buNone/>
                </a:pPr>
                <a:r>
                  <a:rPr lang="en-US" altLang="zh-CN" sz="1800" b="1"/>
                  <a:t>o</a:t>
                </a:r>
              </a:p>
            </p:txBody>
          </p:sp>
          <p:sp>
            <p:nvSpPr>
              <p:cNvPr id="21" name="Text Box 20">
                <a:extLst>
                  <a:ext uri="{FF2B5EF4-FFF2-40B4-BE49-F238E27FC236}">
                    <a16:creationId xmlns:a16="http://schemas.microsoft.com/office/drawing/2014/main" id="{A5D6998A-83FC-CA1C-D857-F049DA43E1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3" y="79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  <a:buNone/>
                </a:pPr>
                <a:r>
                  <a:rPr lang="en-US" altLang="zh-CN" sz="1800" b="1"/>
                  <a:t>u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1917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集合的文氏图</a:t>
            </a:r>
          </a:p>
        </p:txBody>
      </p:sp>
      <p:pic>
        <p:nvPicPr>
          <p:cNvPr id="1026" name="Picture 2" descr="离散数学基础笔记-集合与关系 - 知乎">
            <a:extLst>
              <a:ext uri="{FF2B5EF4-FFF2-40B4-BE49-F238E27FC236}">
                <a16:creationId xmlns:a16="http://schemas.microsoft.com/office/drawing/2014/main" id="{F35751B1-4522-2009-1DA7-4FAF63007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960" y="1611313"/>
            <a:ext cx="8006080" cy="455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4599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4E43BC6-2F6C-AEBE-A217-ABD13CA0A427}"/>
                  </a:ext>
                </a:extLst>
              </p:cNvPr>
              <p:cNvSpPr txBox="1"/>
              <p:nvPr/>
            </p:nvSpPr>
            <p:spPr>
              <a:xfrm>
                <a:off x="436880" y="1164277"/>
                <a:ext cx="11526520" cy="3409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939800" eaLnBrk="1" hangingPunct="1">
                  <a:lnSpc>
                    <a:spcPct val="130000"/>
                  </a:lnSpc>
                  <a:spcBef>
                    <a:spcPct val="0"/>
                  </a:spcBef>
                  <a:tabLst>
                    <a:tab pos="2768600" algn="l"/>
                  </a:tabLst>
                </a:pPr>
                <a:r>
                  <a:rPr lang="zh-CN" altLang="en-US" sz="2800" dirty="0"/>
                  <a:t>幂等律：  </a:t>
                </a:r>
                <a:r>
                  <a:rPr lang="en-US" altLang="zh-CN" sz="2800" dirty="0"/>
                  <a:t>A∩A=A</a:t>
                </a:r>
                <a:r>
                  <a:rPr lang="zh-CN" altLang="en-US" sz="2800" dirty="0"/>
                  <a:t>，</a:t>
                </a:r>
                <a:r>
                  <a:rPr lang="en-US" altLang="zh-CN" sz="2800" dirty="0"/>
                  <a:t>A∪A=A</a:t>
                </a:r>
                <a:r>
                  <a:rPr lang="zh-CN" altLang="en-US" sz="2800" dirty="0"/>
                  <a:t>。</a:t>
                </a:r>
              </a:p>
              <a:p>
                <a:pPr defTabSz="939800" eaLnBrk="1" hangingPunct="1">
                  <a:lnSpc>
                    <a:spcPct val="130000"/>
                  </a:lnSpc>
                  <a:spcBef>
                    <a:spcPct val="0"/>
                  </a:spcBef>
                  <a:tabLst>
                    <a:tab pos="2768600" algn="l"/>
                  </a:tabLst>
                </a:pPr>
                <a:r>
                  <a:rPr lang="zh-CN" altLang="en-US" sz="2800" dirty="0"/>
                  <a:t>交换律：  </a:t>
                </a:r>
                <a:r>
                  <a:rPr lang="en-US" altLang="zh-CN" sz="2800" dirty="0"/>
                  <a:t>A∩B=B∩A</a:t>
                </a:r>
                <a:r>
                  <a:rPr lang="zh-CN" altLang="en-US" sz="2800" dirty="0"/>
                  <a:t>，</a:t>
                </a:r>
                <a:r>
                  <a:rPr lang="en-US" altLang="zh-CN" sz="2800" dirty="0"/>
                  <a:t>A∪B=B∪A</a:t>
                </a:r>
                <a:r>
                  <a:rPr lang="zh-CN" altLang="en-US" sz="2800" dirty="0"/>
                  <a:t>。</a:t>
                </a:r>
              </a:p>
              <a:p>
                <a:pPr defTabSz="939800" eaLnBrk="1" hangingPunct="1">
                  <a:lnSpc>
                    <a:spcPct val="130000"/>
                  </a:lnSpc>
                  <a:spcBef>
                    <a:spcPct val="0"/>
                  </a:spcBef>
                  <a:tabLst>
                    <a:tab pos="2768600" algn="l"/>
                  </a:tabLst>
                </a:pPr>
                <a:r>
                  <a:rPr lang="zh-CN" altLang="en-US" sz="2800" dirty="0"/>
                  <a:t>结合律：  </a:t>
                </a:r>
                <a:r>
                  <a:rPr lang="en-US" altLang="zh-CN" sz="2800" dirty="0"/>
                  <a:t>(A∩B)∩C=A∩(B∩C)</a:t>
                </a:r>
                <a:r>
                  <a:rPr lang="zh-CN" altLang="en-US" sz="2800" dirty="0"/>
                  <a:t>，	</a:t>
                </a:r>
                <a:r>
                  <a:rPr lang="en-US" altLang="zh-CN" sz="2800" dirty="0"/>
                  <a:t>(A∪B)∪C=A∪(B∪C)</a:t>
                </a:r>
                <a:r>
                  <a:rPr lang="zh-CN" altLang="en-US" sz="2800" dirty="0"/>
                  <a:t>。</a:t>
                </a:r>
              </a:p>
              <a:p>
                <a:pPr defTabSz="939800" eaLnBrk="1" hangingPunct="1">
                  <a:lnSpc>
                    <a:spcPct val="130000"/>
                  </a:lnSpc>
                  <a:spcBef>
                    <a:spcPct val="0"/>
                  </a:spcBef>
                  <a:tabLst>
                    <a:tab pos="2768600" algn="l"/>
                  </a:tabLst>
                </a:pPr>
                <a:r>
                  <a:rPr lang="zh-CN" altLang="en-US" sz="2800" dirty="0">
                    <a:solidFill>
                      <a:schemeClr val="tx2"/>
                    </a:solidFill>
                  </a:rPr>
                  <a:t>分配律</a:t>
                </a:r>
                <a:r>
                  <a:rPr lang="zh-CN" altLang="en-US" sz="2800" dirty="0"/>
                  <a:t>：</a:t>
                </a:r>
                <a:r>
                  <a:rPr lang="en-US" altLang="zh-CN" sz="2800" dirty="0"/>
                  <a:t>A∩(B∪C)=(A∩B)∪(A∩C)</a:t>
                </a:r>
                <a:r>
                  <a:rPr lang="zh-CN" altLang="en-US" sz="2800" dirty="0"/>
                  <a:t>， </a:t>
                </a:r>
                <a:r>
                  <a:rPr lang="en-US" altLang="zh-CN" sz="2800" dirty="0"/>
                  <a:t>A∪(B∩C)=(A∪B)∩(A∪C)</a:t>
                </a:r>
                <a:r>
                  <a:rPr lang="zh-CN" altLang="en-US" sz="2800" dirty="0"/>
                  <a:t>。</a:t>
                </a:r>
              </a:p>
              <a:p>
                <a:pPr marL="609600" indent="-609600" defTabSz="939800" eaLnBrk="1" hangingPunct="1">
                  <a:lnSpc>
                    <a:spcPct val="13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tabLst>
                    <a:tab pos="2768600" algn="l"/>
                  </a:tabLst>
                </a:pPr>
                <a:r>
                  <a:rPr lang="zh-CN" altLang="en-US" sz="2800" dirty="0"/>
                  <a:t>吸收律：</a:t>
                </a:r>
                <a:r>
                  <a:rPr lang="en-US" altLang="zh-CN" sz="2800" dirty="0"/>
                  <a:t>A∩(A∪B)=A</a:t>
                </a:r>
                <a:r>
                  <a:rPr lang="zh-CN" altLang="en-US" sz="2800" dirty="0"/>
                  <a:t>，</a:t>
                </a:r>
                <a:r>
                  <a:rPr lang="en-US" altLang="zh-CN" sz="2800" dirty="0"/>
                  <a:t>A∪(A∩B)=A</a:t>
                </a:r>
                <a:r>
                  <a:rPr lang="zh-CN" altLang="en-US" sz="2800" dirty="0"/>
                  <a:t>。 </a:t>
                </a:r>
                <a:endParaRPr lang="en-US" altLang="zh-CN" sz="2800" dirty="0"/>
              </a:p>
              <a:p>
                <a:pPr marL="609600" indent="-609600" defTabSz="939800" eaLnBrk="1" hangingPunct="1">
                  <a:lnSpc>
                    <a:spcPct val="130000"/>
                  </a:lnSpc>
                  <a:spcBef>
                    <a:spcPct val="0"/>
                  </a:spcBef>
                  <a:buFont typeface="Wingdings" panose="05000000000000000000" pitchFamily="2" charset="2"/>
                  <a:buNone/>
                  <a:tabLst>
                    <a:tab pos="2768600" algn="l"/>
                  </a:tabLst>
                </a:pPr>
                <a:r>
                  <a:rPr lang="zh-CN" altLang="en-US" sz="2800" dirty="0"/>
                  <a:t>余补律：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= </m:t>
                    </m:r>
                  </m:oMath>
                </a14:m>
                <a:r>
                  <a:rPr lang="en-US" altLang="zh-CN" sz="2800" dirty="0"/>
                  <a:t>    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=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𝐸</m:t>
                    </m:r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4E43BC6-2F6C-AEBE-A217-ABD13CA0A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" y="1164277"/>
                <a:ext cx="11526520" cy="3409138"/>
              </a:xfrm>
              <a:prstGeom prst="rect">
                <a:avLst/>
              </a:prstGeom>
              <a:blipFill>
                <a:blip r:embed="rId3"/>
                <a:stretch>
                  <a:fillRect l="-1111" b="-39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8098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4E43BC6-2F6C-AEBE-A217-ABD13CA0A427}"/>
                  </a:ext>
                </a:extLst>
              </p:cNvPr>
              <p:cNvSpPr txBox="1"/>
              <p:nvPr/>
            </p:nvSpPr>
            <p:spPr>
              <a:xfrm>
                <a:off x="436880" y="1164277"/>
                <a:ext cx="11526520" cy="4550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defTabSz="939800" eaLnBrk="1" hangingPunct="1">
                  <a:lnSpc>
                    <a:spcPct val="150000"/>
                  </a:lnSpc>
                  <a:spcBef>
                    <a:spcPct val="0"/>
                  </a:spcBef>
                  <a:tabLst>
                    <a:tab pos="2768600" algn="l"/>
                  </a:tabLst>
                </a:pPr>
                <a:r>
                  <a:rPr lang="zh-CN" altLang="en-US" sz="2800" dirty="0"/>
                  <a:t>排中律：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∪~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endParaRPr lang="en-US" altLang="zh-CN" sz="2800" dirty="0"/>
              </a:p>
              <a:p>
                <a:pPr algn="just" defTabSz="939800" eaLnBrk="1" hangingPunct="1">
                  <a:lnSpc>
                    <a:spcPct val="150000"/>
                  </a:lnSpc>
                  <a:spcBef>
                    <a:spcPct val="0"/>
                  </a:spcBef>
                  <a:tabLst>
                    <a:tab pos="2768600" algn="l"/>
                  </a:tabLst>
                </a:pPr>
                <a:r>
                  <a:rPr lang="zh-CN" altLang="en-US" sz="2800" dirty="0"/>
                  <a:t>矛盾律：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∩~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=</m:t>
                    </m:r>
                  </m:oMath>
                </a14:m>
                <a:endParaRPr lang="zh-CN" altLang="en-US" sz="2800" dirty="0"/>
              </a:p>
              <a:p>
                <a:pPr defTabSz="939800" eaLnBrk="1" hangingPunct="1">
                  <a:lnSpc>
                    <a:spcPct val="150000"/>
                  </a:lnSpc>
                  <a:spcBef>
                    <a:spcPct val="0"/>
                  </a:spcBef>
                  <a:tabLst>
                    <a:tab pos="2768600" algn="l"/>
                  </a:tabLst>
                </a:pPr>
                <a:r>
                  <a:rPr lang="en-US" altLang="zh-CN" sz="2800" dirty="0">
                    <a:solidFill>
                      <a:schemeClr val="tx2"/>
                    </a:solidFill>
                  </a:rPr>
                  <a:t>De Morgan</a:t>
                </a:r>
                <a:r>
                  <a:rPr lang="zh-CN" altLang="en-US" sz="2800" dirty="0">
                    <a:solidFill>
                      <a:schemeClr val="tx2"/>
                    </a:solidFill>
                  </a:rPr>
                  <a:t>律</a:t>
                </a:r>
                <a:r>
                  <a:rPr lang="zh-CN" altLang="en-US" sz="28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altLang="zh-CN" sz="2800" b="0" dirty="0">
                  <a:ea typeface="Cambria Math" panose="02040503050406030204" pitchFamily="18" charset="0"/>
                </a:endParaRPr>
              </a:p>
              <a:p>
                <a:pPr defTabSz="939800" eaLnBrk="1" hangingPunct="1">
                  <a:lnSpc>
                    <a:spcPct val="150000"/>
                  </a:lnSpc>
                  <a:spcBef>
                    <a:spcPct val="0"/>
                  </a:spcBef>
                  <a:tabLst>
                    <a:tab pos="2768600" algn="l"/>
                  </a:tabLst>
                </a:pPr>
                <a:r>
                  <a:rPr lang="zh-CN" altLang="en-US" sz="2800" dirty="0"/>
                  <a:t>                       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)∪(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dirty="0"/>
              </a:p>
              <a:p>
                <a:pPr algn="just" defTabSz="939800">
                  <a:lnSpc>
                    <a:spcPct val="150000"/>
                  </a:lnSpc>
                  <a:tabLst>
                    <a:tab pos="2768600" algn="l"/>
                  </a:tabLst>
                </a:pPr>
                <a:r>
                  <a:rPr lang="zh-CN" altLang="en-US" sz="2800" dirty="0"/>
                  <a:t>零一律：	</a:t>
                </a:r>
                <a:r>
                  <a:rPr lang="en-US" altLang="zh-CN" sz="2800" b="0" dirty="0"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 </m:t>
                    </m:r>
                  </m:oMath>
                </a14:m>
                <a:r>
                  <a:rPr lang="zh-CN" altLang="en-US" sz="2800" dirty="0"/>
                  <a:t>∩</a:t>
                </a:r>
                <a:r>
                  <a:rPr lang="en-US" altLang="zh-CN" sz="2800" dirty="0"/>
                  <a:t>A=</a:t>
                </a:r>
                <a:r>
                  <a:rPr lang="en-US" altLang="zh-CN" sz="2800" dirty="0"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 </m:t>
                    </m:r>
                  </m:oMath>
                </a14:m>
                <a:r>
                  <a:rPr lang="zh-CN" altLang="en-US" sz="2800" dirty="0"/>
                  <a:t>，</a:t>
                </a:r>
                <a:r>
                  <a:rPr lang="en-US" altLang="zh-CN" sz="2800" dirty="0"/>
                  <a:t>E∪A=E</a:t>
                </a:r>
                <a:r>
                  <a:rPr lang="zh-CN" altLang="en-US" sz="2800" dirty="0"/>
                  <a:t>。</a:t>
                </a:r>
                <a:endParaRPr lang="en-US" altLang="zh-CN" sz="2800" dirty="0"/>
              </a:p>
              <a:p>
                <a:pPr algn="just" defTabSz="939800">
                  <a:lnSpc>
                    <a:spcPct val="150000"/>
                  </a:lnSpc>
                  <a:tabLst>
                    <a:tab pos="2768600" algn="l"/>
                  </a:tabLst>
                </a:pPr>
                <a:r>
                  <a:rPr lang="zh-CN" altLang="en-US" sz="2800" dirty="0"/>
                  <a:t>同一律：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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r>
                  <a:rPr lang="zh-CN" altLang="en-US" sz="2800" dirty="0"/>
                  <a:t>    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zh-CN" altLang="en-US" sz="2800" dirty="0"/>
              </a:p>
              <a:p>
                <a:pPr algn="just" defTabSz="939800" eaLnBrk="1" hangingPunct="1">
                  <a:lnSpc>
                    <a:spcPct val="150000"/>
                  </a:lnSpc>
                  <a:spcBef>
                    <a:spcPct val="0"/>
                  </a:spcBef>
                  <a:tabLst>
                    <a:tab pos="2768600" algn="l"/>
                  </a:tabLst>
                </a:pPr>
                <a:r>
                  <a:rPr lang="zh-CN" altLang="en-US" sz="2800" dirty="0"/>
                  <a:t>双重否定律：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~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4E43BC6-2F6C-AEBE-A217-ABD13CA0A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" y="1164277"/>
                <a:ext cx="11526520" cy="4550989"/>
              </a:xfrm>
              <a:prstGeom prst="rect">
                <a:avLst/>
              </a:prstGeom>
              <a:blipFill>
                <a:blip r:embed="rId3"/>
                <a:stretch>
                  <a:fillRect l="-1111" b="-2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61337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集合的基数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4E43BC6-2F6C-AEBE-A217-ABD13CA0A427}"/>
                  </a:ext>
                </a:extLst>
              </p:cNvPr>
              <p:cNvSpPr txBox="1"/>
              <p:nvPr/>
            </p:nvSpPr>
            <p:spPr>
              <a:xfrm>
                <a:off x="436880" y="1164277"/>
                <a:ext cx="11526520" cy="2611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defTabSz="939800" eaLnBrk="1" hangingPunct="1">
                  <a:lnSpc>
                    <a:spcPct val="150000"/>
                  </a:lnSpc>
                  <a:spcBef>
                    <a:spcPct val="0"/>
                  </a:spcBef>
                  <a:tabLst>
                    <a:tab pos="2768600" algn="l"/>
                  </a:tabLst>
                </a:pPr>
                <a:r>
                  <a:rPr lang="zh-CN" altLang="en-US" sz="2800" dirty="0"/>
                  <a:t>集合</a:t>
                </a:r>
                <a:r>
                  <a:rPr lang="en-US" altLang="zh-CN" sz="2800" dirty="0"/>
                  <a:t>A={1,2,…,n}</a:t>
                </a:r>
                <a:r>
                  <a:rPr lang="zh-CN" altLang="en-US" sz="2800" dirty="0"/>
                  <a:t>，它含有</a:t>
                </a:r>
                <a:r>
                  <a:rPr lang="en-US" altLang="zh-CN" sz="2800" dirty="0"/>
                  <a:t>n</a:t>
                </a:r>
                <a:r>
                  <a:rPr lang="zh-CN" altLang="en-US" sz="2800" dirty="0"/>
                  <a:t>个元素，可以说这个集合的基数是</a:t>
                </a:r>
                <a:r>
                  <a:rPr lang="en-US" altLang="zh-CN" sz="2800" dirty="0"/>
                  <a:t>n</a:t>
                </a:r>
                <a:r>
                  <a:rPr lang="zh-CN" altLang="en-US" sz="2800" dirty="0"/>
                  <a:t>，记作</a:t>
                </a:r>
                <a:endParaRPr lang="en-US" altLang="zh-CN" sz="2800" dirty="0"/>
              </a:p>
              <a:p>
                <a:pPr algn="just" defTabSz="939800" eaLnBrk="1" hangingPunct="1">
                  <a:lnSpc>
                    <a:spcPct val="150000"/>
                  </a:lnSpc>
                  <a:spcBef>
                    <a:spcPct val="0"/>
                  </a:spcBef>
                  <a:tabLst>
                    <a:tab pos="27686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𝑐𝑎𝑟𝑑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800" dirty="0"/>
              </a:p>
              <a:p>
                <a:pPr algn="just" defTabSz="939800" eaLnBrk="1" hangingPunct="1">
                  <a:lnSpc>
                    <a:spcPct val="150000"/>
                  </a:lnSpc>
                  <a:spcBef>
                    <a:spcPct val="0"/>
                  </a:spcBef>
                  <a:tabLst>
                    <a:tab pos="2768600" algn="l"/>
                  </a:tabLst>
                </a:pPr>
                <a:r>
                  <a:rPr lang="zh-CN" altLang="en-US" sz="2800" dirty="0"/>
                  <a:t>所谓基数，是表示集合中所含元素多少的量。如果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的基数是</a:t>
                </a:r>
                <a:r>
                  <a:rPr lang="en-US" altLang="zh-CN" sz="2800" dirty="0"/>
                  <a:t>n</a:t>
                </a:r>
                <a:r>
                  <a:rPr lang="zh-CN" altLang="en-US" sz="2800" dirty="0"/>
                  <a:t>，也可以记为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800" dirty="0"/>
                  <a:t>，显然空集的基数是</a:t>
                </a:r>
                <a:r>
                  <a:rPr lang="en-US" altLang="zh-CN" sz="2800" dirty="0"/>
                  <a:t>0</a:t>
                </a:r>
                <a:r>
                  <a:rPr lang="zh-CN" altLang="en-US" sz="2800" dirty="0"/>
                  <a:t>，即</a:t>
                </a:r>
                <a:r>
                  <a:rPr lang="en-US" altLang="zh-CN" sz="2800" dirty="0"/>
                  <a:t>|</a:t>
                </a:r>
                <a:r>
                  <a:rPr lang="en-US" altLang="zh-CN" sz="2800" dirty="0">
                    <a:sym typeface="Symbol" panose="05050102010706020507" pitchFamily="18" charset="2"/>
                  </a:rPr>
                  <a:t></a:t>
                </a:r>
                <a:r>
                  <a:rPr lang="en-US" altLang="zh-CN" sz="2800" dirty="0"/>
                  <a:t>|=0</a:t>
                </a:r>
                <a:r>
                  <a:rPr lang="zh-CN" altLang="en-US" sz="2800" dirty="0"/>
                  <a:t>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4E43BC6-2F6C-AEBE-A217-ABD13CA0A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" y="1164277"/>
                <a:ext cx="11526520" cy="2611997"/>
              </a:xfrm>
              <a:prstGeom prst="rect">
                <a:avLst/>
              </a:prstGeom>
              <a:blipFill>
                <a:blip r:embed="rId3"/>
                <a:stretch>
                  <a:fillRect l="-1111" r="-1058" b="-5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6648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集合的基数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3.10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为集合，若存在自然数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n(0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也是自然数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)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，使得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𝑐𝑎𝑟𝑑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为有穷集，否则称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为无穷集。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1692771"/>
              </a:xfrm>
              <a:prstGeom prst="rect">
                <a:avLst/>
              </a:prstGeom>
              <a:blipFill>
                <a:blip r:embed="rId3"/>
                <a:stretch>
                  <a:fillRect l="-1995" t="-6475" b="-10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8167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集合的基数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5FDE8-AB67-5CC4-BF9C-432DFCB257A3}"/>
              </a:ext>
            </a:extLst>
          </p:cNvPr>
          <p:cNvSpPr txBox="1"/>
          <p:nvPr/>
        </p:nvSpPr>
        <p:spPr>
          <a:xfrm>
            <a:off x="750277" y="860209"/>
            <a:ext cx="1069144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ym typeface="Wingdings" panose="05000000000000000000" pitchFamily="2" charset="2"/>
              </a:rPr>
              <a:t>有</a:t>
            </a:r>
            <a:r>
              <a:rPr lang="en-US" altLang="zh-CN" sz="3200" dirty="0">
                <a:sym typeface="Wingdings" panose="05000000000000000000" pitchFamily="2" charset="2"/>
              </a:rPr>
              <a:t>100</a:t>
            </a:r>
            <a:r>
              <a:rPr lang="zh-CN" altLang="en-US" sz="3200" dirty="0">
                <a:sym typeface="Wingdings" panose="05000000000000000000" pitchFamily="2" charset="2"/>
              </a:rPr>
              <a:t>名程序员。其中</a:t>
            </a:r>
            <a:r>
              <a:rPr lang="en-US" altLang="zh-CN" sz="3200" dirty="0">
                <a:sym typeface="Wingdings" panose="05000000000000000000" pitchFamily="2" charset="2"/>
              </a:rPr>
              <a:t>47</a:t>
            </a:r>
            <a:r>
              <a:rPr lang="zh-CN" altLang="en-US" sz="3200" dirty="0">
                <a:sym typeface="Wingdings" panose="05000000000000000000" pitchFamily="2" charset="2"/>
              </a:rPr>
              <a:t>名熟悉</a:t>
            </a:r>
            <a:r>
              <a:rPr lang="en-US" altLang="zh-CN" sz="3200" dirty="0">
                <a:sym typeface="Wingdings" panose="05000000000000000000" pitchFamily="2" charset="2"/>
              </a:rPr>
              <a:t>C++</a:t>
            </a:r>
            <a:r>
              <a:rPr lang="zh-CN" altLang="en-US" sz="3200" dirty="0">
                <a:sym typeface="Wingdings" panose="05000000000000000000" pitchFamily="2" charset="2"/>
              </a:rPr>
              <a:t>语言，</a:t>
            </a:r>
            <a:r>
              <a:rPr lang="en-US" altLang="zh-CN" sz="3200" dirty="0">
                <a:sym typeface="Wingdings" panose="05000000000000000000" pitchFamily="2" charset="2"/>
              </a:rPr>
              <a:t>35</a:t>
            </a:r>
            <a:r>
              <a:rPr lang="zh-CN" altLang="en-US" sz="3200" dirty="0">
                <a:sym typeface="Wingdings" panose="05000000000000000000" pitchFamily="2" charset="2"/>
              </a:rPr>
              <a:t>名熟悉</a:t>
            </a:r>
            <a:r>
              <a:rPr lang="en-US" altLang="zh-CN" sz="3200" dirty="0">
                <a:sym typeface="Wingdings" panose="05000000000000000000" pitchFamily="2" charset="2"/>
              </a:rPr>
              <a:t>Python</a:t>
            </a:r>
            <a:r>
              <a:rPr lang="zh-CN" altLang="en-US" sz="3200" dirty="0">
                <a:sym typeface="Wingdings" panose="05000000000000000000" pitchFamily="2" charset="2"/>
              </a:rPr>
              <a:t>语言，</a:t>
            </a:r>
            <a:r>
              <a:rPr lang="en-US" altLang="zh-CN" sz="3200" dirty="0">
                <a:sym typeface="Wingdings" panose="05000000000000000000" pitchFamily="2" charset="2"/>
              </a:rPr>
              <a:t>23</a:t>
            </a:r>
            <a:r>
              <a:rPr lang="zh-CN" altLang="en-US" sz="3200" dirty="0">
                <a:sym typeface="Wingdings" panose="05000000000000000000" pitchFamily="2" charset="2"/>
              </a:rPr>
              <a:t>名熟悉这两种语言。问有多少人对这两种语言都不熟悉？</a:t>
            </a:r>
            <a:endParaRPr lang="en-US" altLang="zh-CN" sz="3200" dirty="0">
              <a:sym typeface="Wingdings" panose="05000000000000000000" pitchFamily="2" charset="2"/>
            </a:endParaRPr>
          </a:p>
          <a:p>
            <a:endParaRPr lang="en-US" altLang="zh-CN" sz="3200" dirty="0">
              <a:sym typeface="Wingdings" panose="05000000000000000000" pitchFamily="2" charset="2"/>
            </a:endParaRPr>
          </a:p>
          <a:p>
            <a:r>
              <a:rPr lang="zh-CN" altLang="en-US" sz="3200" dirty="0">
                <a:sym typeface="Wingdings" panose="05000000000000000000" pitchFamily="2" charset="2"/>
              </a:rPr>
              <a:t>设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、</a:t>
            </a:r>
            <a:r>
              <a:rPr lang="en-US" altLang="zh-CN" sz="3200" dirty="0">
                <a:sym typeface="Wingdings" panose="05000000000000000000" pitchFamily="2" charset="2"/>
              </a:rPr>
              <a:t>B</a:t>
            </a:r>
            <a:r>
              <a:rPr lang="zh-CN" altLang="en-US" sz="3200" dirty="0">
                <a:sym typeface="Wingdings" panose="05000000000000000000" pitchFamily="2" charset="2"/>
              </a:rPr>
              <a:t>分别表示熟悉</a:t>
            </a:r>
            <a:r>
              <a:rPr lang="en-US" altLang="zh-CN" sz="3200" dirty="0">
                <a:sym typeface="Wingdings" panose="05000000000000000000" pitchFamily="2" charset="2"/>
              </a:rPr>
              <a:t>C++</a:t>
            </a:r>
            <a:r>
              <a:rPr lang="zh-CN" altLang="en-US" sz="3200" dirty="0">
                <a:sym typeface="Wingdings" panose="05000000000000000000" pitchFamily="2" charset="2"/>
              </a:rPr>
              <a:t>语言和</a:t>
            </a:r>
            <a:r>
              <a:rPr lang="en-US" altLang="zh-CN" sz="3200" dirty="0">
                <a:sym typeface="Wingdings" panose="05000000000000000000" pitchFamily="2" charset="2"/>
              </a:rPr>
              <a:t>Python</a:t>
            </a:r>
            <a:r>
              <a:rPr lang="zh-CN" altLang="en-US" sz="3200" dirty="0">
                <a:sym typeface="Wingdings" panose="05000000000000000000" pitchFamily="2" charset="2"/>
              </a:rPr>
              <a:t>语言的程序员集合。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1A1959-D660-35EC-3A93-AFD78C2F7560}"/>
              </a:ext>
            </a:extLst>
          </p:cNvPr>
          <p:cNvSpPr/>
          <p:nvPr/>
        </p:nvSpPr>
        <p:spPr>
          <a:xfrm>
            <a:off x="2590800" y="3545510"/>
            <a:ext cx="7625080" cy="2509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31E56F-D47D-3A10-3604-0CE9DC3A80C6}"/>
              </a:ext>
            </a:extLst>
          </p:cNvPr>
          <p:cNvSpPr txBox="1"/>
          <p:nvPr/>
        </p:nvSpPr>
        <p:spPr>
          <a:xfrm>
            <a:off x="9540240" y="3740000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D59FC49-F1A4-14D5-9272-567B477E14EA}"/>
              </a:ext>
            </a:extLst>
          </p:cNvPr>
          <p:cNvSpPr/>
          <p:nvPr/>
        </p:nvSpPr>
        <p:spPr>
          <a:xfrm>
            <a:off x="4460240" y="4047352"/>
            <a:ext cx="1767840" cy="148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C0BB4C9-640A-E217-EEC8-3D99016B3F01}"/>
              </a:ext>
            </a:extLst>
          </p:cNvPr>
          <p:cNvSpPr/>
          <p:nvPr/>
        </p:nvSpPr>
        <p:spPr>
          <a:xfrm>
            <a:off x="5492750" y="4047352"/>
            <a:ext cx="1767840" cy="1483360"/>
          </a:xfrm>
          <a:prstGeom prst="ellipse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A71050-7D92-C0E6-BA25-2D71D20C78D3}"/>
              </a:ext>
            </a:extLst>
          </p:cNvPr>
          <p:cNvSpPr txBox="1"/>
          <p:nvPr/>
        </p:nvSpPr>
        <p:spPr>
          <a:xfrm>
            <a:off x="4719320" y="4373765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C9EBAC-4AEE-BDE0-7FE6-25B00578A3F5}"/>
              </a:ext>
            </a:extLst>
          </p:cNvPr>
          <p:cNvSpPr txBox="1"/>
          <p:nvPr/>
        </p:nvSpPr>
        <p:spPr>
          <a:xfrm>
            <a:off x="6731000" y="4287405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AE6C3B-5701-26FD-F798-6807637A8DA4}"/>
              </a:ext>
            </a:extLst>
          </p:cNvPr>
          <p:cNvSpPr txBox="1"/>
          <p:nvPr/>
        </p:nvSpPr>
        <p:spPr>
          <a:xfrm>
            <a:off x="5008880" y="4849877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47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6339B7-3F48-694B-F958-D956934AFECE}"/>
              </a:ext>
            </a:extLst>
          </p:cNvPr>
          <p:cNvSpPr txBox="1"/>
          <p:nvPr/>
        </p:nvSpPr>
        <p:spPr>
          <a:xfrm>
            <a:off x="6779260" y="4800270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35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D9328C-F405-0BD3-288F-2CCEF5E94737}"/>
              </a:ext>
            </a:extLst>
          </p:cNvPr>
          <p:cNvSpPr txBox="1"/>
          <p:nvPr/>
        </p:nvSpPr>
        <p:spPr>
          <a:xfrm>
            <a:off x="5742940" y="4743097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17FDC88-2FE7-4F22-E5A7-83771C2E2E46}"/>
                  </a:ext>
                </a:extLst>
              </p:cNvPr>
              <p:cNvSpPr txBox="1"/>
              <p:nvPr/>
            </p:nvSpPr>
            <p:spPr>
              <a:xfrm>
                <a:off x="5461001" y="4331554"/>
                <a:ext cx="7861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17FDC88-2FE7-4F22-E5A7-83771C2E2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1" y="4331554"/>
                <a:ext cx="78613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788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集合的基数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1A1959-D660-35EC-3A93-AFD78C2F7560}"/>
              </a:ext>
            </a:extLst>
          </p:cNvPr>
          <p:cNvSpPr/>
          <p:nvPr/>
        </p:nvSpPr>
        <p:spPr>
          <a:xfrm>
            <a:off x="2357120" y="1010590"/>
            <a:ext cx="7625080" cy="2509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31E56F-D47D-3A10-3604-0CE9DC3A80C6}"/>
              </a:ext>
            </a:extLst>
          </p:cNvPr>
          <p:cNvSpPr txBox="1"/>
          <p:nvPr/>
        </p:nvSpPr>
        <p:spPr>
          <a:xfrm>
            <a:off x="9306560" y="1205080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D59FC49-F1A4-14D5-9272-567B477E14EA}"/>
              </a:ext>
            </a:extLst>
          </p:cNvPr>
          <p:cNvSpPr/>
          <p:nvPr/>
        </p:nvSpPr>
        <p:spPr>
          <a:xfrm>
            <a:off x="4226560" y="1512432"/>
            <a:ext cx="1767840" cy="14833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C0BB4C9-640A-E217-EEC8-3D99016B3F01}"/>
              </a:ext>
            </a:extLst>
          </p:cNvPr>
          <p:cNvSpPr/>
          <p:nvPr/>
        </p:nvSpPr>
        <p:spPr>
          <a:xfrm>
            <a:off x="5259070" y="1512432"/>
            <a:ext cx="1767840" cy="1483360"/>
          </a:xfrm>
          <a:prstGeom prst="ellipse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A71050-7D92-C0E6-BA25-2D71D20C78D3}"/>
              </a:ext>
            </a:extLst>
          </p:cNvPr>
          <p:cNvSpPr txBox="1"/>
          <p:nvPr/>
        </p:nvSpPr>
        <p:spPr>
          <a:xfrm>
            <a:off x="4485640" y="1838845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C9EBAC-4AEE-BDE0-7FE6-25B00578A3F5}"/>
              </a:ext>
            </a:extLst>
          </p:cNvPr>
          <p:cNvSpPr txBox="1"/>
          <p:nvPr/>
        </p:nvSpPr>
        <p:spPr>
          <a:xfrm>
            <a:off x="6497320" y="1752485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AE6C3B-5701-26FD-F798-6807637A8DA4}"/>
              </a:ext>
            </a:extLst>
          </p:cNvPr>
          <p:cNvSpPr txBox="1"/>
          <p:nvPr/>
        </p:nvSpPr>
        <p:spPr>
          <a:xfrm>
            <a:off x="4775200" y="2314957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47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6339B7-3F48-694B-F958-D956934AFECE}"/>
              </a:ext>
            </a:extLst>
          </p:cNvPr>
          <p:cNvSpPr txBox="1"/>
          <p:nvPr/>
        </p:nvSpPr>
        <p:spPr>
          <a:xfrm>
            <a:off x="6545580" y="2265350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35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D9328C-F405-0BD3-288F-2CCEF5E94737}"/>
              </a:ext>
            </a:extLst>
          </p:cNvPr>
          <p:cNvSpPr txBox="1"/>
          <p:nvPr/>
        </p:nvSpPr>
        <p:spPr>
          <a:xfrm>
            <a:off x="5509260" y="2208177"/>
            <a:ext cx="43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17FDC88-2FE7-4F22-E5A7-83771C2E2E46}"/>
                  </a:ext>
                </a:extLst>
              </p:cNvPr>
              <p:cNvSpPr txBox="1"/>
              <p:nvPr/>
            </p:nvSpPr>
            <p:spPr>
              <a:xfrm>
                <a:off x="5227321" y="1796634"/>
                <a:ext cx="7861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17FDC88-2FE7-4F22-E5A7-83771C2E2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321" y="1796634"/>
                <a:ext cx="78613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737BC30-0675-E12D-6363-D50CC4F8234A}"/>
                  </a:ext>
                </a:extLst>
              </p:cNvPr>
              <p:cNvSpPr txBox="1"/>
              <p:nvPr/>
            </p:nvSpPr>
            <p:spPr>
              <a:xfrm>
                <a:off x="648677" y="3680784"/>
                <a:ext cx="10691446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CN" sz="32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zh-CN" sz="32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</m:d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</m:d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CN" sz="3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</m:t>
                          </m:r>
                          <m:r>
                            <a:rPr lang="en-US" altLang="zh-CN" sz="3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</m:d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=47−23=24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</m:t>
                          </m:r>
                          <m:r>
                            <a:rPr lang="en-US" altLang="zh-CN" sz="3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</m:d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=35−23=12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∪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=24+12+23=59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~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∪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=100−59=41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A737BC30-0675-E12D-6363-D50CC4F82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77" y="3680784"/>
                <a:ext cx="10691446" cy="20621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277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包含排斥原理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S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为有穷集，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分别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表示两种性质，对于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S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中的任何一个元素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，只能处于以下四种情况之一：只具有性质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；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只具有性质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；具有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两种性质；两种性质都没有。令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A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分别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表示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S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中具有性质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的元素的集合。则有：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∩~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𝑆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+|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554545"/>
              </a:xfrm>
              <a:prstGeom prst="rect">
                <a:avLst/>
              </a:prstGeom>
              <a:blipFill>
                <a:blip r:embed="rId3"/>
                <a:stretch>
                  <a:fillRect l="-1425" t="-3103" r="-52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3806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21214"/>
            <a:ext cx="12249510" cy="68878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4054567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2395549" y="4418398"/>
            <a:ext cx="8001969" cy="830997"/>
          </a:xfrm>
          <a:prstGeom prst="rect">
            <a:avLst/>
          </a:prstGeom>
          <a:noFill/>
          <a:ln w="12700">
            <a:noFill/>
            <a:miter lim="400000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48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谢谢！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050421" y="5500321"/>
            <a:ext cx="7946680" cy="499624"/>
            <a:chOff x="2002264" y="3399020"/>
            <a:chExt cx="8187473" cy="499622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860796" y="3399020"/>
              <a:ext cx="4395931" cy="499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prstClr val="white"/>
                </a:solidFill>
              </a:rPr>
              <a:pPr/>
              <a:t>38</a:t>
            </a:fld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21" r="16752"/>
          <a:stretch/>
        </p:blipFill>
        <p:spPr>
          <a:xfrm>
            <a:off x="8580033" y="0"/>
            <a:ext cx="3634971" cy="330446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7937867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 https://12sc.taobao.com/">
  <a:themeElements>
    <a:clrScheme name="6_Colored Theme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377790"/>
      </a:accent1>
      <a:accent2>
        <a:srgbClr val="189A80"/>
      </a:accent2>
      <a:accent3>
        <a:srgbClr val="F09C2A"/>
      </a:accent3>
      <a:accent4>
        <a:srgbClr val="D24132"/>
      </a:accent4>
      <a:accent5>
        <a:srgbClr val="564266"/>
      </a:accent5>
      <a:accent6>
        <a:srgbClr val="686868"/>
      </a:accent6>
      <a:hlink>
        <a:srgbClr val="FFFFFF"/>
      </a:hlink>
      <a:folHlink>
        <a:srgbClr val="595959"/>
      </a:folHlink>
    </a:clrScheme>
    <a:fontScheme name="Arial">
      <a:majorFont>
        <a:latin typeface="Arial"/>
        <a:ea typeface=""/>
        <a:cs typeface="FontAwesome"/>
      </a:majorFont>
      <a:minorFont>
        <a:latin typeface="Arial"/>
        <a:ea typeface=""/>
        <a:cs typeface="FontAwesom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40311</TotalTime>
  <Words>2906</Words>
  <Application>Microsoft Office PowerPoint</Application>
  <PresentationFormat>宽屏</PresentationFormat>
  <Paragraphs>336</Paragraphs>
  <Slides>38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1" baseType="lpstr">
      <vt:lpstr>FontAwesome</vt:lpstr>
      <vt:lpstr>等线</vt:lpstr>
      <vt:lpstr>等线 Light</vt:lpstr>
      <vt:lpstr>方正粗黑宋简体</vt:lpstr>
      <vt:lpstr>宋体</vt:lpstr>
      <vt:lpstr>微软雅黑</vt:lpstr>
      <vt:lpstr>Arial</vt:lpstr>
      <vt:lpstr>Cambria Math</vt:lpstr>
      <vt:lpstr>Symbol</vt:lpstr>
      <vt:lpstr>Times New Roman</vt:lpstr>
      <vt:lpstr>Wingdings</vt:lpstr>
      <vt:lpstr>Office 主题​​</vt:lpstr>
      <vt:lpstr>清风素材 https://12sc.taobao.com/</vt:lpstr>
      <vt:lpstr>PowerPoint 演示文稿</vt:lpstr>
      <vt:lpstr>等值式</vt:lpstr>
      <vt:lpstr>量词否定等值式</vt:lpstr>
      <vt:lpstr>量词辖域收缩或扩张等值式</vt:lpstr>
      <vt:lpstr>量词辖域收缩或扩张等值式</vt:lpstr>
      <vt:lpstr>量词分配等值式</vt:lpstr>
      <vt:lpstr>量词分配等值式</vt:lpstr>
      <vt:lpstr>等值式</vt:lpstr>
      <vt:lpstr>前束范式</vt:lpstr>
      <vt:lpstr>前束范式</vt:lpstr>
      <vt:lpstr>前束范式</vt:lpstr>
      <vt:lpstr>集合</vt:lpstr>
      <vt:lpstr>集合</vt:lpstr>
      <vt:lpstr>集合</vt:lpstr>
      <vt:lpstr>子集</vt:lpstr>
      <vt:lpstr>集合相等</vt:lpstr>
      <vt:lpstr>真子集</vt:lpstr>
      <vt:lpstr>空集</vt:lpstr>
      <vt:lpstr>空集</vt:lpstr>
      <vt:lpstr>空集</vt:lpstr>
      <vt:lpstr>子集</vt:lpstr>
      <vt:lpstr>幂集</vt:lpstr>
      <vt:lpstr>全集</vt:lpstr>
      <vt:lpstr>集合的基本运算</vt:lpstr>
      <vt:lpstr>集合的基本运算</vt:lpstr>
      <vt:lpstr>集合的基本运算</vt:lpstr>
      <vt:lpstr>集合的基本运算</vt:lpstr>
      <vt:lpstr>集合的基本运算</vt:lpstr>
      <vt:lpstr>集合的文氏图</vt:lpstr>
      <vt:lpstr>集合的文氏图</vt:lpstr>
      <vt:lpstr>集合的运算</vt:lpstr>
      <vt:lpstr>集合的运算</vt:lpstr>
      <vt:lpstr>集合的基数</vt:lpstr>
      <vt:lpstr>集合的基数</vt:lpstr>
      <vt:lpstr>集合的基数</vt:lpstr>
      <vt:lpstr>集合的基数</vt:lpstr>
      <vt:lpstr>包含排斥原理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邬 渊</cp:lastModifiedBy>
  <cp:revision>1823</cp:revision>
  <cp:lastPrinted>2019-05-20T00:00:00Z</cp:lastPrinted>
  <dcterms:created xsi:type="dcterms:W3CDTF">2019-04-24T04:43:00Z</dcterms:created>
  <dcterms:modified xsi:type="dcterms:W3CDTF">2025-03-12T06:21:37Z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2052-11.1.0.9209</vt:lpwstr>
  </property>
</Properties>
</file>
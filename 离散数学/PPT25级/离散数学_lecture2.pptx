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9"/>
  </p:notesMasterIdLst>
  <p:sldIdLst>
    <p:sldId id="267" r:id="rId3"/>
    <p:sldId id="355" r:id="rId4"/>
    <p:sldId id="435" r:id="rId5"/>
    <p:sldId id="416" r:id="rId6"/>
    <p:sldId id="456" r:id="rId7"/>
    <p:sldId id="457" r:id="rId8"/>
    <p:sldId id="458" r:id="rId9"/>
    <p:sldId id="459" r:id="rId10"/>
    <p:sldId id="460" r:id="rId11"/>
    <p:sldId id="417" r:id="rId12"/>
    <p:sldId id="461" r:id="rId13"/>
    <p:sldId id="462" r:id="rId14"/>
    <p:sldId id="464" r:id="rId15"/>
    <p:sldId id="463" r:id="rId16"/>
    <p:sldId id="465" r:id="rId17"/>
    <p:sldId id="466" r:id="rId18"/>
    <p:sldId id="467" r:id="rId19"/>
    <p:sldId id="468" r:id="rId20"/>
    <p:sldId id="469" r:id="rId21"/>
    <p:sldId id="470" r:id="rId22"/>
    <p:sldId id="471" r:id="rId23"/>
    <p:sldId id="415" r:id="rId24"/>
    <p:sldId id="418" r:id="rId25"/>
    <p:sldId id="419" r:id="rId26"/>
    <p:sldId id="420" r:id="rId27"/>
    <p:sldId id="334" r:id="rId28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948025412@qq.com" initials="9" lastIdx="1" clrIdx="0">
    <p:extLst>
      <p:ext uri="{19B8F6BF-5375-455C-9EA6-DF929625EA0E}">
        <p15:presenceInfo xmlns:p15="http://schemas.microsoft.com/office/powerpoint/2012/main" userId="9e74ee9f37df7a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4B5"/>
    <a:srgbClr val="9DC3E6"/>
    <a:srgbClr val="FFF2CC"/>
    <a:srgbClr val="FFD966"/>
    <a:srgbClr val="266980"/>
    <a:srgbClr val="2E75B5"/>
    <a:srgbClr val="572808"/>
    <a:srgbClr val="BDD7EE"/>
    <a:srgbClr val="1C647E"/>
    <a:srgbClr val="AC4F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6280" autoAdjust="0"/>
  </p:normalViewPr>
  <p:slideViewPr>
    <p:cSldViewPr snapToGrid="0" showGuides="1">
      <p:cViewPr varScale="1">
        <p:scale>
          <a:sx n="123" d="100"/>
          <a:sy n="123" d="100"/>
        </p:scale>
        <p:origin x="1748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commentAuthors" Target="commentAuthor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B095CFA-2E4A-4DA6-A291-36D909D1A46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2025/3/3</a:t>
            </a:fld>
            <a:endParaRPr lang="zh-CN" altLang="en-US" strike="noStrike" noProof="1"/>
          </a:p>
        </p:txBody>
      </p:sp>
      <p:sp>
        <p:nvSpPr>
          <p:cNvPr id="17203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203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 indent="0"/>
            <a:r>
              <a:rPr lang="zh-CN" altLang="en-US"/>
              <a:t>第二级</a:t>
            </a:r>
          </a:p>
          <a:p>
            <a:pPr lvl="2" indent="0"/>
            <a:r>
              <a:rPr lang="zh-CN" altLang="en-US"/>
              <a:t>第三级</a:t>
            </a:r>
          </a:p>
          <a:p>
            <a:pPr lvl="3" indent="0"/>
            <a:r>
              <a:rPr lang="zh-CN" altLang="en-US"/>
              <a:t>第四级</a:t>
            </a:r>
          </a:p>
          <a:p>
            <a:pPr lvl="4" indent="0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7F7DBCC3-39B1-4490-B912-0E3D3B92F8A3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A3554-0430-45DB-BDFE-3C446509E54A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348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035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649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795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858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135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0193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1822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2169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780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7739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2505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8981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6290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9216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0413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906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77728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97949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5344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3788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6362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6456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78137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3526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A3554-0430-45DB-BDFE-3C446509E54A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007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1B8381E7-25DC-4DAD-A078-DA58656A5B95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2025/3/3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49486E14-F3C0-4B3B-9E53-DA47772D7B76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2025/3/3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A97A5AE-033E-4E33-8F05-5A54772AF24E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2025/3/3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390F8BA-2E15-4A27-8E64-A1395E298AB3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2025/3/3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55B6809-9057-4661-BDBB-E2BB416E6555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2025/3/3</a:t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26E46B70-6FA3-4863-839E-B21676BF3A54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2025/3/3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7B4A683-24CA-491D-9609-C24094856540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2025/3/3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BD7108D-04DE-425A-80BA-67916C21E75E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2025/3/3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46A49D0B-3845-47D6-9C86-D430593DB3A4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2025/3/3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C1663EE6-C5DC-47E4-9CB4-43F4A762AC87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2025/3/3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4FAC9D7C-BD8B-49F5-9748-43BBC1F050D4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2025/3/3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80" y="52363"/>
            <a:ext cx="1445387" cy="80242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69467" y="127668"/>
            <a:ext cx="10422533" cy="4209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968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80" y="52363"/>
            <a:ext cx="1445387" cy="80242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324080" y="590440"/>
            <a:ext cx="11867920" cy="3401"/>
          </a:xfrm>
          <a:prstGeom prst="line">
            <a:avLst/>
          </a:prstGeom>
          <a:ln w="28575">
            <a:solidFill>
              <a:srgbClr val="16407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769467" y="192002"/>
            <a:ext cx="10422533" cy="3984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2E73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674" y="97631"/>
            <a:ext cx="290095" cy="52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57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Smal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5188321" y="1676728"/>
            <a:ext cx="1815163" cy="1814739"/>
          </a:xfrm>
          <a:prstGeom prst="ellipse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12191997" cy="258409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1072707" y="1777295"/>
            <a:ext cx="1989629" cy="1989165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3687191" y="1777295"/>
            <a:ext cx="1989629" cy="1989165"/>
          </a:xfrm>
          <a:prstGeom prst="ellipse">
            <a:avLst/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378022" y="1777295"/>
            <a:ext cx="1989629" cy="1989165"/>
          </a:xfrm>
          <a:prstGeom prst="ellipse">
            <a:avLst/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9054524" y="1777295"/>
            <a:ext cx="1989629" cy="1989165"/>
          </a:xfrm>
          <a:prstGeom prst="ellipse">
            <a:avLst/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1072707" y="1777295"/>
            <a:ext cx="1989629" cy="1989165"/>
          </a:xfrm>
          <a:prstGeom prst="roundRect">
            <a:avLst/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3687191" y="1777295"/>
            <a:ext cx="1989629" cy="1989165"/>
          </a:xfrm>
          <a:prstGeom prst="roundRect">
            <a:avLst/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378022" y="1777295"/>
            <a:ext cx="1989629" cy="1989165"/>
          </a:xfrm>
          <a:prstGeom prst="roundRect">
            <a:avLst/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9054524" y="1777295"/>
            <a:ext cx="1989629" cy="1989165"/>
          </a:xfrm>
          <a:prstGeom prst="roundRect">
            <a:avLst/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900057" y="1777294"/>
            <a:ext cx="3244279" cy="3260313"/>
          </a:xfrm>
          <a:prstGeom prst="roundRect">
            <a:avLst>
              <a:gd name="adj" fmla="val 8446"/>
            </a:avLst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99380" y="1488610"/>
            <a:ext cx="1806275" cy="1805853"/>
          </a:xfrm>
          <a:prstGeom prst="roundRect">
            <a:avLst>
              <a:gd name="adj" fmla="val 11041"/>
            </a:avLst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2557144" y="1488610"/>
            <a:ext cx="1806275" cy="1805853"/>
          </a:xfrm>
          <a:prstGeom prst="roundRect">
            <a:avLst>
              <a:gd name="adj" fmla="val 13151"/>
            </a:avLst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4614908" y="1488610"/>
            <a:ext cx="1806275" cy="1805853"/>
          </a:xfrm>
          <a:prstGeom prst="roundRect">
            <a:avLst>
              <a:gd name="adj" fmla="val 11744"/>
            </a:avLst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6674923" y="1488610"/>
            <a:ext cx="1806275" cy="1805853"/>
          </a:xfrm>
          <a:prstGeom prst="roundRect">
            <a:avLst>
              <a:gd name="adj" fmla="val 7524"/>
            </a:avLst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4226225" y="1742904"/>
            <a:ext cx="1806275" cy="1805853"/>
          </a:xfrm>
          <a:prstGeom prst="roundRect">
            <a:avLst>
              <a:gd name="adj" fmla="val 11744"/>
            </a:avLst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6173535" y="1742904"/>
            <a:ext cx="1806275" cy="1805853"/>
          </a:xfrm>
          <a:prstGeom prst="roundRect">
            <a:avLst>
              <a:gd name="adj" fmla="val 7524"/>
            </a:avLst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596691" y="3207051"/>
            <a:ext cx="1297573" cy="1297272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5391886" y="1377389"/>
            <a:ext cx="1297573" cy="1297272"/>
          </a:xfrm>
          <a:prstGeom prst="ellipse">
            <a:avLst/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7224747" y="3198356"/>
            <a:ext cx="1297573" cy="1297272"/>
          </a:xfrm>
          <a:prstGeom prst="ellipse">
            <a:avLst/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5399164" y="5012383"/>
            <a:ext cx="1297573" cy="1297272"/>
          </a:xfrm>
          <a:prstGeom prst="ellipse">
            <a:avLst/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272416"/>
            <a:ext cx="12191997" cy="4921720"/>
          </a:xfrm>
          <a:prstGeom prst="downArrowCallout">
            <a:avLst>
              <a:gd name="adj1" fmla="val 50000"/>
              <a:gd name="adj2" fmla="val 15352"/>
              <a:gd name="adj3" fmla="val 5443"/>
              <a:gd name="adj4" fmla="val 94557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Top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3"/>
            <a:ext cx="12191997" cy="3966661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Top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880608" y="1639333"/>
            <a:ext cx="4908153" cy="427018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Lef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42381" cy="6858000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6249619" y="0"/>
            <a:ext cx="5942381" cy="6858000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83399" y="1575370"/>
            <a:ext cx="3597455" cy="3543436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2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297274" y="1575370"/>
            <a:ext cx="3597455" cy="3543436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411149" y="1575370"/>
            <a:ext cx="3597455" cy="3543436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Pictures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475895" y="1445657"/>
            <a:ext cx="3469533" cy="2351680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361234" y="1445657"/>
            <a:ext cx="3469533" cy="2351680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5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241795" y="1445657"/>
            <a:ext cx="3469533" cy="2351680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w Left 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83399" y="1575369"/>
            <a:ext cx="3597455" cy="3400024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411149" y="1575371"/>
            <a:ext cx="3597455" cy="3400023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dle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Off-page Connector 5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8" name="Flowchart: Off-page Connector 7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5020671" y="1382568"/>
            <a:ext cx="3360699" cy="4965187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5221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463041" y="1758206"/>
            <a:ext cx="3250392" cy="427018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7478569" y="1758206"/>
            <a:ext cx="3250392" cy="4270188"/>
          </a:xfrm>
          <a:prstGeom prst="rect">
            <a:avLst/>
          </a:prstGeom>
        </p:spPr>
        <p:txBody>
          <a:bodyPr anchor="t"/>
          <a:lstStyle>
            <a:lvl1pPr algn="ctr" rtl="0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4344776" y="1438846"/>
            <a:ext cx="3647921" cy="4908909"/>
          </a:xfrm>
          <a:prstGeom prst="rect">
            <a:avLst/>
          </a:prstGeom>
        </p:spPr>
        <p:txBody>
          <a:bodyPr anchor="t"/>
          <a:lstStyle>
            <a:lvl1pPr algn="ctr" rtl="0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21920" y="1438846"/>
            <a:ext cx="2804160" cy="3526343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3169920" y="1438846"/>
            <a:ext cx="2804160" cy="3526343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5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6217920" y="1438846"/>
            <a:ext cx="2804160" cy="3526343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6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9265920" y="1438846"/>
            <a:ext cx="2804160" cy="3526343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475894" y="1201531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0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361234" y="1201531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1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241795" y="1201531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2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475894" y="3806159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3" name="Picture Placeholder 6"/>
          <p:cNvSpPr>
            <a:spLocks noGrp="1"/>
          </p:cNvSpPr>
          <p:nvPr>
            <p:ph type="pic" sz="quarter" idx="17" hasCustomPrompt="1"/>
          </p:nvPr>
        </p:nvSpPr>
        <p:spPr>
          <a:xfrm>
            <a:off x="8241795" y="3806159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4" name="Picture Placeholder 6"/>
          <p:cNvSpPr>
            <a:spLocks noGrp="1"/>
          </p:cNvSpPr>
          <p:nvPr>
            <p:ph type="pic" sz="quarter" idx="18" hasCustomPrompt="1"/>
          </p:nvPr>
        </p:nvSpPr>
        <p:spPr>
          <a:xfrm>
            <a:off x="4361234" y="3806159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296334" y="215900"/>
            <a:ext cx="5880100" cy="6426200"/>
          </a:xfrm>
          <a:prstGeom prst="round1Rect">
            <a:avLst>
              <a:gd name="adj" fmla="val 5318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06867" y="216720"/>
            <a:ext cx="5488240" cy="4518040"/>
          </a:xfrm>
          <a:prstGeom prst="round1Rect">
            <a:avLst>
              <a:gd name="adj" fmla="val 6441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406865" y="4978885"/>
            <a:ext cx="5488240" cy="1662384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296333" y="215900"/>
            <a:ext cx="5646048" cy="4518040"/>
          </a:xfrm>
          <a:prstGeom prst="round1Rect">
            <a:avLst>
              <a:gd name="adj" fmla="val 6441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296333" y="4978885"/>
            <a:ext cx="5646048" cy="1662384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6249619" y="215900"/>
            <a:ext cx="5646048" cy="4518040"/>
          </a:xfrm>
          <a:prstGeom prst="round1Rect">
            <a:avLst>
              <a:gd name="adj" fmla="val 6441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6249619" y="4978885"/>
            <a:ext cx="5646048" cy="1662384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Callout 11"/>
          <p:cNvSpPr/>
          <p:nvPr userDrawn="1"/>
        </p:nvSpPr>
        <p:spPr>
          <a:xfrm>
            <a:off x="487363" y="1423988"/>
            <a:ext cx="2676525" cy="2662238"/>
          </a:xfrm>
          <a:prstGeom prst="downArrowCallout">
            <a:avLst>
              <a:gd name="adj1" fmla="val 23554"/>
              <a:gd name="adj2" fmla="val 10346"/>
              <a:gd name="adj3" fmla="val 10003"/>
              <a:gd name="adj4" fmla="val 89997"/>
            </a:avLst>
          </a:prstGeom>
          <a:solidFill>
            <a:schemeClr val="accent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58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ontAwesome" pitchFamily="2" charset="0"/>
              <a:ea typeface="+mn-ea"/>
            </a:endParaRPr>
          </a:p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3" name="Up Arrow Callout 12"/>
          <p:cNvSpPr/>
          <p:nvPr userDrawn="1"/>
        </p:nvSpPr>
        <p:spPr>
          <a:xfrm>
            <a:off x="3343275" y="3317875"/>
            <a:ext cx="2678113" cy="2689225"/>
          </a:xfrm>
          <a:prstGeom prst="upArrowCallout">
            <a:avLst>
              <a:gd name="adj1" fmla="val 25000"/>
              <a:gd name="adj2" fmla="val 9346"/>
              <a:gd name="adj3" fmla="val 11156"/>
              <a:gd name="adj4" fmla="val 88844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533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ontAwesome" pitchFamily="2" charset="0"/>
              <a:ea typeface="+mn-ea"/>
            </a:endParaRPr>
          </a:p>
        </p:txBody>
      </p:sp>
      <p:sp>
        <p:nvSpPr>
          <p:cNvPr id="15" name="Down Arrow Callout 14"/>
          <p:cNvSpPr/>
          <p:nvPr userDrawn="1"/>
        </p:nvSpPr>
        <p:spPr>
          <a:xfrm>
            <a:off x="6170613" y="1423988"/>
            <a:ext cx="2678113" cy="2662238"/>
          </a:xfrm>
          <a:prstGeom prst="downArrowCallout">
            <a:avLst>
              <a:gd name="adj1" fmla="val 23554"/>
              <a:gd name="adj2" fmla="val 10346"/>
              <a:gd name="adj3" fmla="val 10003"/>
              <a:gd name="adj4" fmla="val 89997"/>
            </a:avLst>
          </a:prstGeom>
          <a:solidFill>
            <a:schemeClr val="accent3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3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 </a:t>
            </a:r>
          </a:p>
        </p:txBody>
      </p:sp>
      <p:sp>
        <p:nvSpPr>
          <p:cNvPr id="17" name="Up Arrow Callout 16"/>
          <p:cNvSpPr/>
          <p:nvPr userDrawn="1"/>
        </p:nvSpPr>
        <p:spPr>
          <a:xfrm>
            <a:off x="9013825" y="3317875"/>
            <a:ext cx="2676525" cy="2689225"/>
          </a:xfrm>
          <a:prstGeom prst="upArrowCallout">
            <a:avLst>
              <a:gd name="adj1" fmla="val 25000"/>
              <a:gd name="adj2" fmla="val 9346"/>
              <a:gd name="adj3" fmla="val 11156"/>
              <a:gd name="adj4" fmla="val 88844"/>
            </a:avLst>
          </a:prstGeom>
          <a:solidFill>
            <a:schemeClr val="accent4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b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ontAwesome" pitchFamily="2" charset="0"/>
                <a:ea typeface="+mn-ea"/>
              </a:rPr>
            </a:b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30" name="Flowchart: Off-page Connector 29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26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487251" y="3625657"/>
            <a:ext cx="2677295" cy="236606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3343837" y="1438845"/>
            <a:ext cx="2677295" cy="236606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8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171142" y="3625657"/>
            <a:ext cx="2677295" cy="236606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9013086" y="1438845"/>
            <a:ext cx="2677295" cy="236606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31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7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 with three Colum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lowchart: Off-page Connector 29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4" name="Down Arrow Callout 13"/>
          <p:cNvSpPr/>
          <p:nvPr userDrawn="1"/>
        </p:nvSpPr>
        <p:spPr>
          <a:xfrm>
            <a:off x="6192838" y="1662113"/>
            <a:ext cx="2473325" cy="4302125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chemeClr val="accent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6" name="Down Arrow Callout 15"/>
          <p:cNvSpPr/>
          <p:nvPr userDrawn="1"/>
        </p:nvSpPr>
        <p:spPr>
          <a:xfrm>
            <a:off x="3540125" y="1662113"/>
            <a:ext cx="2471738" cy="4302125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9" name="Down Arrow Callout 18"/>
          <p:cNvSpPr/>
          <p:nvPr userDrawn="1"/>
        </p:nvSpPr>
        <p:spPr>
          <a:xfrm>
            <a:off x="8847138" y="1662113"/>
            <a:ext cx="2471738" cy="4302125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3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86069" y="1662386"/>
            <a:ext cx="2472192" cy="4301321"/>
          </a:xfrm>
          <a:prstGeom prst="downArrowCallout">
            <a:avLst>
              <a:gd name="adj1" fmla="val 26120"/>
              <a:gd name="adj2" fmla="val 6382"/>
              <a:gd name="adj3" fmla="val 5273"/>
              <a:gd name="adj4" fmla="val 96969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1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9" grpId="0" animBg="1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ulome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8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896091" y="1448890"/>
            <a:ext cx="4913419" cy="3072372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6385667" y="1445657"/>
            <a:ext cx="4910243" cy="307560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Blank With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Off-page Connector 4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ree Blank With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Off-page Connector 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ree Blank With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Off-page Connector 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791720" y="541356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r">
              <a:defRPr sz="2665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z="2665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823720" y="1010678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r">
              <a:buNone/>
              <a:defRPr sz="14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4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 indent="-22860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2B4B57BF-D235-4043-BA3E-BB73EDFD9DF0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2025/3/3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32549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fld id="{CE004C5E-B19A-4C6C-B3AC-9AE9ACCC0581}" type="slidenum">
              <a:rPr lang="zh-CN" altLang="en-US" noProof="1" smtClean="0">
                <a:latin typeface="+mn-lt"/>
                <a:ea typeface="+mn-ea"/>
              </a:rPr>
              <a:t>‹#›</a:t>
            </a:fld>
            <a:endParaRPr lang="zh-CN" altLang="en-US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91" r:id="rId12"/>
    <p:sldLayoutId id="214748369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</p:sldLayoutIdLst>
  <p:transition spd="slow" advTm="3000"/>
  <p:hf hdr="0" ftr="0" dt="0"/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microsoft.com/office/2007/relationships/hdphoto" Target="../media/hdphoto2.wdp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microsoft.com/office/2007/relationships/hdphoto" Target="../media/hdphoto2.wdp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" t="-376" r="1097" b="376"/>
          <a:stretch/>
        </p:blipFill>
        <p:spPr>
          <a:xfrm>
            <a:off x="-34506" y="-44388"/>
            <a:ext cx="12202130" cy="691101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-34506" y="4050175"/>
            <a:ext cx="12249510" cy="28280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0" name="Shape 45"/>
          <p:cNvSpPr/>
          <p:nvPr/>
        </p:nvSpPr>
        <p:spPr>
          <a:xfrm>
            <a:off x="343800" y="4484700"/>
            <a:ext cx="11525644" cy="830997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45720" tIns="45720" rIns="45720" bIns="4572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algn="ctr"/>
            <a:r>
              <a:rPr lang="zh-CN" altLang="en-US" sz="2400" b="1" dirty="0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离散数学</a:t>
            </a:r>
            <a:endParaRPr lang="en-US" altLang="zh-CN" sz="2400" b="1" dirty="0">
              <a:solidFill>
                <a:schemeClr val="bg1"/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  <a:p>
            <a:pPr algn="ctr"/>
            <a:r>
              <a:rPr lang="en-US" altLang="zh-CN" sz="2400" b="1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2024~2025</a:t>
            </a:r>
            <a:r>
              <a:rPr lang="zh-CN" altLang="en-US" sz="2400" b="1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第二</a:t>
            </a:r>
            <a:r>
              <a:rPr lang="zh-CN" altLang="en-US" sz="2400" b="1" dirty="0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学期</a:t>
            </a:r>
          </a:p>
        </p:txBody>
      </p:sp>
      <p:grpSp>
        <p:nvGrpSpPr>
          <p:cNvPr id="9" name="组合 45"/>
          <p:cNvGrpSpPr/>
          <p:nvPr/>
        </p:nvGrpSpPr>
        <p:grpSpPr>
          <a:xfrm>
            <a:off x="2131181" y="5452617"/>
            <a:ext cx="7946680" cy="499624"/>
            <a:chOff x="2002264" y="3493031"/>
            <a:chExt cx="8187473" cy="352610"/>
          </a:xfrm>
        </p:grpSpPr>
        <p:sp>
          <p:nvSpPr>
            <p:cNvPr id="17" name="矩形 17"/>
            <p:cNvSpPr>
              <a:spLocks noChangeArrowheads="1"/>
            </p:cNvSpPr>
            <p:nvPr/>
          </p:nvSpPr>
          <p:spPr bwMode="auto">
            <a:xfrm>
              <a:off x="3784402" y="3493031"/>
              <a:ext cx="4395931" cy="352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000" dirty="0">
                  <a:solidFill>
                    <a:prstClr val="white"/>
                  </a:solidFill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微软雅黑"/>
                  <a:ea typeface="微软雅黑"/>
                </a:rPr>
                <a:t>邬渊 </a:t>
              </a:r>
              <a:endParaRPr lang="en-US" altLang="zh-CN" sz="2000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/>
                <a:ea typeface="微软雅黑"/>
              </a:endParaRPr>
            </a:p>
          </p:txBody>
        </p:sp>
        <p:cxnSp>
          <p:nvCxnSpPr>
            <p:cNvPr id="18" name="直接连接符 13"/>
            <p:cNvCxnSpPr/>
            <p:nvPr/>
          </p:nvCxnSpPr>
          <p:spPr bwMode="auto">
            <a:xfrm>
              <a:off x="2002264" y="3705778"/>
              <a:ext cx="2329187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  <p:cxnSp>
          <p:nvCxnSpPr>
            <p:cNvPr id="19" name="直接连接符 14"/>
            <p:cNvCxnSpPr/>
            <p:nvPr/>
          </p:nvCxnSpPr>
          <p:spPr bwMode="auto">
            <a:xfrm>
              <a:off x="7828119" y="3705778"/>
              <a:ext cx="2361618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</p:grp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8" r="55688" b="42178"/>
          <a:stretch/>
        </p:blipFill>
        <p:spPr>
          <a:xfrm flipH="1">
            <a:off x="1727201" y="685800"/>
            <a:ext cx="1118396" cy="14224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6" t="40799" r="31019" b="39942"/>
          <a:stretch/>
        </p:blipFill>
        <p:spPr>
          <a:xfrm>
            <a:off x="7874000" y="1348059"/>
            <a:ext cx="3048000" cy="13208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505178" y="1026073"/>
            <a:ext cx="1137053" cy="48577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9956800" y="2935491"/>
            <a:ext cx="1137053" cy="48577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389" y="943829"/>
            <a:ext cx="5228265" cy="2902521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71" t="23333" r="16751"/>
          <a:stretch/>
        </p:blipFill>
        <p:spPr>
          <a:xfrm>
            <a:off x="8683551" y="-43132"/>
            <a:ext cx="3531454" cy="3347597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0" cstate="print">
            <a:grayscl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412" y="639326"/>
            <a:ext cx="931677" cy="93318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>
                <a:solidFill>
                  <a:schemeClr val="bg1"/>
                </a:solidFill>
              </a:rPr>
              <a:pPr/>
              <a:t>1</a:t>
            </a:fld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051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8D36B07C-69C3-4BDB-9A68-CAC8EA3A5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16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等值演算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5A2C0AA-130C-3802-3CF3-BE12F9134987}"/>
                  </a:ext>
                </a:extLst>
              </p:cNvPr>
              <p:cNvSpPr txBox="1"/>
              <p:nvPr/>
            </p:nvSpPr>
            <p:spPr>
              <a:xfrm>
                <a:off x="750277" y="1225969"/>
                <a:ext cx="10691446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b="1" dirty="0"/>
                  <a:t>定理</a:t>
                </a:r>
                <a:r>
                  <a:rPr lang="en-US" altLang="zh-CN" sz="3200" b="1" dirty="0"/>
                  <a:t>1.1</a:t>
                </a:r>
                <a:r>
                  <a:rPr lang="en-US" altLang="zh-CN" sz="3200" b="1" dirty="0">
                    <a:sym typeface="Wingdings" panose="05000000000000000000" pitchFamily="2" charset="2"/>
                  </a:rPr>
                  <a:t>:</a:t>
                </a:r>
              </a:p>
              <a:p>
                <a:r>
                  <a:rPr lang="en-US" altLang="zh-CN" sz="2800" dirty="0">
                    <a:sym typeface="Wingdings" panose="05000000000000000000" pitchFamily="2" charset="2"/>
                  </a:rPr>
                  <a:t> 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Φ</m:t>
                    </m:r>
                    <m:r>
                      <a:rPr lang="en-US" altLang="zh-CN" sz="28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28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28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28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含有命题公式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命题公式，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Φ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是用命题公式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B</m:t>
                    </m:r>
                    <m:r>
                      <a:rPr lang="zh-CN" altLang="en-US" sz="28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置换</m:t>
                    </m:r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了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Φ</m:t>
                    </m:r>
                    <m:r>
                      <a:rPr lang="en-US" altLang="zh-CN" sz="28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28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28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中的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之后得到的命题公式。如果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⟺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，则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Φ</m:t>
                    </m:r>
                    <m:r>
                      <a:rPr lang="en-US" altLang="zh-CN" sz="28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28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28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⇔</m:t>
                    </m:r>
                  </m:oMath>
                </a14:m>
                <a:r>
                  <a:rPr lang="en-US" altLang="zh-CN" sz="28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Φ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。</a:t>
                </a:r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证明：由于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与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等值，对于任意的赋值，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与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的值都相等，将它们分别代入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Φ</m:t>
                    </m:r>
                    <m:r>
                      <a:rPr lang="en-US" altLang="zh-CN" sz="280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⋅)</m:t>
                    </m:r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，其结果当然也一样，所以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Φ</m:t>
                    </m:r>
                    <m:r>
                      <a:rPr lang="en-US" altLang="zh-CN" sz="28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28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28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⇔</m:t>
                    </m:r>
                  </m:oMath>
                </a14:m>
                <a:r>
                  <a:rPr lang="en-US" altLang="zh-CN" sz="28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Φ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。</a:t>
                </a:r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endParaRPr lang="en-US" altLang="zh-CN" sz="28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5A2C0AA-130C-3802-3CF3-BE12F9134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225969"/>
                <a:ext cx="10691446" cy="3170099"/>
              </a:xfrm>
              <a:prstGeom prst="rect">
                <a:avLst/>
              </a:prstGeom>
              <a:blipFill>
                <a:blip r:embed="rId3"/>
                <a:stretch>
                  <a:fillRect l="-1425" t="-2500" r="-3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76348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E5976D5-FE3A-C848-3B59-2741359DF87E}"/>
                  </a:ext>
                </a:extLst>
              </p:cNvPr>
              <p:cNvSpPr txBox="1"/>
              <p:nvPr/>
            </p:nvSpPr>
            <p:spPr>
              <a:xfrm>
                <a:off x="715108" y="1172308"/>
                <a:ext cx="1018735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验证下列等值式：</a:t>
                </a:r>
                <a:endParaRPr lang="en-US" altLang="zh-CN" sz="2400" dirty="0"/>
              </a:p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⋀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sz="2400" dirty="0"/>
                  <a:t> 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E5976D5-FE3A-C848-3B59-2741359DF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08" y="1172308"/>
                <a:ext cx="10187354" cy="830997"/>
              </a:xfrm>
              <a:prstGeom prst="rect">
                <a:avLst/>
              </a:prstGeom>
              <a:blipFill>
                <a:blip r:embed="rId3"/>
                <a:stretch>
                  <a:fillRect l="-898" t="-5109" b="-5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8A406585-ED7B-9AE0-C578-D374C1DFD0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4838603"/>
                  </p:ext>
                </p:extLst>
              </p:nvPr>
            </p:nvGraphicFramePr>
            <p:xfrm>
              <a:off x="1744785" y="2730695"/>
              <a:ext cx="8128000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192936704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94550657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18638655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39673314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08447282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p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q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r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→(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⋀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</m:d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oMath>
                          </a14:m>
                          <a:r>
                            <a:rPr lang="zh-CN" alt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55432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48553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03960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97962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925371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66433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16546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02203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28710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8A406585-ED7B-9AE0-C578-D374C1DFD0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4838603"/>
                  </p:ext>
                </p:extLst>
              </p:nvPr>
            </p:nvGraphicFramePr>
            <p:xfrm>
              <a:off x="1744785" y="2730695"/>
              <a:ext cx="8128000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192936704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94550657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18638655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39673314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08447282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p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q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r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8197" r="-101498" b="-8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8197" r="-1498" b="-8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55432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48553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03960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97962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925371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66433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16546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02203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287103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322255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5E749D9-45DF-D23E-50BE-8656D0ED4DDD}"/>
                  </a:ext>
                </a:extLst>
              </p:cNvPr>
              <p:cNvSpPr txBox="1"/>
              <p:nvPr/>
            </p:nvSpPr>
            <p:spPr>
              <a:xfrm>
                <a:off x="715108" y="1172308"/>
                <a:ext cx="10187354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验证下列等值式：</a:t>
                </a:r>
                <a:endParaRPr lang="en-US" altLang="zh-CN" sz="2400" dirty="0"/>
              </a:p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⋁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=¬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⋁(¬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⋁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                          </a:t>
                </a:r>
                <a14:m>
                  <m:oMath xmlns:m="http://schemas.openxmlformats.org/officeDocument/2006/math">
                    <m:r>
                      <a:rPr lang="en-US" altLang="zh-CN" sz="2400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=¬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⋁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/>
              </a:p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⋁¬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⋁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400" dirty="0"/>
                  <a:t>                                             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⋁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⋁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⋁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⋁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n-US" altLang="zh-CN" sz="2400" dirty="0"/>
              </a:p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⋀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⋁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400" dirty="0"/>
                  <a:t>                                                                 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⋀¬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=¬(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⋁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   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400" dirty="0"/>
                  <a:t> 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5E749D9-45DF-D23E-50BE-8656D0ED4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08" y="1172308"/>
                <a:ext cx="10187354" cy="1938992"/>
              </a:xfrm>
              <a:prstGeom prst="rect">
                <a:avLst/>
              </a:prstGeom>
              <a:blipFill>
                <a:blip r:embed="rId3"/>
                <a:stretch>
                  <a:fillRect l="-898" t="-2201" r="-479" b="-18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52227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E5976D5-FE3A-C848-3B59-2741359DF87E}"/>
                  </a:ext>
                </a:extLst>
              </p:cNvPr>
              <p:cNvSpPr txBox="1"/>
              <p:nvPr/>
            </p:nvSpPr>
            <p:spPr>
              <a:xfrm>
                <a:off x="715108" y="1172308"/>
                <a:ext cx="1018735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验证下列等值式：</a:t>
                </a:r>
                <a:endParaRPr lang="en-US" altLang="zh-C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)∨(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∧¬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E5976D5-FE3A-C848-3B59-2741359DF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08" y="1172308"/>
                <a:ext cx="10187354" cy="830997"/>
              </a:xfrm>
              <a:prstGeom prst="rect">
                <a:avLst/>
              </a:prstGeom>
              <a:blipFill>
                <a:blip r:embed="rId3"/>
                <a:stretch>
                  <a:fillRect l="-898" t="-5109" b="-87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5EBF31FA-3D33-7B24-E4A1-D919E3D3E7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4227510"/>
                  </p:ext>
                </p:extLst>
              </p:nvPr>
            </p:nvGraphicFramePr>
            <p:xfrm>
              <a:off x="1598246" y="2703976"/>
              <a:ext cx="8127999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4192441874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197209543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42469588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p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q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)∨(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∧¬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4754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060223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42118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481521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5EBF31FA-3D33-7B24-E4A1-D919E3D3E7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4227510"/>
                  </p:ext>
                </p:extLst>
              </p:nvPr>
            </p:nvGraphicFramePr>
            <p:xfrm>
              <a:off x="1598246" y="2703976"/>
              <a:ext cx="8127999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4192441874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197209543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42469588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p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q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8197" r="-899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14754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060223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42118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481521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697891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E5976D5-FE3A-C848-3B59-2741359DF87E}"/>
                  </a:ext>
                </a:extLst>
              </p:cNvPr>
              <p:cNvSpPr txBox="1"/>
              <p:nvPr/>
            </p:nvSpPr>
            <p:spPr>
              <a:xfrm>
                <a:off x="715108" y="1172308"/>
                <a:ext cx="10187354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验证下列等值式：</a:t>
                </a:r>
                <a:endParaRPr lang="en-US" altLang="zh-C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)∨(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∧¬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/>
              </a:p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∧1</m:t>
                    </m:r>
                  </m:oMath>
                </a14:m>
                <a:r>
                  <a:rPr lang="en-US" altLang="zh-CN" sz="2400" dirty="0"/>
                  <a:t>                                                                       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∨0=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∧1=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n-US" altLang="zh-CN" sz="2400" dirty="0"/>
              </a:p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∨¬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altLang="zh-CN" sz="2400" dirty="0"/>
                  <a:t>                                                               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∨¬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400" dirty="0"/>
                  <a:t>            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)∨(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∧¬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 </a:t>
                </a:r>
              </a:p>
              <a:p>
                <a:endParaRPr lang="en-US" altLang="zh-CN" sz="24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E5976D5-FE3A-C848-3B59-2741359DF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08" y="1172308"/>
                <a:ext cx="10187354" cy="2308324"/>
              </a:xfrm>
              <a:prstGeom prst="rect">
                <a:avLst/>
              </a:prstGeom>
              <a:blipFill>
                <a:blip r:embed="rId3"/>
                <a:stretch>
                  <a:fillRect l="-898" t="-18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55249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范式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355FDE8-AB67-5CC4-BF9C-432DFCB257A3}"/>
              </a:ext>
            </a:extLst>
          </p:cNvPr>
          <p:cNvSpPr txBox="1"/>
          <p:nvPr/>
        </p:nvSpPr>
        <p:spPr>
          <a:xfrm>
            <a:off x="750277" y="1225969"/>
            <a:ext cx="10691446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在命题逻辑中，对于含有有限个变量的命题公式来说，用真值表的方法，总可以在有限的步骤内确定它的真值，因此判定问题总是可解的。</a:t>
            </a:r>
            <a:endParaRPr lang="en-US" altLang="zh-CN" sz="3200" dirty="0"/>
          </a:p>
          <a:p>
            <a:endParaRPr lang="zh-CN" altLang="en-US" sz="3200" dirty="0"/>
          </a:p>
          <a:p>
            <a:r>
              <a:rPr lang="zh-CN" altLang="en-US" sz="3200" dirty="0"/>
              <a:t>但是我们知道，这种方法并不理想，因为公式每增加一个变量，真值表的行数就增加一倍。为了给出另一种方法，我们将介绍命题公式的一种标准形式，即范式，两个命题公式是否等价及一个公式恒真、恒假、可满足的判定，都将由公式的范式来解决。 </a:t>
            </a:r>
          </a:p>
          <a:p>
            <a:endParaRPr lang="en-US" altLang="zh-CN" sz="28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6831292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范式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92F3AC4-8CC3-F4E2-FC7D-E2A0574B8E05}"/>
              </a:ext>
            </a:extLst>
          </p:cNvPr>
          <p:cNvSpPr txBox="1"/>
          <p:nvPr/>
        </p:nvSpPr>
        <p:spPr>
          <a:xfrm>
            <a:off x="750277" y="1225969"/>
            <a:ext cx="1069144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定义</a:t>
            </a:r>
            <a:r>
              <a:rPr lang="en-US" altLang="zh-CN" sz="3200" b="1" dirty="0"/>
              <a:t>1.12</a:t>
            </a:r>
            <a:r>
              <a:rPr lang="en-US" altLang="zh-CN" sz="3200" b="1" dirty="0">
                <a:sym typeface="Wingdings" panose="05000000000000000000" pitchFamily="2" charset="2"/>
              </a:rPr>
              <a:t>:</a:t>
            </a:r>
          </a:p>
          <a:p>
            <a:r>
              <a:rPr lang="en-US" altLang="zh-CN" sz="2800" dirty="0">
                <a:sym typeface="Wingdings" panose="05000000000000000000" pitchFamily="2" charset="2"/>
              </a:rPr>
              <a:t> </a:t>
            </a:r>
            <a:r>
              <a:rPr lang="zh-CN" altLang="en-US" sz="2800" dirty="0">
                <a:sym typeface="Wingdings" panose="05000000000000000000" pitchFamily="2" charset="2"/>
              </a:rPr>
              <a:t>仅由有限个命题变项或其否定构成的析取式称为</a:t>
            </a:r>
            <a:r>
              <a:rPr lang="zh-CN" altLang="en-US" sz="2800" b="1" dirty="0">
                <a:sym typeface="Wingdings" panose="05000000000000000000" pitchFamily="2" charset="2"/>
              </a:rPr>
              <a:t>简单析取式</a:t>
            </a:r>
            <a:r>
              <a:rPr lang="zh-CN" altLang="en-US" sz="2800" dirty="0">
                <a:sym typeface="Wingdings" panose="05000000000000000000" pitchFamily="2" charset="2"/>
              </a:rPr>
              <a:t>，仅由有限个命题变项或其否定构成的合取式称为</a:t>
            </a:r>
            <a:r>
              <a:rPr lang="zh-CN" altLang="en-US" sz="2800" b="1" dirty="0">
                <a:sym typeface="Wingdings" panose="05000000000000000000" pitchFamily="2" charset="2"/>
              </a:rPr>
              <a:t>简单合取式</a:t>
            </a:r>
            <a:r>
              <a:rPr lang="zh-CN" altLang="en-US" sz="2800" dirty="0">
                <a:sym typeface="Wingdings" panose="05000000000000000000" pitchFamily="2" charset="2"/>
              </a:rPr>
              <a:t>。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endParaRPr lang="en-US" altLang="zh-CN" sz="2800" dirty="0">
              <a:sym typeface="Wingdings" panose="05000000000000000000" pitchFamily="2" charset="2"/>
            </a:endParaRPr>
          </a:p>
          <a:p>
            <a:endParaRPr lang="en-US" altLang="zh-CN" sz="2800" dirty="0">
              <a:sym typeface="Wingdings" panose="05000000000000000000" pitchFamily="2" charset="2"/>
            </a:endParaRPr>
          </a:p>
          <a:p>
            <a:r>
              <a:rPr lang="zh-CN" altLang="en-US" sz="2800" dirty="0">
                <a:sym typeface="Wingdings" panose="05000000000000000000" pitchFamily="2" charset="2"/>
              </a:rPr>
              <a:t>（</a:t>
            </a:r>
            <a:r>
              <a:rPr lang="en-US" altLang="zh-CN" sz="2800" dirty="0">
                <a:sym typeface="Wingdings" panose="05000000000000000000" pitchFamily="2" charset="2"/>
              </a:rPr>
              <a:t>1</a:t>
            </a:r>
            <a:r>
              <a:rPr lang="zh-CN" altLang="en-US" sz="2800" dirty="0">
                <a:sym typeface="Wingdings" panose="05000000000000000000" pitchFamily="2" charset="2"/>
              </a:rPr>
              <a:t>）一个简单析取式是重言式，当且仅当它同时含一个命题变项及其否定；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r>
              <a:rPr lang="zh-CN" altLang="en-US" sz="2800" dirty="0">
                <a:sym typeface="Wingdings" panose="05000000000000000000" pitchFamily="2" charset="2"/>
              </a:rPr>
              <a:t>（</a:t>
            </a:r>
            <a:r>
              <a:rPr lang="en-US" altLang="zh-CN" sz="2800" dirty="0">
                <a:sym typeface="Wingdings" panose="05000000000000000000" pitchFamily="2" charset="2"/>
              </a:rPr>
              <a:t>2</a:t>
            </a:r>
            <a:r>
              <a:rPr lang="zh-CN" altLang="en-US" sz="2800" dirty="0">
                <a:sym typeface="Wingdings" panose="05000000000000000000" pitchFamily="2" charset="2"/>
              </a:rPr>
              <a:t>）一个简单合取式是矛盾式，当且仅当它同时含一个命题变项及其否定。</a:t>
            </a:r>
            <a:endParaRPr lang="en-US" altLang="zh-CN" sz="28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3811266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范式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92F3AC4-8CC3-F4E2-FC7D-E2A0574B8E05}"/>
                  </a:ext>
                </a:extLst>
              </p:cNvPr>
              <p:cNvSpPr txBox="1"/>
              <p:nvPr/>
            </p:nvSpPr>
            <p:spPr>
              <a:xfrm>
                <a:off x="750277" y="1225969"/>
                <a:ext cx="10691446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b="1" dirty="0"/>
                  <a:t>定义</a:t>
                </a:r>
                <a:r>
                  <a:rPr lang="en-US" altLang="zh-CN" sz="3200" b="1" dirty="0"/>
                  <a:t>1.13</a:t>
                </a:r>
                <a:r>
                  <a:rPr lang="en-US" altLang="zh-CN" sz="3200" b="1" dirty="0">
                    <a:sym typeface="Wingdings" panose="05000000000000000000" pitchFamily="2" charset="2"/>
                  </a:rPr>
                  <a:t>:</a:t>
                </a: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仅由有限个简单合取式构成的析取式称为</a:t>
                </a:r>
                <a:r>
                  <a:rPr lang="zh-CN" altLang="en-US" sz="2800" b="1" dirty="0">
                    <a:sym typeface="Wingdings" panose="05000000000000000000" pitchFamily="2" charset="2"/>
                  </a:rPr>
                  <a:t>析取范式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，仅由有限个简单析取式构成的合取式称为</a:t>
                </a:r>
                <a:r>
                  <a:rPr lang="zh-CN" altLang="en-US" sz="2800" b="1" dirty="0">
                    <a:sym typeface="Wingdings" panose="05000000000000000000" pitchFamily="2" charset="2"/>
                  </a:rPr>
                  <a:t>合取范式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。</a:t>
                </a:r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endParaRPr lang="en-US" altLang="zh-CN" sz="2800" dirty="0"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∧¬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𝑞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∧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𝑟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∨(¬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𝑞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en-US" altLang="zh-CN" sz="2800" dirty="0">
                    <a:sym typeface="Wingdings" panose="05000000000000000000" pitchFamily="2" charset="2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𝑞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∧(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¬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𝑟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en-US" altLang="zh-CN" sz="2800" dirty="0">
                    <a:sym typeface="Wingdings" panose="05000000000000000000" pitchFamily="2" charset="2"/>
                  </a:rPr>
                  <a:t> </a:t>
                </a:r>
              </a:p>
              <a:p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）一个析取范式是矛盾式，当且仅当它的每个简单合取式都是矛盾式；</a:t>
                </a:r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）一个合取范式是重言式，当且仅当它的每个简单析取式都是重言式。</a:t>
                </a:r>
                <a:endParaRPr lang="en-US" altLang="zh-CN" sz="28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92F3AC4-8CC3-F4E2-FC7D-E2A0574B8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225969"/>
                <a:ext cx="10691446" cy="4893647"/>
              </a:xfrm>
              <a:prstGeom prst="rect">
                <a:avLst/>
              </a:prstGeom>
              <a:blipFill>
                <a:blip r:embed="rId3"/>
                <a:stretch>
                  <a:fillRect l="-1425" t="-1619" r="-798" b="-23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8022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范式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8281023-443D-289C-EB73-08AC05D92F7E}"/>
                  </a:ext>
                </a:extLst>
              </p:cNvPr>
              <p:cNvSpPr txBox="1"/>
              <p:nvPr/>
            </p:nvSpPr>
            <p:spPr>
              <a:xfrm>
                <a:off x="750277" y="1225969"/>
                <a:ext cx="10691446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/>
                  <a:t>给出任意命题公式，都可以通过等值演算求出与之等值的析取范式或合取范式</a:t>
                </a:r>
                <a:endParaRPr lang="en-US" altLang="zh-CN" sz="3200" dirty="0"/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𝑞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=¬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𝑞</m:t>
                    </m:r>
                  </m:oMath>
                </a14:m>
                <a:r>
                  <a:rPr lang="en-US" altLang="zh-CN" sz="2800" dirty="0">
                    <a:sym typeface="Wingdings" panose="05000000000000000000" pitchFamily="2" charset="2"/>
                  </a:rPr>
                  <a:t> </a:t>
                </a:r>
              </a:p>
              <a:p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b="1" dirty="0">
                    <a:sym typeface="Wingdings" panose="05000000000000000000" pitchFamily="2" charset="2"/>
                  </a:rPr>
                  <a:t>定理</a:t>
                </a:r>
                <a:r>
                  <a:rPr lang="en-US" altLang="zh-CN" sz="3200" b="1" dirty="0">
                    <a:sym typeface="Wingdings" panose="05000000000000000000" pitchFamily="2" charset="2"/>
                  </a:rPr>
                  <a:t>1.2</a:t>
                </a:r>
                <a:r>
                  <a:rPr lang="zh-CN" altLang="en-US" sz="3200" b="1" dirty="0">
                    <a:sym typeface="Wingdings" panose="05000000000000000000" pitchFamily="2" charset="2"/>
                  </a:rPr>
                  <a:t>：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任一命题公式都存在与之等值的析取范式和合取范式。且命题公式的析取范式和合取范式不是唯一的。</a:t>
                </a:r>
                <a:endParaRPr lang="en-US" altLang="zh-CN" sz="28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8281023-443D-289C-EB73-08AC05D92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225969"/>
                <a:ext cx="10691446" cy="3785652"/>
              </a:xfrm>
              <a:prstGeom prst="rect">
                <a:avLst/>
              </a:prstGeom>
              <a:blipFill>
                <a:blip r:embed="rId3"/>
                <a:stretch>
                  <a:fillRect l="-1425" t="-2093" b="-33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0027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求合取范式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8281023-443D-289C-EB73-08AC05D92F7E}"/>
                  </a:ext>
                </a:extLst>
              </p:cNvPr>
              <p:cNvSpPr txBox="1"/>
              <p:nvPr/>
            </p:nvSpPr>
            <p:spPr>
              <a:xfrm>
                <a:off x="750277" y="2023139"/>
                <a:ext cx="10691446" cy="3164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𝑝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∨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𝑞</m:t>
                            </m:r>
                          </m:e>
                        </m:d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→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¬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𝑝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∨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𝑞</m:t>
                            </m:r>
                          </m:e>
                        </m:d>
                        <m: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∨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</m:oMath>
                </a14:m>
                <a:r>
                  <a:rPr lang="en-US" altLang="zh-CN" sz="2800" dirty="0">
                    <a:sym typeface="Wingdings" panose="05000000000000000000" pitchFamily="2" charset="2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</m:oMath>
                </a14:m>
                <a:r>
                  <a:rPr lang="en-US" altLang="zh-CN" sz="2800" dirty="0">
                    <a:ea typeface="Cambria Math" panose="020405030504060302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¬ 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¬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𝑝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∨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𝑞</m:t>
                            </m:r>
                          </m:e>
                        </m:d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∨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</m:d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</m:oMath>
                </a14:m>
                <a:endParaRPr lang="en-US" altLang="zh-CN" sz="2800" dirty="0"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¬ 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¬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∧¬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𝑞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)∨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</m:oMath>
                </a14:m>
                <a:r>
                  <a:rPr lang="en-US" altLang="zh-CN" sz="2800" dirty="0">
                    <a:sym typeface="Wingdings" panose="05000000000000000000" pitchFamily="2" charset="2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¬¬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  <m: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∨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¬¬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𝑞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)∧¬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m:rPr>
                        <m:nor/>
                      </m:rPr>
                      <a:rPr lang="en-US" altLang="zh-CN" sz="2800" dirty="0"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altLang="zh-CN" sz="2800" dirty="0">
                    <a:sym typeface="Wingdings" panose="05000000000000000000" pitchFamily="2" charset="2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8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  <m: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∨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𝑞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)∧¬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m:rPr>
                        <m:nor/>
                      </m:rPr>
                      <a:rPr lang="en-US" altLang="zh-CN" sz="2800" dirty="0"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altLang="zh-CN" sz="2800" dirty="0">
                    <a:sym typeface="Wingdings" panose="05000000000000000000" pitchFamily="2" charset="2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𝑞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∧(¬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𝑟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en-US" altLang="zh-CN" sz="2800" dirty="0">
                    <a:sym typeface="Wingdings" panose="05000000000000000000" pitchFamily="2" charset="2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𝑞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∧(¬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𝑟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en-US" altLang="zh-CN" sz="2800" dirty="0">
                    <a:sym typeface="Wingdings" panose="05000000000000000000" pitchFamily="2" charset="2"/>
                  </a:rPr>
                  <a:t> 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8281023-443D-289C-EB73-08AC05D92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2023139"/>
                <a:ext cx="10691446" cy="31640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23586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12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求析取范式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8281023-443D-289C-EB73-08AC05D92F7E}"/>
                  </a:ext>
                </a:extLst>
              </p:cNvPr>
              <p:cNvSpPr txBox="1"/>
              <p:nvPr/>
            </p:nvSpPr>
            <p:spPr>
              <a:xfrm>
                <a:off x="750277" y="2023139"/>
                <a:ext cx="10691446" cy="3594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𝑝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∨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𝑞</m:t>
                            </m:r>
                          </m:e>
                        </m:d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→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¬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𝑝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∨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𝑞</m:t>
                            </m:r>
                          </m:e>
                        </m:d>
                        <m: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∨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</m:oMath>
                </a14:m>
                <a:r>
                  <a:rPr lang="en-US" altLang="zh-CN" sz="2800" dirty="0">
                    <a:sym typeface="Wingdings" panose="05000000000000000000" pitchFamily="2" charset="2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</m:oMath>
                </a14:m>
                <a:r>
                  <a:rPr lang="en-US" altLang="zh-CN" sz="2800" dirty="0">
                    <a:ea typeface="Cambria Math" panose="020405030504060302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¬ 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¬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𝑝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∨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𝑞</m:t>
                            </m:r>
                          </m:e>
                        </m:d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∨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</m:d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</m:oMath>
                </a14:m>
                <a:endParaRPr lang="en-US" altLang="zh-CN" sz="2800" dirty="0"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¬ 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¬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∧¬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𝑞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)∨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</m:oMath>
                </a14:m>
                <a:r>
                  <a:rPr lang="en-US" altLang="zh-CN" sz="2800" dirty="0">
                    <a:sym typeface="Wingdings" panose="05000000000000000000" pitchFamily="2" charset="2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¬¬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  <m: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∨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¬¬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𝑞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)∧¬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m:rPr>
                        <m:nor/>
                      </m:rPr>
                      <a:rPr lang="en-US" altLang="zh-CN" sz="2800" dirty="0"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altLang="zh-CN" sz="2800" dirty="0">
                    <a:sym typeface="Wingdings" panose="05000000000000000000" pitchFamily="2" charset="2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8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  <m: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∨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𝑞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)∧¬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m:rPr>
                        <m:nor/>
                      </m:rPr>
                      <a:rPr lang="en-US" altLang="zh-CN" sz="2800" dirty="0"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altLang="zh-CN" sz="2800" dirty="0">
                    <a:sym typeface="Wingdings" panose="05000000000000000000" pitchFamily="2" charset="2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∧¬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𝑟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)∨(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𝑞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∧¬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𝑟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)∨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</m:oMath>
                </a14:m>
                <a:r>
                  <a:rPr lang="en-US" altLang="zh-CN" sz="2800" dirty="0">
                    <a:sym typeface="Wingdings" panose="05000000000000000000" pitchFamily="2" charset="2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𝑞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∧¬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𝑟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)∨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</m:oMath>
                </a14:m>
                <a:r>
                  <a:rPr lang="en-US" altLang="zh-CN" sz="2800" dirty="0">
                    <a:sym typeface="Wingdings" panose="05000000000000000000" pitchFamily="2" charset="2"/>
                  </a:rPr>
                  <a:t> </a:t>
                </a:r>
              </a:p>
              <a:p>
                <a:endParaRPr lang="en-US" altLang="zh-CN" sz="28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8281023-443D-289C-EB73-08AC05D92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2023139"/>
                <a:ext cx="10691446" cy="35948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50571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极小项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92F3AC4-8CC3-F4E2-FC7D-E2A0574B8E05}"/>
                  </a:ext>
                </a:extLst>
              </p:cNvPr>
              <p:cNvSpPr txBox="1"/>
              <p:nvPr/>
            </p:nvSpPr>
            <p:spPr>
              <a:xfrm>
                <a:off x="750277" y="1225969"/>
                <a:ext cx="10691446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b="1" dirty="0"/>
                  <a:t>定义</a:t>
                </a:r>
                <a:r>
                  <a:rPr lang="en-US" altLang="zh-CN" sz="3200" b="1" dirty="0"/>
                  <a:t>1.14</a:t>
                </a:r>
                <a:r>
                  <a:rPr lang="en-US" altLang="zh-CN" sz="3200" b="1" dirty="0">
                    <a:sym typeface="Wingdings" panose="05000000000000000000" pitchFamily="2" charset="2"/>
                  </a:rPr>
                  <a:t>: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设有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n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个命题变量，若在简单合取式中每个命题变量与其否定有且仅有一个出现一次，则这样的简单合取式被称为极小项。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en-US" altLang="zh-CN" sz="3200" dirty="0">
                    <a:sym typeface="Wingdings" panose="05000000000000000000" pitchFamily="2" charset="2"/>
                  </a:rPr>
                  <a:t>3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个变量</a:t>
                </a:r>
                <a:r>
                  <a:rPr lang="en-US" altLang="zh-CN" sz="3200" dirty="0" err="1">
                    <a:sym typeface="Wingdings" panose="05000000000000000000" pitchFamily="2" charset="2"/>
                  </a:rPr>
                  <a:t>p,q,r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可形成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8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个极小项。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en-US" altLang="zh-CN" sz="3200" dirty="0">
                    <a:sym typeface="Wingdings" panose="05000000000000000000" pitchFamily="2" charset="2"/>
                  </a:rPr>
                  <a:t>n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个变量可形成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个极小项。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92F3AC4-8CC3-F4E2-FC7D-E2A0574B8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225969"/>
                <a:ext cx="10691446" cy="3539430"/>
              </a:xfrm>
              <a:prstGeom prst="rect">
                <a:avLst/>
              </a:prstGeom>
              <a:blipFill>
                <a:blip r:embed="rId3"/>
                <a:stretch>
                  <a:fillRect l="-1425" t="-2238" r="-456" b="-4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16419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14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主析取范式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92F3AC4-8CC3-F4E2-FC7D-E2A0574B8E05}"/>
              </a:ext>
            </a:extLst>
          </p:cNvPr>
          <p:cNvSpPr txBox="1"/>
          <p:nvPr/>
        </p:nvSpPr>
        <p:spPr>
          <a:xfrm>
            <a:off x="750277" y="1225969"/>
            <a:ext cx="106914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定义</a:t>
            </a:r>
            <a:r>
              <a:rPr lang="en-US" altLang="zh-CN" sz="3200" b="1" dirty="0"/>
              <a:t>1.15</a:t>
            </a:r>
            <a:r>
              <a:rPr lang="en-US" altLang="zh-CN" sz="3200" b="1" dirty="0">
                <a:sym typeface="Wingdings" panose="05000000000000000000" pitchFamily="2" charset="2"/>
              </a:rPr>
              <a:t>:</a:t>
            </a:r>
          </a:p>
          <a:p>
            <a:r>
              <a:rPr lang="zh-CN" altLang="en-US" sz="3200" dirty="0">
                <a:sym typeface="Wingdings" panose="05000000000000000000" pitchFamily="2" charset="2"/>
              </a:rPr>
              <a:t>如果公式</a:t>
            </a:r>
            <a:r>
              <a:rPr lang="en-US" altLang="zh-CN" sz="3200" dirty="0">
                <a:sym typeface="Wingdings" panose="05000000000000000000" pitchFamily="2" charset="2"/>
              </a:rPr>
              <a:t>A</a:t>
            </a:r>
            <a:r>
              <a:rPr lang="zh-CN" altLang="en-US" sz="3200" dirty="0">
                <a:sym typeface="Wingdings" panose="05000000000000000000" pitchFamily="2" charset="2"/>
              </a:rPr>
              <a:t>的析取范式中的简单合取式全是极小项，则称该析取范式为</a:t>
            </a:r>
            <a:r>
              <a:rPr lang="en-US" altLang="zh-CN" sz="3200" dirty="0">
                <a:sym typeface="Wingdings" panose="05000000000000000000" pitchFamily="2" charset="2"/>
              </a:rPr>
              <a:t>A</a:t>
            </a:r>
            <a:r>
              <a:rPr lang="zh-CN" altLang="en-US" sz="3200" dirty="0">
                <a:sym typeface="Wingdings" panose="05000000000000000000" pitchFamily="2" charset="2"/>
              </a:rPr>
              <a:t>的主析取范式。</a:t>
            </a:r>
            <a:endParaRPr lang="en-US" altLang="zh-CN" sz="3200" dirty="0">
              <a:sym typeface="Wingdings" panose="05000000000000000000" pitchFamily="2" charset="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FD8DBB9-CC78-932F-35A4-018FDBEC0EF3}"/>
              </a:ext>
            </a:extLst>
          </p:cNvPr>
          <p:cNvSpPr txBox="1"/>
          <p:nvPr/>
        </p:nvSpPr>
        <p:spPr>
          <a:xfrm>
            <a:off x="750277" y="3277542"/>
            <a:ext cx="106914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定理</a:t>
            </a:r>
            <a:r>
              <a:rPr lang="en-US" altLang="zh-CN" sz="3200" b="1" dirty="0"/>
              <a:t>1.3</a:t>
            </a:r>
            <a:r>
              <a:rPr lang="en-US" altLang="zh-CN" sz="3200" b="1" dirty="0">
                <a:sym typeface="Wingdings" panose="05000000000000000000" pitchFamily="2" charset="2"/>
              </a:rPr>
              <a:t>:</a:t>
            </a:r>
          </a:p>
          <a:p>
            <a:r>
              <a:rPr lang="zh-CN" altLang="en-US" sz="3200" dirty="0">
                <a:sym typeface="Wingdings" panose="05000000000000000000" pitchFamily="2" charset="2"/>
              </a:rPr>
              <a:t>任何公式都有唯一的主析取范式。</a:t>
            </a:r>
            <a:endParaRPr lang="en-US" altLang="zh-CN" sz="32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593623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求主析取范式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8281023-443D-289C-EB73-08AC05D92F7E}"/>
                  </a:ext>
                </a:extLst>
              </p:cNvPr>
              <p:cNvSpPr txBox="1"/>
              <p:nvPr/>
            </p:nvSpPr>
            <p:spPr>
              <a:xfrm>
                <a:off x="750277" y="2023139"/>
                <a:ext cx="10691446" cy="18614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𝑝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∨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𝑞</m:t>
                            </m:r>
                          </m:e>
                        </m:d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→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𝑞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∧¬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𝑟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)∨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m:rPr>
                        <m:nor/>
                      </m:rPr>
                      <a:rPr lang="en-US" altLang="zh-CN" sz="2800" dirty="0"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altLang="zh-CN" sz="2800" dirty="0">
                    <a:sym typeface="Wingdings" panose="05000000000000000000" pitchFamily="2" charset="2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=(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𝑞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∧¬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𝑟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∧(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∨¬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)∨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∧(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𝑞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∨¬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𝑞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)∧(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𝑟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∨¬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𝑟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en-US" altLang="zh-CN" sz="2800" dirty="0">
                    <a:sym typeface="Wingdings" panose="05000000000000000000" pitchFamily="2" charset="2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𝑝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∧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𝑞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∧¬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𝑟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∨(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¬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𝑝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∧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𝑞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∧¬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𝑟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∨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𝑝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∧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𝑞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∧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𝑟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)∨(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𝑝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∧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𝑞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∧¬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𝑟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)∨(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𝑝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∧¬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𝑞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∧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𝑟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)∨(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𝑝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∧¬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𝑞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∧¬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𝑟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zh-CN" sz="28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8281023-443D-289C-EB73-08AC05D92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2023139"/>
                <a:ext cx="10691446" cy="18614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99963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主析取范式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用途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FD8DBB9-CC78-932F-35A4-018FDBEC0EF3}"/>
              </a:ext>
            </a:extLst>
          </p:cNvPr>
          <p:cNvSpPr txBox="1"/>
          <p:nvPr/>
        </p:nvSpPr>
        <p:spPr>
          <a:xfrm>
            <a:off x="339970" y="1636311"/>
            <a:ext cx="106914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ym typeface="Wingdings" panose="05000000000000000000" pitchFamily="2" charset="2"/>
              </a:rPr>
              <a:t>（</a:t>
            </a:r>
            <a:r>
              <a:rPr lang="en-US" altLang="zh-CN" sz="3200" dirty="0">
                <a:sym typeface="Wingdings" panose="05000000000000000000" pitchFamily="2" charset="2"/>
              </a:rPr>
              <a:t>1</a:t>
            </a:r>
            <a:r>
              <a:rPr lang="zh-CN" altLang="en-US" sz="3200" dirty="0">
                <a:sym typeface="Wingdings" panose="05000000000000000000" pitchFamily="2" charset="2"/>
              </a:rPr>
              <a:t>）判断两个公式是否等值；</a:t>
            </a:r>
            <a:endParaRPr lang="en-US" altLang="zh-CN" sz="3200" dirty="0">
              <a:sym typeface="Wingdings" panose="05000000000000000000" pitchFamily="2" charset="2"/>
            </a:endParaRPr>
          </a:p>
          <a:p>
            <a:r>
              <a:rPr lang="zh-CN" altLang="en-US" sz="3200" dirty="0">
                <a:sym typeface="Wingdings" panose="05000000000000000000" pitchFamily="2" charset="2"/>
              </a:rPr>
              <a:t>（</a:t>
            </a:r>
            <a:r>
              <a:rPr lang="en-US" altLang="zh-CN" sz="3200" dirty="0">
                <a:sym typeface="Wingdings" panose="05000000000000000000" pitchFamily="2" charset="2"/>
              </a:rPr>
              <a:t>2</a:t>
            </a:r>
            <a:r>
              <a:rPr lang="zh-CN" altLang="en-US" sz="3200" dirty="0">
                <a:sym typeface="Wingdings" panose="05000000000000000000" pitchFamily="2" charset="2"/>
              </a:rPr>
              <a:t>）判断公式的类型；</a:t>
            </a:r>
            <a:endParaRPr lang="en-US" altLang="zh-CN" sz="3200" dirty="0">
              <a:sym typeface="Wingdings" panose="05000000000000000000" pitchFamily="2" charset="2"/>
            </a:endParaRPr>
          </a:p>
          <a:p>
            <a:r>
              <a:rPr lang="zh-CN" altLang="en-US" sz="3200" dirty="0">
                <a:sym typeface="Wingdings" panose="05000000000000000000" pitchFamily="2" charset="2"/>
              </a:rPr>
              <a:t>（</a:t>
            </a:r>
            <a:r>
              <a:rPr lang="en-US" altLang="zh-CN" sz="3200" dirty="0">
                <a:sym typeface="Wingdings" panose="05000000000000000000" pitchFamily="2" charset="2"/>
              </a:rPr>
              <a:t>3</a:t>
            </a:r>
            <a:r>
              <a:rPr lang="zh-CN" altLang="en-US" sz="3200" dirty="0">
                <a:sym typeface="Wingdings" panose="05000000000000000000" pitchFamily="2" charset="2"/>
              </a:rPr>
              <a:t>）求公式的成真赋值或者成假赋值。</a:t>
            </a:r>
            <a:endParaRPr lang="en-US" altLang="zh-CN" sz="32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295100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17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极大项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92F3AC4-8CC3-F4E2-FC7D-E2A0574B8E05}"/>
              </a:ext>
            </a:extLst>
          </p:cNvPr>
          <p:cNvSpPr txBox="1"/>
          <p:nvPr/>
        </p:nvSpPr>
        <p:spPr>
          <a:xfrm>
            <a:off x="750277" y="1225969"/>
            <a:ext cx="1069144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定义</a:t>
            </a:r>
            <a:r>
              <a:rPr lang="en-US" altLang="zh-CN" sz="3200" b="1" dirty="0"/>
              <a:t>1.16</a:t>
            </a:r>
            <a:r>
              <a:rPr lang="en-US" altLang="zh-CN" sz="3200" b="1" dirty="0">
                <a:sym typeface="Wingdings" panose="05000000000000000000" pitchFamily="2" charset="2"/>
              </a:rPr>
              <a:t>:</a:t>
            </a:r>
          </a:p>
          <a:p>
            <a:r>
              <a:rPr lang="zh-CN" altLang="en-US" sz="3200" dirty="0">
                <a:sym typeface="Wingdings" panose="05000000000000000000" pitchFamily="2" charset="2"/>
              </a:rPr>
              <a:t>设有</a:t>
            </a:r>
            <a:r>
              <a:rPr lang="en-US" altLang="zh-CN" sz="3200" dirty="0">
                <a:sym typeface="Wingdings" panose="05000000000000000000" pitchFamily="2" charset="2"/>
              </a:rPr>
              <a:t>n</a:t>
            </a:r>
            <a:r>
              <a:rPr lang="zh-CN" altLang="en-US" sz="3200" dirty="0">
                <a:sym typeface="Wingdings" panose="05000000000000000000" pitchFamily="2" charset="2"/>
              </a:rPr>
              <a:t>个命题变量，若在简单析取式中每个命题变量与其否定有且仅有一个出现一次，则这样的简单析取式称为极大项。</a:t>
            </a:r>
            <a:endParaRPr lang="en-US" altLang="zh-CN" sz="32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612197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18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主合取范式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92F3AC4-8CC3-F4E2-FC7D-E2A0574B8E05}"/>
              </a:ext>
            </a:extLst>
          </p:cNvPr>
          <p:cNvSpPr txBox="1"/>
          <p:nvPr/>
        </p:nvSpPr>
        <p:spPr>
          <a:xfrm>
            <a:off x="750277" y="1225969"/>
            <a:ext cx="106914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定义</a:t>
            </a:r>
            <a:r>
              <a:rPr lang="en-US" altLang="zh-CN" sz="3200" b="1" dirty="0"/>
              <a:t>1.17</a:t>
            </a:r>
            <a:r>
              <a:rPr lang="en-US" altLang="zh-CN" sz="3200" b="1" dirty="0">
                <a:sym typeface="Wingdings" panose="05000000000000000000" pitchFamily="2" charset="2"/>
              </a:rPr>
              <a:t>:</a:t>
            </a:r>
          </a:p>
          <a:p>
            <a:r>
              <a:rPr lang="zh-CN" altLang="en-US" sz="3200" dirty="0">
                <a:sym typeface="Wingdings" panose="05000000000000000000" pitchFamily="2" charset="2"/>
              </a:rPr>
              <a:t>如果公式</a:t>
            </a:r>
            <a:r>
              <a:rPr lang="en-US" altLang="zh-CN" sz="3200" dirty="0">
                <a:sym typeface="Wingdings" panose="05000000000000000000" pitchFamily="2" charset="2"/>
              </a:rPr>
              <a:t>A</a:t>
            </a:r>
            <a:r>
              <a:rPr lang="zh-CN" altLang="en-US" sz="3200" dirty="0">
                <a:sym typeface="Wingdings" panose="05000000000000000000" pitchFamily="2" charset="2"/>
              </a:rPr>
              <a:t>的合取范式中的简单析取式全是极大项，则称该合取范式为</a:t>
            </a:r>
            <a:r>
              <a:rPr lang="en-US" altLang="zh-CN" sz="3200" dirty="0">
                <a:sym typeface="Wingdings" panose="05000000000000000000" pitchFamily="2" charset="2"/>
              </a:rPr>
              <a:t>A</a:t>
            </a:r>
            <a:r>
              <a:rPr lang="zh-CN" altLang="en-US" sz="3200" dirty="0">
                <a:sym typeface="Wingdings" panose="05000000000000000000" pitchFamily="2" charset="2"/>
              </a:rPr>
              <a:t>的</a:t>
            </a:r>
            <a:r>
              <a:rPr lang="zh-CN" altLang="en-US" sz="3200" b="1" dirty="0">
                <a:sym typeface="Wingdings" panose="05000000000000000000" pitchFamily="2" charset="2"/>
              </a:rPr>
              <a:t>主合取范式。</a:t>
            </a:r>
            <a:endParaRPr lang="en-US" altLang="zh-CN" sz="3200" b="1" dirty="0">
              <a:sym typeface="Wingdings" panose="05000000000000000000" pitchFamily="2" charset="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3596E8A-1BC5-64A4-1D41-5DC6FD8290D0}"/>
              </a:ext>
            </a:extLst>
          </p:cNvPr>
          <p:cNvSpPr txBox="1"/>
          <p:nvPr/>
        </p:nvSpPr>
        <p:spPr>
          <a:xfrm>
            <a:off x="730192" y="3310854"/>
            <a:ext cx="106914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定理</a:t>
            </a:r>
            <a:r>
              <a:rPr lang="en-US" altLang="zh-CN" sz="3200" b="1" dirty="0"/>
              <a:t>1.4</a:t>
            </a:r>
            <a:r>
              <a:rPr lang="en-US" altLang="zh-CN" sz="3200" b="1" dirty="0">
                <a:sym typeface="Wingdings" panose="05000000000000000000" pitchFamily="2" charset="2"/>
              </a:rPr>
              <a:t>:</a:t>
            </a:r>
          </a:p>
          <a:p>
            <a:r>
              <a:rPr lang="zh-CN" altLang="en-US" sz="3200" dirty="0">
                <a:sym typeface="Wingdings" panose="05000000000000000000" pitchFamily="2" charset="2"/>
              </a:rPr>
              <a:t>任何命题公式都有唯一的主合取范式。</a:t>
            </a:r>
            <a:endParaRPr lang="en-US" altLang="zh-CN" sz="3200" b="1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8915946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19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全功能集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92F3AC4-8CC3-F4E2-FC7D-E2A0574B8E05}"/>
              </a:ext>
            </a:extLst>
          </p:cNvPr>
          <p:cNvSpPr txBox="1"/>
          <p:nvPr/>
        </p:nvSpPr>
        <p:spPr>
          <a:xfrm>
            <a:off x="750277" y="1225969"/>
            <a:ext cx="106914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定义</a:t>
            </a:r>
            <a:r>
              <a:rPr lang="en-US" altLang="zh-CN" sz="3200" b="1" dirty="0"/>
              <a:t>1.18</a:t>
            </a:r>
            <a:r>
              <a:rPr lang="en-US" altLang="zh-CN" sz="3200" b="1" dirty="0">
                <a:sym typeface="Wingdings" panose="05000000000000000000" pitchFamily="2" charset="2"/>
              </a:rPr>
              <a:t>:</a:t>
            </a:r>
          </a:p>
          <a:p>
            <a:r>
              <a:rPr lang="zh-CN" altLang="en-US" sz="3200" dirty="0">
                <a:sym typeface="Wingdings" panose="05000000000000000000" pitchFamily="2" charset="2"/>
              </a:rPr>
              <a:t>设</a:t>
            </a:r>
            <a:r>
              <a:rPr lang="en-US" altLang="zh-CN" sz="3200" dirty="0">
                <a:sym typeface="Wingdings" panose="05000000000000000000" pitchFamily="2" charset="2"/>
              </a:rPr>
              <a:t>S</a:t>
            </a:r>
            <a:r>
              <a:rPr lang="zh-CN" altLang="en-US" sz="3200" dirty="0">
                <a:sym typeface="Wingdings" panose="05000000000000000000" pitchFamily="2" charset="2"/>
              </a:rPr>
              <a:t>是一个联结词集合，如果任一真值函数都可以用仅含</a:t>
            </a:r>
            <a:r>
              <a:rPr lang="en-US" altLang="zh-CN" sz="3200" dirty="0">
                <a:sym typeface="Wingdings" panose="05000000000000000000" pitchFamily="2" charset="2"/>
              </a:rPr>
              <a:t>S</a:t>
            </a:r>
            <a:r>
              <a:rPr lang="zh-CN" altLang="en-US" sz="3200" dirty="0">
                <a:sym typeface="Wingdings" panose="05000000000000000000" pitchFamily="2" charset="2"/>
              </a:rPr>
              <a:t>中的联结词的命题公式表示，则</a:t>
            </a:r>
            <a:r>
              <a:rPr lang="en-US" altLang="zh-CN" sz="3200" dirty="0">
                <a:sym typeface="Wingdings" panose="05000000000000000000" pitchFamily="2" charset="2"/>
              </a:rPr>
              <a:t>S</a:t>
            </a:r>
            <a:r>
              <a:rPr lang="zh-CN" altLang="en-US" sz="3200" dirty="0">
                <a:sym typeface="Wingdings" panose="05000000000000000000" pitchFamily="2" charset="2"/>
              </a:rPr>
              <a:t>被称为全功能集。</a:t>
            </a:r>
            <a:endParaRPr lang="en-US" altLang="zh-CN" sz="3200" b="1" dirty="0"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3596E8A-1BC5-64A4-1D41-5DC6FD8290D0}"/>
                  </a:ext>
                </a:extLst>
              </p:cNvPr>
              <p:cNvSpPr txBox="1"/>
              <p:nvPr/>
            </p:nvSpPr>
            <p:spPr>
              <a:xfrm>
                <a:off x="730192" y="3310854"/>
                <a:ext cx="1069144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b="1" dirty="0"/>
                  <a:t>定理</a:t>
                </a:r>
                <a:r>
                  <a:rPr lang="en-US" altLang="zh-CN" sz="3200" b="1" dirty="0"/>
                  <a:t>1.5</a:t>
                </a:r>
                <a:r>
                  <a:rPr lang="en-US" altLang="zh-CN" sz="3200" b="1" dirty="0">
                    <a:sym typeface="Wingdings" panose="05000000000000000000" pitchFamily="2" charset="2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{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¬,∧,∨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</m:oMath>
                </a14:m>
                <a:r>
                  <a:rPr lang="zh-CN" altLang="en-US" sz="3200" b="1" dirty="0">
                    <a:sym typeface="Wingdings" panose="05000000000000000000" pitchFamily="2" charset="2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3200" b="1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{</m:t>
                    </m:r>
                    <m:r>
                      <a:rPr lang="en-US" altLang="zh-CN" sz="32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¬,∧</m:t>
                    </m:r>
                    <m:r>
                      <a:rPr lang="en-US" altLang="zh-CN" sz="3200" b="1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</m:oMath>
                </a14:m>
                <a:r>
                  <a:rPr lang="zh-CN" altLang="en-US" sz="3200" b="1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b="1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{</m:t>
                    </m:r>
                    <m:r>
                      <a:rPr lang="en-US" altLang="zh-CN" sz="32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¬,</m:t>
                    </m:r>
                    <m:r>
                      <a:rPr lang="en-US" altLang="zh-CN" sz="32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</m:t>
                    </m:r>
                    <m:r>
                      <a:rPr lang="en-US" altLang="zh-CN" sz="3200" b="1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</m:oMath>
                </a14:m>
                <a:r>
                  <a:rPr lang="zh-CN" altLang="en-US" sz="3200" b="1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b="1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{</m:t>
                    </m:r>
                    <m:r>
                      <a:rPr lang="en-US" altLang="zh-CN" sz="32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¬,</m:t>
                    </m:r>
                    <m:r>
                      <a:rPr lang="en-US" altLang="zh-CN" sz="32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1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都是全功能集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3596E8A-1BC5-64A4-1D41-5DC6FD829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192" y="3310854"/>
                <a:ext cx="10691446" cy="1077218"/>
              </a:xfrm>
              <a:prstGeom prst="rect">
                <a:avLst/>
              </a:prstGeom>
              <a:blipFill>
                <a:blip r:embed="rId3"/>
                <a:stretch>
                  <a:fillRect l="-1482" t="-7345" b="-175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73958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20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全功能集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92F3AC4-8CC3-F4E2-FC7D-E2A0574B8E05}"/>
                  </a:ext>
                </a:extLst>
              </p:cNvPr>
              <p:cNvSpPr txBox="1"/>
              <p:nvPr/>
            </p:nvSpPr>
            <p:spPr>
              <a:xfrm>
                <a:off x="750277" y="1225969"/>
                <a:ext cx="10691446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b="1" dirty="0"/>
                  <a:t>定义</a:t>
                </a:r>
                <a:r>
                  <a:rPr lang="en-US" altLang="zh-CN" sz="3200" b="1" dirty="0"/>
                  <a:t>1.19</a:t>
                </a:r>
                <a:r>
                  <a:rPr lang="en-US" altLang="zh-CN" sz="3200" b="1" dirty="0">
                    <a:sym typeface="Wingdings" panose="05000000000000000000" pitchFamily="2" charset="2"/>
                  </a:rPr>
                  <a:t>: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 p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q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为两个命题，复合命题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”p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与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q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的否定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”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称为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p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与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q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的与非式，记作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↑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𝑞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↑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𝑞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=¬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∧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𝑞</m:t>
                        </m:r>
                      </m:e>
                    </m:d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14:m>
                  <m:oMath xmlns:m="http://schemas.openxmlformats.org/officeDocument/2006/math">
                    <m:r>
                      <a:rPr lang="zh-CN" altLang="en-US" sz="32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↑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称为与非联结词；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复合命题“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p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或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q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的否定”称为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p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与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q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的或非式，记作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𝑞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↓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𝑞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¬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  <m: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∨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𝑞</m:t>
                        </m:r>
                      </m:e>
                    </m:d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14:m>
                  <m:oMath xmlns:m="http://schemas.openxmlformats.org/officeDocument/2006/math">
                    <m:r>
                      <a:rPr lang="zh-CN" altLang="en-US" sz="32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↓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称为或非联结词。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92F3AC4-8CC3-F4E2-FC7D-E2A0574B8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225969"/>
                <a:ext cx="10691446" cy="2554545"/>
              </a:xfrm>
              <a:prstGeom prst="rect">
                <a:avLst/>
              </a:prstGeom>
              <a:blipFill>
                <a:blip r:embed="rId3"/>
                <a:stretch>
                  <a:fillRect l="-1425" t="-3103" r="-1482" b="-69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3596E8A-1BC5-64A4-1D41-5DC6FD8290D0}"/>
                  </a:ext>
                </a:extLst>
              </p:cNvPr>
              <p:cNvSpPr txBox="1"/>
              <p:nvPr/>
            </p:nvSpPr>
            <p:spPr>
              <a:xfrm>
                <a:off x="750277" y="5093422"/>
                <a:ext cx="1069144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b="1" dirty="0"/>
                  <a:t>定理</a:t>
                </a:r>
                <a:r>
                  <a:rPr lang="en-US" altLang="zh-CN" sz="3200" b="1" dirty="0"/>
                  <a:t>1.6</a:t>
                </a:r>
                <a:r>
                  <a:rPr lang="en-US" altLang="zh-CN" sz="3200" b="1" dirty="0">
                    <a:sym typeface="Wingdings" panose="05000000000000000000" pitchFamily="2" charset="2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{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↑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</m:oMath>
                </a14:m>
                <a:r>
                  <a:rPr lang="zh-CN" altLang="en-US" sz="3200" b="1" dirty="0">
                    <a:sym typeface="Wingdings" panose="05000000000000000000" pitchFamily="2" charset="2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3200" b="1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{</m:t>
                    </m:r>
                    <m:r>
                      <a:rPr lang="en-US" altLang="zh-CN" sz="32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↓</m:t>
                    </m:r>
                    <m:r>
                      <a:rPr lang="en-US" altLang="zh-CN" sz="3200" b="1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</m:oMath>
                </a14:m>
                <a:r>
                  <a:rPr lang="zh-CN" altLang="en-US" sz="3200" b="1" dirty="0">
                    <a:sym typeface="Wingdings" panose="05000000000000000000" pitchFamily="2" charset="2"/>
                  </a:rPr>
                  <a:t> 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都是全功能集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3596E8A-1BC5-64A4-1D41-5DC6FD829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5093422"/>
                <a:ext cx="10691446" cy="1077218"/>
              </a:xfrm>
              <a:prstGeom prst="rect">
                <a:avLst/>
              </a:prstGeom>
              <a:blipFill>
                <a:blip r:embed="rId4"/>
                <a:stretch>
                  <a:fillRect l="-1425" t="-7386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90909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21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推理理论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92F3AC4-8CC3-F4E2-FC7D-E2A0574B8E05}"/>
              </a:ext>
            </a:extLst>
          </p:cNvPr>
          <p:cNvSpPr txBox="1"/>
          <p:nvPr/>
        </p:nvSpPr>
        <p:spPr>
          <a:xfrm>
            <a:off x="750277" y="1225969"/>
            <a:ext cx="106914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ym typeface="Wingdings" panose="05000000000000000000" pitchFamily="2" charset="2"/>
              </a:rPr>
              <a:t>推理是从前提推出结论的思维过程，前提是已知的命题公式，结论是从前提出发应用推理规则推出的命题公式。前提可由多个公式组成。</a:t>
            </a:r>
            <a:endParaRPr lang="en-US" altLang="zh-CN" sz="3200" dirty="0"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F41DFB1-E943-40EC-6646-FB6ECBA9F99E}"/>
                  </a:ext>
                </a:extLst>
              </p:cNvPr>
              <p:cNvSpPr txBox="1"/>
              <p:nvPr/>
            </p:nvSpPr>
            <p:spPr>
              <a:xfrm>
                <a:off x="750277" y="3791159"/>
                <a:ext cx="10691446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b="1" dirty="0"/>
                  <a:t>定义</a:t>
                </a:r>
                <a:r>
                  <a:rPr lang="en-US" altLang="zh-CN" sz="3200" b="1" dirty="0"/>
                  <a:t>1.20</a:t>
                </a:r>
                <a:r>
                  <a:rPr lang="en-US" altLang="zh-CN" sz="3200" b="1" dirty="0">
                    <a:sym typeface="Wingdings" panose="05000000000000000000" pitchFamily="2" charset="2"/>
                  </a:rPr>
                  <a:t>: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∧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∧…∧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重言式。则称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,…,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推出结论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的推理正确，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,…,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的逻辑结论，称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∧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∧…∧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为由前提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,…,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推出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结论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的推理的形式结构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.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F41DFB1-E943-40EC-6646-FB6ECBA9F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3791159"/>
                <a:ext cx="10691446" cy="2554545"/>
              </a:xfrm>
              <a:prstGeom prst="rect">
                <a:avLst/>
              </a:prstGeom>
              <a:blipFill>
                <a:blip r:embed="rId3"/>
                <a:stretch>
                  <a:fillRect l="-1425" t="-3103" r="-57" b="-69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46965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22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命题逻辑的缺陷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B07F9B2-C8A5-BAC8-ADCE-58964DD0BBD0}"/>
                  </a:ext>
                </a:extLst>
              </p:cNvPr>
              <p:cNvSpPr txBox="1"/>
              <p:nvPr/>
            </p:nvSpPr>
            <p:spPr>
              <a:xfrm>
                <a:off x="732692" y="1299645"/>
                <a:ext cx="11037277" cy="5509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3200" dirty="0"/>
                  <a:t>把问题看成一个个孤立的命题，忽略了问题之间的联系，不能反映某些重要的常见的逻辑思维过程。</a:t>
                </a:r>
                <a:endParaRPr lang="en-US" altLang="zh-CN" sz="3200" dirty="0"/>
              </a:p>
              <a:p>
                <a:endParaRPr lang="en-US" altLang="zh-CN" sz="3200" dirty="0"/>
              </a:p>
              <a:p>
                <a:r>
                  <a:rPr lang="en-US" altLang="zh-CN" sz="3200" dirty="0"/>
                  <a:t>“</a:t>
                </a:r>
                <a:r>
                  <a:rPr lang="zh-CN" altLang="en-US" sz="3200" dirty="0"/>
                  <a:t>苏格拉底三段论</a:t>
                </a:r>
                <a:r>
                  <a:rPr lang="en-US" altLang="zh-CN" sz="3200" dirty="0"/>
                  <a:t>”:</a:t>
                </a:r>
              </a:p>
              <a:p>
                <a:r>
                  <a:rPr lang="en-US" altLang="zh-CN" sz="3200" dirty="0"/>
                  <a:t>         P</a:t>
                </a:r>
                <a:r>
                  <a:rPr lang="zh-CN" altLang="en-US" sz="3200" dirty="0"/>
                  <a:t>：凡是人都是要死的</a:t>
                </a:r>
                <a:br>
                  <a:rPr lang="zh-CN" altLang="en-US" sz="3200" dirty="0"/>
                </a:br>
                <a:r>
                  <a:rPr lang="zh-CN" altLang="en-US" sz="3200" dirty="0"/>
                  <a:t>	</a:t>
                </a:r>
                <a:r>
                  <a:rPr lang="en-US" altLang="zh-CN" sz="3200" dirty="0"/>
                  <a:t>Q</a:t>
                </a:r>
                <a:r>
                  <a:rPr lang="zh-CN" altLang="en-US" sz="3200" dirty="0"/>
                  <a:t>：苏格拉底是人</a:t>
                </a:r>
                <a:br>
                  <a:rPr lang="zh-CN" altLang="en-US" sz="3200" dirty="0"/>
                </a:br>
                <a:r>
                  <a:rPr lang="zh-CN" altLang="en-US" sz="3200" dirty="0"/>
                  <a:t>	</a:t>
                </a:r>
                <a:r>
                  <a:rPr lang="en-US" altLang="zh-CN" sz="3200" dirty="0"/>
                  <a:t>R</a:t>
                </a:r>
                <a:r>
                  <a:rPr lang="zh-CN" altLang="en-US" sz="3200" dirty="0"/>
                  <a:t>：苏格拉底必然要死</a:t>
                </a:r>
                <a:endParaRPr lang="en-US" altLang="zh-CN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altLang="zh-CN" sz="3200" dirty="0"/>
              </a:p>
              <a:p>
                <a:endParaRPr lang="en-US" altLang="zh-CN" sz="3200" dirty="0"/>
              </a:p>
              <a:p>
                <a:r>
                  <a:rPr lang="zh-CN" altLang="en-US" sz="3200" dirty="0"/>
                  <a:t>对命题的成分、结构和命题间的共同特性等作进一步的分析，这正是谓词逻辑所要研究的问题。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B07F9B2-C8A5-BAC8-ADCE-58964DD0B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692" y="1299645"/>
                <a:ext cx="11037277" cy="5509200"/>
              </a:xfrm>
              <a:prstGeom prst="rect">
                <a:avLst/>
              </a:prstGeom>
              <a:blipFill>
                <a:blip r:embed="rId3"/>
                <a:stretch>
                  <a:fillRect l="-1380" t="-1438" r="-2485" b="-26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2192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23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个体</a:t>
            </a:r>
          </a:p>
        </p:txBody>
      </p:sp>
      <p:sp>
        <p:nvSpPr>
          <p:cNvPr id="2" name="文本占位符 11266">
            <a:extLst>
              <a:ext uri="{FF2B5EF4-FFF2-40B4-BE49-F238E27FC236}">
                <a16:creationId xmlns:a16="http://schemas.microsoft.com/office/drawing/2014/main" id="{5DF918E4-7F0E-3CA7-800B-F9D25D10B026}"/>
              </a:ext>
            </a:extLst>
          </p:cNvPr>
          <p:cNvSpPr txBox="1">
            <a:spLocks/>
          </p:cNvSpPr>
          <p:nvPr/>
        </p:nvSpPr>
        <p:spPr>
          <a:xfrm>
            <a:off x="1184031" y="1377462"/>
            <a:ext cx="8764588" cy="51288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  <a:tabLst>
                <a:tab pos="1716405" algn="l"/>
              </a:tabLst>
            </a:pPr>
            <a:r>
              <a:rPr lang="zh-CN" altLang="en-US" noProof="1">
                <a:latin typeface="Times New Roman" panose="02020603050405020304" pitchFamily="18" charset="0"/>
              </a:rPr>
              <a:t>可以</a:t>
            </a:r>
            <a:r>
              <a:rPr lang="zh-CN" altLang="en-US" noProof="1">
                <a:solidFill>
                  <a:srgbClr val="FFCC00"/>
                </a:solidFill>
                <a:latin typeface="Times New Roman" panose="02020603050405020304" pitchFamily="18" charset="0"/>
              </a:rPr>
              <a:t>独立存在</a:t>
            </a:r>
            <a:r>
              <a:rPr lang="zh-CN" altLang="en-US" noProof="1">
                <a:latin typeface="Times New Roman" panose="02020603050405020304" pitchFamily="18" charset="0"/>
              </a:rPr>
              <a:t>的物体称为个体。</a:t>
            </a:r>
          </a:p>
          <a:p>
            <a:pPr marL="0" indent="0" fontAlgn="auto">
              <a:spcAft>
                <a:spcPts val="0"/>
              </a:spcAft>
              <a:buNone/>
              <a:tabLst>
                <a:tab pos="1716405" algn="l"/>
              </a:tabLst>
            </a:pPr>
            <a:r>
              <a:rPr lang="zh-CN" altLang="en-US" noProof="1">
                <a:latin typeface="Times New Roman" panose="02020603050405020304" pitchFamily="18" charset="0"/>
              </a:rPr>
              <a:t>如人、学生、桌子、自然数等都可以做个体。</a:t>
            </a:r>
          </a:p>
          <a:p>
            <a:pPr marL="0" indent="0" fontAlgn="auto">
              <a:spcAft>
                <a:spcPts val="0"/>
              </a:spcAft>
              <a:buNone/>
              <a:tabLst>
                <a:tab pos="1716405" algn="l"/>
              </a:tabLst>
            </a:pPr>
            <a:r>
              <a:rPr lang="zh-CN" altLang="en-US" noProof="1">
                <a:latin typeface="Times New Roman" panose="02020603050405020304" pitchFamily="18" charset="0"/>
              </a:rPr>
              <a:t>在谓词演算中，个体通常指一个命题里的思维对象。</a:t>
            </a:r>
            <a:endParaRPr lang="en-US" altLang="zh-CN" noProof="1">
              <a:latin typeface="Times New Roman" panose="02020603050405020304" pitchFamily="18" charset="0"/>
            </a:endParaRPr>
          </a:p>
          <a:p>
            <a:pPr marL="0" indent="0" fontAlgn="auto">
              <a:spcAft>
                <a:spcPts val="0"/>
              </a:spcAft>
              <a:buNone/>
              <a:tabLst>
                <a:tab pos="1716405" algn="l"/>
              </a:tabLst>
            </a:pPr>
            <a:endParaRPr lang="en-US" altLang="zh-CN" noProof="1">
              <a:latin typeface="Times New Roman" panose="02020603050405020304" pitchFamily="18" charset="0"/>
            </a:endParaRPr>
          </a:p>
          <a:p>
            <a:pPr marL="0" indent="0" fontAlgn="auto">
              <a:spcAft>
                <a:spcPts val="0"/>
              </a:spcAft>
              <a:buNone/>
              <a:tabLst>
                <a:tab pos="1716405" algn="l"/>
              </a:tabLst>
            </a:pPr>
            <a:r>
              <a:rPr lang="zh-CN" altLang="en-US" noProof="1">
                <a:latin typeface="Times New Roman" panose="02020603050405020304" pitchFamily="18" charset="0"/>
              </a:rPr>
              <a:t>表示具体或者特定的个体的词成为</a:t>
            </a:r>
            <a:r>
              <a:rPr lang="zh-CN" altLang="en-US" noProof="1">
                <a:solidFill>
                  <a:srgbClr val="FF0000"/>
                </a:solidFill>
                <a:latin typeface="Times New Roman" panose="02020603050405020304" pitchFamily="18" charset="0"/>
              </a:rPr>
              <a:t>个体常项</a:t>
            </a:r>
            <a:r>
              <a:rPr lang="en-US" altLang="zh-CN" noProof="1">
                <a:latin typeface="Times New Roman" panose="02020603050405020304" pitchFamily="18" charset="0"/>
              </a:rPr>
              <a:t>,</a:t>
            </a:r>
            <a:r>
              <a:rPr lang="zh-CN" altLang="en-US" noProof="1">
                <a:latin typeface="Times New Roman" panose="02020603050405020304" pitchFamily="18" charset="0"/>
              </a:rPr>
              <a:t>一般用小写英文字母</a:t>
            </a:r>
            <a:r>
              <a:rPr lang="en-US" altLang="zh-CN" noProof="1">
                <a:latin typeface="Times New Roman" panose="02020603050405020304" pitchFamily="18" charset="0"/>
              </a:rPr>
              <a:t>a,b,c…</a:t>
            </a:r>
            <a:r>
              <a:rPr lang="zh-CN" altLang="en-US" noProof="1">
                <a:latin typeface="Times New Roman" panose="02020603050405020304" pitchFamily="18" charset="0"/>
              </a:rPr>
              <a:t>表示</a:t>
            </a:r>
            <a:r>
              <a:rPr lang="en-US" altLang="zh-CN" noProof="1">
                <a:latin typeface="Times New Roman" panose="02020603050405020304" pitchFamily="18" charset="0"/>
              </a:rPr>
              <a:t>.</a:t>
            </a:r>
            <a:r>
              <a:rPr lang="zh-CN" altLang="en-US" noProof="1">
                <a:latin typeface="Times New Roman" panose="02020603050405020304" pitchFamily="18" charset="0"/>
              </a:rPr>
              <a:t>表示抽象的或泛指的个体的词称为</a:t>
            </a:r>
            <a:r>
              <a:rPr lang="zh-CN" altLang="en-US" noProof="1">
                <a:solidFill>
                  <a:srgbClr val="FF0000"/>
                </a:solidFill>
                <a:latin typeface="Times New Roman" panose="02020603050405020304" pitchFamily="18" charset="0"/>
              </a:rPr>
              <a:t>个体变项</a:t>
            </a:r>
            <a:r>
              <a:rPr lang="en-US" altLang="zh-CN" noProof="1">
                <a:solidFill>
                  <a:srgbClr val="FF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noProof="1">
                <a:latin typeface="Times New Roman" panose="02020603050405020304" pitchFamily="18" charset="0"/>
              </a:rPr>
              <a:t>通常用小写英文字母</a:t>
            </a:r>
            <a:r>
              <a:rPr lang="en-US" altLang="zh-CN" noProof="1">
                <a:latin typeface="Times New Roman" panose="02020603050405020304" pitchFamily="18" charset="0"/>
              </a:rPr>
              <a:t>x,y,z…</a:t>
            </a:r>
            <a:r>
              <a:rPr lang="zh-CN" altLang="en-US" noProof="1">
                <a:latin typeface="Times New Roman" panose="02020603050405020304" pitchFamily="18" charset="0"/>
              </a:rPr>
              <a:t>表示</a:t>
            </a:r>
            <a:r>
              <a:rPr lang="en-US" altLang="zh-CN" noProof="1">
                <a:latin typeface="Times New Roman" panose="02020603050405020304" pitchFamily="18" charset="0"/>
              </a:rPr>
              <a:t>.</a:t>
            </a:r>
            <a:r>
              <a:rPr lang="zh-CN" altLang="en-US" noProof="1">
                <a:latin typeface="Times New Roman" panose="02020603050405020304" pitchFamily="18" charset="0"/>
              </a:rPr>
              <a:t>个体变项的取值范围称为</a:t>
            </a:r>
            <a:r>
              <a:rPr lang="zh-CN" altLang="en-US" noProof="1">
                <a:solidFill>
                  <a:srgbClr val="FF0000"/>
                </a:solidFill>
                <a:latin typeface="Times New Roman" panose="02020603050405020304" pitchFamily="18" charset="0"/>
              </a:rPr>
              <a:t>个体域</a:t>
            </a:r>
            <a:r>
              <a:rPr lang="en-US" altLang="zh-CN" noProof="1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noProof="1">
                <a:solidFill>
                  <a:srgbClr val="FF0000"/>
                </a:solidFill>
                <a:latin typeface="Times New Roman" panose="02020603050405020304" pitchFamily="18" charset="0"/>
              </a:rPr>
              <a:t>或论域</a:t>
            </a:r>
            <a:r>
              <a:rPr lang="en-US" altLang="zh-CN" noProof="1">
                <a:latin typeface="Times New Roman" panose="02020603050405020304" pitchFamily="18" charset="0"/>
              </a:rPr>
              <a:t>).</a:t>
            </a:r>
            <a:endParaRPr lang="zh-CN" altLang="en-US" noProof="1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0375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24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谓词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占位符 12290">
                <a:extLst>
                  <a:ext uri="{FF2B5EF4-FFF2-40B4-BE49-F238E27FC236}">
                    <a16:creationId xmlns:a16="http://schemas.microsoft.com/office/drawing/2014/main" id="{140C98A1-E951-0A1C-257A-1F72CF7674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3385" y="1060939"/>
                <a:ext cx="11365310" cy="5029200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noProof="1">
                    <a:latin typeface="Times New Roman" panose="02020603050405020304" pitchFamily="18" charset="0"/>
                  </a:rPr>
                  <a:t>表示具体性质或关系的谓词称为谓词常项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, 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用大写英文字母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F,G,H,…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表示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. 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表示抽象的或泛指的谓词称为谓词变项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, 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也用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F, G, H,…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表示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.</a:t>
                </a: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endParaRPr lang="en-US" altLang="zh-CN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noProof="1">
                    <a:latin typeface="Times New Roman" panose="02020603050405020304" pitchFamily="18" charset="0"/>
                  </a:rPr>
                  <a:t>个体变项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x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具有性质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F, 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记作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F(x). 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个体变项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x, y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具有关系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L, 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记作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L(x,y). 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也把这种个体变项和谓词的联合体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F(x), L(x, y)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称为谓词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. </a:t>
                </a: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endParaRPr lang="en-US" altLang="zh-CN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noProof="1">
                    <a:latin typeface="Times New Roman" panose="02020603050405020304" pitchFamily="18" charset="0"/>
                  </a:rPr>
                  <a:t>谓词中包含的个体词数称为元数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. 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含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n</a:t>
                </a:r>
                <a14:m>
                  <m:oMath xmlns:m="http://schemas.openxmlformats.org/officeDocument/2006/math">
                    <m:r>
                      <a:rPr lang="en-US" altLang="zh-CN" b="0" i="0" noProof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noProof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≥1)</m:t>
                    </m:r>
                  </m:oMath>
                </a14:m>
                <a:r>
                  <a:rPr lang="zh-CN" altLang="en-US" noProof="1">
                    <a:latin typeface="Times New Roman" panose="02020603050405020304" pitchFamily="18" charset="0"/>
                  </a:rPr>
                  <a:t>个个体词的谓词称为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n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元谓词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, 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一般用</a:t>
                </a:r>
                <a14:m>
                  <m:oMath xmlns:m="http://schemas.openxmlformats.org/officeDocument/2006/math">
                    <m:r>
                      <a:rPr lang="en-US" altLang="zh-CN" b="0" i="1" noProof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b="0" i="1" noProof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noProof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noProof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noProof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noProof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noProof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noProof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noProof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noProof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noProof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noProof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noProof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noProof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 noProof="1">
                        <a:latin typeface="Cambria Math" panose="02040503050406030204" pitchFamily="18" charset="0"/>
                      </a:rPr>
                      <m:t>表示</m:t>
                    </m:r>
                  </m:oMath>
                </a14:m>
                <a:r>
                  <a:rPr lang="en-US" altLang="zh-CN" noProof="1">
                    <a:latin typeface="Times New Roman" panose="02020603050405020304" pitchFamily="18" charset="0"/>
                  </a:rPr>
                  <a:t>n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元谓词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.</a:t>
                </a: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endParaRPr lang="en-US" altLang="zh-CN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noProof="1">
                    <a:latin typeface="Times New Roman" panose="02020603050405020304" pitchFamily="18" charset="0"/>
                  </a:rPr>
                  <a:t>不带个体变项的谓词称为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0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元谓词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, 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简单命题都可以用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0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元谓词常项表示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文本占位符 12290">
                <a:extLst>
                  <a:ext uri="{FF2B5EF4-FFF2-40B4-BE49-F238E27FC236}">
                    <a16:creationId xmlns:a16="http://schemas.microsoft.com/office/drawing/2014/main" id="{140C98A1-E951-0A1C-257A-1F72CF767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85" y="1060939"/>
                <a:ext cx="11365310" cy="5029200"/>
              </a:xfrm>
              <a:prstGeom prst="rect">
                <a:avLst/>
              </a:prstGeom>
              <a:blipFill>
                <a:blip r:embed="rId3"/>
                <a:stretch>
                  <a:fillRect l="-1072" t="-2182" r="-18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4455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25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占位符 12290">
                <a:extLst>
                  <a:ext uri="{FF2B5EF4-FFF2-40B4-BE49-F238E27FC236}">
                    <a16:creationId xmlns:a16="http://schemas.microsoft.com/office/drawing/2014/main" id="{016927B8-940F-E251-6EDF-9C93021CA26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3345" y="1131277"/>
                <a:ext cx="11365310" cy="5029200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noProof="1">
                    <a:latin typeface="Times New Roman" panose="02020603050405020304" pitchFamily="18" charset="0"/>
                  </a:rPr>
                  <a:t>表示数量的词被称为量词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.</a:t>
                </a: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endParaRPr lang="en-US" altLang="zh-CN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noProof="1">
                    <a:latin typeface="Times New Roman" panose="02020603050405020304" pitchFamily="18" charset="0"/>
                  </a:rPr>
                  <a:t>全称量词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: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对应日常语言中的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”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一切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””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所有的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””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任意的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”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等词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, 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用符号</a:t>
                </a:r>
                <a14:m>
                  <m:oMath xmlns:m="http://schemas.openxmlformats.org/officeDocument/2006/math">
                    <m:r>
                      <a:rPr lang="zh-CN" altLang="en-US" i="1" noProof="1" smtClean="0"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zh-CN" altLang="en-US" noProof="1">
                    <a:latin typeface="Times New Roman" panose="02020603050405020304" pitchFamily="18" charset="0"/>
                  </a:rPr>
                  <a:t>表示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.</a:t>
                </a: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endParaRPr lang="en-US" altLang="zh-CN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noProof="1">
                    <a:latin typeface="Times New Roman" panose="02020603050405020304" pitchFamily="18" charset="0"/>
                  </a:rPr>
                  <a:t>存在量词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: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对应日常用语中的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”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存在着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””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有一个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””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至少有一个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”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等词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, </a:t>
                </a:r>
                <a:r>
                  <a:rPr lang="zh-CN" altLang="en-US" noProof="1">
                    <a:latin typeface="Times New Roman" panose="02020603050405020304" pitchFamily="18" charset="0"/>
                  </a:rPr>
                  <a:t>用符号</a:t>
                </a:r>
                <a14:m>
                  <m:oMath xmlns:m="http://schemas.openxmlformats.org/officeDocument/2006/math">
                    <m:r>
                      <a:rPr lang="zh-CN" altLang="en-US" i="1" noProof="1" smtClean="0"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zh-CN" altLang="en-US" noProof="1">
                    <a:latin typeface="Times New Roman" panose="02020603050405020304" pitchFamily="18" charset="0"/>
                  </a:rPr>
                  <a:t>表示</a:t>
                </a:r>
                <a:r>
                  <a:rPr lang="en-US" altLang="zh-CN" noProof="1">
                    <a:latin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文本占位符 12290">
                <a:extLst>
                  <a:ext uri="{FF2B5EF4-FFF2-40B4-BE49-F238E27FC236}">
                    <a16:creationId xmlns:a16="http://schemas.microsoft.com/office/drawing/2014/main" id="{016927B8-940F-E251-6EDF-9C93021CA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45" y="1131277"/>
                <a:ext cx="11365310" cy="5029200"/>
              </a:xfrm>
              <a:prstGeom prst="rect">
                <a:avLst/>
              </a:prstGeom>
              <a:blipFill>
                <a:blip r:embed="rId3"/>
                <a:stretch>
                  <a:fillRect l="-1127" t="-2303" r="-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10542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" t="-376" r="1097" b="376"/>
          <a:stretch/>
        </p:blipFill>
        <p:spPr>
          <a:xfrm>
            <a:off x="-34506" y="-21214"/>
            <a:ext cx="12249510" cy="688784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4054567"/>
            <a:ext cx="12249510" cy="28280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0" name="Shape 45"/>
          <p:cNvSpPr/>
          <p:nvPr/>
        </p:nvSpPr>
        <p:spPr>
          <a:xfrm>
            <a:off x="2395549" y="4418398"/>
            <a:ext cx="8001969" cy="830997"/>
          </a:xfrm>
          <a:prstGeom prst="rect">
            <a:avLst/>
          </a:prstGeom>
          <a:noFill/>
          <a:ln w="12700">
            <a:noFill/>
            <a:miter lim="400000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lIns="45720" tIns="45720" rIns="45720" bIns="4572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algn="ctr"/>
            <a:r>
              <a:rPr lang="zh-CN" altLang="en-US" sz="4800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谢谢！</a:t>
            </a:r>
          </a:p>
        </p:txBody>
      </p:sp>
      <p:grpSp>
        <p:nvGrpSpPr>
          <p:cNvPr id="9" name="组合 45"/>
          <p:cNvGrpSpPr/>
          <p:nvPr/>
        </p:nvGrpSpPr>
        <p:grpSpPr>
          <a:xfrm>
            <a:off x="2050421" y="5500321"/>
            <a:ext cx="7946680" cy="499624"/>
            <a:chOff x="2002264" y="3399020"/>
            <a:chExt cx="8187473" cy="499622"/>
          </a:xfrm>
        </p:grpSpPr>
        <p:sp>
          <p:nvSpPr>
            <p:cNvPr id="17" name="矩形 17"/>
            <p:cNvSpPr>
              <a:spLocks noChangeArrowheads="1"/>
            </p:cNvSpPr>
            <p:nvPr/>
          </p:nvSpPr>
          <p:spPr bwMode="auto">
            <a:xfrm>
              <a:off x="3860796" y="3399020"/>
              <a:ext cx="4395931" cy="499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000" dirty="0">
                  <a:solidFill>
                    <a:prstClr val="white"/>
                  </a:solidFill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微软雅黑"/>
                  <a:ea typeface="微软雅黑"/>
                </a:rPr>
                <a:t>邬渊</a:t>
              </a:r>
              <a:endParaRPr lang="en-US" altLang="zh-CN" sz="2000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/>
                <a:ea typeface="微软雅黑"/>
              </a:endParaRPr>
            </a:p>
          </p:txBody>
        </p:sp>
        <p:cxnSp>
          <p:nvCxnSpPr>
            <p:cNvPr id="18" name="直接连接符 13"/>
            <p:cNvCxnSpPr/>
            <p:nvPr/>
          </p:nvCxnSpPr>
          <p:spPr bwMode="auto">
            <a:xfrm>
              <a:off x="2002264" y="3705778"/>
              <a:ext cx="2329187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  <p:cxnSp>
          <p:nvCxnSpPr>
            <p:cNvPr id="19" name="直接连接符 14"/>
            <p:cNvCxnSpPr/>
            <p:nvPr/>
          </p:nvCxnSpPr>
          <p:spPr bwMode="auto">
            <a:xfrm>
              <a:off x="7828119" y="3705778"/>
              <a:ext cx="2361618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</p:grp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8" r="55688" b="42178"/>
          <a:stretch/>
        </p:blipFill>
        <p:spPr>
          <a:xfrm flipH="1">
            <a:off x="1727201" y="685800"/>
            <a:ext cx="1118396" cy="14224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6" t="40799" r="31019" b="39942"/>
          <a:stretch/>
        </p:blipFill>
        <p:spPr>
          <a:xfrm>
            <a:off x="7874000" y="1348059"/>
            <a:ext cx="3048000" cy="13208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505178" y="1026073"/>
            <a:ext cx="1137053" cy="48577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9956800" y="2935491"/>
            <a:ext cx="1137053" cy="48577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389" y="943829"/>
            <a:ext cx="5228265" cy="2902521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>
                <a:solidFill>
                  <a:prstClr val="white"/>
                </a:solidFill>
              </a:rPr>
              <a:pPr/>
              <a:t>26</a:t>
            </a:fld>
            <a:endParaRPr lang="zh-CN" altLang="en-US" dirty="0">
              <a:solidFill>
                <a:prstClr val="white"/>
              </a:solidFill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321" r="16752"/>
          <a:stretch/>
        </p:blipFill>
        <p:spPr>
          <a:xfrm>
            <a:off x="8580033" y="0"/>
            <a:ext cx="3634971" cy="330446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412" y="639326"/>
            <a:ext cx="931677" cy="93318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27937867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清风素材 https://12sc.taobao.com/">
  <a:themeElements>
    <a:clrScheme name="6_Colored Theme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377790"/>
      </a:accent1>
      <a:accent2>
        <a:srgbClr val="189A80"/>
      </a:accent2>
      <a:accent3>
        <a:srgbClr val="F09C2A"/>
      </a:accent3>
      <a:accent4>
        <a:srgbClr val="D24132"/>
      </a:accent4>
      <a:accent5>
        <a:srgbClr val="564266"/>
      </a:accent5>
      <a:accent6>
        <a:srgbClr val="686868"/>
      </a:accent6>
      <a:hlink>
        <a:srgbClr val="FFFFFF"/>
      </a:hlink>
      <a:folHlink>
        <a:srgbClr val="595959"/>
      </a:folHlink>
    </a:clrScheme>
    <a:fontScheme name="Arial">
      <a:majorFont>
        <a:latin typeface="Arial"/>
        <a:ea typeface=""/>
        <a:cs typeface="FontAwesome"/>
      </a:majorFont>
      <a:minorFont>
        <a:latin typeface="Arial"/>
        <a:ea typeface=""/>
        <a:cs typeface="FontAwesom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39277</TotalTime>
  <Words>1866</Words>
  <Application>Microsoft Office PowerPoint</Application>
  <PresentationFormat>宽屏</PresentationFormat>
  <Paragraphs>250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7" baseType="lpstr">
      <vt:lpstr>FontAwesome</vt:lpstr>
      <vt:lpstr>等线</vt:lpstr>
      <vt:lpstr>等线 Light</vt:lpstr>
      <vt:lpstr>方正粗黑宋简体</vt:lpstr>
      <vt:lpstr>微软雅黑</vt:lpstr>
      <vt:lpstr>Arial</vt:lpstr>
      <vt:lpstr>Cambria Math</vt:lpstr>
      <vt:lpstr>Times New Roman</vt:lpstr>
      <vt:lpstr>Wingdings</vt:lpstr>
      <vt:lpstr>Office 主题​​</vt:lpstr>
      <vt:lpstr>清风素材 https://12sc.taobao.com/</vt:lpstr>
      <vt:lpstr>PowerPoint 演示文稿</vt:lpstr>
      <vt:lpstr>等值演算</vt:lpstr>
      <vt:lpstr>例题</vt:lpstr>
      <vt:lpstr>例题</vt:lpstr>
      <vt:lpstr>例题</vt:lpstr>
      <vt:lpstr>例题</vt:lpstr>
      <vt:lpstr>范式</vt:lpstr>
      <vt:lpstr>范式</vt:lpstr>
      <vt:lpstr>范式</vt:lpstr>
      <vt:lpstr>范式</vt:lpstr>
      <vt:lpstr>例子-求合取范式</vt:lpstr>
      <vt:lpstr>例子-求析取范式</vt:lpstr>
      <vt:lpstr>极小项</vt:lpstr>
      <vt:lpstr>主析取范式</vt:lpstr>
      <vt:lpstr>例子-求主析取范式</vt:lpstr>
      <vt:lpstr>主析取范式—用途</vt:lpstr>
      <vt:lpstr>极大项</vt:lpstr>
      <vt:lpstr>主合取范式</vt:lpstr>
      <vt:lpstr>全功能集</vt:lpstr>
      <vt:lpstr>全功能集</vt:lpstr>
      <vt:lpstr>推理理论</vt:lpstr>
      <vt:lpstr>命题逻辑的缺陷</vt:lpstr>
      <vt:lpstr>个体</vt:lpstr>
      <vt:lpstr>谓词</vt:lpstr>
      <vt:lpstr>量词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邬 渊</cp:lastModifiedBy>
  <cp:revision>1712</cp:revision>
  <cp:lastPrinted>2019-05-20T00:00:00Z</cp:lastPrinted>
  <dcterms:created xsi:type="dcterms:W3CDTF">2019-04-24T04:43:00Z</dcterms:created>
  <dcterms:modified xsi:type="dcterms:W3CDTF">2025-03-03T04:48:29Z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2052-11.1.0.9209</vt:lpwstr>
  </property>
</Properties>
</file>
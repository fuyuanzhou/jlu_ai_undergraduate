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dp" ContentType="image/vnd.ms-photo"/>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6"/>
  </p:handoutMasterIdLst>
  <p:sldIdLst>
    <p:sldId id="257" r:id="rId3"/>
    <p:sldId id="259" r:id="rId5"/>
    <p:sldId id="277" r:id="rId6"/>
    <p:sldId id="262" r:id="rId7"/>
    <p:sldId id="335" r:id="rId8"/>
    <p:sldId id="336" r:id="rId9"/>
    <p:sldId id="299" r:id="rId10"/>
    <p:sldId id="279" r:id="rId11"/>
    <p:sldId id="347" r:id="rId12"/>
    <p:sldId id="348" r:id="rId13"/>
    <p:sldId id="278" r:id="rId14"/>
    <p:sldId id="300" r:id="rId15"/>
    <p:sldId id="301" r:id="rId16"/>
    <p:sldId id="302" r:id="rId17"/>
    <p:sldId id="303" r:id="rId18"/>
    <p:sldId id="304" r:id="rId19"/>
    <p:sldId id="305" r:id="rId20"/>
    <p:sldId id="337" r:id="rId21"/>
    <p:sldId id="306" r:id="rId22"/>
    <p:sldId id="307" r:id="rId23"/>
    <p:sldId id="280" r:id="rId24"/>
    <p:sldId id="351" r:id="rId25"/>
    <p:sldId id="346" r:id="rId26"/>
    <p:sldId id="308" r:id="rId27"/>
    <p:sldId id="309" r:id="rId28"/>
    <p:sldId id="310" r:id="rId29"/>
    <p:sldId id="311" r:id="rId30"/>
    <p:sldId id="332" r:id="rId31"/>
    <p:sldId id="331" r:id="rId32"/>
    <p:sldId id="343" r:id="rId33"/>
    <p:sldId id="283" r:id="rId34"/>
    <p:sldId id="284" r:id="rId35"/>
    <p:sldId id="338" r:id="rId36"/>
    <p:sldId id="312" r:id="rId37"/>
    <p:sldId id="339" r:id="rId38"/>
    <p:sldId id="333" r:id="rId39"/>
    <p:sldId id="314" r:id="rId40"/>
    <p:sldId id="315" r:id="rId41"/>
    <p:sldId id="341" r:id="rId42"/>
    <p:sldId id="316" r:id="rId43"/>
    <p:sldId id="317" r:id="rId44"/>
    <p:sldId id="318" r:id="rId45"/>
    <p:sldId id="319" r:id="rId46"/>
    <p:sldId id="350" r:id="rId47"/>
    <p:sldId id="320" r:id="rId48"/>
    <p:sldId id="349" r:id="rId49"/>
    <p:sldId id="324" r:id="rId50"/>
    <p:sldId id="325" r:id="rId51"/>
    <p:sldId id="327" r:id="rId52"/>
    <p:sldId id="329" r:id="rId53"/>
    <p:sldId id="334" r:id="rId54"/>
    <p:sldId id="260"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03" autoAdjust="0"/>
    <p:restoredTop sz="75106" autoAdjust="0"/>
  </p:normalViewPr>
  <p:slideViewPr>
    <p:cSldViewPr snapToGrid="0">
      <p:cViewPr varScale="1">
        <p:scale>
          <a:sx n="90" d="100"/>
          <a:sy n="90" d="100"/>
        </p:scale>
        <p:origin x="1880" y="200"/>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9A4B13-3AF2-4CF8-9C4E-FF0CBCFCCA1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0CCF5A-7307-40F0-A9D4-3459B4F1A5E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A7C25F-9F05-44A3-A965-CD8BD062B0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FAF71-2112-4D1D-8195-2A8BD0F0F34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Helvetica" pitchFamily="2" charset="0"/>
              </a:rPr>
              <a:t>特征向量和特征值的作用效果，在这里，矩阵</a:t>
            </a:r>
            <a:r>
              <a:rPr lang="en-US" altLang="zh-CN" dirty="0">
                <a:effectLst/>
                <a:latin typeface="Helvetica" pitchFamily="2" charset="0"/>
              </a:rPr>
              <a:t>A </a:t>
            </a:r>
            <a:r>
              <a:rPr lang="zh-CN" altLang="en-US" dirty="0">
                <a:effectLst/>
                <a:latin typeface="Helvetica" pitchFamily="2" charset="0"/>
              </a:rPr>
              <a:t>有两个标准正交的特征向量，对应特征值为</a:t>
            </a:r>
            <a:r>
              <a:rPr lang="en-US" altLang="zh-CN" dirty="0">
                <a:effectLst/>
                <a:latin typeface="Helvetica" pitchFamily="2" charset="0"/>
              </a:rPr>
              <a:t>\lamda_1</a:t>
            </a:r>
            <a:r>
              <a:rPr lang="zh-CN" altLang="en-US" dirty="0">
                <a:effectLst/>
                <a:latin typeface="Helvetica" pitchFamily="2" charset="0"/>
              </a:rPr>
              <a:t>的</a:t>
            </a:r>
            <a:r>
              <a:rPr lang="en-US" altLang="zh-CN" dirty="0">
                <a:effectLst/>
                <a:latin typeface="Helvetica" pitchFamily="2" charset="0"/>
              </a:rPr>
              <a:t>v(1)</a:t>
            </a:r>
            <a:r>
              <a:rPr lang="zh-CN" altLang="en-US" dirty="0">
                <a:effectLst/>
                <a:latin typeface="Helvetica" pitchFamily="2" charset="0"/>
              </a:rPr>
              <a:t>以及对应特征值为</a:t>
            </a:r>
            <a:r>
              <a:rPr lang="en-US" altLang="zh-CN" dirty="0">
                <a:effectLst/>
                <a:latin typeface="Helvetica" pitchFamily="2" charset="0"/>
              </a:rPr>
              <a:t>\lamda_2 </a:t>
            </a:r>
            <a:r>
              <a:rPr lang="zh-CN" altLang="en-US" dirty="0">
                <a:effectLst/>
                <a:latin typeface="Helvetica" pitchFamily="2" charset="0"/>
              </a:rPr>
              <a:t>的</a:t>
            </a:r>
            <a:r>
              <a:rPr lang="en-US" altLang="zh-CN" dirty="0">
                <a:effectLst/>
                <a:latin typeface="Helvetica" pitchFamily="2" charset="0"/>
              </a:rPr>
              <a:t>v(2</a:t>
            </a:r>
            <a:r>
              <a:rPr lang="zh-CN" altLang="en-US" dirty="0">
                <a:effectLst/>
                <a:latin typeface="Helvetica" pitchFamily="2" charset="0"/>
              </a:rPr>
              <a:t>）。（左）我们画出了所有的单位向量</a:t>
            </a:r>
            <a:r>
              <a:rPr lang="en-US" altLang="zh-CN" dirty="0">
                <a:effectLst/>
                <a:latin typeface="Helvetica" pitchFamily="2" charset="0"/>
              </a:rPr>
              <a:t>u</a:t>
            </a:r>
            <a:r>
              <a:rPr lang="zh-CN" altLang="en-US" dirty="0">
                <a:effectLst/>
                <a:latin typeface="Helvetica" pitchFamily="2" charset="0"/>
              </a:rPr>
              <a:t> </a:t>
            </a:r>
            <a:r>
              <a:rPr lang="en-US" altLang="zh-CN" dirty="0">
                <a:effectLst/>
                <a:latin typeface="Helvetica" pitchFamily="2" charset="0"/>
              </a:rPr>
              <a:t>\in</a:t>
            </a:r>
            <a:r>
              <a:rPr lang="zh-CN" altLang="en-US" dirty="0">
                <a:effectLst/>
                <a:latin typeface="Helvetica" pitchFamily="2" charset="0"/>
              </a:rPr>
              <a:t> </a:t>
            </a:r>
            <a:r>
              <a:rPr lang="en-US" altLang="zh-CN" dirty="0">
                <a:effectLst/>
                <a:latin typeface="Helvetica" pitchFamily="2" charset="0"/>
              </a:rPr>
              <a:t>R^2</a:t>
            </a:r>
            <a:r>
              <a:rPr lang="zh-CN" altLang="en-US" dirty="0">
                <a:effectLst/>
                <a:latin typeface="Helvetica" pitchFamily="2" charset="0"/>
              </a:rPr>
              <a:t> 的集合，构成一个单位圆。（右）我们画出了所有的</a:t>
            </a:r>
            <a:r>
              <a:rPr lang="en-US" altLang="zh-CN" dirty="0">
                <a:effectLst/>
                <a:latin typeface="Helvetica" pitchFamily="2" charset="0"/>
              </a:rPr>
              <a:t>Au</a:t>
            </a:r>
            <a:r>
              <a:rPr lang="zh-CN" altLang="en-US" dirty="0">
                <a:effectLst/>
                <a:latin typeface="Helvetica" pitchFamily="2" charset="0"/>
              </a:rPr>
              <a:t>点的集合。通过观察 </a:t>
            </a:r>
            <a:r>
              <a:rPr lang="en-US" altLang="zh-CN" dirty="0">
                <a:effectLst/>
                <a:latin typeface="Helvetica" pitchFamily="2" charset="0"/>
              </a:rPr>
              <a:t>A </a:t>
            </a:r>
            <a:r>
              <a:rPr lang="zh-CN" altLang="en-US" dirty="0">
                <a:effectLst/>
                <a:latin typeface="Helvetica" pitchFamily="2" charset="0"/>
              </a:rPr>
              <a:t>拉伸单位圆的方式，我们可以看到它将</a:t>
            </a:r>
            <a:r>
              <a:rPr lang="en-US" altLang="zh-CN" dirty="0">
                <a:effectLst/>
                <a:latin typeface="Helvetica" pitchFamily="2" charset="0"/>
              </a:rPr>
              <a:t>v(</a:t>
            </a:r>
            <a:r>
              <a:rPr lang="en-US" altLang="zh-CN" dirty="0" err="1">
                <a:effectLst/>
                <a:latin typeface="Helvetica" pitchFamily="2" charset="0"/>
              </a:rPr>
              <a:t>i</a:t>
            </a:r>
            <a:r>
              <a:rPr lang="en-US" altLang="zh-CN" dirty="0">
                <a:effectLst/>
                <a:latin typeface="Helvetica" pitchFamily="2" charset="0"/>
              </a:rPr>
              <a:t>)</a:t>
            </a:r>
            <a:r>
              <a:rPr lang="zh-CN" altLang="en-US" dirty="0">
                <a:effectLst/>
                <a:latin typeface="Helvetica" pitchFamily="2" charset="0"/>
              </a:rPr>
              <a:t>方向的空间拉伸了</a:t>
            </a:r>
            <a:r>
              <a:rPr lang="en-US" altLang="zh-CN" dirty="0">
                <a:effectLst/>
                <a:latin typeface="Helvetica" pitchFamily="2" charset="0"/>
              </a:rPr>
              <a:t>\</a:t>
            </a:r>
            <a:r>
              <a:rPr lang="en-US" altLang="zh-CN" dirty="0" err="1">
                <a:effectLst/>
                <a:latin typeface="Helvetica" pitchFamily="2" charset="0"/>
              </a:rPr>
              <a:t>lamada_i</a:t>
            </a:r>
            <a:r>
              <a:rPr lang="zh-CN" altLang="en-US" dirty="0">
                <a:effectLst/>
                <a:latin typeface="Helvetica" pitchFamily="2" charset="0"/>
              </a:rPr>
              <a:t> 倍。</a:t>
            </a:r>
            <a:endParaRPr lang="zh-CN" altLang="en-US" dirty="0">
              <a:effectLst/>
              <a:latin typeface="Helvetica" pitchFamily="2" charset="0"/>
            </a:endParaRPr>
          </a:p>
          <a:p>
            <a:endParaRPr kumimoji="1" lang="en-US" altLang="zh-CN" dirty="0"/>
          </a:p>
          <a:p>
            <a:endParaRPr kumimoji="1" lang="en-US" altLang="zh-CN" dirty="0"/>
          </a:p>
          <a:p>
            <a:r>
              <a:rPr kumimoji="1" lang="en-US" altLang="zh-CN" dirty="0"/>
              <a:t>https://pjskd1.github.io/2019/03/13/%E5%A5%87%E5%BC%82%E5%80%BC%E5%88%86%E8%A7%A3/</a:t>
            </a:r>
            <a:endParaRPr kumimoji="1" lang="en-US" altLang="zh-CN" dirty="0"/>
          </a:p>
          <a:p>
            <a:endParaRPr kumimoji="1" lang="en-US" altLang="zh-CN" dirty="0"/>
          </a:p>
          <a:p>
            <a:r>
              <a:rPr kumimoji="1" lang="en-US" altLang="zh-CN" dirty="0"/>
              <a:t>http://wiki.chemmind.com/chapter1215.html</a:t>
            </a:r>
            <a:endParaRPr kumimoji="1" lang="en-US" altLang="zh-CN" dirty="0"/>
          </a:p>
          <a:p>
            <a:endParaRPr kumimoji="1" lang="en-US" altLang="zh-CN" dirty="0"/>
          </a:p>
          <a:p>
            <a:r>
              <a:rPr kumimoji="1" lang="en-US" altLang="zh-CN" dirty="0"/>
              <a:t>https://zhuanlan.zhihu.com/p/69540876</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https://0809zheng.github.io/2021/07/28/</a:t>
            </a:r>
            <a:r>
              <a:rPr kumimoji="1" lang="en-US" altLang="zh-CN" dirty="0" err="1"/>
              <a:t>mds.html</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基变换</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基变换</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其中，</a:t>
            </a:r>
            <a:r>
              <a:rPr lang="en-US" altLang="zh-CN" dirty="0" err="1"/>
              <a:t>w_i</a:t>
            </a:r>
            <a:r>
              <a:rPr lang="en-US" altLang="zh-CN" dirty="0"/>
              <a:t> </a:t>
            </a:r>
            <a:r>
              <a:rPr lang="zh-CN" altLang="en-US" dirty="0"/>
              <a:t>是标准正交基向量，</a:t>
            </a:r>
            <a:endParaRPr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Georgia" panose="02040502050405020303" pitchFamily="18" charset="0"/>
              </a:rPr>
              <a:t>测地线可以定义为空间中两点的局域最短路径。形象的，在一个球面上，两点之间的测地线就是过这两个点的大圆的弧线</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000000"/>
                </a:solidFill>
                <a:effectLst/>
                <a:latin typeface="Georgia" panose="02040502050405020303" pitchFamily="18" charset="0"/>
              </a:rPr>
              <a:t>测地线可以定义为空间中两点的局域最短路径。形象的，在一个球面上，两点之间的测地线就是过这两个点的大圆的弧线</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Georgia" panose="02040502050405020303" pitchFamily="18" charset="0"/>
              </a:rPr>
              <a:t>上图中，我们给出了利用 </a:t>
            </a:r>
            <a:r>
              <a:rPr lang="en-US" altLang="zh-CN" b="0" i="0" dirty="0">
                <a:solidFill>
                  <a:srgbClr val="000000"/>
                </a:solidFill>
                <a:effectLst/>
                <a:latin typeface="Georgia" panose="02040502050405020303" pitchFamily="18" charset="0"/>
              </a:rPr>
              <a:t>ISOMAP </a:t>
            </a:r>
            <a:r>
              <a:rPr lang="zh-CN" altLang="en-US" b="0" i="0" dirty="0">
                <a:solidFill>
                  <a:srgbClr val="000000"/>
                </a:solidFill>
                <a:effectLst/>
                <a:latin typeface="Georgia" panose="02040502050405020303" pitchFamily="18" charset="0"/>
              </a:rPr>
              <a:t>对瑞士卷降至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维的一个格式化过程。第一幅图中，我们标注了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个蓝色的点，其中蓝色的直线为这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个点在三维空间中的欧式距离。第二幅图中，同样是相同的两个点，我们首先利用最近邻算法 </a:t>
            </a:r>
            <a:r>
              <a:rPr lang="en-US" altLang="zh-CN" b="0" i="0" dirty="0">
                <a:solidFill>
                  <a:srgbClr val="000000"/>
                </a:solidFill>
                <a:effectLst/>
                <a:latin typeface="Georgia" panose="02040502050405020303" pitchFamily="18" charset="0"/>
              </a:rPr>
              <a:t>(k</a:t>
            </a:r>
            <a:r>
              <a:rPr lang="en-US" altLang="zh-CN" dirty="0"/>
              <a:t>=10</a:t>
            </a:r>
            <a:r>
              <a:rPr lang="en-US" altLang="zh-CN" b="0" i="0" dirty="0">
                <a:solidFill>
                  <a:srgbClr val="000000"/>
                </a:solidFill>
                <a:effectLst/>
                <a:latin typeface="Georgia" panose="02040502050405020303" pitchFamily="18" charset="0"/>
              </a:rPr>
              <a:t>) </a:t>
            </a:r>
            <a:r>
              <a:rPr lang="zh-CN" altLang="en-US" b="0" i="0" dirty="0">
                <a:solidFill>
                  <a:srgbClr val="000000"/>
                </a:solidFill>
                <a:effectLst/>
                <a:latin typeface="Georgia" panose="02040502050405020303" pitchFamily="18" charset="0"/>
              </a:rPr>
              <a:t>将瑞士卷所有的点连接为一个邻接图，其中红色的路径为这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个点在邻接图上的最短路。第三幅图是通过 </a:t>
            </a:r>
            <a:r>
              <a:rPr lang="en-US" altLang="zh-CN" b="0" i="0" dirty="0">
                <a:solidFill>
                  <a:srgbClr val="000000"/>
                </a:solidFill>
                <a:effectLst/>
                <a:latin typeface="Georgia" panose="02040502050405020303" pitchFamily="18" charset="0"/>
              </a:rPr>
              <a:t>ISOMAP </a:t>
            </a:r>
            <a:r>
              <a:rPr lang="zh-CN" altLang="en-US" b="0" i="0" dirty="0">
                <a:solidFill>
                  <a:srgbClr val="000000"/>
                </a:solidFill>
                <a:effectLst/>
                <a:latin typeface="Georgia" panose="02040502050405020303" pitchFamily="18" charset="0"/>
              </a:rPr>
              <a:t>算法降维至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维的结果，其中蓝色的直线是这两个点在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维空间中的欧式距离，红色的路径是 </a:t>
            </a:r>
            <a:r>
              <a:rPr lang="en-US" altLang="zh-CN" b="0" i="0" dirty="0">
                <a:solidFill>
                  <a:srgbClr val="000000"/>
                </a:solidFill>
                <a:effectLst/>
                <a:latin typeface="Georgia" panose="02040502050405020303" pitchFamily="18" charset="0"/>
              </a:rPr>
              <a:t>3 </a:t>
            </a:r>
            <a:r>
              <a:rPr lang="zh-CN" altLang="en-US" b="0" i="0" dirty="0">
                <a:solidFill>
                  <a:srgbClr val="000000"/>
                </a:solidFill>
                <a:effectLst/>
                <a:latin typeface="Georgia" panose="02040502050405020303" pitchFamily="18" charset="0"/>
              </a:rPr>
              <a:t>维最短路在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维结果中的连线，可以看出两者是很相近的。</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7B7FAF71-2112-4D1D-8195-2A8BD0F0F34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3EAEA81-2C04-4FBF-867A-1C35A27DECC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83CF119-7394-46EA-9051-1ADF43C546B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1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2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3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4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5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6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7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fld>
            <a:endParaRPr lang="zh-CN" altLang="en-US" dirty="0"/>
          </a:p>
        </p:txBody>
      </p:sp>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a:extLst>
              <a:ext uri="{BEBA8EAE-BF5A-486C-A8C5-ECC9F3942E4B}">
                <a14:imgProps xmlns:a14="http://schemas.microsoft.com/office/drawing/2010/main">
                  <a14:imgLayer r:embed="rId5">
                    <a14:imgEffect>
                      <a14:artisticGlowEdges trans="15000"/>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7" Type="http://schemas.openxmlformats.org/officeDocument/2006/relationships/theme" Target="../theme/theme1.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EA81-2C04-4FBF-867A-1C35A27DECC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6C5C6E-0088-4029-8BB2-C62C0347DD6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png"/><Relationship Id="rId7" Type="http://schemas.openxmlformats.org/officeDocument/2006/relationships/image" Target="../media/image11.png"/><Relationship Id="rId6" Type="http://schemas.microsoft.com/office/2007/relationships/hdphoto" Target="../media/image10.wdp"/><Relationship Id="rId5" Type="http://schemas.openxmlformats.org/officeDocument/2006/relationships/image" Target="../media/image9.png"/><Relationship Id="rId4" Type="http://schemas.microsoft.com/office/2007/relationships/hdphoto" Target="../media/image8.wdp"/><Relationship Id="rId3" Type="http://schemas.openxmlformats.org/officeDocument/2006/relationships/image" Target="../media/image7.png"/><Relationship Id="rId2" Type="http://schemas.openxmlformats.org/officeDocument/2006/relationships/image" Target="../media/image6.png"/><Relationship Id="rId10" Type="http://schemas.openxmlformats.org/officeDocument/2006/relationships/notesSlide" Target="../notesSlides/notesSlide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microsoft.com/office/2007/relationships/hdphoto" Target="../media/image14.wdp"/><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microsoft.com/office/2007/relationships/hdphoto" Target="../media/image14.wdp"/><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3.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vmlDrawing" Target="../drawings/vmlDrawing2.vml"/><Relationship Id="rId4" Type="http://schemas.openxmlformats.org/officeDocument/2006/relationships/slideLayout" Target="../slideLayouts/slideLayout13.xml"/><Relationship Id="rId3" Type="http://schemas.openxmlformats.org/officeDocument/2006/relationships/image" Target="../media/image18.png"/><Relationship Id="rId2" Type="http://schemas.openxmlformats.org/officeDocument/2006/relationships/image" Target="../media/image15.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3.xml"/><Relationship Id="rId3" Type="http://schemas.openxmlformats.org/officeDocument/2006/relationships/image" Target="../media/image19.png"/><Relationship Id="rId2" Type="http://schemas.openxmlformats.org/officeDocument/2006/relationships/image" Target="../media/image15.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5.wmf"/><Relationship Id="rId11" Type="http://schemas.openxmlformats.org/officeDocument/2006/relationships/notesSlide" Target="../notesSlides/notesSlide3.xml"/><Relationship Id="rId10" Type="http://schemas.openxmlformats.org/officeDocument/2006/relationships/vmlDrawing" Target="../drawings/vmlDrawing4.vml"/><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microsoft.com/office/2007/relationships/hdphoto" Target="../media/image14.wdp"/><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5.vml"/><Relationship Id="rId6"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34.png"/><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15.wmf"/><Relationship Id="rId11" Type="http://schemas.openxmlformats.org/officeDocument/2006/relationships/notesSlide" Target="../notesSlides/notesSlide5.xml"/><Relationship Id="rId10" Type="http://schemas.openxmlformats.org/officeDocument/2006/relationships/vmlDrawing" Target="../drawings/vmlDrawing6.vml"/><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6.xml"/><Relationship Id="rId1"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4" Type="http://schemas.openxmlformats.org/officeDocument/2006/relationships/notesSlide" Target="../notesSlides/notesSlide9.xml"/><Relationship Id="rId13" Type="http://schemas.openxmlformats.org/officeDocument/2006/relationships/slideLayout" Target="../slideLayouts/slideLayout18.xml"/><Relationship Id="rId12" Type="http://schemas.openxmlformats.org/officeDocument/2006/relationships/image" Target="../media/image49.png"/><Relationship Id="rId11" Type="http://schemas.openxmlformats.org/officeDocument/2006/relationships/image" Target="../media/image48.png"/><Relationship Id="rId10" Type="http://schemas.openxmlformats.org/officeDocument/2006/relationships/image" Target="../media/image47.png"/><Relationship Id="rId1" Type="http://schemas.openxmlformats.org/officeDocument/2006/relationships/image" Target="../media/image38.png"/></Relationships>
</file>

<file path=ppt/slides/_rels/slide15.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png"/><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1" Type="http://schemas.openxmlformats.org/officeDocument/2006/relationships/notesSlide" Target="../notesSlides/notesSlide10.xml"/><Relationship Id="rId10" Type="http://schemas.openxmlformats.org/officeDocument/2006/relationships/slideLayout" Target="../slideLayouts/slideLayout19.xml"/><Relationship Id="rId1" Type="http://schemas.openxmlformats.org/officeDocument/2006/relationships/image" Target="../media/image50.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image" Target="../media/image66.png"/><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17.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image" Target="../media/image74.png"/><Relationship Id="rId7" Type="http://schemas.openxmlformats.org/officeDocument/2006/relationships/image" Target="../media/image73.png"/><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1" Type="http://schemas.openxmlformats.org/officeDocument/2006/relationships/slideLayout" Target="../slideLayouts/slideLayout21.xml"/><Relationship Id="rId10" Type="http://schemas.openxmlformats.org/officeDocument/2006/relationships/image" Target="../media/image76.png"/><Relationship Id="rId1" Type="http://schemas.openxmlformats.org/officeDocument/2006/relationships/image" Target="../media/image6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77.png"/></Relationships>
</file>

<file path=ppt/slides/_rels/slide19.xml.rels><?xml version="1.0" encoding="UTF-8" standalone="yes"?>
<Relationships xmlns="http://schemas.openxmlformats.org/package/2006/relationships"><Relationship Id="rId9" Type="http://schemas.openxmlformats.org/officeDocument/2006/relationships/image" Target="../media/image86.png"/><Relationship Id="rId8" Type="http://schemas.openxmlformats.org/officeDocument/2006/relationships/image" Target="../media/image85.png"/><Relationship Id="rId7" Type="http://schemas.openxmlformats.org/officeDocument/2006/relationships/image" Target="../media/image84.png"/><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2" Type="http://schemas.openxmlformats.org/officeDocument/2006/relationships/notesSlide" Target="../notesSlides/notesSlide11.xml"/><Relationship Id="rId11" Type="http://schemas.openxmlformats.org/officeDocument/2006/relationships/slideLayout" Target="../slideLayouts/slideLayout22.xml"/><Relationship Id="rId10" Type="http://schemas.openxmlformats.org/officeDocument/2006/relationships/image" Target="../media/image87.png"/><Relationship Id="rId1" Type="http://schemas.openxmlformats.org/officeDocument/2006/relationships/image" Target="../media/image7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microsoft.com/office/2007/relationships/hdphoto" Target="../media/image14.wdp"/><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3.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88.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3.xml"/><Relationship Id="rId5" Type="http://schemas.openxmlformats.org/officeDocument/2006/relationships/image" Target="../media/image98.png"/><Relationship Id="rId4" Type="http://schemas.openxmlformats.org/officeDocument/2006/relationships/image" Target="../media/image97.png"/><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image" Target="../media/image94.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3.xml"/><Relationship Id="rId1" Type="http://schemas.openxmlformats.org/officeDocument/2006/relationships/image" Target="../media/image99.GIF"/></Relationships>
</file>

<file path=ppt/slides/_rels/slide24.xml.rels><?xml version="1.0" encoding="UTF-8" standalone="yes"?>
<Relationships xmlns="http://schemas.openxmlformats.org/package/2006/relationships"><Relationship Id="rId9" Type="http://schemas.openxmlformats.org/officeDocument/2006/relationships/image" Target="../media/image108.png"/><Relationship Id="rId8" Type="http://schemas.openxmlformats.org/officeDocument/2006/relationships/image" Target="../media/image107.png"/><Relationship Id="rId7" Type="http://schemas.openxmlformats.org/officeDocument/2006/relationships/image" Target="../media/image106.png"/><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 Id="rId3" Type="http://schemas.openxmlformats.org/officeDocument/2006/relationships/image" Target="../media/image102.png"/><Relationship Id="rId2" Type="http://schemas.openxmlformats.org/officeDocument/2006/relationships/image" Target="../media/image101.png"/><Relationship Id="rId13" Type="http://schemas.openxmlformats.org/officeDocument/2006/relationships/notesSlide" Target="../notesSlides/notesSlide16.xml"/><Relationship Id="rId12" Type="http://schemas.openxmlformats.org/officeDocument/2006/relationships/slideLayout" Target="../slideLayouts/slideLayout24.xml"/><Relationship Id="rId11" Type="http://schemas.openxmlformats.org/officeDocument/2006/relationships/image" Target="../media/image110.png"/><Relationship Id="rId10" Type="http://schemas.openxmlformats.org/officeDocument/2006/relationships/image" Target="../media/image109.png"/><Relationship Id="rId1" Type="http://schemas.openxmlformats.org/officeDocument/2006/relationships/image" Target="../media/image100.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5.xml"/><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image" Target="../media/image111.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6.xml"/><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image" Target="../media/image114.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27.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 Id="rId3" Type="http://schemas.openxmlformats.org/officeDocument/2006/relationships/image" Target="../media/image118.png"/><Relationship Id="rId2" Type="http://schemas.openxmlformats.org/officeDocument/2006/relationships/image" Target="../media/image113.png"/><Relationship Id="rId1" Type="http://schemas.openxmlformats.org/officeDocument/2006/relationships/image" Target="../media/image117.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image" Target="../media/image121.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12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126.png"/><Relationship Id="rId1" Type="http://schemas.openxmlformats.org/officeDocument/2006/relationships/image" Target="../media/image125.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3.xml"/><Relationship Id="rId2" Type="http://schemas.openxmlformats.org/officeDocument/2006/relationships/image" Target="../media/image128.png"/><Relationship Id="rId1" Type="http://schemas.openxmlformats.org/officeDocument/2006/relationships/image" Target="../media/image127.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microsoft.com/office/2007/relationships/hdphoto" Target="../media/image14.wdp"/><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30.png"/><Relationship Id="rId1" Type="http://schemas.openxmlformats.org/officeDocument/2006/relationships/image" Target="../media/image129.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9.xml"/><Relationship Id="rId5" Type="http://schemas.openxmlformats.org/officeDocument/2006/relationships/image" Target="../media/image135.png"/><Relationship Id="rId4" Type="http://schemas.openxmlformats.org/officeDocument/2006/relationships/image" Target="../media/image134.png"/><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image" Target="../media/image131.pn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9.xml"/><Relationship Id="rId5" Type="http://schemas.openxmlformats.org/officeDocument/2006/relationships/image" Target="../media/image139.png"/><Relationship Id="rId4" Type="http://schemas.openxmlformats.org/officeDocument/2006/relationships/image" Target="../media/image138.png"/><Relationship Id="rId3" Type="http://schemas.openxmlformats.org/officeDocument/2006/relationships/image" Target="../media/image135.png"/><Relationship Id="rId2" Type="http://schemas.openxmlformats.org/officeDocument/2006/relationships/image" Target="../media/image137.png"/><Relationship Id="rId1" Type="http://schemas.openxmlformats.org/officeDocument/2006/relationships/image" Target="../media/image136.png"/></Relationships>
</file>

<file path=ppt/slides/_rels/slide35.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29.xml"/><Relationship Id="rId7" Type="http://schemas.openxmlformats.org/officeDocument/2006/relationships/image" Target="../media/image145.png"/><Relationship Id="rId6" Type="http://schemas.openxmlformats.org/officeDocument/2006/relationships/image" Target="../media/image144.png"/><Relationship Id="rId5" Type="http://schemas.openxmlformats.org/officeDocument/2006/relationships/image" Target="../media/image135.png"/><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image" Target="../media/image140.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microsoft.com/office/2007/relationships/hdphoto" Target="../media/image14.wdp"/><Relationship Id="rId1" Type="http://schemas.openxmlformats.org/officeDocument/2006/relationships/image" Target="../media/image1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31.xml"/><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image" Target="../media/image146.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1.xml"/><Relationship Id="rId1" Type="http://schemas.openxmlformats.org/officeDocument/2006/relationships/image" Target="../media/image149.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32.xml"/><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3.xml"/><Relationship Id="rId1" Type="http://schemas.openxmlformats.org/officeDocument/2006/relationships/image" Target="../media/image154.png"/></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34.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image" Target="../media/image155.png"/></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35.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image" Target="../media/image161.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35.xml"/><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image" Target="../media/image167.png"/></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36.xml"/><Relationship Id="rId4" Type="http://schemas.openxmlformats.org/officeDocument/2006/relationships/image" Target="../media/image173.png"/><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image" Target="../media/image170.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6.xml"/><Relationship Id="rId1" Type="http://schemas.openxmlformats.org/officeDocument/2006/relationships/image" Target="../media/image174.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microsoft.com/office/2007/relationships/hdphoto" Target="../media/image14.wdp"/><Relationship Id="rId1" Type="http://schemas.openxmlformats.org/officeDocument/2006/relationships/image" Target="../media/image13.png"/></Relationships>
</file>

<file path=ppt/slides/_rels/slide48.xml.rels><?xml version="1.0" encoding="UTF-8" standalone="yes"?>
<Relationships xmlns="http://schemas.openxmlformats.org/package/2006/relationships"><Relationship Id="rId9" Type="http://schemas.openxmlformats.org/officeDocument/2006/relationships/image" Target="../media/image183.png"/><Relationship Id="rId8" Type="http://schemas.openxmlformats.org/officeDocument/2006/relationships/image" Target="../media/image182.png"/><Relationship Id="rId7" Type="http://schemas.openxmlformats.org/officeDocument/2006/relationships/image" Target="../media/image181.png"/><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 Id="rId3" Type="http://schemas.openxmlformats.org/officeDocument/2006/relationships/image" Target="../media/image177.png"/><Relationship Id="rId2" Type="http://schemas.openxmlformats.org/officeDocument/2006/relationships/image" Target="../media/image176.png"/><Relationship Id="rId11" Type="http://schemas.openxmlformats.org/officeDocument/2006/relationships/notesSlide" Target="../notesSlides/notesSlide33.xml"/><Relationship Id="rId10" Type="http://schemas.openxmlformats.org/officeDocument/2006/relationships/slideLayout" Target="../slideLayouts/slideLayout13.xml"/><Relationship Id="rId1" Type="http://schemas.openxmlformats.org/officeDocument/2006/relationships/image" Target="../media/image175.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4.png"/></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88.png"/><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image" Target="../media/image185.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9.png"/></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png"/><Relationship Id="rId7" Type="http://schemas.openxmlformats.org/officeDocument/2006/relationships/image" Target="../media/image11.png"/><Relationship Id="rId6" Type="http://schemas.microsoft.com/office/2007/relationships/hdphoto" Target="../media/image10.wdp"/><Relationship Id="rId5" Type="http://schemas.openxmlformats.org/officeDocument/2006/relationships/image" Target="../media/image9.png"/><Relationship Id="rId4" Type="http://schemas.microsoft.com/office/2007/relationships/hdphoto" Target="../media/image8.wdp"/><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l="277" t="-376" r="1097" b="376"/>
          <a:stretch>
            <a:fillRect/>
          </a:stretch>
        </p:blipFill>
        <p:spPr>
          <a:xfrm>
            <a:off x="0" y="-32385"/>
            <a:ext cx="12192000" cy="6890385"/>
          </a:xfrm>
          <a:prstGeom prst="rect">
            <a:avLst/>
          </a:prstGeom>
        </p:spPr>
      </p:pic>
      <p:sp>
        <p:nvSpPr>
          <p:cNvPr id="5" name="矩形 4"/>
          <p:cNvSpPr/>
          <p:nvPr/>
        </p:nvSpPr>
        <p:spPr>
          <a:xfrm>
            <a:off x="535305" y="4114165"/>
            <a:ext cx="11656695" cy="2743835"/>
          </a:xfrm>
          <a:prstGeom prst="rect">
            <a:avLst/>
          </a:prstGeom>
          <a:solidFill>
            <a:srgbClr val="002060"/>
          </a:solidFill>
          <a:ln>
            <a:noFill/>
          </a:ln>
          <a:effectLst>
            <a:innerShdw blurRad="152400" dist="2540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66640" y="1641342"/>
            <a:ext cx="4072461" cy="2260865"/>
          </a:xfrm>
          <a:prstGeom prst="rect">
            <a:avLst/>
          </a:prstGeom>
          <a:effectLst>
            <a:innerShdw blurRad="63500" dist="50800" dir="13500000">
              <a:prstClr val="black">
                <a:alpha val="50000"/>
              </a:prstClr>
            </a:innerShdw>
          </a:effectLst>
        </p:spPr>
      </p:pic>
      <p:pic>
        <p:nvPicPr>
          <p:cNvPr id="7" name="图片 6"/>
          <p:cNvPicPr>
            <a:picLocks noChangeAspect="1"/>
          </p:cNvPicPr>
          <p:nvPr/>
        </p:nvPicPr>
        <p:blipFill rotWithShape="1">
          <a:blip r:embed="rId3" cstate="print">
            <a:extLst>
              <a:ext uri="{BEBA8EAE-BF5A-486C-A8C5-ECC9F3942E4B}">
                <a14:imgProps xmlns:a14="http://schemas.microsoft.com/office/drawing/2010/main">
                  <a14:imgLayer r:embed="rId4">
                    <a14:imgEffect>
                      <a14:artisticPhotocopy trans="30000" detail="2"/>
                    </a14:imgEffect>
                    <a14:imgEffect>
                      <a14:saturation sat="33000"/>
                    </a14:imgEffect>
                  </a14:imgLayer>
                </a14:imgProps>
              </a:ext>
              <a:ext uri="{28A0092B-C50C-407E-A947-70E740481C1C}">
                <a14:useLocalDpi xmlns:a14="http://schemas.microsoft.com/office/drawing/2010/main" val="0"/>
              </a:ext>
            </a:extLst>
          </a:blip>
          <a:srcRect l="2371" t="23333" r="16751"/>
          <a:stretch>
            <a:fillRect/>
          </a:stretch>
        </p:blipFill>
        <p:spPr>
          <a:xfrm>
            <a:off x="7502451" y="-32458"/>
            <a:ext cx="3531454" cy="3347597"/>
          </a:xfrm>
          <a:prstGeom prst="rect">
            <a:avLst/>
          </a:prstGeom>
          <a:ln>
            <a:noFill/>
          </a:ln>
          <a:effectLst/>
        </p:spPr>
      </p:pic>
      <p:pic>
        <p:nvPicPr>
          <p:cNvPr id="8" name="图片 7"/>
          <p:cNvPicPr>
            <a:picLocks noChangeAspect="1"/>
          </p:cNvPicPr>
          <p:nvPr/>
        </p:nvPicPr>
        <p:blipFill>
          <a:blip r:embed="rId5" cstate="print">
            <a:grayscl/>
            <a:extLst>
              <a:ext uri="{BEBA8EAE-BF5A-486C-A8C5-ECC9F3942E4B}">
                <a14:imgProps xmlns:a14="http://schemas.microsoft.com/office/drawing/2010/main">
                  <a14:imgLayer r:embed="rId6">
                    <a14:imgEffect>
                      <a14:artisticChalkSketch/>
                    </a14:imgEffect>
                  </a14:imgLayer>
                </a14:imgProps>
              </a:ext>
              <a:ext uri="{28A0092B-C50C-407E-A947-70E740481C1C}">
                <a14:useLocalDpi xmlns:a14="http://schemas.microsoft.com/office/drawing/2010/main" val="0"/>
              </a:ext>
            </a:extLst>
          </a:blip>
          <a:stretch>
            <a:fillRect/>
          </a:stretch>
        </p:blipFill>
        <p:spPr>
          <a:xfrm>
            <a:off x="9116313" y="627102"/>
            <a:ext cx="931677" cy="933189"/>
          </a:xfrm>
          <a:prstGeom prst="rect">
            <a:avLst/>
          </a:prstGeom>
          <a:effectLst>
            <a:innerShdw blurRad="114300">
              <a:prstClr val="black"/>
            </a:innerShdw>
          </a:effectLst>
        </p:spPr>
      </p:pic>
      <p:pic>
        <p:nvPicPr>
          <p:cNvPr id="9" name="图片 8"/>
          <p:cNvPicPr>
            <a:picLocks noChangeAspect="1"/>
          </p:cNvPicPr>
          <p:nvPr/>
        </p:nvPicPr>
        <p:blipFill rotWithShape="1">
          <a:blip r:embed="rId7" cstate="print">
            <a:extLst>
              <a:ext uri="{28A0092B-C50C-407E-A947-70E740481C1C}">
                <a14:useLocalDpi xmlns:a14="http://schemas.microsoft.com/office/drawing/2010/main" val="0"/>
              </a:ext>
            </a:extLst>
          </a:blip>
          <a:srcRect t="11218" r="55688" b="42178"/>
          <a:stretch>
            <a:fillRect/>
          </a:stretch>
        </p:blipFill>
        <p:spPr>
          <a:xfrm flipH="1">
            <a:off x="2144011" y="535715"/>
            <a:ext cx="1118396" cy="1422400"/>
          </a:xfrm>
          <a:prstGeom prst="rect">
            <a:avLst/>
          </a:prstGeom>
        </p:spPr>
      </p:pic>
      <p:pic>
        <p:nvPicPr>
          <p:cNvPr id="10" name="图片 9"/>
          <p:cNvPicPr>
            <a:picLocks noChangeAspect="1"/>
          </p:cNvPicPr>
          <p:nvPr/>
        </p:nvPicPr>
        <p:blipFill rotWithShape="1">
          <a:blip r:embed="rId8" cstate="print">
            <a:extLst>
              <a:ext uri="{28A0092B-C50C-407E-A947-70E740481C1C}">
                <a14:useLocalDpi xmlns:a14="http://schemas.microsoft.com/office/drawing/2010/main" val="0"/>
              </a:ext>
            </a:extLst>
          </a:blip>
          <a:srcRect l="15236" t="40799" r="31019" b="39942"/>
          <a:stretch>
            <a:fillRect/>
          </a:stretch>
        </p:blipFill>
        <p:spPr>
          <a:xfrm>
            <a:off x="7502451" y="1425949"/>
            <a:ext cx="3048000" cy="1320800"/>
          </a:xfrm>
          <a:prstGeom prst="rect">
            <a:avLst/>
          </a:prstGeom>
        </p:spPr>
      </p:pic>
      <p:sp>
        <p:nvSpPr>
          <p:cNvPr id="12" name="Shape 45"/>
          <p:cNvSpPr/>
          <p:nvPr/>
        </p:nvSpPr>
        <p:spPr>
          <a:xfrm>
            <a:off x="3020811" y="4502741"/>
            <a:ext cx="6481408" cy="584775"/>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ct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第十章 降维与度量学习</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3" name="组合 45"/>
          <p:cNvGrpSpPr/>
          <p:nvPr/>
        </p:nvGrpSpPr>
        <p:grpSpPr>
          <a:xfrm>
            <a:off x="1603899" y="5279073"/>
            <a:ext cx="8946552" cy="1014730"/>
            <a:chOff x="2002264" y="3258103"/>
            <a:chExt cx="8187473" cy="1014727"/>
          </a:xfrm>
        </p:grpSpPr>
        <p:sp>
          <p:nvSpPr>
            <p:cNvPr id="14" name="矩形 17"/>
            <p:cNvSpPr>
              <a:spLocks noChangeArrowheads="1"/>
            </p:cNvSpPr>
            <p:nvPr/>
          </p:nvSpPr>
          <p:spPr bwMode="auto">
            <a:xfrm>
              <a:off x="3866722" y="3258103"/>
              <a:ext cx="4395931" cy="101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吉林大学人工智能学院</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a:p>
              <a:pPr algn="ctr">
                <a:lnSpc>
                  <a:spcPct val="150000"/>
                </a:lnSpc>
              </a:pPr>
              <a:r>
                <a:rPr lang="zh-CN" altLang="en-US" sz="2000" b="1">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王 鑫</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p:txBody>
        </p:sp>
        <p:cxnSp>
          <p:nvCxnSpPr>
            <p:cNvPr id="15"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6"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858000" y="6365877"/>
            <a:ext cx="20574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bg1"/>
                </a:solidFill>
                <a:effectLst>
                  <a:outerShdw blurRad="38100" dist="38100" dir="2700000" algn="tl">
                    <a:srgbClr val="000000">
                      <a:alpha val="43137"/>
                    </a:srgbClr>
                  </a:outerShdw>
                </a:effectLst>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BF8A4D-A580-4534-BC4C-3530DF035441}" type="slidenum">
              <a:rPr lang="zh-CN" altLang="en-US" smtClean="0"/>
            </a:fld>
            <a:endParaRPr lang="zh-CN" altLang="en-US" dirty="0"/>
          </a:p>
        </p:txBody>
      </p:sp>
      <p:sp>
        <p:nvSpPr>
          <p:cNvPr id="4" name="矩形 3"/>
          <p:cNvSpPr/>
          <p:nvPr/>
        </p:nvSpPr>
        <p:spPr>
          <a:xfrm>
            <a:off x="1524002" y="824918"/>
            <a:ext cx="9143999"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1524002" y="852984"/>
            <a:ext cx="4202425" cy="5147766"/>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6" name="任意多边形 4"/>
          <p:cNvSpPr/>
          <p:nvPr/>
        </p:nvSpPr>
        <p:spPr>
          <a:xfrm flipH="1">
            <a:off x="2244460" y="2825855"/>
            <a:ext cx="3006821" cy="124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002060"/>
          </a:solidFill>
          <a:ln>
            <a:noFill/>
          </a:ln>
          <a:effectLst>
            <a:innerShdw blurRad="63500" dist="177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grpSp>
        <p:nvGrpSpPr>
          <p:cNvPr id="7" name="组合 6"/>
          <p:cNvGrpSpPr/>
          <p:nvPr/>
        </p:nvGrpSpPr>
        <p:grpSpPr>
          <a:xfrm>
            <a:off x="4837638" y="2081920"/>
            <a:ext cx="413643" cy="3071796"/>
            <a:chOff x="7636995" y="1679426"/>
            <a:chExt cx="421216" cy="4092334"/>
          </a:xfrm>
          <a:effectLst>
            <a:outerShdw blurRad="228600" dist="101600" dir="10800000" algn="r" rotWithShape="0">
              <a:prstClr val="black">
                <a:alpha val="40000"/>
              </a:prstClr>
            </a:outerShdw>
          </a:effectLst>
        </p:grpSpPr>
        <p:pic>
          <p:nvPicPr>
            <p:cNvPr id="8" name="图片 7"/>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9" name="图片 8"/>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10" name="文本框 32"/>
          <p:cNvSpPr txBox="1"/>
          <p:nvPr/>
        </p:nvSpPr>
        <p:spPr>
          <a:xfrm>
            <a:off x="2559218" y="3602077"/>
            <a:ext cx="267586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defRPr/>
            </a:pPr>
            <a:r>
              <a:rPr lang="en-US" altLang="zh-CN" sz="2400" b="1" dirty="0">
                <a:solidFill>
                  <a:prstClr val="white"/>
                </a:solidFill>
                <a:latin typeface="方正兰亭粗黑简体" panose="02000000000000000000" pitchFamily="2" charset="-122"/>
                <a:ea typeface="方正兰亭粗黑简体" panose="02000000000000000000" pitchFamily="2" charset="-122"/>
              </a:rPr>
              <a:t>CONTENTS</a:t>
            </a:r>
            <a:endParaRPr lang="zh-CN" altLang="en-US" sz="2400" b="1" dirty="0">
              <a:solidFill>
                <a:prstClr val="white"/>
              </a:solidFill>
              <a:latin typeface="方正兰亭粗黑简体" panose="02000000000000000000" pitchFamily="2" charset="-122"/>
              <a:ea typeface="方正兰亭粗黑简体" panose="02000000000000000000" pitchFamily="2" charset="-122"/>
            </a:endParaRPr>
          </a:p>
        </p:txBody>
      </p:sp>
      <p:sp>
        <p:nvSpPr>
          <p:cNvPr id="11" name="文本框 10"/>
          <p:cNvSpPr txBox="1"/>
          <p:nvPr/>
        </p:nvSpPr>
        <p:spPr>
          <a:xfrm>
            <a:off x="2956664" y="2862348"/>
            <a:ext cx="1913366" cy="784830"/>
          </a:xfrm>
          <a:prstGeom prst="rect">
            <a:avLst/>
          </a:prstGeom>
          <a:noFill/>
        </p:spPr>
        <p:txBody>
          <a:bodyPr wrap="square" rtlCol="0">
            <a:spAutoFit/>
          </a:bodyPr>
          <a:lstStyle/>
          <a:p>
            <a:pPr algn="ctr"/>
            <a:r>
              <a:rPr lang="zh-CN" altLang="en-US" sz="4500" b="1" dirty="0">
                <a:solidFill>
                  <a:prstClr val="white"/>
                </a:solidFill>
                <a:latin typeface="方正粗黑宋简体" panose="02000000000000000000" pitchFamily="2" charset="-122"/>
                <a:ea typeface="方正粗黑宋简体" panose="02000000000000000000" pitchFamily="2" charset="-122"/>
              </a:rPr>
              <a:t>目  录</a:t>
            </a:r>
            <a:endParaRPr lang="zh-CN" altLang="en-US" sz="4500" b="1" dirty="0">
              <a:solidFill>
                <a:prstClr val="white"/>
              </a:solidFill>
              <a:latin typeface="方正粗黑宋简体" panose="02000000000000000000" pitchFamily="2" charset="-122"/>
              <a:ea typeface="方正粗黑宋简体" panose="02000000000000000000" pitchFamily="2" charset="-122"/>
            </a:endParaRPr>
          </a:p>
        </p:txBody>
      </p:sp>
      <p:grpSp>
        <p:nvGrpSpPr>
          <p:cNvPr id="14" name="组合 13"/>
          <p:cNvGrpSpPr/>
          <p:nvPr/>
        </p:nvGrpSpPr>
        <p:grpSpPr>
          <a:xfrm>
            <a:off x="5926167" y="1281624"/>
            <a:ext cx="4436678" cy="3007572"/>
            <a:chOff x="6133922" y="2054966"/>
            <a:chExt cx="5915570" cy="3907225"/>
          </a:xfrm>
        </p:grpSpPr>
        <p:grpSp>
          <p:nvGrpSpPr>
            <p:cNvPr id="15" name="组合 14"/>
            <p:cNvGrpSpPr/>
            <p:nvPr/>
          </p:nvGrpSpPr>
          <p:grpSpPr>
            <a:xfrm>
              <a:off x="6133922" y="2054966"/>
              <a:ext cx="5915570" cy="2844800"/>
              <a:chOff x="6552841" y="2547816"/>
              <a:chExt cx="5915570" cy="2844800"/>
            </a:xfrm>
          </p:grpSpPr>
          <p:grpSp>
            <p:nvGrpSpPr>
              <p:cNvPr id="18" name="组合 17"/>
              <p:cNvGrpSpPr/>
              <p:nvPr/>
            </p:nvGrpSpPr>
            <p:grpSpPr>
              <a:xfrm>
                <a:off x="6552841" y="2547816"/>
                <a:ext cx="5915570" cy="771736"/>
                <a:chOff x="6447320" y="2108200"/>
                <a:chExt cx="5915570" cy="771736"/>
              </a:xfrm>
            </p:grpSpPr>
            <p:sp>
              <p:nvSpPr>
                <p:cNvPr id="25" name="文本框 47"/>
                <p:cNvSpPr txBox="1"/>
                <p:nvPr/>
              </p:nvSpPr>
              <p:spPr>
                <a:xfrm>
                  <a:off x="7466717" y="2260887"/>
                  <a:ext cx="4896173"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K</a:t>
                  </a:r>
                  <a:r>
                    <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近邻学习</a:t>
                  </a:r>
                  <a:endParaRPr lang="en-US" altLang="zh-CN"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endParaRPr>
                </a:p>
              </p:txBody>
            </p:sp>
            <p:sp>
              <p:nvSpPr>
                <p:cNvPr id="26" name="椭圆 25"/>
                <p:cNvSpPr/>
                <p:nvPr/>
              </p:nvSpPr>
              <p:spPr>
                <a:xfrm>
                  <a:off x="6447320" y="2108200"/>
                  <a:ext cx="771736" cy="771736"/>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1</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nvGrpSpPr>
              <p:cNvPr id="19" name="组合 18"/>
              <p:cNvGrpSpPr/>
              <p:nvPr/>
            </p:nvGrpSpPr>
            <p:grpSpPr>
              <a:xfrm>
                <a:off x="6552841" y="3604880"/>
                <a:ext cx="5885717" cy="771736"/>
                <a:chOff x="6447320" y="3165264"/>
                <a:chExt cx="5885717" cy="771736"/>
              </a:xfrm>
            </p:grpSpPr>
            <p:sp>
              <p:nvSpPr>
                <p:cNvPr id="23" name="文本框 48"/>
                <p:cNvSpPr txBox="1"/>
                <p:nvPr/>
              </p:nvSpPr>
              <p:spPr>
                <a:xfrm>
                  <a:off x="7436864" y="3297548"/>
                  <a:ext cx="4896173"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低</a:t>
                  </a:r>
                  <a:r>
                    <a:rPr lang="zh-CN" altLang="en-US" sz="2100" b="1" dirty="0">
                      <a:solidFill>
                        <a:srgbClr val="4472C4"/>
                      </a:solidFill>
                      <a:effectLst>
                        <a:innerShdw blurRad="63500" dist="50800" dir="13500000">
                          <a:prstClr val="black">
                            <a:alpha val="50000"/>
                          </a:prstClr>
                        </a:innerShdw>
                      </a:effectLst>
                      <a:ea typeface="方正兰亭特黑简体" panose="02000000000000000000" pitchFamily="2" charset="-122"/>
                    </a:rPr>
                    <a:t>维嵌入</a:t>
                  </a:r>
                  <a:endParaRPr lang="zh-CN" altLang="en-US" sz="2100" b="1" dirty="0">
                    <a:solidFill>
                      <a:srgbClr val="4472C4"/>
                    </a:solidFill>
                    <a:effectLst>
                      <a:innerShdw blurRad="63500" dist="50800" dir="13500000">
                        <a:prstClr val="black">
                          <a:alpha val="50000"/>
                        </a:prstClr>
                      </a:innerShdw>
                    </a:effectLst>
                    <a:ea typeface="方正兰亭特黑简体" panose="02000000000000000000" pitchFamily="2" charset="-122"/>
                  </a:endParaRPr>
                </a:p>
              </p:txBody>
            </p:sp>
            <p:sp>
              <p:nvSpPr>
                <p:cNvPr id="24" name="椭圆 23"/>
                <p:cNvSpPr/>
                <p:nvPr/>
              </p:nvSpPr>
              <p:spPr>
                <a:xfrm>
                  <a:off x="6447320" y="3165264"/>
                  <a:ext cx="771736" cy="771736"/>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2</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nvGrpSpPr>
              <p:cNvPr id="20" name="组合 19"/>
              <p:cNvGrpSpPr/>
              <p:nvPr/>
            </p:nvGrpSpPr>
            <p:grpSpPr>
              <a:xfrm>
                <a:off x="6552841" y="4620880"/>
                <a:ext cx="5915570" cy="771736"/>
                <a:chOff x="6447320" y="4181264"/>
                <a:chExt cx="5915570" cy="771736"/>
              </a:xfrm>
            </p:grpSpPr>
            <p:sp>
              <p:nvSpPr>
                <p:cNvPr id="21" name="文本框 49"/>
                <p:cNvSpPr txBox="1"/>
                <p:nvPr/>
              </p:nvSpPr>
              <p:spPr>
                <a:xfrm>
                  <a:off x="7466716" y="4301919"/>
                  <a:ext cx="4896174"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主成分分析</a:t>
                  </a:r>
                  <a:endPar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endParaRPr>
                </a:p>
              </p:txBody>
            </p:sp>
            <p:sp>
              <p:nvSpPr>
                <p:cNvPr id="22" name="椭圆 21"/>
                <p:cNvSpPr/>
                <p:nvPr/>
              </p:nvSpPr>
              <p:spPr>
                <a:xfrm>
                  <a:off x="6447320" y="4181264"/>
                  <a:ext cx="771736" cy="771736"/>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3</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sp>
          <p:nvSpPr>
            <p:cNvPr id="16" name="文本框 48"/>
            <p:cNvSpPr txBox="1"/>
            <p:nvPr/>
          </p:nvSpPr>
          <p:spPr>
            <a:xfrm>
              <a:off x="7153318" y="5299323"/>
              <a:ext cx="4896173"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核化线性降维</a:t>
              </a:r>
              <a:endParaRPr lang="zh-CN" altLang="en-US" sz="21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endParaRPr>
            </a:p>
          </p:txBody>
        </p:sp>
        <p:sp>
          <p:nvSpPr>
            <p:cNvPr id="17" name="椭圆 16"/>
            <p:cNvSpPr/>
            <p:nvPr/>
          </p:nvSpPr>
          <p:spPr>
            <a:xfrm>
              <a:off x="6133922" y="5190455"/>
              <a:ext cx="771736" cy="771736"/>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4</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sp>
        <p:nvSpPr>
          <p:cNvPr id="27" name="椭圆 26"/>
          <p:cNvSpPr/>
          <p:nvPr/>
        </p:nvSpPr>
        <p:spPr>
          <a:xfrm>
            <a:off x="5926167" y="4461557"/>
            <a:ext cx="578802" cy="578802"/>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5</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sp>
        <p:nvSpPr>
          <p:cNvPr id="28" name="文本框 49"/>
          <p:cNvSpPr txBox="1"/>
          <p:nvPr/>
        </p:nvSpPr>
        <p:spPr>
          <a:xfrm>
            <a:off x="6668325" y="4541308"/>
            <a:ext cx="3672131" cy="41549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流形学习</a:t>
            </a:r>
            <a:endPar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endParaRPr>
          </a:p>
        </p:txBody>
      </p:sp>
      <p:sp>
        <p:nvSpPr>
          <p:cNvPr id="30" name="椭圆 29"/>
          <p:cNvSpPr/>
          <p:nvPr/>
        </p:nvSpPr>
        <p:spPr>
          <a:xfrm>
            <a:off x="5926167" y="5201102"/>
            <a:ext cx="578802" cy="594041"/>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6</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sp>
        <p:nvSpPr>
          <p:cNvPr id="31" name="文本框 49"/>
          <p:cNvSpPr txBox="1"/>
          <p:nvPr/>
        </p:nvSpPr>
        <p:spPr>
          <a:xfrm>
            <a:off x="6668325" y="5314419"/>
            <a:ext cx="4890260" cy="415498"/>
          </a:xfrm>
          <a:prstGeom prst="rect">
            <a:avLst/>
          </a:prstGeom>
          <a:noFill/>
        </p:spPr>
        <p:txBody>
          <a:bodyPr wrap="square" rtlCol="0">
            <a:spAutoFit/>
          </a:bodyPr>
          <a:lstStyle>
            <a:defPPr>
              <a:defRPr lang="zh-CN"/>
            </a:defPPr>
            <a:lvl1pPr>
              <a:defRPr sz="2100"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4472C4"/>
                </a:solidFill>
              </a:rPr>
              <a:t>度量学习</a:t>
            </a:r>
            <a:endParaRPr lang="zh-CN" altLang="en-US" sz="21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845651"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500" b="1" dirty="0">
                <a:solidFill>
                  <a:prstClr val="white"/>
                </a:solidFill>
                <a:effectLst>
                  <a:outerShdw blurRad="38100" dist="38100" dir="2700000" algn="tl">
                    <a:srgbClr val="000000">
                      <a:alpha val="43137"/>
                    </a:srgbClr>
                  </a:outerShdw>
                </a:effectLst>
              </a:rPr>
              <a:t>K</a:t>
            </a:r>
            <a:r>
              <a:rPr lang="zh-CN" altLang="en-US" sz="4500" b="1" dirty="0">
                <a:solidFill>
                  <a:prstClr val="white"/>
                </a:solidFill>
                <a:effectLst>
                  <a:outerShdw blurRad="38100" dist="38100" dir="2700000" algn="tl">
                    <a:srgbClr val="000000">
                      <a:alpha val="43137"/>
                    </a:srgbClr>
                  </a:outerShdw>
                </a:effectLst>
              </a:rPr>
              <a:t>近邻学习</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en-US" altLang="zh-CN" dirty="0"/>
              <a:t>K</a:t>
            </a:r>
            <a:r>
              <a:rPr lang="zh-CN" altLang="en-US" dirty="0"/>
              <a:t>近邻学习</a:t>
            </a:r>
            <a:endParaRPr lang="zh-CN" altLang="en-US" dirty="0"/>
          </a:p>
        </p:txBody>
      </p:sp>
      <p:sp>
        <p:nvSpPr>
          <p:cNvPr id="6" name="文本框 68"/>
          <p:cNvSpPr txBox="1"/>
          <p:nvPr/>
        </p:nvSpPr>
        <p:spPr>
          <a:xfrm>
            <a:off x="708918" y="722048"/>
            <a:ext cx="10541284" cy="4276876"/>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 </a:t>
            </a:r>
            <a:r>
              <a:rPr lang="zh-CN" altLang="en-US" dirty="0">
                <a:latin typeface="微软雅黑" panose="020B0503020204020204" pitchFamily="34" charset="-122"/>
                <a:ea typeface="微软雅黑" panose="020B0503020204020204" pitchFamily="34" charset="-122"/>
              </a:rPr>
              <a:t>近邻</a:t>
            </a:r>
            <a:r>
              <a:rPr lang="en-US" altLang="zh-CN" dirty="0">
                <a:latin typeface="微软雅黑" panose="020B0503020204020204" pitchFamily="34" charset="-122"/>
                <a:ea typeface="微软雅黑" panose="020B0503020204020204" pitchFamily="34" charset="-122"/>
              </a:rPr>
              <a:t> (k-Nearest Neighbor</a:t>
            </a:r>
            <a:r>
              <a:rPr lang="zh-CN" altLang="en-US" dirty="0">
                <a:latin typeface="微软雅黑" panose="020B0503020204020204" pitchFamily="34" charset="-122"/>
                <a:ea typeface="微软雅黑" panose="020B0503020204020204" pitchFamily="34" charset="-122"/>
              </a:rPr>
              <a:t>，简称</a:t>
            </a:r>
            <a:r>
              <a:rPr lang="en-US" altLang="zh-CN" dirty="0" err="1">
                <a:latin typeface="微软雅黑" panose="020B0503020204020204" pitchFamily="34" charset="-122"/>
                <a:ea typeface="微软雅黑" panose="020B0503020204020204" pitchFamily="34" charset="-122"/>
              </a:rPr>
              <a:t>kNN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学习是一种常用的监督学习方法。</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工作机制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给定测试样本，基于某种距离度量找出训练集中与其最靠近的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个训练样本，然后根据这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邻居</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的信息来进行预测。</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常用的距离度量：</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分类任务：可使用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投票法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，即选择这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个样本中出现最多的类别标记作为预测结果</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回归任务：可使用“平均法”，即将这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个样本的实值输出标记的平均值作为预测结果</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高级版本：加权法，即基于距离的远近进行加权投票或加权平均，距离越近样本的权重越大</a:t>
            </a: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209800"/>
          <a:ext cx="914400" cy="198438"/>
        </p:xfrm>
        <a:graphic>
          <a:graphicData uri="http://schemas.openxmlformats.org/presentationml/2006/ole">
            <mc:AlternateContent xmlns:mc="http://schemas.openxmlformats.org/markup-compatibility/2006">
              <mc:Choice xmlns:v="urn:schemas-microsoft-com:vml" Requires="v">
                <p:oleObj spid="_x0000_s4" name="Equation" r:id="rId1" imgW="2743200" imgH="4267200" progId="Equation.DSMT4">
                  <p:embed/>
                </p:oleObj>
              </mc:Choice>
              <mc:Fallback>
                <p:oleObj name="Equation" r:id="rId1" imgW="2743200" imgH="4267200" progId="Equation.DSMT4">
                  <p:embed/>
                  <p:pic>
                    <p:nvPicPr>
                      <p:cNvPr id="0" name="对象 6"/>
                      <p:cNvPicPr/>
                      <p:nvPr/>
                    </p:nvPicPr>
                    <p:blipFill>
                      <a:blip r:embed="rId2"/>
                      <a:stretch>
                        <a:fillRect/>
                      </a:stretch>
                    </p:blipFill>
                    <p:spPr>
                      <a:xfrm>
                        <a:off x="5638800" y="2209800"/>
                        <a:ext cx="914400" cy="198438"/>
                      </a:xfrm>
                      <a:prstGeom prst="rect">
                        <a:avLst/>
                      </a:prstGeom>
                    </p:spPr>
                  </p:pic>
                </p:oleObj>
              </mc:Fallback>
            </mc:AlternateContent>
          </a:graphicData>
        </a:graphic>
      </p:graphicFrame>
      <p:pic>
        <p:nvPicPr>
          <p:cNvPr id="5" name="图片 4"/>
          <p:cNvPicPr>
            <a:picLocks noChangeAspect="1"/>
          </p:cNvPicPr>
          <p:nvPr/>
        </p:nvPicPr>
        <p:blipFill>
          <a:blip r:embed="rId3"/>
          <a:stretch>
            <a:fillRect/>
          </a:stretch>
        </p:blipFill>
        <p:spPr>
          <a:xfrm>
            <a:off x="1358291" y="4016902"/>
            <a:ext cx="5639656" cy="2531538"/>
          </a:xfrm>
          <a:prstGeom prst="rect">
            <a:avLst/>
          </a:prstGeom>
        </p:spPr>
      </p:pic>
      <p:pic>
        <p:nvPicPr>
          <p:cNvPr id="8" name="图片 7"/>
          <p:cNvPicPr>
            <a:picLocks noChangeAspect="1"/>
          </p:cNvPicPr>
          <p:nvPr/>
        </p:nvPicPr>
        <p:blipFill>
          <a:blip r:embed="rId4"/>
          <a:stretch>
            <a:fillRect/>
          </a:stretch>
        </p:blipFill>
        <p:spPr>
          <a:xfrm>
            <a:off x="7155604" y="4063705"/>
            <a:ext cx="3236716" cy="24656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en-US" altLang="zh-CN" dirty="0"/>
              <a:t>K</a:t>
            </a:r>
            <a:r>
              <a:rPr lang="zh-CN" altLang="en-US" dirty="0"/>
              <a:t>近邻学习</a:t>
            </a:r>
            <a:endParaRPr lang="zh-CN" altLang="en-US" dirty="0"/>
          </a:p>
        </p:txBody>
      </p:sp>
      <p:sp>
        <p:nvSpPr>
          <p:cNvPr id="6" name="文本框 68"/>
          <p:cNvSpPr txBox="1"/>
          <p:nvPr/>
        </p:nvSpPr>
        <p:spPr>
          <a:xfrm>
            <a:off x="708917" y="907243"/>
            <a:ext cx="10541284" cy="3578224"/>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 </a:t>
            </a:r>
            <a:r>
              <a:rPr lang="zh-CN" altLang="en-US" dirty="0">
                <a:latin typeface="微软雅黑" panose="020B0503020204020204" pitchFamily="34" charset="-122"/>
                <a:ea typeface="微软雅黑" panose="020B0503020204020204" pitchFamily="34" charset="-122"/>
              </a:rPr>
              <a:t>近邻算法特点：没有训练过程</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“懒惰学习”（</a:t>
            </a:r>
            <a:r>
              <a:rPr lang="en-US" altLang="zh-CN" dirty="0">
                <a:latin typeface="微软雅黑" panose="020B0503020204020204" pitchFamily="34" charset="-122"/>
                <a:ea typeface="微软雅黑" panose="020B0503020204020204" pitchFamily="34" charset="-122"/>
              </a:rPr>
              <a:t>lazy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learning</a:t>
            </a:r>
            <a:r>
              <a:rPr lang="zh-CN" altLang="en-US" dirty="0">
                <a:latin typeface="微软雅黑" panose="020B0503020204020204" pitchFamily="34" charset="-122"/>
                <a:ea typeface="微软雅黑" panose="020B0503020204020204" pitchFamily="34" charset="-122"/>
              </a:rPr>
              <a:t>）：训练阶段不做任何学习，训练时间开销为零，待遇到测试样本后再进行处理；</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“急切学习”（</a:t>
            </a:r>
            <a:r>
              <a:rPr lang="en-US" altLang="zh-CN" dirty="0">
                <a:latin typeface="微软雅黑" panose="020B0503020204020204" pitchFamily="34" charset="-122"/>
                <a:ea typeface="微软雅黑" panose="020B0503020204020204" pitchFamily="34" charset="-122"/>
              </a:rPr>
              <a:t>eager</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learning</a:t>
            </a:r>
            <a:r>
              <a:rPr lang="zh-CN" altLang="en-US" dirty="0">
                <a:latin typeface="微软雅黑" panose="020B0503020204020204" pitchFamily="34" charset="-122"/>
                <a:ea typeface="微软雅黑" panose="020B0503020204020204" pitchFamily="34" charset="-122"/>
              </a:rPr>
              <a:t>）：传统方法，即在训练阶段就对样本进行学习处理。</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近邻算法，</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参数重要，当不同取值，分类结果会显著不同；同样，计算距离方式不同，分类结果可能也显著差别，这说明</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近邻算法不具有“鲁棒性”</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209800"/>
          <a:ext cx="914400" cy="198438"/>
        </p:xfrm>
        <a:graphic>
          <a:graphicData uri="http://schemas.openxmlformats.org/presentationml/2006/ole">
            <mc:AlternateContent xmlns:mc="http://schemas.openxmlformats.org/markup-compatibility/2006">
              <mc:Choice xmlns:v="urn:schemas-microsoft-com:vml" Requires="v">
                <p:oleObj spid="_x0000_s4" name="Equation" r:id="rId1" imgW="2743200" imgH="4267200" progId="Equation.DSMT4">
                  <p:embed/>
                </p:oleObj>
              </mc:Choice>
              <mc:Fallback>
                <p:oleObj name="Equation" r:id="rId1" imgW="2743200" imgH="4267200" progId="Equation.DSMT4">
                  <p:embed/>
                  <p:pic>
                    <p:nvPicPr>
                      <p:cNvPr id="0" name="对象 6"/>
                      <p:cNvPicPr/>
                      <p:nvPr/>
                    </p:nvPicPr>
                    <p:blipFill>
                      <a:blip r:embed="rId2"/>
                      <a:stretch>
                        <a:fillRect/>
                      </a:stretch>
                    </p:blipFill>
                    <p:spPr>
                      <a:xfrm>
                        <a:off x="5638800" y="2209800"/>
                        <a:ext cx="914400" cy="198438"/>
                      </a:xfrm>
                      <a:prstGeom prst="rect">
                        <a:avLst/>
                      </a:prstGeom>
                    </p:spPr>
                  </p:pic>
                </p:oleObj>
              </mc:Fallback>
            </mc:AlternateContent>
          </a:graphicData>
        </a:graphic>
      </p:graphicFrame>
      <p:pic>
        <p:nvPicPr>
          <p:cNvPr id="5" name="图片 4"/>
          <p:cNvPicPr>
            <a:picLocks noChangeAspect="1"/>
          </p:cNvPicPr>
          <p:nvPr/>
        </p:nvPicPr>
        <p:blipFill>
          <a:blip r:embed="rId3"/>
          <a:stretch>
            <a:fillRect/>
          </a:stretch>
        </p:blipFill>
        <p:spPr>
          <a:xfrm>
            <a:off x="3048001" y="3733614"/>
            <a:ext cx="5904915" cy="28922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en-US" altLang="zh-CN" dirty="0"/>
              <a:t>K</a:t>
            </a:r>
            <a:r>
              <a:rPr lang="zh-CN" altLang="en-US" dirty="0"/>
              <a:t>近邻学习</a:t>
            </a:r>
            <a:endParaRPr lang="zh-CN" altLang="en-US" dirty="0"/>
          </a:p>
        </p:txBody>
      </p:sp>
      <p:sp>
        <p:nvSpPr>
          <p:cNvPr id="6" name="文本框 68"/>
          <p:cNvSpPr txBox="1"/>
          <p:nvPr/>
        </p:nvSpPr>
        <p:spPr>
          <a:xfrm>
            <a:off x="708918" y="722048"/>
            <a:ext cx="10541284" cy="3685945"/>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 </a:t>
            </a:r>
            <a:r>
              <a:rPr lang="zh-CN" altLang="en-US" dirty="0">
                <a:latin typeface="微软雅黑" panose="020B0503020204020204" pitchFamily="34" charset="-122"/>
                <a:ea typeface="微软雅黑" panose="020B0503020204020204" pitchFamily="34" charset="-122"/>
              </a:rPr>
              <a:t>近邻算法重要三个提示</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特征归一化：样本的属性特征并</a:t>
            </a:r>
            <a:r>
              <a:rPr lang="zh-CN" altLang="en-US">
                <a:latin typeface="微软雅黑" panose="020B0503020204020204" pitchFamily="34" charset="-122"/>
                <a:ea typeface="微软雅黑" panose="020B0503020204020204" pitchFamily="34" charset="-122"/>
              </a:rPr>
              <a:t>不是同等重要</a:t>
            </a:r>
            <a:r>
              <a:rPr lang="zh-CN" altLang="en-US" dirty="0">
                <a:latin typeface="微软雅黑" panose="020B0503020204020204" pitchFamily="34" charset="-122"/>
                <a:ea typeface="微软雅黑" panose="020B0503020204020204" pitchFamily="34" charset="-122"/>
              </a:rPr>
              <a:t>的，最终可能会导致距离计算错误，从而导致预测错误；比如身高和年龄</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距离计算：度量空间中点距离的话，有好几种度量方式，比如常见的曼哈顿距离计算，欧式距离计算等。</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值选择：通过交叉验证，从选取一个较小的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值开始，不断增加</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的值，然后计算验证集合的方差，最终找到一个比较合适的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值。</a:t>
            </a: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209800"/>
          <a:ext cx="914400" cy="198438"/>
        </p:xfrm>
        <a:graphic>
          <a:graphicData uri="http://schemas.openxmlformats.org/presentationml/2006/ole">
            <mc:AlternateContent xmlns:mc="http://schemas.openxmlformats.org/markup-compatibility/2006">
              <mc:Choice xmlns:v="urn:schemas-microsoft-com:vml" Requires="v">
                <p:oleObj spid="_x0000_s4" name="Equation" r:id="rId1" imgW="2743200" imgH="4267200" progId="Equation.DSMT4">
                  <p:embed/>
                </p:oleObj>
              </mc:Choice>
              <mc:Fallback>
                <p:oleObj name="Equation" r:id="rId1" imgW="2743200" imgH="4267200" progId="Equation.DSMT4">
                  <p:embed/>
                  <p:pic>
                    <p:nvPicPr>
                      <p:cNvPr id="0" name="对象 6"/>
                      <p:cNvPicPr/>
                      <p:nvPr/>
                    </p:nvPicPr>
                    <p:blipFill>
                      <a:blip r:embed="rId2"/>
                      <a:stretch>
                        <a:fillRect/>
                      </a:stretch>
                    </p:blipFill>
                    <p:spPr>
                      <a:xfrm>
                        <a:off x="5638800" y="2209800"/>
                        <a:ext cx="914400" cy="198438"/>
                      </a:xfrm>
                      <a:prstGeom prst="rect">
                        <a:avLst/>
                      </a:prstGeom>
                    </p:spPr>
                  </p:pic>
                </p:oleObj>
              </mc:Fallback>
            </mc:AlternateContent>
          </a:graphicData>
        </a:graphic>
      </p:graphicFrame>
      <p:pic>
        <p:nvPicPr>
          <p:cNvPr id="5122" name="Picture 2" descr="K值与Err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089" y="3751166"/>
            <a:ext cx="6413821" cy="29798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8866602" y="6365878"/>
            <a:ext cx="2743200" cy="365125"/>
          </a:xfrm>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最近邻分类器</a:t>
            </a:r>
            <a:r>
              <a:rPr lang="en-US" altLang="zh-CN" dirty="0"/>
              <a:t>-</a:t>
            </a:r>
            <a:r>
              <a:rPr lang="zh-CN" altLang="en-US" dirty="0"/>
              <a:t>误差界限</a:t>
            </a:r>
            <a:endParaRPr lang="zh-CN" altLang="en-US" dirty="0"/>
          </a:p>
        </p:txBody>
      </p:sp>
      <p:sp>
        <p:nvSpPr>
          <p:cNvPr id="6" name="文本框 68"/>
          <p:cNvSpPr txBox="1"/>
          <p:nvPr/>
        </p:nvSpPr>
        <p:spPr>
          <a:xfrm>
            <a:off x="754594" y="890481"/>
            <a:ext cx="10468709" cy="777457"/>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假设距离计算是</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恰当</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的，即能够恰当地找出</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个近邻，讨论</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最近邻分类器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即</a:t>
            </a:r>
            <a:r>
              <a:rPr lang="en-US" altLang="zh-CN" dirty="0">
                <a:latin typeface="微软雅黑" panose="020B0503020204020204" pitchFamily="34" charset="-122"/>
                <a:ea typeface="微软雅黑" panose="020B0503020204020204" pitchFamily="34" charset="-122"/>
              </a:rPr>
              <a:t>k = 1)</a:t>
            </a:r>
            <a:r>
              <a:rPr lang="zh-CN" altLang="en-US" dirty="0">
                <a:latin typeface="微软雅黑" panose="020B0503020204020204" pitchFamily="34" charset="-122"/>
                <a:ea typeface="微软雅黑" panose="020B0503020204020204" pitchFamily="34" charset="-122"/>
              </a:rPr>
              <a:t> 在二分类问题上的性能。</a:t>
            </a: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361402" y="2209800"/>
          <a:ext cx="914400" cy="198438"/>
        </p:xfrm>
        <a:graphic>
          <a:graphicData uri="http://schemas.openxmlformats.org/presentationml/2006/ole">
            <mc:AlternateContent xmlns:mc="http://schemas.openxmlformats.org/markup-compatibility/2006">
              <mc:Choice xmlns:v="urn:schemas-microsoft-com:vml" Requires="v">
                <p:oleObj spid="_x0000_s4" name="Equation" r:id="rId1" imgW="2743200" imgH="4267200" progId="Equation.DSMT4">
                  <p:embed/>
                </p:oleObj>
              </mc:Choice>
              <mc:Fallback>
                <p:oleObj name="Equation" r:id="rId1" imgW="2743200" imgH="4267200" progId="Equation.DSMT4">
                  <p:embed/>
                  <p:pic>
                    <p:nvPicPr>
                      <p:cNvPr id="0" name="对象 6"/>
                      <p:cNvPicPr/>
                      <p:nvPr/>
                    </p:nvPicPr>
                    <p:blipFill>
                      <a:blip r:embed="rId2"/>
                      <a:stretch>
                        <a:fillRect/>
                      </a:stretch>
                    </p:blipFill>
                    <p:spPr>
                      <a:xfrm>
                        <a:off x="5361402" y="2209800"/>
                        <a:ext cx="914400" cy="198438"/>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15" name="文本框 14"/>
              <p:cNvSpPr txBox="1"/>
              <p:nvPr/>
            </p:nvSpPr>
            <p:spPr>
              <a:xfrm>
                <a:off x="985794" y="1828302"/>
                <a:ext cx="1062400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在给定测试样本</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𝑥</m:t>
                    </m:r>
                    <m:r>
                      <a:rPr lang="zh-CN" altLang="en-US" i="1">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若其最近邻样本为</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𝑧</m:t>
                    </m:r>
                    <m:r>
                      <a:rPr lang="zh-CN" altLang="en-US" b="0" i="1" dirty="0">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则最近邻分类器出错的概率就是</a:t>
                </a:r>
                <a14:m>
                  <m:oMath xmlns:m="http://schemas.openxmlformats.org/officeDocument/2006/math">
                    <m:r>
                      <a:rPr lang="en-US" altLang="zh-CN" b="0" i="1" dirty="0" smtClean="0">
                        <a:solidFill>
                          <a:srgbClr val="FF0000"/>
                        </a:solidFill>
                        <a:latin typeface="Cambria Math" panose="02040503050406030204" pitchFamily="18" charset="0"/>
                        <a:ea typeface="微软雅黑" panose="020B0503020204020204" pitchFamily="34" charset="-122"/>
                      </a:rPr>
                      <m:t>𝑥</m:t>
                    </m:r>
                  </m:oMath>
                </a14:m>
                <a:r>
                  <a:rPr lang="zh-CN" altLang="en-US" dirty="0">
                    <a:solidFill>
                      <a:srgbClr val="FF0000"/>
                    </a:solidFill>
                    <a:latin typeface="微软雅黑" panose="020B0503020204020204" pitchFamily="34" charset="-122"/>
                    <a:ea typeface="微软雅黑" panose="020B0503020204020204" pitchFamily="34" charset="-122"/>
                  </a:rPr>
                  <a:t>与</a:t>
                </a:r>
                <a14:m>
                  <m:oMath xmlns:m="http://schemas.openxmlformats.org/officeDocument/2006/math">
                    <m:r>
                      <a:rPr lang="en-US" altLang="zh-CN" i="1" dirty="0">
                        <a:solidFill>
                          <a:srgbClr val="FF0000"/>
                        </a:solidFill>
                        <a:latin typeface="Cambria Math" panose="02040503050406030204" pitchFamily="18" charset="0"/>
                        <a:ea typeface="微软雅黑" panose="020B0503020204020204" pitchFamily="34" charset="-122"/>
                      </a:rPr>
                      <m:t>𝑧</m:t>
                    </m:r>
                  </m:oMath>
                </a14:m>
                <a:r>
                  <a:rPr lang="zh-CN" altLang="en-US" dirty="0">
                    <a:solidFill>
                      <a:srgbClr val="FF0000"/>
                    </a:solidFill>
                    <a:latin typeface="微软雅黑" panose="020B0503020204020204" pitchFamily="34" charset="-122"/>
                    <a:ea typeface="微软雅黑" panose="020B0503020204020204" pitchFamily="34" charset="-122"/>
                  </a:rPr>
                  <a:t>类别标记不同的概率</a:t>
                </a:r>
                <a:r>
                  <a:rPr lang="zh-CN" altLang="en-US" dirty="0">
                    <a:latin typeface="微软雅黑" panose="020B0503020204020204" pitchFamily="34" charset="-122"/>
                    <a:ea typeface="微软雅黑" panose="020B0503020204020204" pitchFamily="34" charset="-122"/>
                  </a:rPr>
                  <a:t>，即</a:t>
                </a:r>
                <a:endParaRPr lang="zh-CN" altLang="en-US" dirty="0">
                  <a:latin typeface="微软雅黑" panose="020B0503020204020204" pitchFamily="34" charset="-122"/>
                  <a:ea typeface="微软雅黑" panose="020B0503020204020204" pitchFamily="34" charset="-122"/>
                </a:endParaRPr>
              </a:p>
            </p:txBody>
          </p:sp>
        </mc:Choice>
        <mc:Fallback>
          <p:sp>
            <p:nvSpPr>
              <p:cNvPr id="15" name="文本框 14"/>
              <p:cNvSpPr txBox="1">
                <a:spLocks noRot="1" noChangeAspect="1" noMove="1" noResize="1" noEditPoints="1" noAdjustHandles="1" noChangeArrowheads="1" noChangeShapeType="1" noTextEdit="1"/>
              </p:cNvSpPr>
              <p:nvPr/>
            </p:nvSpPr>
            <p:spPr>
              <a:xfrm>
                <a:off x="985794" y="1828302"/>
                <a:ext cx="10624008" cy="369332"/>
              </a:xfrm>
              <a:prstGeom prst="rect">
                <a:avLst/>
              </a:prstGeom>
              <a:blipFill rotWithShape="1">
                <a:blip r:embed="rId3"/>
                <a:stretch>
                  <a:fillRect l="-3" t="-37" r="1" b="145"/>
                </a:stretch>
              </a:blipFill>
            </p:spPr>
            <p:txBody>
              <a:bodyPr/>
              <a:lstStyle/>
              <a:p>
                <a:r>
                  <a:rPr lang="zh-CN" altLang="en-US">
                    <a:noFill/>
                  </a:rPr>
                  <a:t> </a:t>
                </a:r>
              </a:p>
            </p:txBody>
          </p:sp>
        </mc:Fallback>
      </mc:AlternateContent>
      <p:pic>
        <p:nvPicPr>
          <p:cNvPr id="17" name="图片 16"/>
          <p:cNvPicPr>
            <a:picLocks noChangeAspect="1"/>
          </p:cNvPicPr>
          <p:nvPr/>
        </p:nvPicPr>
        <p:blipFill>
          <a:blip r:embed="rId4"/>
          <a:stretch>
            <a:fillRect/>
          </a:stretch>
        </p:blipFill>
        <p:spPr>
          <a:xfrm>
            <a:off x="3772682" y="2289284"/>
            <a:ext cx="3734346" cy="764039"/>
          </a:xfrm>
          <a:prstGeom prst="rect">
            <a:avLst/>
          </a:prstGeom>
        </p:spPr>
      </p:pic>
      <mc:AlternateContent xmlns:mc="http://schemas.openxmlformats.org/markup-compatibility/2006">
        <mc:Choice xmlns:a14="http://schemas.microsoft.com/office/drawing/2010/main" Requires="a14">
          <p:sp>
            <p:nvSpPr>
              <p:cNvPr id="22" name="文本框 21"/>
              <p:cNvSpPr txBox="1"/>
              <p:nvPr/>
            </p:nvSpPr>
            <p:spPr>
              <a:xfrm>
                <a:off x="1062779" y="3071798"/>
                <a:ext cx="10067826" cy="1834092"/>
              </a:xfrm>
              <a:prstGeom prst="rect">
                <a:avLst/>
              </a:prstGeom>
              <a:noFill/>
            </p:spPr>
            <p:txBody>
              <a:bodyPr wrap="square" rtlCol="0">
                <a:spAutoFit/>
              </a:bodyPr>
              <a:lstStyle/>
              <a:p>
                <a:pPr>
                  <a:lnSpc>
                    <a:spcPct val="150000"/>
                  </a:lnSpc>
                </a:pPr>
                <a:r>
                  <a:rPr lang="zh-CN" altLang="en-US" dirty="0">
                    <a:solidFill>
                      <a:schemeClr val="tx1"/>
                    </a:solidFill>
                    <a:latin typeface="微软雅黑" panose="020B0503020204020204" pitchFamily="34" charset="-122"/>
                    <a:ea typeface="微软雅黑" panose="020B0503020204020204" pitchFamily="34" charset="-122"/>
                  </a:rPr>
                  <a:t>假设样本独立同分布，且对于任意的</a:t>
                </a:r>
                <a14:m>
                  <m:oMath xmlns:m="http://schemas.openxmlformats.org/officeDocument/2006/math">
                    <m:r>
                      <a:rPr lang="en-US" altLang="zh-CN" b="0" i="0" smtClean="0">
                        <a:solidFill>
                          <a:schemeClr val="tx1"/>
                        </a:solidFill>
                        <a:latin typeface="Cambria Math" panose="02040503050406030204" pitchFamily="18" charset="0"/>
                        <a:ea typeface="微软雅黑" panose="020B0503020204020204" pitchFamily="34" charset="-122"/>
                      </a:rPr>
                      <m:t> </m:t>
                    </m:r>
                    <m:r>
                      <a:rPr lang="en-US" altLang="zh-CN" b="0" i="1" smtClean="0">
                        <a:solidFill>
                          <a:schemeClr val="tx1"/>
                        </a:solidFill>
                        <a:latin typeface="Cambria Math" panose="02040503050406030204" pitchFamily="18" charset="0"/>
                        <a:ea typeface="微软雅黑" panose="020B0503020204020204" pitchFamily="34" charset="-122"/>
                      </a:rPr>
                      <m:t>𝑥</m:t>
                    </m:r>
                    <m:r>
                      <a:rPr lang="en-US" altLang="zh-CN" b="0" i="1" smtClean="0">
                        <a:solidFill>
                          <a:schemeClr val="tx1"/>
                        </a:solidFill>
                        <a:latin typeface="Cambria Math" panose="02040503050406030204" pitchFamily="18" charset="0"/>
                        <a:ea typeface="微软雅黑" panose="020B0503020204020204" pitchFamily="34" charset="-122"/>
                      </a:rPr>
                      <m:t> </m:t>
                    </m:r>
                    <m:r>
                      <a:rPr lang="zh-CN" altLang="en-US" i="1">
                        <a:solidFill>
                          <a:schemeClr val="tx1"/>
                        </a:solidFill>
                        <a:latin typeface="Cambria Math" panose="02040503050406030204" pitchFamily="18" charset="0"/>
                        <a:ea typeface="微软雅黑" panose="020B0503020204020204" pitchFamily="34" charset="-122"/>
                      </a:rPr>
                      <m:t>和</m:t>
                    </m:r>
                    <m:r>
                      <a:rPr lang="zh-CN" altLang="en-US" i="1" smtClean="0">
                        <a:solidFill>
                          <a:srgbClr val="FF0000"/>
                        </a:solidFill>
                        <a:latin typeface="Cambria Math" panose="02040503050406030204" pitchFamily="18" charset="0"/>
                        <a:ea typeface="微软雅黑" panose="020B0503020204020204" pitchFamily="34" charset="-122"/>
                      </a:rPr>
                      <m:t>任意</m:t>
                    </m:r>
                    <m:r>
                      <a:rPr lang="zh-CN" altLang="en-US" i="1">
                        <a:solidFill>
                          <a:srgbClr val="FF0000"/>
                        </a:solidFill>
                        <a:latin typeface="Cambria Math" panose="02040503050406030204" pitchFamily="18" charset="0"/>
                        <a:ea typeface="微软雅黑" panose="020B0503020204020204" pitchFamily="34" charset="-122"/>
                      </a:rPr>
                      <m:t>小</m:t>
                    </m:r>
                    <m:r>
                      <a:rPr lang="zh-CN" altLang="en-US" i="1" smtClean="0">
                        <a:solidFill>
                          <a:srgbClr val="FF0000"/>
                        </a:solidFill>
                        <a:latin typeface="Cambria Math" panose="02040503050406030204" pitchFamily="18" charset="0"/>
                        <a:ea typeface="微软雅黑" panose="020B0503020204020204" pitchFamily="34" charset="-122"/>
                      </a:rPr>
                      <m:t>正数</m:t>
                    </m:r>
                    <m:r>
                      <a:rPr lang="en-US" altLang="zh-CN" b="0" i="1" smtClean="0">
                        <a:solidFill>
                          <a:srgbClr val="FF0000"/>
                        </a:solidFill>
                        <a:latin typeface="Cambria Math" panose="02040503050406030204" pitchFamily="18" charset="0"/>
                        <a:ea typeface="微软雅黑" panose="020B0503020204020204" pitchFamily="34" charset="-122"/>
                      </a:rPr>
                      <m:t> </m:t>
                    </m:r>
                    <m:r>
                      <m:rPr>
                        <m:sty m:val="p"/>
                      </m:rPr>
                      <a:rPr lang="en-US" altLang="zh-CN" b="0" i="1" smtClean="0">
                        <a:solidFill>
                          <a:srgbClr val="FF0000"/>
                        </a:solidFill>
                        <a:latin typeface="Cambria Math" panose="02040503050406030204" pitchFamily="18" charset="0"/>
                        <a:ea typeface="微软雅黑" panose="020B0503020204020204" pitchFamily="34" charset="-122"/>
                      </a:rPr>
                      <m:t>δ</m:t>
                    </m:r>
                    <m:r>
                      <a:rPr lang="zh-CN" altLang="en-US" i="1">
                        <a:solidFill>
                          <a:schemeClr val="tx1"/>
                        </a:solidFill>
                        <a:latin typeface="Cambria Math" panose="02040503050406030204" pitchFamily="18" charset="0"/>
                        <a:ea typeface="微软雅黑" panose="020B0503020204020204" pitchFamily="34" charset="-122"/>
                      </a:rPr>
                      <m:t>，</m:t>
                    </m:r>
                  </m:oMath>
                </a14:m>
                <a:r>
                  <a:rPr lang="zh-CN" altLang="en-US" b="0" dirty="0">
                    <a:solidFill>
                      <a:schemeClr val="tx1"/>
                    </a:solidFill>
                    <a:latin typeface="微软雅黑" panose="020B0503020204020204" pitchFamily="34" charset="-122"/>
                    <a:ea typeface="微软雅黑" panose="020B0503020204020204" pitchFamily="34" charset="-122"/>
                  </a:rPr>
                  <a:t>在</a:t>
                </a:r>
                <a:r>
                  <a:rPr lang="en-US" altLang="zh-CN" b="0" dirty="0">
                    <a:solidFill>
                      <a:schemeClr val="tx1"/>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i="1">
                        <a:solidFill>
                          <a:schemeClr val="tx1"/>
                        </a:solidFill>
                        <a:latin typeface="Cambria Math" panose="02040503050406030204" pitchFamily="18" charset="0"/>
                        <a:ea typeface="微软雅黑" panose="020B0503020204020204" pitchFamily="34" charset="-122"/>
                      </a:rPr>
                      <m:t>𝑥</m:t>
                    </m:r>
                    <m:r>
                      <a:rPr lang="en-US" altLang="zh-CN" b="0" i="1">
                        <a:solidFill>
                          <a:schemeClr val="tx1"/>
                        </a:solidFill>
                        <a:latin typeface="Cambria Math" panose="02040503050406030204" pitchFamily="18" charset="0"/>
                        <a:ea typeface="微软雅黑" panose="020B0503020204020204" pitchFamily="34" charset="-122"/>
                      </a:rPr>
                      <m:t> </m:t>
                    </m:r>
                  </m:oMath>
                </a14:m>
                <a:r>
                  <a:rPr lang="zh-CN" altLang="en-US" b="0" dirty="0">
                    <a:solidFill>
                      <a:schemeClr val="tx1"/>
                    </a:solidFill>
                    <a:latin typeface="微软雅黑" panose="020B0503020204020204" pitchFamily="34" charset="-122"/>
                    <a:ea typeface="微软雅黑" panose="020B0503020204020204" pitchFamily="34" charset="-122"/>
                  </a:rPr>
                  <a:t>附近</a:t>
                </a:r>
                <a14:m>
                  <m:oMath xmlns:m="http://schemas.openxmlformats.org/officeDocument/2006/math">
                    <m:r>
                      <a:rPr lang="en-US" altLang="zh-CN" b="0" i="0">
                        <a:solidFill>
                          <a:schemeClr val="tx1"/>
                        </a:solidFill>
                        <a:latin typeface="Cambria Math" panose="02040503050406030204" pitchFamily="18" charset="0"/>
                        <a:ea typeface="微软雅黑" panose="020B0503020204020204" pitchFamily="34" charset="-122"/>
                      </a:rPr>
                      <m:t> </m:t>
                    </m:r>
                    <m:r>
                      <m:rPr>
                        <m:sty m:val="p"/>
                      </m:rPr>
                      <a:rPr lang="en-US" altLang="zh-CN" i="1">
                        <a:solidFill>
                          <a:schemeClr val="tx1"/>
                        </a:solidFill>
                        <a:latin typeface="Cambria Math" panose="02040503050406030204" pitchFamily="18" charset="0"/>
                        <a:ea typeface="微软雅黑" panose="020B0503020204020204" pitchFamily="34" charset="-122"/>
                      </a:rPr>
                      <m:t>δ</m:t>
                    </m:r>
                  </m:oMath>
                </a14:m>
                <a:r>
                  <a:rPr lang="en-US" altLang="zh-CN" b="0" dirty="0">
                    <a:solidFill>
                      <a:schemeClr val="tx1"/>
                    </a:solidFill>
                    <a:latin typeface="微软雅黑" panose="020B0503020204020204" pitchFamily="34" charset="-122"/>
                    <a:ea typeface="微软雅黑" panose="020B0503020204020204" pitchFamily="34" charset="-122"/>
                  </a:rPr>
                  <a:t> </a:t>
                </a:r>
                <a:r>
                  <a:rPr lang="zh-CN" altLang="en-US" b="0" dirty="0">
                    <a:solidFill>
                      <a:schemeClr val="tx1"/>
                    </a:solidFill>
                    <a:latin typeface="微软雅黑" panose="020B0503020204020204" pitchFamily="34" charset="-122"/>
                    <a:ea typeface="微软雅黑" panose="020B0503020204020204" pitchFamily="34" charset="-122"/>
                  </a:rPr>
                  <a:t>距离内总能找到一个训练样本，</a:t>
                </a:r>
                <a:r>
                  <a:rPr lang="zh-CN" altLang="en-US" dirty="0">
                    <a:latin typeface="微软雅黑" panose="020B0503020204020204" pitchFamily="34" charset="-122"/>
                    <a:ea typeface="微软雅黑" panose="020B0503020204020204" pitchFamily="34" charset="-122"/>
                  </a:rPr>
                  <a:t>令</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𝑐</m:t>
                        </m:r>
                      </m:e>
                      <m:sup>
                        <m:r>
                          <a:rPr lang="en-US" altLang="zh-CN" b="0" i="1" smtClean="0">
                            <a:latin typeface="Cambria Math" panose="02040503050406030204" pitchFamily="18" charset="0"/>
                            <a:ea typeface="微软雅黑" panose="020B0503020204020204" pitchFamily="34" charset="-122"/>
                          </a:rPr>
                          <m:t>∗</m:t>
                        </m:r>
                      </m:sup>
                    </m:sSup>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𝑎𝑟𝑔𝑚𝑎</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𝑥</m:t>
                        </m:r>
                      </m:e>
                      <m:sub>
                        <m:r>
                          <a:rPr lang="en-US" altLang="zh-CN" b="0" i="1" smtClean="0">
                            <a:latin typeface="Cambria Math" panose="02040503050406030204" pitchFamily="18" charset="0"/>
                            <a:ea typeface="微软雅黑" panose="020B0503020204020204" pitchFamily="34" charset="-122"/>
                          </a:rPr>
                          <m:t>𝑐</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𝑦</m:t>
                        </m:r>
                      </m:sub>
                    </m:sSub>
                    <m:r>
                      <a:rPr lang="en-US" altLang="zh-CN" b="0" i="1" smtClean="0">
                        <a:latin typeface="Cambria Math" panose="02040503050406030204" pitchFamily="18" charset="0"/>
                        <a:ea typeface="微软雅黑" panose="020B0503020204020204" pitchFamily="34" charset="-122"/>
                      </a:rPr>
                      <m:t>𝑃</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𝑐</m:t>
                        </m:r>
                      </m:e>
                      <m:e>
                        <m:r>
                          <a:rPr lang="en-US" altLang="zh-CN" b="0" i="1" smtClean="0">
                            <a:latin typeface="Cambria Math" panose="02040503050406030204" pitchFamily="18" charset="0"/>
                            <a:ea typeface="微软雅黑" panose="020B0503020204020204" pitchFamily="34" charset="-122"/>
                          </a:rPr>
                          <m:t>𝑥</m:t>
                        </m:r>
                      </m:e>
                    </m:d>
                    <m:r>
                      <a:rPr lang="zh-CN" altLang="en-US" i="1">
                        <a:latin typeface="Cambria Math" panose="02040503050406030204" pitchFamily="18" charset="0"/>
                        <a:ea typeface="微软雅黑" panose="020B0503020204020204" pitchFamily="34" charset="-122"/>
                      </a:rPr>
                      <m:t>表示</m:t>
                    </m:r>
                  </m:oMath>
                </a14:m>
                <a:r>
                  <a:rPr lang="zh-CN" altLang="en-US" b="0" dirty="0">
                    <a:latin typeface="微软雅黑" panose="020B0503020204020204" pitchFamily="34" charset="-122"/>
                    <a:ea typeface="微软雅黑" panose="020B0503020204020204" pitchFamily="34" charset="-122"/>
                  </a:rPr>
                  <a:t>贝叶斯最优分类器的结果，那么有</a:t>
                </a:r>
                <a:endParaRPr lang="en-US" altLang="zh-CN" b="0" dirty="0">
                  <a:latin typeface="微软雅黑" panose="020B0503020204020204" pitchFamily="34" charset="-122"/>
                  <a:ea typeface="微软雅黑" panose="020B0503020204020204" pitchFamily="34" charset="-122"/>
                </a:endParaRPr>
              </a:p>
              <a:p>
                <a:endParaRPr lang="en-US" altLang="zh-CN" sz="2000" b="0" dirty="0">
                  <a:latin typeface="微软雅黑" panose="020B0503020204020204" pitchFamily="34" charset="-122"/>
                  <a:ea typeface="微软雅黑" panose="020B0503020204020204" pitchFamily="34" charset="-122"/>
                </a:endParaRPr>
              </a:p>
              <a:p>
                <a:endParaRPr lang="en-US" altLang="zh-CN" b="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1062779" y="3071798"/>
                <a:ext cx="10067826" cy="1834092"/>
              </a:xfrm>
              <a:prstGeom prst="rect">
                <a:avLst/>
              </a:prstGeom>
              <a:blipFill rotWithShape="1">
                <a:blip r:embed="rId5"/>
                <a:stretch>
                  <a:fillRect l="-4" t="-17" r="-375" b="28"/>
                </a:stretch>
              </a:blipFill>
            </p:spPr>
            <p:txBody>
              <a:bodyPr/>
              <a:lstStyle/>
              <a:p>
                <a:r>
                  <a:rPr lang="zh-CN" altLang="en-US">
                    <a:noFill/>
                  </a:rPr>
                  <a:t> </a:t>
                </a:r>
              </a:p>
            </p:txBody>
          </p:sp>
        </mc:Fallback>
      </mc:AlternateContent>
      <p:pic>
        <p:nvPicPr>
          <p:cNvPr id="24" name="图片 23"/>
          <p:cNvPicPr>
            <a:picLocks noChangeAspect="1"/>
          </p:cNvPicPr>
          <p:nvPr/>
        </p:nvPicPr>
        <p:blipFill>
          <a:blip r:embed="rId6"/>
          <a:stretch>
            <a:fillRect/>
          </a:stretch>
        </p:blipFill>
        <p:spPr>
          <a:xfrm>
            <a:off x="2780589" y="3945401"/>
            <a:ext cx="3943571" cy="2515583"/>
          </a:xfrm>
          <a:prstGeom prst="rect">
            <a:avLst/>
          </a:prstGeom>
        </p:spPr>
      </p:pic>
      <p:sp>
        <p:nvSpPr>
          <p:cNvPr id="25" name="文本框 24"/>
          <p:cNvSpPr txBox="1"/>
          <p:nvPr/>
        </p:nvSpPr>
        <p:spPr>
          <a:xfrm>
            <a:off x="1062779" y="6361671"/>
            <a:ext cx="8597245"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结论：</a:t>
            </a:r>
            <a:r>
              <a:rPr lang="zh-CN" altLang="en-US" dirty="0">
                <a:latin typeface="微软雅黑" panose="020B0503020204020204" pitchFamily="34" charset="-122"/>
                <a:ea typeface="微软雅黑" panose="020B0503020204020204" pitchFamily="34" charset="-122"/>
              </a:rPr>
              <a:t>最近邻分类器的泛化错误率不超过贝叶斯最优分类器的错误率的两倍！</a:t>
            </a:r>
            <a:endParaRPr lang="zh-CN" altLang="en-US"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7"/>
          <a:stretch>
            <a:fillRect/>
          </a:stretch>
        </p:blipFill>
        <p:spPr>
          <a:xfrm>
            <a:off x="7026071" y="4602895"/>
            <a:ext cx="3681061" cy="343938"/>
          </a:xfrm>
          <a:prstGeom prst="rect">
            <a:avLst/>
          </a:prstGeom>
        </p:spPr>
      </p:pic>
      <p:pic>
        <p:nvPicPr>
          <p:cNvPr id="8" name="图片 7"/>
          <p:cNvPicPr>
            <a:picLocks noChangeAspect="1"/>
          </p:cNvPicPr>
          <p:nvPr/>
        </p:nvPicPr>
        <p:blipFill>
          <a:blip r:embed="rId8"/>
          <a:stretch>
            <a:fillRect/>
          </a:stretch>
        </p:blipFill>
        <p:spPr>
          <a:xfrm>
            <a:off x="7518191" y="5065485"/>
            <a:ext cx="2336592" cy="2754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492990"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低维嵌入</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revie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81537" y="1174144"/>
            <a:ext cx="3827801" cy="20726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特征值分解</a:t>
            </a:r>
            <a:endParaRPr lang="zh-CN" altLang="en-US" dirty="0"/>
          </a:p>
        </p:txBody>
      </p:sp>
      <p:sp>
        <p:nvSpPr>
          <p:cNvPr id="6" name="文本框 68"/>
          <p:cNvSpPr txBox="1"/>
          <p:nvPr/>
        </p:nvSpPr>
        <p:spPr>
          <a:xfrm>
            <a:off x="708918" y="722048"/>
            <a:ext cx="10541284" cy="4507709"/>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特征值分解（</a:t>
            </a:r>
            <a:r>
              <a:rPr lang="en-US" altLang="zh-CN" dirty="0">
                <a:latin typeface="微软雅黑" panose="020B0503020204020204" pitchFamily="34" charset="-122"/>
                <a:ea typeface="微软雅黑" panose="020B0503020204020204" pitchFamily="34" charset="-122"/>
              </a:rPr>
              <a:t>Eigendecomposition</a:t>
            </a:r>
            <a:r>
              <a:rPr lang="zh-CN" altLang="en-US" dirty="0">
                <a:latin typeface="微软雅黑" panose="020B0503020204020204" pitchFamily="34" charset="-122"/>
                <a:ea typeface="微软雅黑" panose="020B0503020204020204" pitchFamily="34" charset="-122"/>
              </a:rPr>
              <a:t>）是一种对</a:t>
            </a:r>
            <a:r>
              <a:rPr lang="zh-CN" altLang="en-US" dirty="0">
                <a:solidFill>
                  <a:srgbClr val="FF0000"/>
                </a:solidFill>
                <a:latin typeface="微软雅黑" panose="020B0503020204020204" pitchFamily="34" charset="-122"/>
                <a:ea typeface="微软雅黑" panose="020B0503020204020204" pitchFamily="34" charset="-122"/>
              </a:rPr>
              <a:t>方阵</a:t>
            </a:r>
            <a:r>
              <a:rPr lang="zh-CN" altLang="en-US" dirty="0">
                <a:latin typeface="微软雅黑" panose="020B0503020204020204" pitchFamily="34" charset="-122"/>
                <a:ea typeface="微软雅黑" panose="020B0503020204020204" pitchFamily="34" charset="-122"/>
              </a:rPr>
              <a:t>进行分解的数学技术，将方阵分解为一组特征向量和特征值的乘积形式。</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特征向量表示了在转换中不改变方向的方向；</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特征值表示了在转换中沿着这些方向的缩放比例。</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2537" y="2291220"/>
          <a:ext cx="914400" cy="198438"/>
        </p:xfrm>
        <a:graphic>
          <a:graphicData uri="http://schemas.openxmlformats.org/presentationml/2006/ole">
            <mc:AlternateContent xmlns:mc="http://schemas.openxmlformats.org/markup-compatibility/2006">
              <mc:Choice xmlns:v="urn:schemas-microsoft-com:vml" Requires="v">
                <p:oleObj spid="_x0000_s4" name="Equation" r:id="rId2" imgW="2743200" imgH="4267200" progId="Equation.DSMT4">
                  <p:embed/>
                </p:oleObj>
              </mc:Choice>
              <mc:Fallback>
                <p:oleObj name="Equation" r:id="rId2" imgW="2743200" imgH="4267200" progId="Equation.DSMT4">
                  <p:embed/>
                  <p:pic>
                    <p:nvPicPr>
                      <p:cNvPr id="0" name="对象 6"/>
                      <p:cNvPicPr/>
                      <p:nvPr/>
                    </p:nvPicPr>
                    <p:blipFill>
                      <a:blip r:embed="rId3"/>
                      <a:stretch>
                        <a:fillRect/>
                      </a:stretch>
                    </p:blipFill>
                    <p:spPr>
                      <a:xfrm>
                        <a:off x="5632537" y="2291220"/>
                        <a:ext cx="914400" cy="198438"/>
                      </a:xfrm>
                      <a:prstGeom prst="rect">
                        <a:avLst/>
                      </a:prstGeom>
                    </p:spPr>
                  </p:pic>
                </p:oleObj>
              </mc:Fallback>
            </mc:AlternateContent>
          </a:graphicData>
        </a:graphic>
      </p:graphicFrame>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938" y="3039331"/>
            <a:ext cx="5341923" cy="240495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1310" y="1674807"/>
            <a:ext cx="1021473" cy="398375"/>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1047121" y="5346463"/>
            <a:ext cx="10203081" cy="1337945"/>
          </a:xfrm>
          <a:prstGeom prst="rect">
            <a:avLst/>
          </a:prstGeom>
          <a:noFill/>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是这个矩阵</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的特征向量组成的矩阵，</a:t>
            </a:r>
            <a:r>
              <a:rPr lang="en-US" altLang="zh-CN" b="1" dirty="0">
                <a:latin typeface="Arial Black" panose="020B0A04020102020204" pitchFamily="34" charset="0"/>
                <a:ea typeface="微软雅黑" panose="020B0503020204020204" pitchFamily="34" charset="-122"/>
                <a:cs typeface="Arial Black" panose="020B0A04020102020204" pitchFamily="34" charset="0"/>
              </a:rPr>
              <a:t>⋀</a:t>
            </a:r>
            <a:r>
              <a:rPr lang="zh-CN" altLang="en-US" dirty="0">
                <a:latin typeface="微软雅黑" panose="020B0503020204020204" pitchFamily="34" charset="-122"/>
                <a:ea typeface="微软雅黑" panose="020B0503020204020204" pitchFamily="34" charset="-122"/>
              </a:rPr>
              <a:t>是一个对角矩阵，每一个对角线元素就是一个特征值，里面的特征值是由大到小排列的，这些特征值所对应的特征向量就是描述这个矩阵变化方向（</a:t>
            </a:r>
            <a:r>
              <a:rPr lang="zh-CN" altLang="en-US" dirty="0">
                <a:solidFill>
                  <a:srgbClr val="FF0000"/>
                </a:solidFill>
                <a:latin typeface="微软雅黑" panose="020B0503020204020204" pitchFamily="34" charset="-122"/>
                <a:ea typeface="微软雅黑" panose="020B0503020204020204" pitchFamily="34" charset="-122"/>
              </a:rPr>
              <a:t>从主要的变化到次要的变化排列</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奇异值分解</a:t>
            </a:r>
            <a:endParaRPr lang="zh-CN" altLang="en-US" dirty="0"/>
          </a:p>
        </p:txBody>
      </p:sp>
      <p:sp>
        <p:nvSpPr>
          <p:cNvPr id="6" name="文本框 68"/>
          <p:cNvSpPr txBox="1"/>
          <p:nvPr/>
        </p:nvSpPr>
        <p:spPr>
          <a:xfrm>
            <a:off x="708918" y="837308"/>
            <a:ext cx="10541284" cy="3522824"/>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奇异值分解（</a:t>
            </a:r>
            <a:r>
              <a:rPr lang="en-US" altLang="zh-CN" dirty="0">
                <a:latin typeface="微软雅黑" panose="020B0503020204020204" pitchFamily="34" charset="-122"/>
                <a:ea typeface="微软雅黑" panose="020B0503020204020204" pitchFamily="34" charset="-122"/>
              </a:rPr>
              <a:t>Singular Value Decomposition</a:t>
            </a:r>
            <a:r>
              <a:rPr lang="zh-CN" altLang="en-US" dirty="0">
                <a:latin typeface="微软雅黑" panose="020B0503020204020204" pitchFamily="34" charset="-122"/>
                <a:ea typeface="微软雅黑" panose="020B0503020204020204" pitchFamily="34" charset="-122"/>
              </a:rPr>
              <a:t>）与特征分解不同，</a:t>
            </a:r>
            <a:r>
              <a:rPr lang="en-US" altLang="zh-CN" dirty="0">
                <a:latin typeface="微软雅黑" panose="020B0503020204020204" pitchFamily="34" charset="-122"/>
                <a:ea typeface="微软雅黑" panose="020B0503020204020204" pitchFamily="34" charset="-122"/>
              </a:rPr>
              <a:t>SVD</a:t>
            </a:r>
            <a:r>
              <a:rPr lang="zh-CN" altLang="en-US" dirty="0">
                <a:latin typeface="微软雅黑" panose="020B0503020204020204" pitchFamily="34" charset="-122"/>
                <a:ea typeface="微软雅黑" panose="020B0503020204020204" pitchFamily="34" charset="-122"/>
              </a:rPr>
              <a:t>不要求分解的矩阵为方阵。</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                                                                                        ，其中方阵</a:t>
            </a:r>
            <a:r>
              <a:rPr lang="en-US" altLang="zh-CN" dirty="0">
                <a:latin typeface="微软雅黑" panose="020B0503020204020204" pitchFamily="34" charset="-122"/>
                <a:ea typeface="微软雅黑" panose="020B0503020204020204" pitchFamily="34" charset="-122"/>
              </a:rPr>
              <a:t>U</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都是正交矩阵（</a:t>
            </a:r>
            <a:r>
              <a:rPr lang="en-US" altLang="zh-CN" dirty="0">
                <a:latin typeface="微软雅黑" panose="020B0503020204020204" pitchFamily="34" charset="-122"/>
                <a:ea typeface="微软雅黑" panose="020B0503020204020204" pitchFamily="34" charset="-122"/>
              </a:rPr>
              <a:t>orthogonal matrix</a:t>
            </a:r>
            <a:r>
              <a:rPr lang="zh-CN" altLang="en-US" dirty="0">
                <a:latin typeface="微软雅黑" panose="020B0503020204020204" pitchFamily="34" charset="-122"/>
                <a:ea typeface="微软雅黑" panose="020B0503020204020204" pitchFamily="34" charset="-122"/>
              </a:rPr>
              <a:t>），也就是说，</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394216"/>
          <a:ext cx="914400" cy="198438"/>
        </p:xfrm>
        <a:graphic>
          <a:graphicData uri="http://schemas.openxmlformats.org/presentationml/2006/ole">
            <mc:AlternateContent xmlns:mc="http://schemas.openxmlformats.org/markup-compatibility/2006">
              <mc:Choice xmlns:v="urn:schemas-microsoft-com:vml" Requires="v">
                <p:oleObj spid="_x0000_s4" name="Equation" r:id="rId1" imgW="2743200" imgH="4267200" progId="Equation.DSMT4">
                  <p:embed/>
                </p:oleObj>
              </mc:Choice>
              <mc:Fallback>
                <p:oleObj name="Equation" r:id="rId1" imgW="2743200" imgH="4267200" progId="Equation.DSMT4">
                  <p:embed/>
                  <p:pic>
                    <p:nvPicPr>
                      <p:cNvPr id="0" name="对象 6"/>
                      <p:cNvPicPr/>
                      <p:nvPr/>
                    </p:nvPicPr>
                    <p:blipFill>
                      <a:blip r:embed="rId2"/>
                      <a:stretch>
                        <a:fillRect/>
                      </a:stretch>
                    </p:blipFill>
                    <p:spPr>
                      <a:xfrm>
                        <a:off x="5638800" y="2394216"/>
                        <a:ext cx="914400" cy="198438"/>
                      </a:xfrm>
                      <a:prstGeom prst="rect">
                        <a:avLst/>
                      </a:prstGeom>
                    </p:spPr>
                  </p:pic>
                </p:oleObj>
              </mc:Fallback>
            </mc:AlternateContent>
          </a:graphicData>
        </a:graphic>
      </p:graphicFrame>
      <p:pic>
        <p:nvPicPr>
          <p:cNvPr id="5" name="图片 4"/>
          <p:cNvPicPr>
            <a:picLocks noChangeAspect="1"/>
          </p:cNvPicPr>
          <p:nvPr/>
        </p:nvPicPr>
        <p:blipFill>
          <a:blip r:embed="rId3"/>
          <a:stretch>
            <a:fillRect/>
          </a:stretch>
        </p:blipFill>
        <p:spPr>
          <a:xfrm>
            <a:off x="1701694" y="1447324"/>
            <a:ext cx="1168829" cy="263559"/>
          </a:xfrm>
          <a:prstGeom prst="rect">
            <a:avLst/>
          </a:prstGeom>
        </p:spPr>
      </p:pic>
      <p:pic>
        <p:nvPicPr>
          <p:cNvPr id="9" name="图片 8"/>
          <p:cNvPicPr>
            <a:picLocks noChangeAspect="1"/>
          </p:cNvPicPr>
          <p:nvPr/>
        </p:nvPicPr>
        <p:blipFill>
          <a:blip r:embed="rId4"/>
          <a:stretch>
            <a:fillRect/>
          </a:stretch>
        </p:blipFill>
        <p:spPr>
          <a:xfrm>
            <a:off x="3082661" y="1451344"/>
            <a:ext cx="4278838" cy="310383"/>
          </a:xfrm>
          <a:prstGeom prst="rect">
            <a:avLst/>
          </a:prstGeom>
        </p:spPr>
      </p:pic>
      <p:pic>
        <p:nvPicPr>
          <p:cNvPr id="11" name="图片 10"/>
          <p:cNvPicPr>
            <a:picLocks noChangeAspect="1"/>
          </p:cNvPicPr>
          <p:nvPr/>
        </p:nvPicPr>
        <p:blipFill>
          <a:blip r:embed="rId5"/>
          <a:stretch>
            <a:fillRect/>
          </a:stretch>
        </p:blipFill>
        <p:spPr>
          <a:xfrm>
            <a:off x="5265192" y="1882452"/>
            <a:ext cx="2274714" cy="241429"/>
          </a:xfrm>
          <a:prstGeom prst="rect">
            <a:avLst/>
          </a:prstGeom>
        </p:spPr>
      </p:pic>
      <p:pic>
        <p:nvPicPr>
          <p:cNvPr id="8" name="图片 7"/>
          <p:cNvPicPr>
            <a:picLocks noChangeAspect="1"/>
          </p:cNvPicPr>
          <p:nvPr/>
        </p:nvPicPr>
        <p:blipFill>
          <a:blip r:embed="rId6"/>
          <a:stretch>
            <a:fillRect/>
          </a:stretch>
        </p:blipFill>
        <p:spPr>
          <a:xfrm>
            <a:off x="812857" y="3238180"/>
            <a:ext cx="5045711" cy="2177348"/>
          </a:xfrm>
          <a:prstGeom prst="rect">
            <a:avLst/>
          </a:prstGeom>
        </p:spPr>
      </p:pic>
      <p:pic>
        <p:nvPicPr>
          <p:cNvPr id="10" name="图片 9"/>
          <p:cNvPicPr>
            <a:picLocks noChangeAspect="1"/>
          </p:cNvPicPr>
          <p:nvPr/>
        </p:nvPicPr>
        <p:blipFill>
          <a:blip r:embed="rId7"/>
          <a:stretch>
            <a:fillRect/>
          </a:stretch>
        </p:blipFill>
        <p:spPr>
          <a:xfrm>
            <a:off x="6553200" y="3019285"/>
            <a:ext cx="4825943" cy="2615139"/>
          </a:xfrm>
          <a:prstGeom prst="rect">
            <a:avLst/>
          </a:prstGeom>
        </p:spPr>
      </p:pic>
      <p:sp>
        <p:nvSpPr>
          <p:cNvPr id="12" name="文本框 11"/>
          <p:cNvSpPr txBox="1"/>
          <p:nvPr/>
        </p:nvSpPr>
        <p:spPr>
          <a:xfrm>
            <a:off x="2427358" y="2640517"/>
            <a:ext cx="1111202"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标准</a:t>
            </a:r>
            <a:r>
              <a:rPr kumimoji="1" lang="en-US" altLang="zh-CN" dirty="0">
                <a:latin typeface="微软雅黑" panose="020B0503020204020204" pitchFamily="34" charset="-122"/>
                <a:ea typeface="微软雅黑" panose="020B0503020204020204" pitchFamily="34" charset="-122"/>
              </a:rPr>
              <a:t>SVD</a:t>
            </a:r>
            <a:endParaRPr kumimoji="1" lang="zh-CN" altLang="en-US"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438894" y="2637141"/>
            <a:ext cx="3262432"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基于</a:t>
            </a:r>
            <a:r>
              <a:rPr kumimoji="1" lang="en-US" altLang="zh-CN" dirty="0">
                <a:latin typeface="微软雅黑" panose="020B0503020204020204" pitchFamily="34" charset="-122"/>
                <a:ea typeface="微软雅黑" panose="020B0503020204020204" pitchFamily="34" charset="-122"/>
              </a:rPr>
              <a:t>SVD</a:t>
            </a:r>
            <a:r>
              <a:rPr kumimoji="1" lang="zh-CN" altLang="en-US" dirty="0">
                <a:latin typeface="微软雅黑" panose="020B0503020204020204" pitchFamily="34" charset="-122"/>
                <a:ea typeface="微软雅黑" panose="020B0503020204020204" pitchFamily="34" charset="-122"/>
              </a:rPr>
              <a:t>实现从</a:t>
            </a:r>
            <a:r>
              <a:rPr kumimoji="1" lang="en-US" altLang="zh-CN" dirty="0">
                <a:latin typeface="微软雅黑" panose="020B0503020204020204" pitchFamily="34" charset="-122"/>
                <a:ea typeface="微软雅黑" panose="020B0503020204020204" pitchFamily="34" charset="-122"/>
              </a:rPr>
              <a:t>m</a:t>
            </a:r>
            <a:r>
              <a:rPr kumimoji="1" lang="zh-CN" altLang="en-US" dirty="0">
                <a:latin typeface="微软雅黑" panose="020B0503020204020204" pitchFamily="34" charset="-122"/>
                <a:ea typeface="微软雅黑" panose="020B0503020204020204" pitchFamily="34" charset="-122"/>
              </a:rPr>
              <a:t>到</a:t>
            </a:r>
            <a:r>
              <a:rPr kumimoji="1" lang="en-US" altLang="zh-CN" dirty="0">
                <a:latin typeface="微软雅黑" panose="020B0503020204020204" pitchFamily="34" charset="-122"/>
                <a:ea typeface="微软雅黑" panose="020B0503020204020204" pitchFamily="34" charset="-122"/>
              </a:rPr>
              <a:t>r</a:t>
            </a:r>
            <a:r>
              <a:rPr kumimoji="1" lang="zh-CN" altLang="en-US" dirty="0">
                <a:latin typeface="微软雅黑" panose="020B0503020204020204" pitchFamily="34" charset="-122"/>
                <a:ea typeface="微软雅黑" panose="020B0503020204020204" pitchFamily="34" charset="-122"/>
              </a:rPr>
              <a:t>降维操作</a:t>
            </a:r>
            <a:endParaRPr kumimoji="1"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5" name="文本框 14"/>
              <p:cNvSpPr txBox="1"/>
              <p:nvPr/>
            </p:nvSpPr>
            <p:spPr>
              <a:xfrm>
                <a:off x="7312279" y="3835160"/>
                <a:ext cx="455253"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en-US" altLang="zh-CN" sz="3600" i="1" smtClean="0">
                          <a:latin typeface="Cambria Math" panose="02040503050406030204" pitchFamily="18" charset="0"/>
                          <a:ea typeface="Cambria Math" panose="02040503050406030204" pitchFamily="18" charset="0"/>
                        </a:rPr>
                        <m:t>~</m:t>
                      </m:r>
                    </m:oMath>
                  </m:oMathPara>
                </a14:m>
                <a:endParaRPr kumimoji="1" lang="zh-CN" altLang="en-US" sz="3600" dirty="0"/>
              </a:p>
            </p:txBody>
          </p:sp>
        </mc:Choice>
        <mc:Fallback>
          <p:sp>
            <p:nvSpPr>
              <p:cNvPr id="15" name="文本框 14"/>
              <p:cNvSpPr txBox="1">
                <a:spLocks noRot="1" noChangeAspect="1" noMove="1" noResize="1" noEditPoints="1" noAdjustHandles="1" noChangeArrowheads="1" noChangeShapeType="1" noTextEdit="1"/>
              </p:cNvSpPr>
              <p:nvPr/>
            </p:nvSpPr>
            <p:spPr>
              <a:xfrm>
                <a:off x="7312279" y="3835160"/>
                <a:ext cx="455253" cy="553998"/>
              </a:xfrm>
              <a:prstGeom prst="rect">
                <a:avLst/>
              </a:prstGeom>
              <a:blipFill rotWithShape="1">
                <a:blip r:embed="rId8"/>
                <a:stretch>
                  <a:fillRect l="-56" t="-71" r="-29803" b="7"/>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低维嵌入</a:t>
            </a:r>
            <a:endParaRPr lang="zh-CN" altLang="en-US" dirty="0"/>
          </a:p>
        </p:txBody>
      </p:sp>
      <p:sp>
        <p:nvSpPr>
          <p:cNvPr id="4" name="TextBox 12"/>
          <p:cNvSpPr txBox="1">
            <a:spLocks noChangeArrowheads="1"/>
          </p:cNvSpPr>
          <p:nvPr/>
        </p:nvSpPr>
        <p:spPr bwMode="auto">
          <a:xfrm>
            <a:off x="360749" y="925584"/>
            <a:ext cx="299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zh-CN" altLang="en-US" b="1" dirty="0">
                <a:solidFill>
                  <a:schemeClr val="accent5">
                    <a:lumMod val="50000"/>
                  </a:schemeClr>
                </a:solidFill>
                <a:latin typeface="微软雅黑" panose="020B0503020204020204" pitchFamily="34" charset="-122"/>
              </a:rPr>
              <a:t>密采样</a:t>
            </a:r>
            <a:r>
              <a:rPr lang="en-US" altLang="zh-CN" b="1" dirty="0">
                <a:solidFill>
                  <a:schemeClr val="accent5">
                    <a:lumMod val="50000"/>
                  </a:schemeClr>
                </a:solidFill>
                <a:latin typeface="微软雅黑" panose="020B0503020204020204" pitchFamily="34" charset="-122"/>
              </a:rPr>
              <a:t>(dense sample)</a:t>
            </a:r>
            <a:endParaRPr lang="zh-CN" altLang="en-US" b="1" dirty="0">
              <a:solidFill>
                <a:schemeClr val="accent5">
                  <a:lumMod val="50000"/>
                </a:schemeClr>
              </a:solidFill>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文本框 68"/>
              <p:cNvSpPr txBox="1"/>
              <p:nvPr/>
            </p:nvSpPr>
            <p:spPr>
              <a:xfrm>
                <a:off x="762000" y="1298968"/>
                <a:ext cx="10529456" cy="4433393"/>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zh-CN" altLang="en-US" dirty="0">
                    <a:solidFill>
                      <a:schemeClr val="tx1"/>
                    </a:solidFill>
                    <a:latin typeface="微软雅黑" panose="020B0503020204020204" pitchFamily="34" charset="-122"/>
                    <a:ea typeface="微软雅黑" panose="020B0503020204020204" pitchFamily="34" charset="-122"/>
                  </a:rPr>
                  <a:t>任意测试</a:t>
                </a:r>
                <a14:m>
                  <m:oMath xmlns:m="http://schemas.openxmlformats.org/officeDocument/2006/math">
                    <m:r>
                      <a:rPr lang="zh-CN" altLang="en-US" i="1" dirty="0" smtClean="0">
                        <a:solidFill>
                          <a:schemeClr val="tx1"/>
                        </a:solidFill>
                        <a:latin typeface="Cambria Math" panose="02040503050406030204" pitchFamily="18" charset="0"/>
                        <a:ea typeface="微软雅黑" panose="020B0503020204020204" pitchFamily="34" charset="-122"/>
                      </a:rPr>
                      <m:t>样本</m:t>
                    </m:r>
                    <m:r>
                      <a:rPr lang="zh-CN" altLang="en-US" b="0" i="1" dirty="0" smtClean="0">
                        <a:solidFill>
                          <a:schemeClr val="tx1"/>
                        </a:solidFill>
                        <a:latin typeface="Cambria Math" panose="02040503050406030204" pitchFamily="18" charset="0"/>
                        <a:ea typeface="微软雅黑" panose="020B0503020204020204" pitchFamily="34" charset="-122"/>
                      </a:rPr>
                      <m:t> </m:t>
                    </m:r>
                    <m:r>
                      <a:rPr lang="en-US" altLang="zh-CN" i="1">
                        <a:solidFill>
                          <a:schemeClr val="tx1"/>
                        </a:solidFill>
                        <a:latin typeface="Cambria Math" panose="02040503050406030204" pitchFamily="18" charset="0"/>
                        <a:ea typeface="微软雅黑" panose="020B0503020204020204" pitchFamily="34" charset="-122"/>
                      </a:rPr>
                      <m:t>𝑥</m:t>
                    </m:r>
                    <m:r>
                      <a:rPr lang="zh-CN" altLang="en-US" b="0" i="1">
                        <a:solidFill>
                          <a:schemeClr val="tx1"/>
                        </a:solidFill>
                        <a:latin typeface="Cambria Math" panose="02040503050406030204" pitchFamily="18" charset="0"/>
                        <a:ea typeface="微软雅黑" panose="020B0503020204020204" pitchFamily="34" charset="-122"/>
                      </a:rPr>
                      <m:t> </m:t>
                    </m:r>
                    <m:r>
                      <a:rPr lang="zh-CN" altLang="en-US" i="1" smtClean="0">
                        <a:solidFill>
                          <a:schemeClr val="tx1"/>
                        </a:solidFill>
                        <a:latin typeface="Cambria Math" panose="02040503050406030204" pitchFamily="18" charset="0"/>
                        <a:ea typeface="微软雅黑" panose="020B0503020204020204" pitchFamily="34" charset="-122"/>
                      </a:rPr>
                      <m:t>附近</m:t>
                    </m:r>
                    <m:r>
                      <a:rPr lang="zh-CN" altLang="en-US" i="1">
                        <a:solidFill>
                          <a:schemeClr val="tx1"/>
                        </a:solidFill>
                        <a:latin typeface="Cambria Math" panose="02040503050406030204" pitchFamily="18" charset="0"/>
                        <a:ea typeface="微软雅黑" panose="020B0503020204020204" pitchFamily="34" charset="-122"/>
                      </a:rPr>
                      <m:t>任意小的</m:t>
                    </m:r>
                    <m:r>
                      <a:rPr lang="zh-CN" altLang="en-US" b="0" i="1">
                        <a:solidFill>
                          <a:schemeClr val="tx1"/>
                        </a:solidFill>
                        <a:latin typeface="Cambria Math" panose="02040503050406030204" pitchFamily="18" charset="0"/>
                        <a:ea typeface="微软雅黑" panose="020B0503020204020204" pitchFamily="34" charset="-122"/>
                      </a:rPr>
                      <m:t> </m:t>
                    </m:r>
                    <m:r>
                      <m:rPr>
                        <m:sty m:val="p"/>
                      </m:rPr>
                      <a:rPr lang="en-US" altLang="zh-CN" i="1">
                        <a:solidFill>
                          <a:schemeClr val="tx1"/>
                        </a:solidFill>
                        <a:latin typeface="Cambria Math" panose="02040503050406030204" pitchFamily="18" charset="0"/>
                        <a:ea typeface="微软雅黑" panose="020B0503020204020204" pitchFamily="34" charset="-122"/>
                      </a:rPr>
                      <m:t>δ</m:t>
                    </m:r>
                    <m:r>
                      <a:rPr lang="zh-CN" altLang="en-US" b="0" i="1">
                        <a:solidFill>
                          <a:schemeClr val="tx1"/>
                        </a:solidFill>
                        <a:latin typeface="Cambria Math" panose="02040503050406030204" pitchFamily="18" charset="0"/>
                        <a:ea typeface="微软雅黑" panose="020B0503020204020204" pitchFamily="34" charset="-122"/>
                      </a:rPr>
                      <m:t> </m:t>
                    </m:r>
                    <m:r>
                      <a:rPr lang="zh-CN" altLang="en-US" i="1" smtClean="0">
                        <a:solidFill>
                          <a:schemeClr val="tx1"/>
                        </a:solidFill>
                        <a:latin typeface="Cambria Math" panose="02040503050406030204" pitchFamily="18" charset="0"/>
                        <a:ea typeface="微软雅黑" panose="020B0503020204020204" pitchFamily="34" charset="-122"/>
                      </a:rPr>
                      <m:t>距离</m:t>
                    </m:r>
                    <m:r>
                      <a:rPr lang="zh-CN" altLang="en-US" i="1">
                        <a:solidFill>
                          <a:schemeClr val="tx1"/>
                        </a:solidFill>
                        <a:latin typeface="Cambria Math" panose="02040503050406030204" pitchFamily="18" charset="0"/>
                        <a:ea typeface="微软雅黑" panose="020B0503020204020204" pitchFamily="34" charset="-122"/>
                      </a:rPr>
                      <m:t>内</m:t>
                    </m:r>
                    <m:r>
                      <a:rPr lang="zh-CN" altLang="en-US" i="1" smtClean="0">
                        <a:solidFill>
                          <a:schemeClr val="tx1"/>
                        </a:solidFill>
                        <a:latin typeface="Cambria Math" panose="02040503050406030204" pitchFamily="18" charset="0"/>
                        <a:ea typeface="微软雅黑" panose="020B0503020204020204" pitchFamily="34" charset="-122"/>
                      </a:rPr>
                      <m:t>总能</m:t>
                    </m:r>
                    <m:r>
                      <a:rPr lang="zh-CN" altLang="en-US" i="1">
                        <a:latin typeface="Cambria Math" panose="02040503050406030204" pitchFamily="18" charset="0"/>
                        <a:ea typeface="微软雅黑" panose="020B0503020204020204" pitchFamily="34" charset="-122"/>
                      </a:rPr>
                      <m:t>找到</m:t>
                    </m:r>
                    <m:r>
                      <a:rPr lang="zh-CN" altLang="en-US" i="1">
                        <a:solidFill>
                          <a:schemeClr val="tx1"/>
                        </a:solidFill>
                        <a:latin typeface="Cambria Math" panose="02040503050406030204" pitchFamily="18" charset="0"/>
                        <a:ea typeface="微软雅黑" panose="020B0503020204020204" pitchFamily="34" charset="-122"/>
                      </a:rPr>
                      <m:t>一个</m:t>
                    </m:r>
                  </m:oMath>
                </a14:m>
                <a:r>
                  <a:rPr lang="zh-CN" altLang="en-US" dirty="0">
                    <a:solidFill>
                      <a:schemeClr val="tx1"/>
                    </a:solidFill>
                    <a:latin typeface="微软雅黑" panose="020B0503020204020204" pitchFamily="34" charset="-122"/>
                    <a:ea typeface="微软雅黑" panose="020B0503020204020204" pitchFamily="34" charset="-122"/>
                  </a:rPr>
                  <a:t>训练样本，即训练样本的采样密度足够大，或称为</a:t>
                </a:r>
                <a:r>
                  <a:rPr lang="zh-CN" altLang="en-US" dirty="0">
                    <a:latin typeface="微软雅黑" panose="020B0503020204020204" pitchFamily="34" charset="-122"/>
                    <a:ea typeface="微软雅黑" panose="020B0503020204020204" pitchFamily="34" charset="-122"/>
                  </a:rPr>
                  <a:t>“密采样”。这个假设在现实任务中通常很难满足。</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ea typeface="微软雅黑" panose="020B0503020204020204" pitchFamily="34" charset="-122"/>
                  </a:rPr>
                  <a:t>若 </a:t>
                </a:r>
                <a14:m>
                  <m:oMath xmlns:m="http://schemas.openxmlformats.org/officeDocument/2006/math">
                    <m:r>
                      <m:rPr>
                        <m:sty m:val="p"/>
                      </m:rPr>
                      <a:rPr lang="en-US" altLang="zh-CN" i="1">
                        <a:latin typeface="Cambria Math" panose="02040503050406030204" pitchFamily="18" charset="0"/>
                        <a:ea typeface="微软雅黑" panose="020B0503020204020204" pitchFamily="34" charset="-122"/>
                      </a:rPr>
                      <m:t>δ</m:t>
                    </m:r>
                  </m:oMath>
                </a14:m>
                <a:r>
                  <a:rPr lang="en-US" altLang="zh-CN" dirty="0">
                    <a:latin typeface="微软雅黑" panose="020B0503020204020204" pitchFamily="34" charset="-122"/>
                    <a:ea typeface="微软雅黑" panose="020B0503020204020204" pitchFamily="34" charset="-122"/>
                  </a:rPr>
                  <a:t>=0.001</a:t>
                </a:r>
                <a:r>
                  <a:rPr lang="zh-CN" altLang="en-US" dirty="0">
                    <a:latin typeface="微软雅黑" panose="020B0503020204020204" pitchFamily="34" charset="-122"/>
                    <a:ea typeface="微软雅黑" panose="020B0503020204020204" pitchFamily="34" charset="-122"/>
                  </a:rPr>
                  <a:t>， 仅考虑单个属性，则仅需 </a:t>
                </a:r>
                <a:r>
                  <a:rPr lang="en-US" altLang="zh-CN" dirty="0">
                    <a:latin typeface="微软雅黑" panose="020B0503020204020204" pitchFamily="34" charset="-122"/>
                    <a:ea typeface="微软雅黑" panose="020B0503020204020204" pitchFamily="34" charset="-122"/>
                  </a:rPr>
                  <a:t>1000 </a:t>
                </a:r>
                <a:r>
                  <a:rPr lang="zh-CN" altLang="en-US" dirty="0">
                    <a:latin typeface="微软雅黑" panose="020B0503020204020204" pitchFamily="34" charset="-122"/>
                    <a:ea typeface="微软雅黑" panose="020B0503020204020204" pitchFamily="34" charset="-122"/>
                  </a:rPr>
                  <a:t>个样本点平均分布在归一化后的属性取值范围内，即任意测试样本在其附近 </a:t>
                </a:r>
                <a:r>
                  <a:rPr lang="en-US" altLang="zh-CN" dirty="0">
                    <a:latin typeface="微软雅黑" panose="020B0503020204020204" pitchFamily="34" charset="-122"/>
                    <a:ea typeface="微软雅黑" panose="020B0503020204020204" pitchFamily="34" charset="-122"/>
                  </a:rPr>
                  <a:t>0.001 </a:t>
                </a:r>
                <a:r>
                  <a:rPr lang="zh-CN" altLang="en-US" dirty="0">
                    <a:latin typeface="微软雅黑" panose="020B0503020204020204" pitchFamily="34" charset="-122"/>
                    <a:ea typeface="微软雅黑" panose="020B0503020204020204" pitchFamily="34" charset="-122"/>
                  </a:rPr>
                  <a:t>距离范围内总能找到一个训练样本，此时最近邻分类器的错误率不超过贝叶斯最优分类器的错误率的两倍。</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以上情形仅仅是特征维度是</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，若有更多的属性，则情况会发生显著变化。例如，假定属性维数为</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，若要求样本满足密采样条件，则至少需要</a:t>
                </a:r>
                <a:r>
                  <a:rPr lang="en-US" altLang="zh-CN" dirty="0">
                    <a:latin typeface="微软雅黑" panose="020B0503020204020204" pitchFamily="34" charset="-122"/>
                    <a:ea typeface="微软雅黑" panose="020B0503020204020204" pitchFamily="34" charset="-122"/>
                  </a:rPr>
                  <a:t>10^60</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现实应用中属性维数经常成千上万，要满足密采样条件所需的样本数目是天文数字。此外，许多学习方法都涉及距离计算，而高维空间会给距离计算带来很大的麻烦，例如当维数很高时甚至连计算内积都不再容易。</a:t>
                </a: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762000" y="1298968"/>
                <a:ext cx="10529456" cy="4433393"/>
              </a:xfrm>
              <a:prstGeom prst="rect">
                <a:avLst/>
              </a:prstGeom>
              <a:blipFill rotWithShape="1">
                <a:blip r:embed="rId1"/>
                <a:stretch>
                  <a:fillRect t="-9" r="-755" b="-2387"/>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2"/>
          <p:cNvSpPr txBox="1">
            <a:spLocks noChangeArrowheads="1"/>
          </p:cNvSpPr>
          <p:nvPr/>
        </p:nvSpPr>
        <p:spPr bwMode="auto">
          <a:xfrm>
            <a:off x="483702" y="1132344"/>
            <a:ext cx="45723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zh-CN" altLang="en-US" b="1" dirty="0">
                <a:solidFill>
                  <a:schemeClr val="accent5">
                    <a:lumMod val="50000"/>
                  </a:schemeClr>
                </a:solidFill>
                <a:latin typeface="微软雅黑" panose="020B0503020204020204" pitchFamily="34" charset="-122"/>
              </a:rPr>
              <a:t>维度灾难</a:t>
            </a:r>
            <a:r>
              <a:rPr lang="en-US" altLang="zh-CN" b="1" dirty="0">
                <a:solidFill>
                  <a:schemeClr val="accent5">
                    <a:lumMod val="50000"/>
                  </a:schemeClr>
                </a:solidFill>
                <a:latin typeface="微软雅黑" panose="020B0503020204020204" pitchFamily="34" charset="-122"/>
              </a:rPr>
              <a:t>(curse of dimensionality)</a:t>
            </a:r>
            <a:endParaRPr lang="zh-CN" altLang="en-US" b="1" dirty="0">
              <a:solidFill>
                <a:schemeClr val="accent5">
                  <a:lumMod val="50000"/>
                </a:schemeClr>
              </a:solidFill>
              <a:latin typeface="微软雅黑" panose="020B0503020204020204" pitchFamily="34" charset="-122"/>
            </a:endParaRPr>
          </a:p>
        </p:txBody>
      </p:sp>
      <p:sp>
        <p:nvSpPr>
          <p:cNvPr id="4" name="文本框 3"/>
          <p:cNvSpPr txBox="1"/>
          <p:nvPr/>
        </p:nvSpPr>
        <p:spPr>
          <a:xfrm>
            <a:off x="1055649" y="1684623"/>
            <a:ext cx="10080702" cy="87440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事实上，在高维情形下出现的数据样本稀疏、距离计算困难等问题，是所有机器学习方法共同面临的严重障碍， 被称为</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维数灾难</a:t>
            </a:r>
            <a:r>
              <a:rPr lang="en-US" altLang="zh-CN" dirty="0">
                <a:latin typeface="微软雅黑" panose="020B0503020204020204" pitchFamily="34" charset="-122"/>
                <a:ea typeface="微软雅黑" panose="020B0503020204020204" pitchFamily="34" charset="-122"/>
              </a:rPr>
              <a:t>” (curse of dimensionality) </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低维嵌入</a:t>
            </a:r>
            <a:endParaRPr lang="zh-CN" altLang="en-US" dirty="0"/>
          </a:p>
        </p:txBody>
      </p:sp>
      <p:pic>
        <p:nvPicPr>
          <p:cNvPr id="5" name="图片 4"/>
          <p:cNvPicPr>
            <a:picLocks noChangeAspect="1"/>
          </p:cNvPicPr>
          <p:nvPr/>
        </p:nvPicPr>
        <p:blipFill>
          <a:blip r:embed="rId1"/>
          <a:stretch>
            <a:fillRect/>
          </a:stretch>
        </p:blipFill>
        <p:spPr>
          <a:xfrm>
            <a:off x="813330" y="2943281"/>
            <a:ext cx="10565340" cy="25068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低维嵌入</a:t>
            </a:r>
            <a:endParaRPr lang="zh-CN" altLang="en-US" dirty="0"/>
          </a:p>
        </p:txBody>
      </p:sp>
      <p:sp>
        <p:nvSpPr>
          <p:cNvPr id="23" name="文本框 22"/>
          <p:cNvSpPr txBox="1"/>
          <p:nvPr/>
        </p:nvSpPr>
        <p:spPr>
          <a:xfrm>
            <a:off x="535364" y="928407"/>
            <a:ext cx="11121272" cy="212090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缓解维数灾难的一个重要途径是降维(dimension reduction)，亦称“维数约简”，即通过某种</a:t>
            </a:r>
            <a:r>
              <a:rPr lang="zh-CN" altLang="en-US" dirty="0">
                <a:solidFill>
                  <a:srgbClr val="FF0000"/>
                </a:solidFill>
                <a:latin typeface="微软雅黑" panose="020B0503020204020204" pitchFamily="34" charset="-122"/>
                <a:ea typeface="微软雅黑" panose="020B0503020204020204" pitchFamily="34" charset="-122"/>
              </a:rPr>
              <a:t>数学变换</a:t>
            </a:r>
            <a:r>
              <a:rPr lang="zh-CN" altLang="en-US" dirty="0">
                <a:latin typeface="微软雅黑" panose="020B0503020204020204" pitchFamily="34" charset="-122"/>
                <a:ea typeface="微软雅黑" panose="020B0503020204020204" pitchFamily="34" charset="-122"/>
              </a:rPr>
              <a:t>将原始高维属性空间转变为一个低维“子空间” (subspace) ，在这个子空间中</a:t>
            </a:r>
            <a:r>
              <a:rPr lang="zh-CN" altLang="en-US" dirty="0">
                <a:solidFill>
                  <a:srgbClr val="FF0000"/>
                </a:solidFill>
                <a:latin typeface="微软雅黑" panose="020B0503020204020204" pitchFamily="34" charset="-122"/>
                <a:ea typeface="微软雅黑" panose="020B0503020204020204" pitchFamily="34" charset="-122"/>
              </a:rPr>
              <a:t>样本密度</a:t>
            </a:r>
            <a:r>
              <a:rPr lang="zh-CN" altLang="en-US" dirty="0">
                <a:latin typeface="微软雅黑" panose="020B0503020204020204" pitchFamily="34" charset="-122"/>
                <a:ea typeface="微软雅黑" panose="020B0503020204020204" pitchFamily="34" charset="-122"/>
              </a:rPr>
              <a:t>大幅提高， 距离计算也变得更为容易。</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为什么能进行降维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人们观测或收集到的数据样本虽是高维的，但与学习任务密切相关的也许仅是某个低维分布，即高维空间中的一个</a:t>
            </a:r>
            <a:r>
              <a:rPr lang="zh-CN" altLang="en-US" dirty="0">
                <a:solidFill>
                  <a:srgbClr val="FF0000"/>
                </a:solidFill>
                <a:latin typeface="微软雅黑" panose="020B0503020204020204" pitchFamily="34" charset="-122"/>
                <a:ea typeface="微软雅黑" panose="020B0503020204020204" pitchFamily="34" charset="-122"/>
              </a:rPr>
              <a:t>低维</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嵌入</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(embedding) </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3262746" y="3230651"/>
            <a:ext cx="6172200" cy="3317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多维缩放（</a:t>
            </a:r>
            <a:r>
              <a:rPr lang="en-US" altLang="zh-CN" dirty="0"/>
              <a:t>Multiple Dimensional Scaling</a:t>
            </a:r>
            <a:r>
              <a:rPr lang="zh-CN" altLang="en-US" dirty="0"/>
              <a:t>）</a:t>
            </a:r>
            <a:endParaRPr lang="zh-CN" altLang="en-US" dirty="0"/>
          </a:p>
        </p:txBody>
      </p:sp>
      <mc:AlternateContent xmlns:mc="http://schemas.openxmlformats.org/markup-compatibility/2006">
        <mc:Choice xmlns:a14="http://schemas.microsoft.com/office/drawing/2010/main" Requires="a14">
          <p:sp>
            <p:nvSpPr>
              <p:cNvPr id="13" name="文本框 12"/>
              <p:cNvSpPr txBox="1"/>
              <p:nvPr/>
            </p:nvSpPr>
            <p:spPr>
              <a:xfrm>
                <a:off x="463858" y="871876"/>
                <a:ext cx="11423341" cy="3108223"/>
              </a:xfrm>
              <a:prstGeom prst="rect">
                <a:avLst/>
              </a:prstGeom>
              <a:noFill/>
            </p:spPr>
            <p:txBody>
              <a:bodyPr wrap="square">
                <a:spAutoFit/>
              </a:bodyPr>
              <a:lstStyle/>
              <a:p>
                <a:pPr marL="285750"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若要求</a:t>
                </a:r>
                <a:r>
                  <a:rPr lang="zh-CN" altLang="en-US" dirty="0">
                    <a:solidFill>
                      <a:srgbClr val="FF0000"/>
                    </a:solidFill>
                    <a:latin typeface="微软雅黑" panose="020B0503020204020204" pitchFamily="34" charset="-122"/>
                    <a:ea typeface="微软雅黑" panose="020B0503020204020204" pitchFamily="34" charset="-122"/>
                  </a:rPr>
                  <a:t>原始空间中样本之间的距离在低维空间中得以保持</a:t>
                </a:r>
                <a:r>
                  <a:rPr lang="zh-CN" altLang="en-US" dirty="0">
                    <a:latin typeface="微软雅黑" panose="020B0503020204020204" pitchFamily="34" charset="-122"/>
                    <a:ea typeface="微软雅黑" panose="020B0503020204020204" pitchFamily="34" charset="-122"/>
                  </a:rPr>
                  <a:t>，即得到“多维缩放”（Multiple Dimensional Scaling，简称MDS），经典的降维方法。多维缩放的</a:t>
                </a:r>
                <a:r>
                  <a:rPr lang="zh-CN" altLang="en-US" dirty="0">
                    <a:solidFill>
                      <a:srgbClr val="FF0000"/>
                    </a:solidFill>
                    <a:latin typeface="微软雅黑" panose="020B0503020204020204" pitchFamily="34" charset="-122"/>
                    <a:ea typeface="微软雅黑" panose="020B0503020204020204" pitchFamily="34" charset="-122"/>
                  </a:rPr>
                  <a:t>目标</a:t>
                </a:r>
                <a:r>
                  <a:rPr lang="zh-CN" altLang="en-US" dirty="0">
                    <a:latin typeface="微软雅黑" panose="020B0503020204020204" pitchFamily="34" charset="-122"/>
                    <a:ea typeface="微软雅黑" panose="020B0503020204020204" pitchFamily="34" charset="-122"/>
                  </a:rPr>
                  <a:t>是通过缩放后，</a:t>
                </a:r>
                <a:r>
                  <a:rPr lang="zh-CN" altLang="en-US" b="1" u="sng" dirty="0">
                    <a:latin typeface="微软雅黑" panose="020B0503020204020204" pitchFamily="34" charset="-122"/>
                    <a:ea typeface="微软雅黑" panose="020B0503020204020204" pitchFamily="34" charset="-122"/>
                  </a:rPr>
                  <a:t>样本在新的低维空间上的欧式距离和其在原始空间的距离相等</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假设</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个样本属于</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维空间，各个样本之间距离存于矩阵                    其第 </a:t>
                </a:r>
                <a:r>
                  <a:rPr lang="en-US" altLang="zh-CN" dirty="0">
                    <a:latin typeface="微软雅黑" panose="020B0503020204020204" pitchFamily="34" charset="-122"/>
                    <a:ea typeface="微软雅黑" panose="020B0503020204020204" pitchFamily="34" charset="-122"/>
                  </a:rPr>
                  <a:t>i</a:t>
                </a:r>
                <a:r>
                  <a:rPr lang="zh-CN" altLang="en-US" dirty="0" err="1">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j</a:t>
                </a:r>
                <a:r>
                  <a:rPr lang="zh-CN" altLang="en-US" dirty="0">
                    <a:latin typeface="微软雅黑" panose="020B0503020204020204" pitchFamily="34" charset="-122"/>
                    <a:ea typeface="微软雅黑" panose="020B0503020204020204" pitchFamily="34" charset="-122"/>
                  </a:rPr>
                  <a:t> 列的元素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为样本      到      的距离。样本在</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𝑑</m:t>
                        </m:r>
                      </m:e>
                      <m:sup>
                        <m:r>
                          <a:rPr lang="en-US" altLang="zh-CN" b="0" i="1" smtClean="0">
                            <a:latin typeface="Cambria Math" panose="02040503050406030204" pitchFamily="18" charset="0"/>
                            <a:ea typeface="微软雅黑" panose="020B0503020204020204" pitchFamily="34" charset="-122"/>
                          </a:rPr>
                          <m:t>′</m:t>
                        </m:r>
                      </m:sup>
                    </m:sSup>
                    <m:r>
                      <a:rPr lang="zh-CN" altLang="en-US" i="1">
                        <a:latin typeface="Cambria Math" panose="02040503050406030204" pitchFamily="18" charset="0"/>
                        <a:ea typeface="微软雅黑" panose="020B0503020204020204" pitchFamily="34" charset="-122"/>
                      </a:rPr>
                      <m:t>维</m:t>
                    </m:r>
                    <m:r>
                      <a:rPr lang="zh-CN" altLang="en-US" i="1" smtClean="0">
                        <a:latin typeface="Cambria Math" panose="02040503050406030204" pitchFamily="18" charset="0"/>
                        <a:ea typeface="微软雅黑" panose="020B0503020204020204" pitchFamily="34" charset="-122"/>
                      </a:rPr>
                      <m:t>空间</m:t>
                    </m:r>
                  </m:oMath>
                </a14:m>
                <a:r>
                  <a:rPr lang="zh-CN" altLang="en-US" b="0" dirty="0">
                    <a:latin typeface="微软雅黑" panose="020B0503020204020204" pitchFamily="34" charset="-122"/>
                    <a:ea typeface="微软雅黑" panose="020B0503020204020204" pitchFamily="34" charset="-122"/>
                  </a:rPr>
                  <a:t>的表示为                            多维缩放的目标即</a:t>
                </a:r>
                <a:endParaRPr lang="zh-CN" altLang="en-US" dirty="0">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令                               其中</a:t>
                </a:r>
                <a:r>
                  <a:rPr lang="en-US" altLang="zh-CN" dirty="0">
                    <a:latin typeface="微软雅黑" panose="020B0503020204020204" pitchFamily="34" charset="-122"/>
                    <a:ea typeface="微软雅黑" panose="020B0503020204020204" pitchFamily="34" charset="-122"/>
                  </a:rPr>
                  <a:t> B </a:t>
                </a:r>
                <a:r>
                  <a:rPr lang="zh-CN" altLang="en-US" dirty="0">
                    <a:latin typeface="微软雅黑" panose="020B0503020204020204" pitchFamily="34" charset="-122"/>
                    <a:ea typeface="微软雅黑" panose="020B0503020204020204" pitchFamily="34" charset="-122"/>
                  </a:rPr>
                  <a:t>为降维后样本</a:t>
                </a:r>
                <a:r>
                  <a:rPr lang="zh-CN" altLang="en-US">
                    <a:latin typeface="微软雅黑" panose="020B0503020204020204" pitchFamily="34" charset="-122"/>
                    <a:ea typeface="微软雅黑" panose="020B0503020204020204" pitchFamily="34" charset="-122"/>
                  </a:rPr>
                  <a:t>的内积矩阵，                </a:t>
                </a:r>
                <a:r>
                  <a:rPr lang="zh-CN" altLang="en-US" dirty="0">
                    <a:latin typeface="微软雅黑" panose="020B0503020204020204" pitchFamily="34" charset="-122"/>
                    <a:ea typeface="微软雅黑" panose="020B0503020204020204" pitchFamily="34" charset="-122"/>
                  </a:rPr>
                  <a:t>并且假定降维后的样本</a:t>
                </a:r>
                <a:r>
                  <a:rPr lang="en-US" altLang="zh-CN" dirty="0">
                    <a:latin typeface="微软雅黑" panose="020B0503020204020204" pitchFamily="34" charset="-122"/>
                    <a:ea typeface="微软雅黑" panose="020B0503020204020204" pitchFamily="34" charset="-122"/>
                  </a:rPr>
                  <a:t> Z </a:t>
                </a:r>
                <a:r>
                  <a:rPr lang="zh-CN" altLang="en-US" dirty="0">
                    <a:latin typeface="微软雅黑" panose="020B0503020204020204" pitchFamily="34" charset="-122"/>
                    <a:ea typeface="微软雅黑" panose="020B0503020204020204" pitchFamily="34" charset="-122"/>
                  </a:rPr>
                  <a:t>被中心化，即使                     则</a:t>
                </a:r>
                <a:endParaRPr lang="zh-CN" altLang="en-US" dirty="0">
                  <a:latin typeface="微软雅黑" panose="020B0503020204020204" pitchFamily="34" charset="-122"/>
                  <a:ea typeface="微软雅黑" panose="020B0503020204020204" pitchFamily="34"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463858" y="871876"/>
                <a:ext cx="11423341" cy="3108223"/>
              </a:xfrm>
              <a:prstGeom prst="rect">
                <a:avLst/>
              </a:prstGeom>
              <a:blipFill rotWithShape="1">
                <a:blip r:embed="rId1"/>
                <a:stretch>
                  <a:fillRect l="-3" t="-1" r="6" b="18"/>
                </a:stretch>
              </a:blipFill>
            </p:spPr>
            <p:txBody>
              <a:bodyPr/>
              <a:lstStyle/>
              <a:p>
                <a:r>
                  <a:rPr lang="zh-CN" altLang="en-US">
                    <a:noFill/>
                  </a:rPr>
                  <a:t> </a:t>
                </a:r>
              </a:p>
            </p:txBody>
          </p:sp>
        </mc:Fallback>
      </mc:AlternateContent>
      <p:pic>
        <p:nvPicPr>
          <p:cNvPr id="16" name="图片 15"/>
          <p:cNvPicPr>
            <a:picLocks noChangeAspect="1"/>
          </p:cNvPicPr>
          <p:nvPr/>
        </p:nvPicPr>
        <p:blipFill>
          <a:blip r:embed="rId2"/>
          <a:stretch>
            <a:fillRect/>
          </a:stretch>
        </p:blipFill>
        <p:spPr>
          <a:xfrm>
            <a:off x="6512338" y="2285626"/>
            <a:ext cx="1143099" cy="280058"/>
          </a:xfrm>
          <a:prstGeom prst="rect">
            <a:avLst/>
          </a:prstGeom>
        </p:spPr>
      </p:pic>
      <p:pic>
        <p:nvPicPr>
          <p:cNvPr id="19" name="图片 18"/>
          <p:cNvPicPr>
            <a:picLocks noChangeAspect="1"/>
          </p:cNvPicPr>
          <p:nvPr/>
        </p:nvPicPr>
        <p:blipFill>
          <a:blip r:embed="rId3"/>
          <a:stretch>
            <a:fillRect/>
          </a:stretch>
        </p:blipFill>
        <p:spPr>
          <a:xfrm>
            <a:off x="9855834" y="2304762"/>
            <a:ext cx="647756" cy="297206"/>
          </a:xfrm>
          <a:prstGeom prst="rect">
            <a:avLst/>
          </a:prstGeom>
        </p:spPr>
      </p:pic>
      <p:pic>
        <p:nvPicPr>
          <p:cNvPr id="21" name="图片 20"/>
          <p:cNvPicPr>
            <a:picLocks noChangeAspect="1"/>
          </p:cNvPicPr>
          <p:nvPr/>
        </p:nvPicPr>
        <p:blipFill>
          <a:blip r:embed="rId4"/>
          <a:stretch>
            <a:fillRect/>
          </a:stretch>
        </p:blipFill>
        <p:spPr>
          <a:xfrm>
            <a:off x="11231074" y="2350366"/>
            <a:ext cx="289585" cy="228620"/>
          </a:xfrm>
          <a:prstGeom prst="rect">
            <a:avLst/>
          </a:prstGeom>
        </p:spPr>
      </p:pic>
      <p:pic>
        <p:nvPicPr>
          <p:cNvPr id="23" name="图片 22"/>
          <p:cNvPicPr>
            <a:picLocks noChangeAspect="1"/>
          </p:cNvPicPr>
          <p:nvPr/>
        </p:nvPicPr>
        <p:blipFill>
          <a:blip r:embed="rId5"/>
          <a:stretch>
            <a:fillRect/>
          </a:stretch>
        </p:blipFill>
        <p:spPr>
          <a:xfrm>
            <a:off x="1108314" y="2733193"/>
            <a:ext cx="320068" cy="281964"/>
          </a:xfrm>
          <a:prstGeom prst="rect">
            <a:avLst/>
          </a:prstGeom>
        </p:spPr>
      </p:pic>
      <p:pic>
        <p:nvPicPr>
          <p:cNvPr id="25" name="图片 24"/>
          <p:cNvPicPr>
            <a:picLocks noChangeAspect="1"/>
          </p:cNvPicPr>
          <p:nvPr/>
        </p:nvPicPr>
        <p:blipFill>
          <a:blip r:embed="rId6"/>
          <a:stretch>
            <a:fillRect/>
          </a:stretch>
        </p:blipFill>
        <p:spPr>
          <a:xfrm>
            <a:off x="4903326" y="2746298"/>
            <a:ext cx="1867062" cy="274344"/>
          </a:xfrm>
          <a:prstGeom prst="rect">
            <a:avLst/>
          </a:prstGeom>
        </p:spPr>
      </p:pic>
      <p:pic>
        <p:nvPicPr>
          <p:cNvPr id="27" name="图片 26"/>
          <p:cNvPicPr>
            <a:picLocks noChangeAspect="1"/>
          </p:cNvPicPr>
          <p:nvPr/>
        </p:nvPicPr>
        <p:blipFill>
          <a:blip r:embed="rId7"/>
          <a:stretch>
            <a:fillRect/>
          </a:stretch>
        </p:blipFill>
        <p:spPr>
          <a:xfrm>
            <a:off x="8656858" y="2717951"/>
            <a:ext cx="1905165" cy="297206"/>
          </a:xfrm>
          <a:prstGeom prst="rect">
            <a:avLst/>
          </a:prstGeom>
        </p:spPr>
      </p:pic>
      <p:pic>
        <p:nvPicPr>
          <p:cNvPr id="33" name="图片 32"/>
          <p:cNvPicPr>
            <a:picLocks noChangeAspect="1"/>
          </p:cNvPicPr>
          <p:nvPr/>
        </p:nvPicPr>
        <p:blipFill>
          <a:blip r:embed="rId8"/>
          <a:stretch>
            <a:fillRect/>
          </a:stretch>
        </p:blipFill>
        <p:spPr>
          <a:xfrm>
            <a:off x="1149879" y="3179672"/>
            <a:ext cx="2026584" cy="331035"/>
          </a:xfrm>
          <a:prstGeom prst="rect">
            <a:avLst/>
          </a:prstGeom>
        </p:spPr>
      </p:pic>
      <p:pic>
        <p:nvPicPr>
          <p:cNvPr id="35" name="图片 34"/>
          <p:cNvPicPr>
            <a:picLocks noChangeAspect="1"/>
          </p:cNvPicPr>
          <p:nvPr/>
        </p:nvPicPr>
        <p:blipFill>
          <a:blip r:embed="rId9"/>
          <a:stretch>
            <a:fillRect/>
          </a:stretch>
        </p:blipFill>
        <p:spPr>
          <a:xfrm>
            <a:off x="6558007" y="3206316"/>
            <a:ext cx="1143099" cy="304826"/>
          </a:xfrm>
          <a:prstGeom prst="rect">
            <a:avLst/>
          </a:prstGeom>
        </p:spPr>
      </p:pic>
      <p:pic>
        <p:nvPicPr>
          <p:cNvPr id="37" name="图片 36"/>
          <p:cNvPicPr>
            <a:picLocks noChangeAspect="1"/>
          </p:cNvPicPr>
          <p:nvPr/>
        </p:nvPicPr>
        <p:blipFill>
          <a:blip r:embed="rId10"/>
          <a:stretch>
            <a:fillRect/>
          </a:stretch>
        </p:blipFill>
        <p:spPr>
          <a:xfrm>
            <a:off x="3245139" y="3670499"/>
            <a:ext cx="5303116" cy="2267702"/>
          </a:xfrm>
          <a:prstGeom prst="rect">
            <a:avLst/>
          </a:prstGeom>
        </p:spPr>
      </p:pic>
      <p:sp>
        <p:nvSpPr>
          <p:cNvPr id="38" name="文本框 37"/>
          <p:cNvSpPr txBox="1"/>
          <p:nvPr/>
        </p:nvSpPr>
        <p:spPr>
          <a:xfrm>
            <a:off x="775855" y="5899225"/>
            <a:ext cx="10016836" cy="88107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我们的目标是降维，即要求降维后的空间</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，然而         是已知的，因此我们就是要用         来表示出矩阵</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，那么此时降维的要求就已经完成</a:t>
            </a:r>
            <a:endParaRPr lang="zh-CN" altLang="en-US" dirty="0">
              <a:latin typeface="微软雅黑" panose="020B0503020204020204" pitchFamily="34" charset="-122"/>
              <a:ea typeface="微软雅黑" panose="020B0503020204020204" pitchFamily="34" charset="-122"/>
            </a:endParaRPr>
          </a:p>
        </p:txBody>
      </p:sp>
      <p:pic>
        <p:nvPicPr>
          <p:cNvPr id="40" name="图片 39"/>
          <p:cNvPicPr>
            <a:picLocks noChangeAspect="1"/>
          </p:cNvPicPr>
          <p:nvPr/>
        </p:nvPicPr>
        <p:blipFill>
          <a:blip r:embed="rId11"/>
          <a:stretch>
            <a:fillRect/>
          </a:stretch>
        </p:blipFill>
        <p:spPr>
          <a:xfrm>
            <a:off x="5877063" y="6021081"/>
            <a:ext cx="495343" cy="304826"/>
          </a:xfrm>
          <a:prstGeom prst="rect">
            <a:avLst/>
          </a:prstGeom>
        </p:spPr>
      </p:pic>
      <p:pic>
        <p:nvPicPr>
          <p:cNvPr id="42" name="图片 41"/>
          <p:cNvPicPr>
            <a:picLocks noChangeAspect="1"/>
          </p:cNvPicPr>
          <p:nvPr/>
        </p:nvPicPr>
        <p:blipFill>
          <a:blip r:embed="rId11"/>
          <a:stretch>
            <a:fillRect/>
          </a:stretch>
        </p:blipFill>
        <p:spPr>
          <a:xfrm>
            <a:off x="9448834" y="6021081"/>
            <a:ext cx="495343" cy="304826"/>
          </a:xfrm>
          <a:prstGeom prst="rect">
            <a:avLst/>
          </a:prstGeom>
        </p:spPr>
      </p:pic>
      <p:pic>
        <p:nvPicPr>
          <p:cNvPr id="49" name="图片 48"/>
          <p:cNvPicPr>
            <a:picLocks noChangeAspect="1"/>
          </p:cNvPicPr>
          <p:nvPr/>
        </p:nvPicPr>
        <p:blipFill>
          <a:blip r:embed="rId12"/>
          <a:stretch>
            <a:fillRect/>
          </a:stretch>
        </p:blipFill>
        <p:spPr>
          <a:xfrm>
            <a:off x="1094459" y="3579982"/>
            <a:ext cx="1308042" cy="3442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公式推导</a:t>
            </a:r>
            <a:endParaRPr lang="zh-CN" altLang="en-US" dirty="0"/>
          </a:p>
        </p:txBody>
      </p:sp>
      <mc:AlternateContent xmlns:mc="http://schemas.openxmlformats.org/markup-compatibility/2006">
        <mc:Choice xmlns:a14="http://schemas.microsoft.com/office/drawing/2010/main" Requires="a14">
          <p:sp>
            <p:nvSpPr>
              <p:cNvPr id="7" name="文本框 6"/>
              <p:cNvSpPr txBox="1"/>
              <p:nvPr/>
            </p:nvSpPr>
            <p:spPr>
              <a:xfrm>
                <a:off x="360749" y="852256"/>
                <a:ext cx="10967158" cy="369332"/>
              </a:xfrm>
              <a:prstGeom prst="rect">
                <a:avLst/>
              </a:prstGeom>
              <a:noFill/>
            </p:spPr>
            <p:txBody>
              <a:bodyPr wrap="square" rtlCol="0">
                <a:spAutoFit/>
              </a:bodyPr>
              <a:lstStyle/>
              <a:p>
                <a:r>
                  <a:rPr lang="zh-CN" altLang="en-US" dirty="0"/>
                  <a:t>由于</a:t>
                </a:r>
                <a14:m>
                  <m:oMath xmlns:m="http://schemas.openxmlformats.org/officeDocument/2006/math">
                    <m:r>
                      <a:rPr lang="en-US" altLang="zh-CN" b="1" i="1" smtClean="0">
                        <a:latin typeface="Cambria Math" panose="02040503050406030204" pitchFamily="18" charset="0"/>
                      </a:rPr>
                      <m:t>𝒁</m:t>
                    </m:r>
                  </m:oMath>
                </a14:m>
                <a:r>
                  <a:rPr lang="zh-CN" altLang="en-US" dirty="0"/>
                  <a:t>已经被中心化，显然                               的行列之和均为</a:t>
                </a:r>
                <a:r>
                  <a:rPr lang="en-US" altLang="zh-CN" dirty="0"/>
                  <a:t>0</a:t>
                </a:r>
                <a:r>
                  <a:rPr lang="zh-CN" altLang="en-US" dirty="0"/>
                  <a:t>，即                                                                            </a:t>
                </a:r>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360749" y="852256"/>
                <a:ext cx="10967158" cy="369332"/>
              </a:xfrm>
              <a:prstGeom prst="rect">
                <a:avLst/>
              </a:prstGeom>
              <a:blipFill rotWithShape="1">
                <a:blip r:embed="rId1"/>
                <a:stretch>
                  <a:fillRect l="-1" t="-23" r="1" b="131"/>
                </a:stretch>
              </a:blipFill>
            </p:spPr>
            <p:txBody>
              <a:bodyPr/>
              <a:lstStyle/>
              <a:p>
                <a:r>
                  <a:rPr lang="zh-CN" altLang="en-US">
                    <a:noFill/>
                  </a:rPr>
                  <a:t> </a:t>
                </a:r>
              </a:p>
            </p:txBody>
          </p:sp>
        </mc:Fallback>
      </mc:AlternateContent>
      <p:pic>
        <p:nvPicPr>
          <p:cNvPr id="10" name="图片 9"/>
          <p:cNvPicPr>
            <a:picLocks noChangeAspect="1"/>
          </p:cNvPicPr>
          <p:nvPr/>
        </p:nvPicPr>
        <p:blipFill>
          <a:blip r:embed="rId2"/>
          <a:stretch>
            <a:fillRect/>
          </a:stretch>
        </p:blipFill>
        <p:spPr>
          <a:xfrm>
            <a:off x="3143428" y="914991"/>
            <a:ext cx="1874682" cy="243861"/>
          </a:xfrm>
          <a:prstGeom prst="rect">
            <a:avLst/>
          </a:prstGeom>
        </p:spPr>
      </p:pic>
      <p:pic>
        <p:nvPicPr>
          <p:cNvPr id="17" name="图片 16"/>
          <p:cNvPicPr>
            <a:picLocks noChangeAspect="1"/>
          </p:cNvPicPr>
          <p:nvPr/>
        </p:nvPicPr>
        <p:blipFill>
          <a:blip r:embed="rId3"/>
          <a:stretch>
            <a:fillRect/>
          </a:stretch>
        </p:blipFill>
        <p:spPr>
          <a:xfrm>
            <a:off x="7245775" y="876887"/>
            <a:ext cx="2423370" cy="320068"/>
          </a:xfrm>
          <a:prstGeom prst="rect">
            <a:avLst/>
          </a:prstGeom>
        </p:spPr>
      </p:pic>
      <p:pic>
        <p:nvPicPr>
          <p:cNvPr id="25" name="图片 24"/>
          <p:cNvPicPr>
            <a:picLocks noChangeAspect="1"/>
          </p:cNvPicPr>
          <p:nvPr/>
        </p:nvPicPr>
        <p:blipFill>
          <a:blip r:embed="rId4"/>
          <a:stretch>
            <a:fillRect/>
          </a:stretch>
        </p:blipFill>
        <p:spPr>
          <a:xfrm>
            <a:off x="5346728" y="2249719"/>
            <a:ext cx="5191303" cy="716676"/>
          </a:xfrm>
          <a:prstGeom prst="rect">
            <a:avLst/>
          </a:prstGeom>
        </p:spPr>
      </p:pic>
      <p:pic>
        <p:nvPicPr>
          <p:cNvPr id="27" name="图片 26"/>
          <p:cNvPicPr>
            <a:picLocks noChangeAspect="1"/>
          </p:cNvPicPr>
          <p:nvPr/>
        </p:nvPicPr>
        <p:blipFill>
          <a:blip r:embed="rId5"/>
          <a:stretch>
            <a:fillRect/>
          </a:stretch>
        </p:blipFill>
        <p:spPr>
          <a:xfrm>
            <a:off x="5346728" y="1288540"/>
            <a:ext cx="3379882" cy="716676"/>
          </a:xfrm>
          <a:prstGeom prst="rect">
            <a:avLst/>
          </a:prstGeom>
        </p:spPr>
      </p:pic>
      <p:sp>
        <p:nvSpPr>
          <p:cNvPr id="32" name="箭头: 右 31"/>
          <p:cNvSpPr/>
          <p:nvPr/>
        </p:nvSpPr>
        <p:spPr>
          <a:xfrm>
            <a:off x="3724863" y="1970748"/>
            <a:ext cx="1349406"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36" name="图片 35"/>
          <p:cNvPicPr>
            <a:picLocks noChangeAspect="1"/>
          </p:cNvPicPr>
          <p:nvPr/>
        </p:nvPicPr>
        <p:blipFill>
          <a:blip r:embed="rId6"/>
          <a:stretch>
            <a:fillRect/>
          </a:stretch>
        </p:blipFill>
        <p:spPr>
          <a:xfrm>
            <a:off x="5183518" y="3092401"/>
            <a:ext cx="5434592" cy="3687431"/>
          </a:xfrm>
          <a:prstGeom prst="rect">
            <a:avLst/>
          </a:prstGeom>
        </p:spPr>
      </p:pic>
      <p:sp>
        <p:nvSpPr>
          <p:cNvPr id="37" name="箭头: 右 36"/>
          <p:cNvSpPr/>
          <p:nvPr/>
        </p:nvSpPr>
        <p:spPr>
          <a:xfrm>
            <a:off x="3734684" y="4487993"/>
            <a:ext cx="1349406"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41" name="图片 40"/>
          <p:cNvPicPr>
            <a:picLocks noChangeAspect="1"/>
          </p:cNvPicPr>
          <p:nvPr/>
        </p:nvPicPr>
        <p:blipFill>
          <a:blip r:embed="rId7"/>
          <a:stretch>
            <a:fillRect/>
          </a:stretch>
        </p:blipFill>
        <p:spPr>
          <a:xfrm>
            <a:off x="689367" y="6289337"/>
            <a:ext cx="5151566" cy="518205"/>
          </a:xfrm>
          <a:prstGeom prst="rect">
            <a:avLst/>
          </a:prstGeom>
        </p:spPr>
      </p:pic>
      <p:pic>
        <p:nvPicPr>
          <p:cNvPr id="4" name="图片 3"/>
          <p:cNvPicPr>
            <a:picLocks noChangeAspect="1"/>
          </p:cNvPicPr>
          <p:nvPr/>
        </p:nvPicPr>
        <p:blipFill>
          <a:blip r:embed="rId8"/>
          <a:stretch>
            <a:fillRect/>
          </a:stretch>
        </p:blipFill>
        <p:spPr>
          <a:xfrm>
            <a:off x="1353706" y="1477109"/>
            <a:ext cx="2182905" cy="1323928"/>
          </a:xfrm>
          <a:prstGeom prst="rect">
            <a:avLst/>
          </a:prstGeom>
        </p:spPr>
      </p:pic>
      <p:pic>
        <p:nvPicPr>
          <p:cNvPr id="5" name="图片 4"/>
          <p:cNvPicPr>
            <a:picLocks noChangeAspect="1"/>
          </p:cNvPicPr>
          <p:nvPr/>
        </p:nvPicPr>
        <p:blipFill>
          <a:blip r:embed="rId9"/>
          <a:stretch>
            <a:fillRect/>
          </a:stretch>
        </p:blipFill>
        <p:spPr>
          <a:xfrm>
            <a:off x="1353706" y="4345738"/>
            <a:ext cx="1988594" cy="574323"/>
          </a:xfrm>
          <a:prstGeom prst="rect">
            <a:avLst/>
          </a:prstGeom>
        </p:spPr>
      </p:pic>
      <p:sp>
        <p:nvSpPr>
          <p:cNvPr id="6" name="文本框 5"/>
          <p:cNvSpPr txBox="1"/>
          <p:nvPr/>
        </p:nvSpPr>
        <p:spPr>
          <a:xfrm>
            <a:off x="9873187" y="876887"/>
            <a:ext cx="2162175" cy="646331"/>
          </a:xfrm>
          <a:prstGeom prst="rect">
            <a:avLst/>
          </a:prstGeom>
          <a:noFill/>
        </p:spPr>
        <p:txBody>
          <a:bodyPr wrap="square" rtlCol="0">
            <a:spAutoFit/>
          </a:bodyPr>
          <a:lstStyle/>
          <a:p>
            <a:r>
              <a:rPr kumimoji="1" lang="zh-CN" altLang="en-US" dirty="0">
                <a:solidFill>
                  <a:srgbClr val="FF0000"/>
                </a:solidFill>
                <a:latin typeface="微软雅黑" panose="020B0503020204020204" pitchFamily="34" charset="-122"/>
                <a:ea typeface="微软雅黑" panose="020B0503020204020204" pitchFamily="34" charset="-122"/>
              </a:rPr>
              <a:t>中心化操作不改变空间的位置</a:t>
            </a:r>
            <a:endParaRPr kumimoji="1" lang="zh-CN" altLang="en-US"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18064" y="1684727"/>
            <a:ext cx="849571" cy="923330"/>
          </a:xfrm>
          <a:prstGeom prst="rect">
            <a:avLst/>
          </a:prstGeom>
          <a:noFill/>
        </p:spPr>
        <p:txBody>
          <a:bodyPr wrap="square" rtlCol="0">
            <a:spAutoFit/>
          </a:bodyPr>
          <a:lstStyle/>
          <a:p>
            <a:r>
              <a:rPr kumimoji="1" lang="zh-CN" altLang="en-US" dirty="0">
                <a:latin typeface="微软雅黑" panose="020B0503020204020204" pitchFamily="34" charset="-122"/>
                <a:ea typeface="微软雅黑" panose="020B0503020204020204" pitchFamily="34" charset="-122"/>
              </a:rPr>
              <a:t>不同维度求和</a:t>
            </a:r>
            <a:endParaRPr kumimoji="1"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stretch>
            <a:fillRect/>
          </a:stretch>
        </p:blipFill>
        <p:spPr>
          <a:xfrm>
            <a:off x="5905229" y="4056963"/>
            <a:ext cx="5471066" cy="2622143"/>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公式推导</a:t>
            </a:r>
            <a:endParaRPr lang="zh-CN" altLang="en-US" dirty="0"/>
          </a:p>
        </p:txBody>
      </p:sp>
      <p:pic>
        <p:nvPicPr>
          <p:cNvPr id="37" name="图片 36"/>
          <p:cNvPicPr>
            <a:picLocks noChangeAspect="1"/>
          </p:cNvPicPr>
          <p:nvPr/>
        </p:nvPicPr>
        <p:blipFill>
          <a:blip r:embed="rId2"/>
          <a:stretch>
            <a:fillRect/>
          </a:stretch>
        </p:blipFill>
        <p:spPr>
          <a:xfrm>
            <a:off x="3910820" y="1106201"/>
            <a:ext cx="510584" cy="502964"/>
          </a:xfrm>
          <a:prstGeom prst="rect">
            <a:avLst/>
          </a:prstGeom>
        </p:spPr>
      </p:pic>
      <p:pic>
        <p:nvPicPr>
          <p:cNvPr id="5" name="图片 4"/>
          <p:cNvPicPr>
            <a:picLocks noChangeAspect="1"/>
          </p:cNvPicPr>
          <p:nvPr/>
        </p:nvPicPr>
        <p:blipFill>
          <a:blip r:embed="rId3"/>
          <a:stretch>
            <a:fillRect/>
          </a:stretch>
        </p:blipFill>
        <p:spPr>
          <a:xfrm>
            <a:off x="2658600" y="899167"/>
            <a:ext cx="3943350" cy="523875"/>
          </a:xfrm>
          <a:prstGeom prst="rect">
            <a:avLst/>
          </a:prstGeom>
        </p:spPr>
      </p:pic>
      <p:pic>
        <p:nvPicPr>
          <p:cNvPr id="11" name="图片 10"/>
          <p:cNvPicPr>
            <a:picLocks noChangeAspect="1"/>
          </p:cNvPicPr>
          <p:nvPr/>
        </p:nvPicPr>
        <p:blipFill>
          <a:blip r:embed="rId4"/>
          <a:stretch>
            <a:fillRect/>
          </a:stretch>
        </p:blipFill>
        <p:spPr>
          <a:xfrm>
            <a:off x="6633105" y="906699"/>
            <a:ext cx="2566143" cy="502964"/>
          </a:xfrm>
          <a:prstGeom prst="rect">
            <a:avLst/>
          </a:prstGeom>
        </p:spPr>
      </p:pic>
      <p:pic>
        <p:nvPicPr>
          <p:cNvPr id="13" name="图片 12"/>
          <p:cNvPicPr>
            <a:picLocks noChangeAspect="1"/>
          </p:cNvPicPr>
          <p:nvPr/>
        </p:nvPicPr>
        <p:blipFill>
          <a:blip r:embed="rId5"/>
          <a:stretch>
            <a:fillRect/>
          </a:stretch>
        </p:blipFill>
        <p:spPr>
          <a:xfrm>
            <a:off x="840764" y="1714175"/>
            <a:ext cx="4595708" cy="2049345"/>
          </a:xfrm>
          <a:prstGeom prst="rect">
            <a:avLst/>
          </a:prstGeom>
        </p:spPr>
      </p:pic>
      <p:pic>
        <p:nvPicPr>
          <p:cNvPr id="15" name="图片 14"/>
          <p:cNvPicPr>
            <a:picLocks noChangeAspect="1"/>
          </p:cNvPicPr>
          <p:nvPr/>
        </p:nvPicPr>
        <p:blipFill>
          <a:blip r:embed="rId6"/>
          <a:stretch>
            <a:fillRect/>
          </a:stretch>
        </p:blipFill>
        <p:spPr>
          <a:xfrm>
            <a:off x="6436692" y="1714175"/>
            <a:ext cx="4595709" cy="2051655"/>
          </a:xfrm>
          <a:prstGeom prst="rect">
            <a:avLst/>
          </a:prstGeom>
        </p:spPr>
      </p:pic>
      <p:pic>
        <p:nvPicPr>
          <p:cNvPr id="17" name="图片 16"/>
          <p:cNvPicPr>
            <a:picLocks noChangeAspect="1"/>
          </p:cNvPicPr>
          <p:nvPr/>
        </p:nvPicPr>
        <p:blipFill>
          <a:blip r:embed="rId7"/>
          <a:stretch>
            <a:fillRect/>
          </a:stretch>
        </p:blipFill>
        <p:spPr>
          <a:xfrm>
            <a:off x="460889" y="4075679"/>
            <a:ext cx="5028090" cy="689471"/>
          </a:xfrm>
          <a:prstGeom prst="rect">
            <a:avLst/>
          </a:prstGeom>
        </p:spPr>
      </p:pic>
      <p:pic>
        <p:nvPicPr>
          <p:cNvPr id="19" name="图片 18"/>
          <p:cNvPicPr>
            <a:picLocks noChangeAspect="1"/>
          </p:cNvPicPr>
          <p:nvPr/>
        </p:nvPicPr>
        <p:blipFill>
          <a:blip r:embed="rId8"/>
          <a:stretch>
            <a:fillRect/>
          </a:stretch>
        </p:blipFill>
        <p:spPr>
          <a:xfrm>
            <a:off x="484335" y="5112478"/>
            <a:ext cx="5171760" cy="1184373"/>
          </a:xfrm>
          <a:prstGeom prst="rect">
            <a:avLst/>
          </a:prstGeom>
        </p:spPr>
      </p:pic>
      <p:sp>
        <p:nvSpPr>
          <p:cNvPr id="4" name="文本框 3"/>
          <p:cNvSpPr txBox="1"/>
          <p:nvPr/>
        </p:nvSpPr>
        <p:spPr>
          <a:xfrm>
            <a:off x="5833626" y="2545006"/>
            <a:ext cx="415498" cy="369332"/>
          </a:xfrm>
          <a:prstGeom prst="rect">
            <a:avLst/>
          </a:prstGeom>
          <a:noFill/>
        </p:spPr>
        <p:txBody>
          <a:bodyPr wrap="none" rtlCol="0">
            <a:spAutoFit/>
          </a:bodyPr>
          <a:lstStyle/>
          <a:p>
            <a:r>
              <a:rPr kumimoji="1" lang="zh-CN" altLang="en-US" dirty="0"/>
              <a:t>令</a:t>
            </a:r>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3173007" y="868982"/>
            <a:ext cx="5845983" cy="1786587"/>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低维空间表示</a:t>
            </a:r>
            <a:r>
              <a:rPr lang="en-US" altLang="zh-CN" dirty="0"/>
              <a:t>Z</a:t>
            </a:r>
            <a:r>
              <a:rPr lang="zh-CN" altLang="en-US" dirty="0"/>
              <a:t>求解</a:t>
            </a:r>
            <a:endParaRPr lang="zh-CN" altLang="en-US" dirty="0"/>
          </a:p>
        </p:txBody>
      </p:sp>
      <mc:AlternateContent xmlns:mc="http://schemas.openxmlformats.org/markup-compatibility/2006">
        <mc:Choice xmlns:a14="http://schemas.microsoft.com/office/drawing/2010/main" Requires="a14">
          <p:sp>
            <p:nvSpPr>
              <p:cNvPr id="8" name="文本框 7"/>
              <p:cNvSpPr txBox="1"/>
              <p:nvPr/>
            </p:nvSpPr>
            <p:spPr>
              <a:xfrm>
                <a:off x="836816" y="2738699"/>
                <a:ext cx="10823169" cy="3720570"/>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由此即可通过</a:t>
                </a:r>
                <a:r>
                  <a:rPr lang="zh-CN" altLang="en-US" dirty="0">
                    <a:solidFill>
                      <a:srgbClr val="FF0000"/>
                    </a:solidFill>
                    <a:latin typeface="微软雅黑" panose="020B0503020204020204" pitchFamily="34" charset="-122"/>
                    <a:ea typeface="微软雅黑" panose="020B0503020204020204" pitchFamily="34" charset="-122"/>
                  </a:rPr>
                  <a:t>降维前后保持不变的距离矩阵 </a:t>
                </a:r>
                <a:r>
                  <a:rPr lang="en-US" altLang="zh-CN" dirty="0">
                    <a:solidFill>
                      <a:srgbClr val="FF0000"/>
                    </a:solidFill>
                    <a:latin typeface="微软雅黑" panose="020B0503020204020204" pitchFamily="34" charset="-122"/>
                    <a:ea typeface="微软雅黑" panose="020B0503020204020204" pitchFamily="34" charset="-122"/>
                  </a:rPr>
                  <a:t>D </a:t>
                </a:r>
                <a:r>
                  <a:rPr lang="zh-CN" altLang="en-US" dirty="0">
                    <a:solidFill>
                      <a:srgbClr val="FF0000"/>
                    </a:solidFill>
                    <a:latin typeface="微软雅黑" panose="020B0503020204020204" pitchFamily="34" charset="-122"/>
                    <a:ea typeface="微软雅黑" panose="020B0503020204020204" pitchFamily="34" charset="-122"/>
                  </a:rPr>
                  <a:t>求取内积矩阵 </a:t>
                </a:r>
                <a:r>
                  <a:rPr lang="en-US" altLang="zh-CN" dirty="0">
                    <a:solidFill>
                      <a:srgbClr val="FF0000"/>
                    </a:solidFill>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对矩阵</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做特</a:t>
                </a:r>
                <a:r>
                  <a:rPr lang="zh-CN" altLang="en-US" b="1" dirty="0">
                    <a:solidFill>
                      <a:srgbClr val="FF0000"/>
                    </a:solidFill>
                    <a:latin typeface="微软雅黑" panose="020B0503020204020204" pitchFamily="34" charset="-122"/>
                    <a:ea typeface="微软雅黑" panose="020B0503020204020204" pitchFamily="34" charset="-122"/>
                  </a:rPr>
                  <a:t>征值分解</a:t>
                </a:r>
                <a:r>
                  <a:rPr lang="zh-CN" altLang="en-US" dirty="0">
                    <a:latin typeface="微软雅黑" panose="020B0503020204020204" pitchFamily="34" charset="-122"/>
                    <a:ea typeface="微软雅黑" panose="020B0503020204020204" pitchFamily="34" charset="-122"/>
                  </a:rPr>
                  <a:t>，                ，其中                                    为特征值构成的对角矩阵，                                 ，</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 为特征向量矩阵。假定其中有</a:t>
                </a:r>
                <a:r>
                  <a:rPr lang="en-US" altLang="zh-CN" dirty="0">
                    <a:latin typeface="微软雅黑" panose="020B0503020204020204" pitchFamily="34" charset="-122"/>
                    <a:ea typeface="微软雅黑" panose="020B0503020204020204" pitchFamily="34" charset="-122"/>
                  </a:rPr>
                  <a:t> d</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个非零特征值，它们构成对角矩阵                                ，令</a:t>
                </a:r>
                <a:r>
                  <a:rPr lang="en-US" altLang="zh-CN" dirty="0">
                    <a:latin typeface="微软雅黑" panose="020B0503020204020204" pitchFamily="34" charset="-122"/>
                    <a:ea typeface="微软雅黑" panose="020B0503020204020204" pitchFamily="34" charset="-122"/>
                  </a:rPr>
                  <a:t> V</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表示相应的特征向量矩阵，则</a:t>
                </a:r>
                <a:r>
                  <a:rPr lang="en-US" altLang="zh-CN" dirty="0">
                    <a:latin typeface="微软雅黑" panose="020B0503020204020204" pitchFamily="34" charset="-122"/>
                    <a:ea typeface="微软雅黑" panose="020B0503020204020204" pitchFamily="34" charset="-122"/>
                  </a:rPr>
                  <a:t> Z </a:t>
                </a:r>
                <a:r>
                  <a:rPr lang="zh-CN" altLang="en-US" dirty="0">
                    <a:latin typeface="微软雅黑" panose="020B0503020204020204" pitchFamily="34" charset="-122"/>
                    <a:ea typeface="微软雅黑" panose="020B0503020204020204" pitchFamily="34" charset="-122"/>
                  </a:rPr>
                  <a:t>可表示为</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在现实应用中为了有效降维，往往仅需降维后的距离与原始空间中的距离尽可能接近，而不必严格相等。此时可取</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𝑑</m:t>
                    </m:r>
                    <m:r>
                      <a:rPr lang="en-US" altLang="zh-CN" i="1" dirty="0" smtClean="0">
                        <a:latin typeface="Cambria Math" panose="02040503050406030204" pitchFamily="18" charset="0"/>
                        <a:ea typeface="微软雅黑" panose="020B0503020204020204" pitchFamily="34" charset="-122"/>
                      </a:rPr>
                      <m:t>′&lt;&lt; </m:t>
                    </m:r>
                    <m:r>
                      <a:rPr lang="en-US" altLang="zh-CN" i="1" dirty="0" smtClean="0">
                        <a:latin typeface="Cambria Math" panose="02040503050406030204" pitchFamily="18" charset="0"/>
                        <a:ea typeface="微软雅黑" panose="020B0503020204020204" pitchFamily="34" charset="-122"/>
                      </a:rPr>
                      <m:t>𝑑</m:t>
                    </m:r>
                    <m:r>
                      <a:rPr lang="en-US" altLang="zh-CN" i="1" dirty="0" smtClean="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个最大特征值构成对角矩阵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令     表示对应的特征向量矩阵，此时</a:t>
                </a:r>
                <a:r>
                  <a:rPr lang="en-US" altLang="zh-CN" dirty="0">
                    <a:latin typeface="微软雅黑" panose="020B0503020204020204" pitchFamily="34" charset="-122"/>
                    <a:ea typeface="微软雅黑" panose="020B0503020204020204" pitchFamily="34" charset="-122"/>
                  </a:rPr>
                  <a:t> Z </a:t>
                </a:r>
                <a:r>
                  <a:rPr lang="zh-CN" altLang="en-US" dirty="0">
                    <a:latin typeface="微软雅黑" panose="020B0503020204020204" pitchFamily="34" charset="-122"/>
                    <a:ea typeface="微软雅黑" panose="020B0503020204020204" pitchFamily="34" charset="-122"/>
                  </a:rPr>
                  <a:t>可表示为</a:t>
                </a:r>
                <a:endParaRPr lang="en-US" altLang="zh-CN" dirty="0">
                  <a:latin typeface="微软雅黑" panose="020B0503020204020204" pitchFamily="34" charset="-122"/>
                  <a:ea typeface="微软雅黑" panose="020B0503020204020204" pitchFamily="34" charset="-122"/>
                </a:endParaRPr>
              </a:p>
              <a:p>
                <a:pPr>
                  <a:lnSpc>
                    <a:spcPct val="120000"/>
                  </a:lnSpc>
                </a:pPr>
                <a:endParaRPr lang="en-US" altLang="zh-CN" dirty="0">
                  <a:latin typeface="微软雅黑" panose="020B0503020204020204" pitchFamily="34" charset="-122"/>
                  <a:ea typeface="微软雅黑" panose="020B0503020204020204" pitchFamily="3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836816" y="2738699"/>
                <a:ext cx="10823169" cy="3720570"/>
              </a:xfrm>
              <a:prstGeom prst="rect">
                <a:avLst/>
              </a:prstGeom>
              <a:blipFill rotWithShape="1">
                <a:blip r:embed="rId2"/>
                <a:stretch>
                  <a:fillRect l="-5" t="-16" r="1" b="1"/>
                </a:stretch>
              </a:blipFill>
            </p:spPr>
            <p:txBody>
              <a:bodyPr/>
              <a:lstStyle/>
              <a:p>
                <a:r>
                  <a:rPr lang="zh-CN" altLang="en-US">
                    <a:noFill/>
                  </a:rPr>
                  <a:t> </a:t>
                </a:r>
              </a:p>
            </p:txBody>
          </p:sp>
        </mc:Fallback>
      </mc:AlternateContent>
      <p:pic>
        <p:nvPicPr>
          <p:cNvPr id="24" name="图片 23"/>
          <p:cNvPicPr>
            <a:picLocks noChangeAspect="1"/>
          </p:cNvPicPr>
          <p:nvPr/>
        </p:nvPicPr>
        <p:blipFill>
          <a:blip r:embed="rId3"/>
          <a:stretch>
            <a:fillRect/>
          </a:stretch>
        </p:blipFill>
        <p:spPr>
          <a:xfrm>
            <a:off x="3242969" y="3246484"/>
            <a:ext cx="1125754" cy="283523"/>
          </a:xfrm>
          <a:prstGeom prst="rect">
            <a:avLst/>
          </a:prstGeom>
        </p:spPr>
      </p:pic>
      <p:pic>
        <p:nvPicPr>
          <p:cNvPr id="28" name="图片 27"/>
          <p:cNvPicPr>
            <a:picLocks noChangeAspect="1"/>
          </p:cNvPicPr>
          <p:nvPr/>
        </p:nvPicPr>
        <p:blipFill>
          <a:blip r:embed="rId4"/>
          <a:stretch>
            <a:fillRect/>
          </a:stretch>
        </p:blipFill>
        <p:spPr>
          <a:xfrm>
            <a:off x="4753382" y="4493722"/>
            <a:ext cx="2685235" cy="416885"/>
          </a:xfrm>
          <a:prstGeom prst="rect">
            <a:avLst/>
          </a:prstGeom>
        </p:spPr>
      </p:pic>
      <p:pic>
        <p:nvPicPr>
          <p:cNvPr id="4" name="图片 3"/>
          <p:cNvPicPr>
            <a:picLocks noChangeAspect="1"/>
          </p:cNvPicPr>
          <p:nvPr/>
        </p:nvPicPr>
        <p:blipFill>
          <a:blip r:embed="rId5"/>
          <a:stretch>
            <a:fillRect/>
          </a:stretch>
        </p:blipFill>
        <p:spPr>
          <a:xfrm>
            <a:off x="5146405" y="3272359"/>
            <a:ext cx="2464942" cy="296706"/>
          </a:xfrm>
          <a:prstGeom prst="rect">
            <a:avLst/>
          </a:prstGeom>
        </p:spPr>
      </p:pic>
      <p:pic>
        <p:nvPicPr>
          <p:cNvPr id="5" name="图片 4"/>
          <p:cNvPicPr>
            <a:picLocks noChangeAspect="1"/>
          </p:cNvPicPr>
          <p:nvPr/>
        </p:nvPicPr>
        <p:blipFill>
          <a:blip r:embed="rId6"/>
          <a:stretch>
            <a:fillRect/>
          </a:stretch>
        </p:blipFill>
        <p:spPr>
          <a:xfrm>
            <a:off x="1287556" y="3694779"/>
            <a:ext cx="2172176" cy="292878"/>
          </a:xfrm>
          <a:prstGeom prst="rect">
            <a:avLst/>
          </a:prstGeom>
        </p:spPr>
      </p:pic>
      <p:pic>
        <p:nvPicPr>
          <p:cNvPr id="6" name="图片 5"/>
          <p:cNvPicPr>
            <a:picLocks noChangeAspect="1"/>
          </p:cNvPicPr>
          <p:nvPr/>
        </p:nvPicPr>
        <p:blipFill>
          <a:blip r:embed="rId7"/>
          <a:stretch>
            <a:fillRect/>
          </a:stretch>
        </p:blipFill>
        <p:spPr>
          <a:xfrm>
            <a:off x="1200018" y="4106980"/>
            <a:ext cx="2067888" cy="291937"/>
          </a:xfrm>
          <a:prstGeom prst="rect">
            <a:avLst/>
          </a:prstGeom>
        </p:spPr>
      </p:pic>
      <p:pic>
        <p:nvPicPr>
          <p:cNvPr id="7" name="图片 6"/>
          <p:cNvPicPr>
            <a:picLocks noChangeAspect="1"/>
          </p:cNvPicPr>
          <p:nvPr/>
        </p:nvPicPr>
        <p:blipFill>
          <a:blip r:embed="rId8"/>
          <a:stretch>
            <a:fillRect/>
          </a:stretch>
        </p:blipFill>
        <p:spPr>
          <a:xfrm>
            <a:off x="5604901" y="5357512"/>
            <a:ext cx="2239597" cy="263901"/>
          </a:xfrm>
          <a:prstGeom prst="rect">
            <a:avLst/>
          </a:prstGeom>
        </p:spPr>
      </p:pic>
      <p:pic>
        <p:nvPicPr>
          <p:cNvPr id="9" name="图片 8"/>
          <p:cNvPicPr>
            <a:picLocks noChangeAspect="1"/>
          </p:cNvPicPr>
          <p:nvPr/>
        </p:nvPicPr>
        <p:blipFill>
          <a:blip r:embed="rId9"/>
          <a:stretch>
            <a:fillRect/>
          </a:stretch>
        </p:blipFill>
        <p:spPr>
          <a:xfrm>
            <a:off x="8212008" y="5365094"/>
            <a:ext cx="281992" cy="239693"/>
          </a:xfrm>
          <a:prstGeom prst="rect">
            <a:avLst/>
          </a:prstGeom>
        </p:spPr>
      </p:pic>
      <p:pic>
        <p:nvPicPr>
          <p:cNvPr id="10" name="图片 9"/>
          <p:cNvPicPr>
            <a:picLocks noChangeAspect="1"/>
          </p:cNvPicPr>
          <p:nvPr/>
        </p:nvPicPr>
        <p:blipFill>
          <a:blip r:embed="rId10"/>
          <a:stretch>
            <a:fillRect/>
          </a:stretch>
        </p:blipFill>
        <p:spPr>
          <a:xfrm>
            <a:off x="4752375" y="5999818"/>
            <a:ext cx="2543996" cy="3094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低维空间表示</a:t>
            </a:r>
            <a:r>
              <a:rPr lang="en-US" altLang="zh-CN" dirty="0"/>
              <a:t>Z</a:t>
            </a:r>
            <a:r>
              <a:rPr lang="zh-CN" altLang="en-US" dirty="0"/>
              <a:t>求解</a:t>
            </a:r>
            <a:endParaRPr lang="zh-CN" altLang="en-US" dirty="0"/>
          </a:p>
        </p:txBody>
      </p:sp>
      <p:pic>
        <p:nvPicPr>
          <p:cNvPr id="4" name="图片 3"/>
          <p:cNvPicPr>
            <a:picLocks noChangeAspect="1"/>
          </p:cNvPicPr>
          <p:nvPr/>
        </p:nvPicPr>
        <p:blipFill>
          <a:blip r:embed="rId1"/>
          <a:stretch>
            <a:fillRect/>
          </a:stretch>
        </p:blipFill>
        <p:spPr>
          <a:xfrm>
            <a:off x="1004988" y="1454265"/>
            <a:ext cx="10182024" cy="39494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stretch>
            <a:fillRect/>
          </a:stretch>
        </p:blipFill>
        <p:spPr>
          <a:xfrm>
            <a:off x="4946611" y="2097417"/>
            <a:ext cx="1728690" cy="524942"/>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线性降维</a:t>
            </a:r>
            <a:endParaRPr lang="zh-CN" altLang="en-US" dirty="0"/>
          </a:p>
        </p:txBody>
      </p:sp>
      <p:sp>
        <p:nvSpPr>
          <p:cNvPr id="16" name="TextBox 12"/>
          <p:cNvSpPr txBox="1">
            <a:spLocks noChangeArrowheads="1"/>
          </p:cNvSpPr>
          <p:nvPr/>
        </p:nvSpPr>
        <p:spPr bwMode="auto">
          <a:xfrm>
            <a:off x="761041" y="838486"/>
            <a:ext cx="24802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zh-CN" altLang="en-US" b="1" dirty="0">
                <a:solidFill>
                  <a:schemeClr val="accent5">
                    <a:lumMod val="50000"/>
                  </a:schemeClr>
                </a:solidFill>
                <a:latin typeface="微软雅黑" panose="020B0503020204020204" pitchFamily="34" charset="-122"/>
              </a:rPr>
              <a:t>线性降维</a:t>
            </a:r>
            <a:endParaRPr lang="zh-CN" altLang="en-US" b="1" dirty="0">
              <a:solidFill>
                <a:schemeClr val="accent5">
                  <a:lumMod val="50000"/>
                </a:schemeClr>
              </a:solidFill>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文本框 68"/>
              <p:cNvSpPr txBox="1"/>
              <p:nvPr/>
            </p:nvSpPr>
            <p:spPr>
              <a:xfrm>
                <a:off x="1206256" y="1334978"/>
                <a:ext cx="9622706" cy="1610890"/>
              </a:xfrm>
              <a:prstGeom prst="rect">
                <a:avLst/>
              </a:prstGeom>
              <a:noFill/>
            </p:spPr>
            <p:txBody>
              <a:bodyPr wrap="square">
                <a:spAutoFit/>
              </a:bodyPr>
              <a:lstStyle/>
              <a:p>
                <a:pPr marL="0" lvl="1">
                  <a:lnSpc>
                    <a:spcPct val="150000"/>
                  </a:lnSpc>
                </a:pPr>
                <a:r>
                  <a:rPr lang="zh-CN" altLang="en-US" dirty="0">
                    <a:latin typeface="微软雅黑" panose="020B0503020204020204" pitchFamily="34" charset="-122"/>
                    <a:ea typeface="微软雅黑" panose="020B0503020204020204" pitchFamily="34" charset="-122"/>
                  </a:rPr>
                  <a:t>一般来说，欲获得低维子空间，最简单的是对原始高维空间进行线性变换。给定</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𝑑</m:t>
                    </m:r>
                    <m:r>
                      <a:rPr lang="zh-CN" altLang="en-US" i="1">
                        <a:latin typeface="Cambria Math" panose="02040503050406030204" pitchFamily="18" charset="0"/>
                        <a:ea typeface="微软雅黑" panose="020B0503020204020204" pitchFamily="34" charset="-122"/>
                      </a:rPr>
                      <m:t>维</m:t>
                    </m:r>
                    <m:r>
                      <a:rPr lang="zh-CN" altLang="en-US" i="1" smtClean="0">
                        <a:latin typeface="Cambria Math" panose="02040503050406030204" pitchFamily="18" charset="0"/>
                        <a:ea typeface="微软雅黑" panose="020B0503020204020204" pitchFamily="34" charset="-122"/>
                      </a:rPr>
                      <m:t>空间</m:t>
                    </m:r>
                  </m:oMath>
                </a14:m>
                <a:r>
                  <a:rPr lang="zh-CN" altLang="en-US" dirty="0">
                    <a:latin typeface="微软雅黑" panose="020B0503020204020204" pitchFamily="34" charset="-122"/>
                    <a:ea typeface="微软雅黑" panose="020B0503020204020204" pitchFamily="34" charset="-122"/>
                  </a:rPr>
                  <a:t>中的样本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变换之后得到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空间中的样本</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其中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是变换矩阵，             是样本在新的投影空间中的表达。</a:t>
                </a:r>
                <a:endParaRPr lang="en-US" altLang="zh-CN" dirty="0">
                  <a:latin typeface="微软雅黑" panose="020B0503020204020204" pitchFamily="34" charset="-122"/>
                  <a:ea typeface="微软雅黑" panose="020B0503020204020204" pitchFamily="34" charset="-122"/>
                </a:endParaRPr>
              </a:p>
            </p:txBody>
          </p:sp>
        </mc:Choice>
        <mc:Fallback>
          <p:sp>
            <p:nvSpPr>
              <p:cNvPr id="7" name="文本框 68"/>
              <p:cNvSpPr txBox="1">
                <a:spLocks noRot="1" noChangeAspect="1" noMove="1" noResize="1" noEditPoints="1" noAdjustHandles="1" noChangeArrowheads="1" noChangeShapeType="1" noTextEdit="1"/>
              </p:cNvSpPr>
              <p:nvPr/>
            </p:nvSpPr>
            <p:spPr>
              <a:xfrm>
                <a:off x="1206256" y="1334978"/>
                <a:ext cx="9622706" cy="1610890"/>
              </a:xfrm>
              <a:prstGeom prst="rect">
                <a:avLst/>
              </a:prstGeom>
              <a:blipFill rotWithShape="1">
                <a:blip r:embed="rId2"/>
                <a:stretch>
                  <a:fillRect l="-4" t="-13" r="3" b="6"/>
                </a:stretch>
              </a:blipFill>
            </p:spPr>
            <p:txBody>
              <a:bodyPr/>
              <a:lstStyle/>
              <a:p>
                <a:r>
                  <a:rPr lang="zh-CN" altLang="en-US">
                    <a:noFill/>
                  </a:rPr>
                  <a:t> </a:t>
                </a:r>
              </a:p>
            </p:txBody>
          </p:sp>
        </mc:Fallback>
      </mc:AlternateContent>
      <p:pic>
        <p:nvPicPr>
          <p:cNvPr id="8" name="图片 7"/>
          <p:cNvPicPr>
            <a:picLocks noChangeAspect="1"/>
          </p:cNvPicPr>
          <p:nvPr/>
        </p:nvPicPr>
        <p:blipFill>
          <a:blip r:embed="rId3"/>
          <a:stretch>
            <a:fillRect/>
          </a:stretch>
        </p:blipFill>
        <p:spPr>
          <a:xfrm>
            <a:off x="1795297" y="1895934"/>
            <a:ext cx="2892050" cy="251482"/>
          </a:xfrm>
          <a:prstGeom prst="rect">
            <a:avLst/>
          </a:prstGeom>
        </p:spPr>
      </p:pic>
      <p:pic>
        <p:nvPicPr>
          <p:cNvPr id="10" name="图片 9"/>
          <p:cNvPicPr>
            <a:picLocks noChangeAspect="1"/>
          </p:cNvPicPr>
          <p:nvPr/>
        </p:nvPicPr>
        <p:blipFill>
          <a:blip r:embed="rId4"/>
          <a:stretch>
            <a:fillRect/>
          </a:stretch>
        </p:blipFill>
        <p:spPr>
          <a:xfrm>
            <a:off x="6250192" y="1846183"/>
            <a:ext cx="871044" cy="343392"/>
          </a:xfrm>
          <a:prstGeom prst="rect">
            <a:avLst/>
          </a:prstGeom>
        </p:spPr>
      </p:pic>
      <p:pic>
        <p:nvPicPr>
          <p:cNvPr id="23" name="图片 22"/>
          <p:cNvPicPr>
            <a:picLocks noChangeAspect="1"/>
          </p:cNvPicPr>
          <p:nvPr/>
        </p:nvPicPr>
        <p:blipFill>
          <a:blip r:embed="rId5"/>
          <a:stretch>
            <a:fillRect/>
          </a:stretch>
        </p:blipFill>
        <p:spPr>
          <a:xfrm>
            <a:off x="1785055" y="2613995"/>
            <a:ext cx="944962" cy="251482"/>
          </a:xfrm>
          <a:prstGeom prst="rect">
            <a:avLst/>
          </a:prstGeom>
        </p:spPr>
      </p:pic>
      <p:pic>
        <p:nvPicPr>
          <p:cNvPr id="28" name="图片 27"/>
          <p:cNvPicPr>
            <a:picLocks noChangeAspect="1"/>
          </p:cNvPicPr>
          <p:nvPr/>
        </p:nvPicPr>
        <p:blipFill>
          <a:blip r:embed="rId6"/>
          <a:stretch>
            <a:fillRect/>
          </a:stretch>
        </p:blipFill>
        <p:spPr>
          <a:xfrm>
            <a:off x="4047373" y="2567328"/>
            <a:ext cx="899238" cy="342930"/>
          </a:xfrm>
          <a:prstGeom prst="rect">
            <a:avLst/>
          </a:prstGeom>
        </p:spPr>
      </p:pic>
      <p:sp>
        <p:nvSpPr>
          <p:cNvPr id="29" name="文本框 28"/>
          <p:cNvSpPr txBox="1"/>
          <p:nvPr/>
        </p:nvSpPr>
        <p:spPr>
          <a:xfrm>
            <a:off x="1206256" y="4627096"/>
            <a:ext cx="9821962"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基于线性变换来进行降维的方法称为</a:t>
            </a:r>
            <a:r>
              <a:rPr lang="zh-CN" altLang="en-US" b="1" dirty="0">
                <a:solidFill>
                  <a:srgbClr val="FF0000"/>
                </a:solidFill>
                <a:latin typeface="微软雅黑" panose="020B0503020204020204" pitchFamily="34" charset="-122"/>
                <a:ea typeface="微软雅黑" panose="020B0503020204020204" pitchFamily="34" charset="-122"/>
              </a:rPr>
              <a:t>线性降维方法</a:t>
            </a:r>
            <a:r>
              <a:rPr lang="zh-CN" altLang="en-US" dirty="0">
                <a:latin typeface="微软雅黑" panose="020B0503020204020204" pitchFamily="34" charset="-122"/>
                <a:ea typeface="微软雅黑" panose="020B0503020204020204" pitchFamily="34" charset="-122"/>
              </a:rPr>
              <a:t>，它们都符合上式的基本形式，不同之处是对低维子空间的性质有不同的要求，相当于对</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施加了不同的约束。</a:t>
            </a:r>
            <a:endParaRPr lang="zh-CN" altLang="en-US"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7"/>
          <a:stretch>
            <a:fillRect/>
          </a:stretch>
        </p:blipFill>
        <p:spPr>
          <a:xfrm>
            <a:off x="5713103" y="5174716"/>
            <a:ext cx="330264" cy="273647"/>
          </a:xfrm>
          <a:prstGeom prst="rect">
            <a:avLst/>
          </a:prstGeom>
        </p:spPr>
      </p:pic>
      <p:sp>
        <p:nvSpPr>
          <p:cNvPr id="5" name="文本框 4"/>
          <p:cNvSpPr txBox="1"/>
          <p:nvPr/>
        </p:nvSpPr>
        <p:spPr>
          <a:xfrm>
            <a:off x="1206256" y="3139422"/>
            <a:ext cx="9821962" cy="1289905"/>
          </a:xfrm>
          <a:prstGeom prst="rect">
            <a:avLst/>
          </a:prstGeom>
          <a:noFill/>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是原属性向量在新坐标系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中的坐标向量。若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正交，则新坐标系是一个正交坐标系，此时 W 为正交变换。显然，新空间中的属性是原空间中属性的线性组合.</a:t>
            </a:r>
            <a:endParaRPr lang="zh-CN" altLang="en-US" dirty="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8"/>
          <a:stretch>
            <a:fillRect/>
          </a:stretch>
        </p:blipFill>
        <p:spPr>
          <a:xfrm>
            <a:off x="4983847" y="3265929"/>
            <a:ext cx="1768691" cy="287300"/>
          </a:xfrm>
          <a:prstGeom prst="rect">
            <a:avLst/>
          </a:prstGeom>
        </p:spPr>
      </p:pic>
      <p:pic>
        <p:nvPicPr>
          <p:cNvPr id="11" name="图片 10"/>
          <p:cNvPicPr>
            <a:picLocks noChangeAspect="1"/>
          </p:cNvPicPr>
          <p:nvPr/>
        </p:nvPicPr>
        <p:blipFill>
          <a:blip r:embed="rId9"/>
          <a:stretch>
            <a:fillRect/>
          </a:stretch>
        </p:blipFill>
        <p:spPr>
          <a:xfrm>
            <a:off x="8664875" y="3277652"/>
            <a:ext cx="1444267" cy="287300"/>
          </a:xfrm>
          <a:prstGeom prst="rect">
            <a:avLst/>
          </a:prstGeom>
        </p:spPr>
      </p:pic>
      <p:pic>
        <p:nvPicPr>
          <p:cNvPr id="4" name="图片 3"/>
          <p:cNvPicPr>
            <a:picLocks noChangeAspect="1"/>
          </p:cNvPicPr>
          <p:nvPr/>
        </p:nvPicPr>
        <p:blipFill>
          <a:blip r:embed="rId10"/>
          <a:stretch>
            <a:fillRect/>
          </a:stretch>
        </p:blipFill>
        <p:spPr>
          <a:xfrm>
            <a:off x="1276490" y="3287343"/>
            <a:ext cx="1017131" cy="26852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3070071"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主成分分析</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dirty="0"/>
              <a:t>(Principle Component Analysis</a:t>
            </a:r>
            <a:r>
              <a:rPr lang="zh-CN" altLang="en-US" dirty="0"/>
              <a:t>，</a:t>
            </a:r>
            <a:r>
              <a:rPr lang="fr-FR" altLang="zh-CN" dirty="0"/>
              <a:t>PCA)</a:t>
            </a:r>
            <a:endParaRPr lang="zh-CN" altLang="en-US" dirty="0"/>
          </a:p>
        </p:txBody>
      </p:sp>
      <p:sp>
        <p:nvSpPr>
          <p:cNvPr id="6" name="文本框 68"/>
          <p:cNvSpPr txBox="1"/>
          <p:nvPr/>
        </p:nvSpPr>
        <p:spPr>
          <a:xfrm>
            <a:off x="745637" y="804139"/>
            <a:ext cx="10804211" cy="2951898"/>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是一种线性降维的方法，利用</a:t>
            </a:r>
            <a:r>
              <a:rPr lang="zh-CN" altLang="en-US" b="1" dirty="0">
                <a:solidFill>
                  <a:srgbClr val="FF0000"/>
                </a:solidFill>
                <a:latin typeface="微软雅黑" panose="020B0503020204020204" pitchFamily="34" charset="-122"/>
                <a:ea typeface="微软雅黑" panose="020B0503020204020204" pitchFamily="34" charset="-122"/>
              </a:rPr>
              <a:t>正交变换</a:t>
            </a:r>
            <a:r>
              <a:rPr lang="zh-CN" altLang="en-US" dirty="0">
                <a:latin typeface="微软雅黑" panose="020B0503020204020204" pitchFamily="34" charset="-122"/>
                <a:ea typeface="微软雅黑" panose="020B0503020204020204" pitchFamily="34" charset="-122"/>
              </a:rPr>
              <a:t>作为</a:t>
            </a:r>
            <a:r>
              <a:rPr lang="zh-CN" altLang="en-US" b="1" dirty="0">
                <a:solidFill>
                  <a:srgbClr val="FF0000"/>
                </a:solidFill>
                <a:latin typeface="微软雅黑" panose="020B0503020204020204" pitchFamily="34" charset="-122"/>
                <a:ea typeface="微软雅黑" panose="020B0503020204020204" pitchFamily="34" charset="-122"/>
              </a:rPr>
              <a:t>映射矩阵</a:t>
            </a:r>
            <a:r>
              <a:rPr lang="zh-CN" altLang="en-US" dirty="0">
                <a:latin typeface="微软雅黑" panose="020B0503020204020204" pitchFamily="34" charset="-122"/>
                <a:ea typeface="微软雅黑" panose="020B0503020204020204" pitchFamily="34" charset="-122"/>
              </a:rPr>
              <a:t>，主要步骤是：对于一个高维空间的数据样本               ，利用正交矩阵                  将样本映射到低维空间                     其中                  起到了降维的作用，目的是为了缓解维度灾难以及更好地对数据进行分类等。</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b="0" i="0" dirty="0">
                <a:solidFill>
                  <a:srgbClr val="191B1F"/>
                </a:solidFill>
                <a:effectLst/>
                <a:latin typeface="微软雅黑" panose="020B0503020204020204" pitchFamily="34" charset="-122"/>
                <a:ea typeface="微软雅黑" panose="020B0503020204020204" pitchFamily="34" charset="-122"/>
              </a:rPr>
              <a:t>数据从 </a:t>
            </a:r>
            <a:r>
              <a:rPr lang="en-US" altLang="zh-CN" b="0" i="1" dirty="0">
                <a:solidFill>
                  <a:srgbClr val="191B1F"/>
                </a:solidFill>
                <a:effectLst/>
                <a:latin typeface="微软雅黑" panose="020B0503020204020204" pitchFamily="34" charset="-122"/>
                <a:ea typeface="微软雅黑" panose="020B0503020204020204" pitchFamily="34" charset="-122"/>
              </a:rPr>
              <a:t>d</a:t>
            </a:r>
            <a:r>
              <a:rPr lang="zh-CN" altLang="en-US" b="0" i="0" dirty="0">
                <a:solidFill>
                  <a:srgbClr val="191B1F"/>
                </a:solidFill>
                <a:effectLst/>
                <a:latin typeface="微软雅黑" panose="020B0503020204020204" pitchFamily="34" charset="-122"/>
                <a:ea typeface="微软雅黑" panose="020B0503020204020204" pitchFamily="34" charset="-122"/>
              </a:rPr>
              <a:t> 维降到 </a:t>
            </a:r>
            <a:r>
              <a:rPr lang="en-US" altLang="zh-CN" b="0" i="1" dirty="0">
                <a:solidFill>
                  <a:srgbClr val="191B1F"/>
                </a:solidFill>
                <a:effectLst/>
                <a:latin typeface="微软雅黑" panose="020B0503020204020204" pitchFamily="34" charset="-122"/>
                <a:ea typeface="微软雅黑" panose="020B0503020204020204" pitchFamily="34" charset="-122"/>
              </a:rPr>
              <a:t>k</a:t>
            </a:r>
            <a:r>
              <a:rPr lang="en-US" altLang="zh-CN" b="0" i="0" dirty="0">
                <a:solidFill>
                  <a:srgbClr val="191B1F"/>
                </a:solidFill>
                <a:effectLst/>
                <a:latin typeface="微软雅黑" panose="020B0503020204020204" pitchFamily="34" charset="-122"/>
                <a:ea typeface="微软雅黑" panose="020B0503020204020204" pitchFamily="34" charset="-122"/>
              </a:rPr>
              <a:t> </a:t>
            </a:r>
            <a:r>
              <a:rPr lang="zh-CN" altLang="en-US" b="0" i="0" dirty="0">
                <a:solidFill>
                  <a:srgbClr val="191B1F"/>
                </a:solidFill>
                <a:effectLst/>
                <a:latin typeface="微软雅黑" panose="020B0503020204020204" pitchFamily="34" charset="-122"/>
                <a:ea typeface="微软雅黑" panose="020B0503020204020204" pitchFamily="34" charset="-122"/>
              </a:rPr>
              <a:t>维肯定会有损失，但是我们希望</a:t>
            </a:r>
            <a:r>
              <a:rPr lang="zh-CN" altLang="en-US" b="1" i="0" dirty="0">
                <a:solidFill>
                  <a:srgbClr val="FF0000"/>
                </a:solidFill>
                <a:effectLst/>
                <a:latin typeface="微软雅黑" panose="020B0503020204020204" pitchFamily="34" charset="-122"/>
                <a:ea typeface="微软雅黑" panose="020B0503020204020204" pitchFamily="34" charset="-122"/>
              </a:rPr>
              <a:t>损失尽可能的小</a:t>
            </a:r>
            <a:r>
              <a:rPr lang="zh-CN" altLang="en-US" b="0" i="0" dirty="0">
                <a:solidFill>
                  <a:srgbClr val="191B1F"/>
                </a:solidFill>
                <a:effectLst/>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b="1" dirty="0">
                <a:solidFill>
                  <a:srgbClr val="FF0000"/>
                </a:solidFill>
                <a:latin typeface="微软雅黑" panose="020B0503020204020204" pitchFamily="34" charset="-122"/>
                <a:ea typeface="微软雅黑" panose="020B0503020204020204" pitchFamily="34" charset="-122"/>
              </a:rPr>
              <a:t>基变换</a:t>
            </a:r>
            <a:r>
              <a:rPr lang="zh-CN" altLang="en-US" dirty="0">
                <a:latin typeface="微软雅黑" panose="020B0503020204020204" pitchFamily="34" charset="-122"/>
                <a:ea typeface="微软雅黑" panose="020B0503020204020204" pitchFamily="34" charset="-122"/>
              </a:rPr>
              <a:t>：坐标变换，获得原始数据新的表示空间，即对原始数据进行线性变化               ，其中</a:t>
            </a:r>
            <a:r>
              <a:rPr lang="en-US" altLang="zh-CN" i="1" dirty="0">
                <a:latin typeface="微软雅黑" panose="020B0503020204020204" pitchFamily="34" charset="-122"/>
                <a:ea typeface="微软雅黑" panose="020B0503020204020204" pitchFamily="34" charset="-122"/>
              </a:rPr>
              <a:t>Y</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是样本在新空间的表达，</a:t>
            </a:r>
            <a:r>
              <a:rPr lang="en-US" altLang="zh-CN" i="1"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 是基向量，</a:t>
            </a:r>
            <a:r>
              <a:rPr lang="en-US" altLang="zh-CN" i="1"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 是原始样本。</a:t>
            </a:r>
            <a:endParaRPr lang="en-US" altLang="zh-CN" dirty="0">
              <a:latin typeface="微软雅黑" panose="020B0503020204020204" pitchFamily="34" charset="-122"/>
              <a:ea typeface="微软雅黑" panose="020B0503020204020204" pitchFamily="34" charset="-122"/>
            </a:endParaRPr>
          </a:p>
          <a:p>
            <a:pPr marL="0" lvl="1">
              <a:lnSpc>
                <a:spcPct val="150000"/>
              </a:lnSpc>
            </a:pPr>
            <a:endParaRPr lang="en-US"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363659" y="1289209"/>
            <a:ext cx="959770" cy="357361"/>
          </a:xfrm>
          <a:prstGeom prst="rect">
            <a:avLst/>
          </a:prstGeom>
        </p:spPr>
      </p:pic>
      <p:pic>
        <p:nvPicPr>
          <p:cNvPr id="10" name="图片 9"/>
          <p:cNvPicPr>
            <a:picLocks noChangeAspect="1"/>
          </p:cNvPicPr>
          <p:nvPr/>
        </p:nvPicPr>
        <p:blipFill>
          <a:blip r:embed="rId2"/>
          <a:stretch>
            <a:fillRect/>
          </a:stretch>
        </p:blipFill>
        <p:spPr>
          <a:xfrm>
            <a:off x="4032465" y="1306142"/>
            <a:ext cx="1128246" cy="329488"/>
          </a:xfrm>
          <a:prstGeom prst="rect">
            <a:avLst/>
          </a:prstGeom>
        </p:spPr>
      </p:pic>
      <p:pic>
        <p:nvPicPr>
          <p:cNvPr id="12" name="图片 11"/>
          <p:cNvPicPr>
            <a:picLocks noChangeAspect="1"/>
          </p:cNvPicPr>
          <p:nvPr/>
        </p:nvPicPr>
        <p:blipFill>
          <a:blip r:embed="rId3"/>
          <a:stretch>
            <a:fillRect/>
          </a:stretch>
        </p:blipFill>
        <p:spPr>
          <a:xfrm>
            <a:off x="7539187" y="1269561"/>
            <a:ext cx="1181018" cy="396655"/>
          </a:xfrm>
          <a:prstGeom prst="rect">
            <a:avLst/>
          </a:prstGeom>
        </p:spPr>
      </p:pic>
      <p:pic>
        <p:nvPicPr>
          <p:cNvPr id="14" name="图片 13"/>
          <p:cNvPicPr>
            <a:picLocks noChangeAspect="1"/>
          </p:cNvPicPr>
          <p:nvPr/>
        </p:nvPicPr>
        <p:blipFill>
          <a:blip r:embed="rId4"/>
          <a:stretch>
            <a:fillRect/>
          </a:stretch>
        </p:blipFill>
        <p:spPr>
          <a:xfrm>
            <a:off x="9464948" y="1306142"/>
            <a:ext cx="1050652" cy="335315"/>
          </a:xfrm>
          <a:prstGeom prst="rect">
            <a:avLst/>
          </a:prstGeom>
        </p:spPr>
      </p:pic>
      <p:pic>
        <p:nvPicPr>
          <p:cNvPr id="8" name="图片 7"/>
          <p:cNvPicPr>
            <a:picLocks noChangeAspect="1"/>
          </p:cNvPicPr>
          <p:nvPr/>
        </p:nvPicPr>
        <p:blipFill>
          <a:blip r:embed="rId5"/>
          <a:stretch>
            <a:fillRect/>
          </a:stretch>
        </p:blipFill>
        <p:spPr>
          <a:xfrm>
            <a:off x="8962504" y="2553221"/>
            <a:ext cx="1004888" cy="300038"/>
          </a:xfrm>
          <a:prstGeom prst="rect">
            <a:avLst/>
          </a:prstGeom>
        </p:spPr>
      </p:pic>
      <p:pic>
        <p:nvPicPr>
          <p:cNvPr id="11" name="图片 10"/>
          <p:cNvPicPr>
            <a:picLocks noChangeAspect="1"/>
          </p:cNvPicPr>
          <p:nvPr/>
        </p:nvPicPr>
        <p:blipFill>
          <a:blip r:embed="rId6"/>
          <a:stretch>
            <a:fillRect/>
          </a:stretch>
        </p:blipFill>
        <p:spPr>
          <a:xfrm>
            <a:off x="1943172" y="3659027"/>
            <a:ext cx="8171595" cy="1976904"/>
          </a:xfrm>
          <a:prstGeom prst="rect">
            <a:avLst/>
          </a:prstGeom>
        </p:spPr>
      </p:pic>
      <p:sp>
        <p:nvSpPr>
          <p:cNvPr id="15" name="文本框 14"/>
          <p:cNvSpPr txBox="1"/>
          <p:nvPr/>
        </p:nvSpPr>
        <p:spPr>
          <a:xfrm>
            <a:off x="1057731" y="5928674"/>
            <a:ext cx="9764758" cy="874407"/>
          </a:xfrm>
          <a:prstGeom prst="rect">
            <a:avLst/>
          </a:prstGeom>
          <a:noFill/>
        </p:spPr>
        <p:txBody>
          <a:bodyPr wrap="square">
            <a:spAutoFit/>
          </a:bodyPr>
          <a:lstStyle/>
          <a:p>
            <a:pPr>
              <a:lnSpc>
                <a:spcPct val="150000"/>
              </a:lnSpc>
            </a:pPr>
            <a:r>
              <a:rPr lang="zh-CN" altLang="en-US" b="0" i="0" dirty="0">
                <a:solidFill>
                  <a:srgbClr val="191B1F"/>
                </a:solidFill>
                <a:effectLst/>
                <a:latin typeface="微软雅黑" panose="020B0503020204020204" pitchFamily="34" charset="-122"/>
                <a:ea typeface="微软雅黑" panose="020B0503020204020204" pitchFamily="34" charset="-122"/>
              </a:rPr>
              <a:t>物理解释：两个矩阵相乘的意义是将右边矩阵中的</a:t>
            </a:r>
            <a:r>
              <a:rPr lang="zh-CN" altLang="en-US" b="0" i="0" dirty="0">
                <a:solidFill>
                  <a:srgbClr val="FF0000"/>
                </a:solidFill>
                <a:effectLst/>
                <a:latin typeface="微软雅黑" panose="020B0503020204020204" pitchFamily="34" charset="-122"/>
                <a:ea typeface="微软雅黑" panose="020B0503020204020204" pitchFamily="34" charset="-122"/>
              </a:rPr>
              <a:t>每一列列向量</a:t>
            </a:r>
            <a:r>
              <a:rPr lang="zh-CN" altLang="en-US" b="0" i="0" dirty="0">
                <a:solidFill>
                  <a:srgbClr val="191B1F"/>
                </a:solidFill>
                <a:effectLst/>
                <a:latin typeface="微软雅黑" panose="020B0503020204020204" pitchFamily="34" charset="-122"/>
                <a:ea typeface="微软雅黑" panose="020B0503020204020204" pitchFamily="34" charset="-122"/>
              </a:rPr>
              <a:t>变换到左边矩阵中</a:t>
            </a:r>
            <a:r>
              <a:rPr lang="zh-CN" altLang="en-US" b="0" i="0" dirty="0">
                <a:solidFill>
                  <a:srgbClr val="FF0000"/>
                </a:solidFill>
                <a:effectLst/>
                <a:latin typeface="微软雅黑" panose="020B0503020204020204" pitchFamily="34" charset="-122"/>
                <a:ea typeface="微软雅黑" panose="020B0503020204020204" pitchFamily="34" charset="-122"/>
              </a:rPr>
              <a:t>每一行行向量</a:t>
            </a:r>
            <a:r>
              <a:rPr lang="zh-CN" altLang="en-US" b="0" i="0" dirty="0">
                <a:solidFill>
                  <a:srgbClr val="191B1F"/>
                </a:solidFill>
                <a:effectLst/>
                <a:latin typeface="微软雅黑" panose="020B0503020204020204" pitchFamily="34" charset="-122"/>
                <a:ea typeface="微软雅黑" panose="020B0503020204020204" pitchFamily="34" charset="-122"/>
              </a:rPr>
              <a:t>为</a:t>
            </a:r>
            <a:r>
              <a:rPr lang="zh-CN" altLang="en-US" b="1" i="0" dirty="0">
                <a:effectLst/>
                <a:latin typeface="微软雅黑" panose="020B0503020204020204" pitchFamily="34" charset="-122"/>
                <a:ea typeface="微软雅黑" panose="020B0503020204020204" pitchFamily="34" charset="-122"/>
              </a:rPr>
              <a:t>基</a:t>
            </a:r>
            <a:r>
              <a:rPr lang="zh-CN" altLang="en-US" b="0" i="0" dirty="0">
                <a:solidFill>
                  <a:srgbClr val="191B1F"/>
                </a:solidFill>
                <a:effectLst/>
                <a:latin typeface="微软雅黑" panose="020B0503020204020204" pitchFamily="34" charset="-122"/>
                <a:ea typeface="微软雅黑" panose="020B0503020204020204" pitchFamily="34" charset="-122"/>
              </a:rPr>
              <a:t>所表示的空间中去。</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dirty="0"/>
              <a:t>(Principle Component Analysis</a:t>
            </a:r>
            <a:r>
              <a:rPr lang="zh-CN" altLang="en-US" dirty="0"/>
              <a:t>，</a:t>
            </a:r>
            <a:r>
              <a:rPr lang="fr-FR" altLang="zh-CN" dirty="0"/>
              <a:t>PCA)</a:t>
            </a:r>
            <a:endParaRPr lang="zh-CN" altLang="en-US" dirty="0"/>
          </a:p>
        </p:txBody>
      </p:sp>
      <p:sp>
        <p:nvSpPr>
          <p:cNvPr id="6" name="文本框 68"/>
          <p:cNvSpPr txBox="1"/>
          <p:nvPr/>
        </p:nvSpPr>
        <p:spPr>
          <a:xfrm>
            <a:off x="745637" y="804139"/>
            <a:ext cx="10804211" cy="458908"/>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b="1" dirty="0">
                <a:latin typeface="微软雅黑" panose="020B0503020204020204" pitchFamily="34" charset="-122"/>
                <a:ea typeface="微软雅黑" panose="020B0503020204020204" pitchFamily="34" charset="-122"/>
              </a:rPr>
              <a:t>基变换举例</a:t>
            </a:r>
            <a:endParaRPr lang="en-US" altLang="zh-CN" dirty="0">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9700" y="2429728"/>
            <a:ext cx="4686300" cy="405023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1100138" y="1555321"/>
            <a:ext cx="4995862" cy="874407"/>
          </a:xfrm>
          <a:prstGeom prst="rect">
            <a:avLst/>
          </a:prstGeom>
          <a:noFill/>
        </p:spPr>
        <p:txBody>
          <a:bodyPr wrap="square">
            <a:spAutoFit/>
          </a:bodyPr>
          <a:lstStyle/>
          <a:p>
            <a:pPr>
              <a:lnSpc>
                <a:spcPct val="150000"/>
              </a:lnSpc>
            </a:pPr>
            <a:r>
              <a:rPr lang="zh-CN" altLang="en-US" b="0" i="0" dirty="0">
                <a:solidFill>
                  <a:srgbClr val="444444"/>
                </a:solidFill>
                <a:effectLst/>
                <a:latin typeface="微软雅黑" panose="020B0503020204020204" pitchFamily="34" charset="-122"/>
                <a:ea typeface="微软雅黑" panose="020B0503020204020204" pitchFamily="34" charset="-122"/>
              </a:rPr>
              <a:t> 以二维数据为例，平面直角坐标系有一个数据是</a:t>
            </a:r>
            <a:r>
              <a:rPr lang="en-US" altLang="zh-CN" b="0" i="0" dirty="0">
                <a:solidFill>
                  <a:srgbClr val="444444"/>
                </a:solidFill>
                <a:effectLst/>
                <a:latin typeface="微软雅黑" panose="020B0503020204020204" pitchFamily="34" charset="-122"/>
                <a:ea typeface="微软雅黑" panose="020B0503020204020204" pitchFamily="34" charset="-122"/>
              </a:rPr>
              <a:t>(2,1)</a:t>
            </a:r>
            <a:r>
              <a:rPr lang="zh-CN" altLang="en-US" b="0" i="0" dirty="0">
                <a:solidFill>
                  <a:srgbClr val="444444"/>
                </a:solidFill>
                <a:effectLst/>
                <a:latin typeface="微软雅黑" panose="020B0503020204020204" pitchFamily="34" charset="-122"/>
                <a:ea typeface="微软雅黑" panose="020B0503020204020204" pitchFamily="34" charset="-122"/>
              </a:rPr>
              <a:t>，代表</a:t>
            </a:r>
            <a:r>
              <a:rPr lang="en-US" altLang="zh-CN" b="0" i="0" dirty="0">
                <a:solidFill>
                  <a:srgbClr val="444444"/>
                </a:solidFill>
                <a:effectLst/>
                <a:latin typeface="微软雅黑" panose="020B0503020204020204" pitchFamily="34" charset="-122"/>
                <a:ea typeface="微软雅黑" panose="020B0503020204020204" pitchFamily="34" charset="-122"/>
              </a:rPr>
              <a:t>x</a:t>
            </a:r>
            <a:r>
              <a:rPr lang="zh-CN" altLang="en-US" b="0" i="0" dirty="0">
                <a:solidFill>
                  <a:srgbClr val="444444"/>
                </a:solidFill>
                <a:effectLst/>
                <a:latin typeface="微软雅黑" panose="020B0503020204020204" pitchFamily="34" charset="-122"/>
                <a:ea typeface="微软雅黑" panose="020B0503020204020204" pitchFamily="34" charset="-122"/>
              </a:rPr>
              <a:t>轴坐标是</a:t>
            </a:r>
            <a:r>
              <a:rPr lang="en-US" altLang="zh-CN" b="0" i="0" dirty="0">
                <a:solidFill>
                  <a:srgbClr val="444444"/>
                </a:solidFill>
                <a:effectLst/>
                <a:latin typeface="微软雅黑" panose="020B0503020204020204" pitchFamily="34" charset="-122"/>
                <a:ea typeface="微软雅黑" panose="020B0503020204020204" pitchFamily="34" charset="-122"/>
              </a:rPr>
              <a:t>2</a:t>
            </a:r>
            <a:r>
              <a:rPr lang="zh-CN" altLang="en-US" b="0" i="0" dirty="0">
                <a:solidFill>
                  <a:srgbClr val="444444"/>
                </a:solidFill>
                <a:effectLst/>
                <a:latin typeface="微软雅黑" panose="020B0503020204020204" pitchFamily="34" charset="-122"/>
                <a:ea typeface="微软雅黑" panose="020B0503020204020204" pitchFamily="34" charset="-122"/>
              </a:rPr>
              <a:t>，</a:t>
            </a:r>
            <a:r>
              <a:rPr lang="en-US" altLang="zh-CN" b="0" i="0" dirty="0">
                <a:solidFill>
                  <a:srgbClr val="444444"/>
                </a:solidFill>
                <a:effectLst/>
                <a:latin typeface="微软雅黑" panose="020B0503020204020204" pitchFamily="34" charset="-122"/>
                <a:ea typeface="微软雅黑" panose="020B0503020204020204" pitchFamily="34" charset="-122"/>
              </a:rPr>
              <a:t>y</a:t>
            </a:r>
            <a:r>
              <a:rPr lang="zh-CN" altLang="en-US" b="0" i="0" dirty="0">
                <a:solidFill>
                  <a:srgbClr val="444444"/>
                </a:solidFill>
                <a:effectLst/>
                <a:latin typeface="微软雅黑" panose="020B0503020204020204" pitchFamily="34" charset="-122"/>
                <a:ea typeface="微软雅黑" panose="020B0503020204020204" pitchFamily="34" charset="-122"/>
              </a:rPr>
              <a:t>轴坐标是</a:t>
            </a:r>
            <a:r>
              <a:rPr lang="en-US" altLang="zh-CN" b="0" i="0" dirty="0">
                <a:solidFill>
                  <a:srgbClr val="444444"/>
                </a:solidFill>
                <a:effectLst/>
                <a:latin typeface="微软雅黑" panose="020B0503020204020204" pitchFamily="34" charset="-122"/>
                <a:ea typeface="微软雅黑" panose="020B0503020204020204" pitchFamily="34" charset="-122"/>
              </a:rPr>
              <a:t>1</a:t>
            </a:r>
            <a:r>
              <a:rPr lang="zh-CN" altLang="en-US" b="0" i="0" dirty="0">
                <a:solidFill>
                  <a:srgbClr val="444444"/>
                </a:solidFill>
                <a:effectLst/>
                <a:latin typeface="微软雅黑" panose="020B0503020204020204" pitchFamily="34" charset="-122"/>
                <a:ea typeface="微软雅黑" panose="020B0503020204020204" pitchFamily="34" charset="-122"/>
              </a:rPr>
              <a:t>。</a:t>
            </a:r>
            <a:endParaRPr lang="en-US" altLang="zh-CN" b="0" i="0" dirty="0">
              <a:solidFill>
                <a:srgbClr val="444444"/>
              </a:solidFill>
              <a:effectLst/>
              <a:latin typeface="微软雅黑" panose="020B0503020204020204" pitchFamily="34" charset="-122"/>
              <a:ea typeface="微软雅黑" panose="020B0503020204020204" pitchFamily="34" charset="-122"/>
            </a:endParaRPr>
          </a:p>
        </p:txBody>
      </p:sp>
      <p:sp>
        <p:nvSpPr>
          <p:cNvPr id="9" name="文本框 8"/>
          <p:cNvSpPr txBox="1"/>
          <p:nvPr/>
        </p:nvSpPr>
        <p:spPr>
          <a:xfrm>
            <a:off x="6800850" y="1290390"/>
            <a:ext cx="1338828"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原来坐标系</a:t>
            </a:r>
            <a:endParaRPr kumimoji="1" lang="zh-CN" altLang="en-US" dirty="0">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2"/>
          <a:stretch>
            <a:fillRect/>
          </a:stretch>
        </p:blipFill>
        <p:spPr>
          <a:xfrm>
            <a:off x="8406378" y="960706"/>
            <a:ext cx="876300" cy="1028700"/>
          </a:xfrm>
          <a:prstGeom prst="rect">
            <a:avLst/>
          </a:prstGeom>
        </p:spPr>
      </p:pic>
      <p:sp>
        <p:nvSpPr>
          <p:cNvPr id="17" name="文本框 16"/>
          <p:cNvSpPr txBox="1"/>
          <p:nvPr/>
        </p:nvSpPr>
        <p:spPr>
          <a:xfrm>
            <a:off x="6800850" y="2800637"/>
            <a:ext cx="1443037" cy="369332"/>
          </a:xfrm>
          <a:prstGeom prst="rect">
            <a:avLst/>
          </a:prstGeom>
          <a:noFill/>
        </p:spPr>
        <p:txBody>
          <a:bodyPr wrap="square">
            <a:spAutoFit/>
          </a:bodyPr>
          <a:lstStyle/>
          <a:p>
            <a:r>
              <a:rPr kumimoji="1" lang="zh-CN" altLang="en-US" dirty="0">
                <a:latin typeface="微软雅黑" panose="020B0503020204020204" pitchFamily="34" charset="-122"/>
                <a:ea typeface="微软雅黑" panose="020B0503020204020204" pitchFamily="34" charset="-122"/>
              </a:rPr>
              <a:t>新的坐标系</a:t>
            </a:r>
            <a:endParaRPr kumimoji="1" lang="zh-CN" altLang="en-US" dirty="0">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3"/>
          <a:stretch>
            <a:fillRect/>
          </a:stretch>
        </p:blipFill>
        <p:spPr>
          <a:xfrm>
            <a:off x="8311128" y="2429728"/>
            <a:ext cx="1066800" cy="1003300"/>
          </a:xfrm>
          <a:prstGeom prst="rect">
            <a:avLst/>
          </a:prstGeom>
        </p:spPr>
      </p:pic>
      <p:pic>
        <p:nvPicPr>
          <p:cNvPr id="19" name="图片 18"/>
          <p:cNvPicPr>
            <a:picLocks noChangeAspect="1"/>
          </p:cNvPicPr>
          <p:nvPr/>
        </p:nvPicPr>
        <p:blipFill>
          <a:blip r:embed="rId4"/>
          <a:stretch>
            <a:fillRect/>
          </a:stretch>
        </p:blipFill>
        <p:spPr>
          <a:xfrm>
            <a:off x="6405562" y="3916539"/>
            <a:ext cx="5584179" cy="1076611"/>
          </a:xfrm>
          <a:prstGeom prst="rect">
            <a:avLst/>
          </a:prstGeom>
        </p:spPr>
      </p:pic>
      <p:pic>
        <p:nvPicPr>
          <p:cNvPr id="20" name="图片 19"/>
          <p:cNvPicPr>
            <a:picLocks noChangeAspect="1"/>
          </p:cNvPicPr>
          <p:nvPr/>
        </p:nvPicPr>
        <p:blipFill>
          <a:blip r:embed="rId5"/>
          <a:stretch>
            <a:fillRect/>
          </a:stretch>
        </p:blipFill>
        <p:spPr>
          <a:xfrm>
            <a:off x="7244328" y="5507040"/>
            <a:ext cx="1600200" cy="1041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38197" y="2193926"/>
            <a:ext cx="8550674" cy="3420269"/>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dirty="0"/>
              <a:t>(Principle Component Analysis</a:t>
            </a:r>
            <a:r>
              <a:rPr lang="zh-CN" altLang="en-US" dirty="0"/>
              <a:t>，</a:t>
            </a:r>
            <a:r>
              <a:rPr lang="fr-FR" altLang="zh-CN" dirty="0"/>
              <a:t>PCA)</a:t>
            </a:r>
            <a:endParaRPr lang="zh-CN" altLang="en-US" dirty="0"/>
          </a:p>
        </p:txBody>
      </p:sp>
      <p:sp>
        <p:nvSpPr>
          <p:cNvPr id="6" name="文本框 68"/>
          <p:cNvSpPr txBox="1"/>
          <p:nvPr/>
        </p:nvSpPr>
        <p:spPr>
          <a:xfrm>
            <a:off x="745637" y="754035"/>
            <a:ext cx="10804211" cy="1705403"/>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对于正交变换空间中的样本点，如何利用一个超平面对所有样本进行表达？</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尝试找到这样的超平面，可以从两个角度来解释：</a:t>
            </a:r>
            <a:endParaRPr lang="en-US" altLang="zh-CN" dirty="0">
              <a:latin typeface="微软雅黑" panose="020B0503020204020204" pitchFamily="34" charset="-122"/>
              <a:ea typeface="微软雅黑" panose="020B0503020204020204" pitchFamily="34" charset="-122"/>
            </a:endParaRPr>
          </a:p>
          <a:p>
            <a:pPr marL="1200150" lvl="3"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最近重构性：样本点到这个超平面的距离都足够近</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1200150" lvl="3"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最大可分性：样本点在这个超平面上的投影能尽可能分开。</a:t>
            </a:r>
            <a:endParaRPr lang="en-US" altLang="zh-CN"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746901" y="5385215"/>
            <a:ext cx="9143478" cy="1289905"/>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对原始样本进行（线性变换）基变换可以对原始样本给出不同的表示</a:t>
            </a:r>
            <a:endParaRPr lang="zh-CN" altLang="en-US"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基的维度小于数据的维度可以起到降维的效果</a:t>
            </a:r>
            <a:endParaRPr lang="zh-CN" altLang="en-US"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b="1" dirty="0">
                <a:solidFill>
                  <a:srgbClr val="FF0000"/>
                </a:solidFill>
                <a:latin typeface="微软雅黑" panose="020B0503020204020204" pitchFamily="34" charset="-122"/>
                <a:ea typeface="微软雅黑" panose="020B0503020204020204" pitchFamily="34" charset="-122"/>
              </a:rPr>
              <a:t>对基变换后新的样本求其方差，选取使其方差最大的基</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stretch>
            <a:fillRect/>
          </a:stretch>
        </p:blipFill>
        <p:spPr>
          <a:xfrm>
            <a:off x="7840177" y="2528430"/>
            <a:ext cx="3239169" cy="4196560"/>
          </a:xfrm>
          <a:prstGeom prst="rect">
            <a:avLst/>
          </a:prstGeom>
        </p:spPr>
      </p:pic>
      <p:pic>
        <p:nvPicPr>
          <p:cNvPr id="19" name="图片 18"/>
          <p:cNvPicPr>
            <a:picLocks noChangeAspect="1"/>
          </p:cNvPicPr>
          <p:nvPr/>
        </p:nvPicPr>
        <p:blipFill>
          <a:blip r:embed="rId2"/>
          <a:stretch>
            <a:fillRect/>
          </a:stretch>
        </p:blipFill>
        <p:spPr>
          <a:xfrm>
            <a:off x="3484345" y="1302934"/>
            <a:ext cx="317419" cy="317419"/>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最近重构性</a:t>
            </a:r>
            <a:endParaRPr lang="zh-CN" altLang="en-US" dirty="0"/>
          </a:p>
        </p:txBody>
      </p:sp>
      <mc:AlternateContent xmlns:mc="http://schemas.openxmlformats.org/markup-compatibility/2006">
        <mc:Choice xmlns:a14="http://schemas.microsoft.com/office/drawing/2010/main" Requires="a14">
          <p:sp>
            <p:nvSpPr>
              <p:cNvPr id="6" name="文本框 68"/>
              <p:cNvSpPr txBox="1"/>
              <p:nvPr/>
            </p:nvSpPr>
            <p:spPr>
              <a:xfrm>
                <a:off x="523694" y="802257"/>
                <a:ext cx="10919621" cy="2387000"/>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假定</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𝑑</m:t>
                    </m:r>
                    <m:r>
                      <a:rPr lang="zh-CN" altLang="en-US" i="1">
                        <a:latin typeface="Cambria Math" panose="02040503050406030204" pitchFamily="18" charset="0"/>
                        <a:ea typeface="微软雅黑" panose="020B0503020204020204" pitchFamily="34" charset="-122"/>
                      </a:rPr>
                      <m:t>维</m:t>
                    </m:r>
                  </m:oMath>
                </a14:m>
                <a:r>
                  <a:rPr lang="zh-CN" altLang="en-US" dirty="0">
                    <a:latin typeface="微软雅黑" panose="020B0503020204020204" pitchFamily="34" charset="-122"/>
                    <a:ea typeface="微软雅黑" panose="020B0503020204020204" pitchFamily="34" charset="-122"/>
                  </a:rPr>
                  <a:t>数据样本都已经</a:t>
                </a:r>
                <a:r>
                  <a:rPr lang="zh-CN" altLang="en-US" dirty="0">
                    <a:solidFill>
                      <a:srgbClr val="FF0000"/>
                    </a:solidFill>
                    <a:latin typeface="微软雅黑" panose="020B0503020204020204" pitchFamily="34" charset="-122"/>
                    <a:ea typeface="微软雅黑" panose="020B0503020204020204" pitchFamily="34" charset="-122"/>
                  </a:rPr>
                  <a:t>中心化</a:t>
                </a:r>
                <a:r>
                  <a:rPr lang="zh-CN" altLang="en-US" dirty="0">
                    <a:latin typeface="微软雅黑" panose="020B0503020204020204" pitchFamily="34" charset="-122"/>
                    <a:ea typeface="微软雅黑" panose="020B0503020204020204" pitchFamily="34" charset="-122"/>
                  </a:rPr>
                  <a:t>即                 投影变换后新的坐标</a:t>
                </a:r>
                <a:r>
                  <a:rPr lang="zh-CN" altLang="en-US" dirty="0">
                    <a:solidFill>
                      <a:srgbClr val="FF0000"/>
                    </a:solidFill>
                    <a:latin typeface="微软雅黑" panose="020B0503020204020204" pitchFamily="34" charset="-122"/>
                    <a:ea typeface="微软雅黑" panose="020B0503020204020204" pitchFamily="34" charset="-122"/>
                  </a:rPr>
                  <a:t>正交基</a:t>
                </a:r>
                <a:r>
                  <a:rPr lang="zh-CN" altLang="en-US" dirty="0">
                    <a:latin typeface="微软雅黑" panose="020B0503020204020204" pitchFamily="34" charset="-122"/>
                    <a:ea typeface="微软雅黑" panose="020B0503020204020204" pitchFamily="34" charset="-122"/>
                  </a:rPr>
                  <a:t>为                    ，投影后将维度降低到</a:t>
                </a:r>
                <a14:m>
                  <m:oMath xmlns:m="http://schemas.openxmlformats.org/officeDocument/2006/math">
                    <m:r>
                      <a:rPr lang="en-US" altLang="zh-CN" i="1" dirty="0">
                        <a:latin typeface="Cambria Math" panose="02040503050406030204" pitchFamily="18" charset="0"/>
                        <a:ea typeface="微软雅黑" panose="020B0503020204020204" pitchFamily="34" charset="-122"/>
                      </a:rPr>
                      <m:t>𝑑</m:t>
                    </m:r>
                    <m:r>
                      <a:rPr lang="en-US" altLang="zh-CN" i="1" dirty="0">
                        <a:latin typeface="Cambria Math" panose="02040503050406030204" pitchFamily="18" charset="0"/>
                        <a:ea typeface="微软雅黑" panose="020B0503020204020204" pitchFamily="34" charset="-122"/>
                      </a:rPr>
                      <m:t>’</m:t>
                    </m:r>
                    <m:r>
                      <a:rPr lang="zh-CN" altLang="en-US" i="1" dirty="0" smtClean="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𝑑</m:t>
                    </m:r>
                    <m:r>
                      <a:rPr lang="en-US" altLang="zh-CN" i="1" dirty="0">
                        <a:latin typeface="Cambria Math" panose="02040503050406030204" pitchFamily="18" charset="0"/>
                        <a:ea typeface="微软雅黑" panose="020B0503020204020204" pitchFamily="34" charset="-122"/>
                      </a:rPr>
                      <m:t>’&lt;</m:t>
                    </m:r>
                    <m:r>
                      <a:rPr lang="en-US" altLang="zh-CN" i="1" dirty="0">
                        <a:latin typeface="Cambria Math" panose="02040503050406030204" pitchFamily="18" charset="0"/>
                        <a:ea typeface="微软雅黑" panose="020B0503020204020204" pitchFamily="34" charset="-122"/>
                      </a:rPr>
                      <m:t>𝑑</m:t>
                    </m:r>
                    <m:r>
                      <a:rPr lang="zh-CN" altLang="en-US" i="1" dirty="0" smtClean="0">
                        <a:latin typeface="Cambria Math" panose="02040503050406030204" pitchFamily="18" charset="0"/>
                        <a:ea typeface="微软雅黑" panose="020B0503020204020204" pitchFamily="34" charset="-122"/>
                      </a:rPr>
                      <m:t>；</m:t>
                    </m:r>
                  </m:oMath>
                </a14:m>
                <a:r>
                  <a:rPr lang="zh-CN" altLang="en-US" b="0" dirty="0">
                    <a:latin typeface="微软雅黑" panose="020B0503020204020204" pitchFamily="34" charset="-122"/>
                    <a:ea typeface="微软雅黑" panose="020B0503020204020204" pitchFamily="34" charset="-122"/>
                  </a:rPr>
                  <a:t>样本点    </a:t>
                </a:r>
                <a14:m>
                  <m:oMath xmlns:m="http://schemas.openxmlformats.org/officeDocument/2006/math">
                    <m:r>
                      <a:rPr lang="zh-CN" altLang="en-US" i="1" dirty="0">
                        <a:latin typeface="Cambria Math" panose="02040503050406030204" pitchFamily="18" charset="0"/>
                        <a:ea typeface="微软雅黑" panose="020B0503020204020204" pitchFamily="34" charset="-122"/>
                      </a:rPr>
                      <m:t>在低维</m:t>
                    </m:r>
                  </m:oMath>
                </a14:m>
                <a:r>
                  <a:rPr lang="zh-CN" altLang="en-US" b="0" dirty="0">
                    <a:latin typeface="微软雅黑" panose="020B0503020204020204" pitchFamily="34" charset="-122"/>
                    <a:ea typeface="微软雅黑" panose="020B0503020204020204" pitchFamily="34" charset="-122"/>
                  </a:rPr>
                  <a:t>坐标系中的投影是                             ，，</a:t>
                </a:r>
                <a:r>
                  <a:rPr lang="zh-CN" altLang="en-US" dirty="0">
                    <a:latin typeface="微软雅黑" panose="020B0503020204020204" pitchFamily="34" charset="-122"/>
                    <a:ea typeface="微软雅黑" panose="020B0503020204020204" pitchFamily="34" charset="-122"/>
                  </a:rPr>
                  <a:t>其中                 是      在低维空间下第 </a:t>
                </a:r>
                <a:r>
                  <a:rPr lang="en-US" altLang="zh-CN" i="1" dirty="0">
                    <a:latin typeface="微软雅黑" panose="020B0503020204020204" pitchFamily="34" charset="-122"/>
                    <a:ea typeface="微软雅黑" panose="020B0503020204020204" pitchFamily="34" charset="-122"/>
                  </a:rPr>
                  <a:t>j </a:t>
                </a:r>
                <a:r>
                  <a:rPr lang="zh-CN" altLang="en-US" dirty="0">
                    <a:latin typeface="微软雅黑" panose="020B0503020204020204" pitchFamily="34" charset="-122"/>
                    <a:ea typeface="微软雅黑" panose="020B0503020204020204" pitchFamily="34" charset="-122"/>
                  </a:rPr>
                  <a:t>维的坐标。若基于      来重构      ，则会得到</a:t>
                </a:r>
                <a:endParaRPr lang="en-US" altLang="zh-CN" b="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在整个样本空间上，原始样本点      与基于重构后的样本点     之间的距离为</a:t>
                </a:r>
                <a:endParaRPr lang="en-US" altLang="zh-CN" b="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mc:Choice>
        <mc:Fallback>
          <p:sp>
            <p:nvSpPr>
              <p:cNvPr id="6" name="文本框 68"/>
              <p:cNvSpPr txBox="1">
                <a:spLocks noRot="1" noChangeAspect="1" noMove="1" noResize="1" noEditPoints="1" noAdjustHandles="1" noChangeArrowheads="1" noChangeShapeType="1" noTextEdit="1"/>
              </p:cNvSpPr>
              <p:nvPr/>
            </p:nvSpPr>
            <p:spPr>
              <a:xfrm>
                <a:off x="523694" y="802257"/>
                <a:ext cx="10919621" cy="2387000"/>
              </a:xfrm>
              <a:prstGeom prst="rect">
                <a:avLst/>
              </a:prstGeom>
              <a:blipFill rotWithShape="1">
                <a:blip r:embed="rId3"/>
                <a:stretch>
                  <a:fillRect l="-4" t="-11" r="6" b="-5681"/>
                </a:stretch>
              </a:blipFill>
            </p:spPr>
            <p:txBody>
              <a:bodyPr/>
              <a:lstStyle/>
              <a:p>
                <a:r>
                  <a:rPr lang="zh-CN" altLang="en-US">
                    <a:noFill/>
                  </a:rPr>
                  <a:t> </a:t>
                </a:r>
              </a:p>
            </p:txBody>
          </p:sp>
        </mc:Fallback>
      </mc:AlternateContent>
      <p:pic>
        <p:nvPicPr>
          <p:cNvPr id="9" name="图片 8"/>
          <p:cNvPicPr>
            <a:picLocks noChangeAspect="1"/>
          </p:cNvPicPr>
          <p:nvPr/>
        </p:nvPicPr>
        <p:blipFill>
          <a:blip r:embed="rId4"/>
          <a:stretch>
            <a:fillRect/>
          </a:stretch>
        </p:blipFill>
        <p:spPr>
          <a:xfrm>
            <a:off x="4252703" y="894976"/>
            <a:ext cx="1086432" cy="331103"/>
          </a:xfrm>
          <a:prstGeom prst="rect">
            <a:avLst/>
          </a:prstGeom>
        </p:spPr>
      </p:pic>
      <p:pic>
        <p:nvPicPr>
          <p:cNvPr id="11" name="图片 10"/>
          <p:cNvPicPr>
            <a:picLocks noChangeAspect="1"/>
          </p:cNvPicPr>
          <p:nvPr/>
        </p:nvPicPr>
        <p:blipFill>
          <a:blip r:embed="rId5"/>
          <a:stretch>
            <a:fillRect/>
          </a:stretch>
        </p:blipFill>
        <p:spPr>
          <a:xfrm>
            <a:off x="8361192" y="897802"/>
            <a:ext cx="1413904" cy="331104"/>
          </a:xfrm>
          <a:prstGeom prst="rect">
            <a:avLst/>
          </a:prstGeom>
        </p:spPr>
      </p:pic>
      <p:pic>
        <p:nvPicPr>
          <p:cNvPr id="15" name="图片 14"/>
          <p:cNvPicPr>
            <a:picLocks noChangeAspect="1"/>
          </p:cNvPicPr>
          <p:nvPr/>
        </p:nvPicPr>
        <p:blipFill>
          <a:blip r:embed="rId6"/>
          <a:stretch>
            <a:fillRect/>
          </a:stretch>
        </p:blipFill>
        <p:spPr>
          <a:xfrm>
            <a:off x="4340385" y="1777968"/>
            <a:ext cx="303721" cy="256996"/>
          </a:xfrm>
          <a:prstGeom prst="rect">
            <a:avLst/>
          </a:prstGeom>
        </p:spPr>
      </p:pic>
      <p:pic>
        <p:nvPicPr>
          <p:cNvPr id="17" name="图片 16"/>
          <p:cNvPicPr>
            <a:picLocks noChangeAspect="1"/>
          </p:cNvPicPr>
          <p:nvPr/>
        </p:nvPicPr>
        <p:blipFill>
          <a:blip r:embed="rId2"/>
          <a:stretch>
            <a:fillRect/>
          </a:stretch>
        </p:blipFill>
        <p:spPr>
          <a:xfrm>
            <a:off x="10634301" y="1312401"/>
            <a:ext cx="306049" cy="306049"/>
          </a:xfrm>
          <a:prstGeom prst="rect">
            <a:avLst/>
          </a:prstGeom>
        </p:spPr>
      </p:pic>
      <p:pic>
        <p:nvPicPr>
          <p:cNvPr id="21" name="图片 20"/>
          <p:cNvPicPr>
            <a:picLocks noChangeAspect="1"/>
          </p:cNvPicPr>
          <p:nvPr/>
        </p:nvPicPr>
        <p:blipFill>
          <a:blip r:embed="rId7"/>
          <a:stretch>
            <a:fillRect/>
          </a:stretch>
        </p:blipFill>
        <p:spPr>
          <a:xfrm>
            <a:off x="9202582" y="1324835"/>
            <a:ext cx="1086823" cy="341316"/>
          </a:xfrm>
          <a:prstGeom prst="rect">
            <a:avLst/>
          </a:prstGeom>
        </p:spPr>
      </p:pic>
      <p:pic>
        <p:nvPicPr>
          <p:cNvPr id="23" name="图片 22"/>
          <p:cNvPicPr>
            <a:picLocks noChangeAspect="1"/>
          </p:cNvPicPr>
          <p:nvPr/>
        </p:nvPicPr>
        <p:blipFill>
          <a:blip r:embed="rId8"/>
          <a:stretch>
            <a:fillRect/>
          </a:stretch>
        </p:blipFill>
        <p:spPr>
          <a:xfrm>
            <a:off x="7039651" y="1694078"/>
            <a:ext cx="1678464" cy="406252"/>
          </a:xfrm>
          <a:prstGeom prst="rect">
            <a:avLst/>
          </a:prstGeom>
        </p:spPr>
      </p:pic>
      <p:pic>
        <p:nvPicPr>
          <p:cNvPr id="24" name="图片 23"/>
          <p:cNvPicPr>
            <a:picLocks noChangeAspect="1"/>
          </p:cNvPicPr>
          <p:nvPr/>
        </p:nvPicPr>
        <p:blipFill>
          <a:blip r:embed="rId2"/>
          <a:stretch>
            <a:fillRect/>
          </a:stretch>
        </p:blipFill>
        <p:spPr>
          <a:xfrm>
            <a:off x="5403479" y="1728168"/>
            <a:ext cx="299700" cy="299700"/>
          </a:xfrm>
          <a:prstGeom prst="rect">
            <a:avLst/>
          </a:prstGeom>
        </p:spPr>
      </p:pic>
      <p:pic>
        <p:nvPicPr>
          <p:cNvPr id="26" name="图片 25"/>
          <p:cNvPicPr>
            <a:picLocks noChangeAspect="1"/>
          </p:cNvPicPr>
          <p:nvPr/>
        </p:nvPicPr>
        <p:blipFill>
          <a:blip r:embed="rId9"/>
          <a:stretch>
            <a:fillRect/>
          </a:stretch>
        </p:blipFill>
        <p:spPr>
          <a:xfrm>
            <a:off x="6774705" y="2088771"/>
            <a:ext cx="345809" cy="299700"/>
          </a:xfrm>
          <a:prstGeom prst="rect">
            <a:avLst/>
          </a:prstGeom>
        </p:spPr>
      </p:pic>
      <p:pic>
        <p:nvPicPr>
          <p:cNvPr id="10" name="图片 9"/>
          <p:cNvPicPr>
            <a:picLocks noChangeAspect="1"/>
          </p:cNvPicPr>
          <p:nvPr/>
        </p:nvPicPr>
        <p:blipFill>
          <a:blip r:embed="rId10"/>
          <a:stretch>
            <a:fillRect/>
          </a:stretch>
        </p:blipFill>
        <p:spPr>
          <a:xfrm>
            <a:off x="1009988" y="2470826"/>
            <a:ext cx="6731489" cy="4254164"/>
          </a:xfrm>
          <a:prstGeom prst="rect">
            <a:avLst/>
          </a:prstGeom>
        </p:spPr>
      </p:pic>
      <p:pic>
        <p:nvPicPr>
          <p:cNvPr id="5" name="图片 4"/>
          <p:cNvPicPr>
            <a:picLocks noChangeAspect="1"/>
          </p:cNvPicPr>
          <p:nvPr/>
        </p:nvPicPr>
        <p:blipFill>
          <a:blip r:embed="rId11"/>
          <a:stretch>
            <a:fillRect/>
          </a:stretch>
        </p:blipFill>
        <p:spPr>
          <a:xfrm>
            <a:off x="6429540" y="1348615"/>
            <a:ext cx="2016259" cy="264034"/>
          </a:xfrm>
          <a:prstGeom prst="rect">
            <a:avLst/>
          </a:prstGeom>
        </p:spPr>
      </p:pic>
      <p:pic>
        <p:nvPicPr>
          <p:cNvPr id="18" name="图片 17"/>
          <p:cNvPicPr>
            <a:picLocks noChangeAspect="1"/>
          </p:cNvPicPr>
          <p:nvPr/>
        </p:nvPicPr>
        <p:blipFill>
          <a:blip r:embed="rId2"/>
          <a:stretch>
            <a:fillRect/>
          </a:stretch>
        </p:blipFill>
        <p:spPr>
          <a:xfrm>
            <a:off x="4110746" y="2096781"/>
            <a:ext cx="299700" cy="299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最近重构性</a:t>
            </a:r>
            <a:endParaRPr lang="zh-CN" altLang="en-US" dirty="0"/>
          </a:p>
        </p:txBody>
      </p:sp>
      <p:pic>
        <p:nvPicPr>
          <p:cNvPr id="12" name="图片 11"/>
          <p:cNvPicPr>
            <a:picLocks noChangeAspect="1"/>
          </p:cNvPicPr>
          <p:nvPr/>
        </p:nvPicPr>
        <p:blipFill>
          <a:blip r:embed="rId1"/>
          <a:stretch>
            <a:fillRect/>
          </a:stretch>
        </p:blipFill>
        <p:spPr>
          <a:xfrm>
            <a:off x="3054117" y="872202"/>
            <a:ext cx="5646971" cy="1692124"/>
          </a:xfrm>
          <a:prstGeom prst="rect">
            <a:avLst/>
          </a:prstGeom>
        </p:spPr>
      </p:pic>
      <p:sp>
        <p:nvSpPr>
          <p:cNvPr id="13" name="文本框 12"/>
          <p:cNvSpPr txBox="1"/>
          <p:nvPr/>
        </p:nvSpPr>
        <p:spPr>
          <a:xfrm>
            <a:off x="1143297" y="2655963"/>
            <a:ext cx="10255631" cy="2862322"/>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根据最近重构性，需要最小化重构距离，即只需要最小化                                ，此时问题为一个带约束的优化问题</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这就是主成分分析的优化目标之一（</a:t>
            </a:r>
            <a:r>
              <a:rPr lang="zh-CN" altLang="en-US" b="1" dirty="0">
                <a:latin typeface="微软雅黑" panose="020B0503020204020204" pitchFamily="34" charset="-122"/>
                <a:ea typeface="微软雅黑" panose="020B0503020204020204" pitchFamily="34" charset="-122"/>
              </a:rPr>
              <a:t>最近重构性</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2"/>
          <a:stretch>
            <a:fillRect/>
          </a:stretch>
        </p:blipFill>
        <p:spPr>
          <a:xfrm>
            <a:off x="6932513" y="2540499"/>
            <a:ext cx="2132161" cy="681946"/>
          </a:xfrm>
          <a:prstGeom prst="rect">
            <a:avLst/>
          </a:prstGeom>
        </p:spPr>
      </p:pic>
      <p:pic>
        <p:nvPicPr>
          <p:cNvPr id="17" name="图片 16"/>
          <p:cNvPicPr>
            <a:picLocks noChangeAspect="1"/>
          </p:cNvPicPr>
          <p:nvPr/>
        </p:nvPicPr>
        <p:blipFill>
          <a:blip r:embed="rId3"/>
          <a:stretch>
            <a:fillRect/>
          </a:stretch>
        </p:blipFill>
        <p:spPr>
          <a:xfrm>
            <a:off x="4476205" y="3598330"/>
            <a:ext cx="3589814" cy="11695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最大可分性</a:t>
            </a:r>
            <a:endParaRPr lang="zh-CN" altLang="en-US" dirty="0"/>
          </a:p>
        </p:txBody>
      </p:sp>
      <p:sp>
        <p:nvSpPr>
          <p:cNvPr id="11" name="文本框 68"/>
          <p:cNvSpPr txBox="1"/>
          <p:nvPr/>
        </p:nvSpPr>
        <p:spPr>
          <a:xfrm>
            <a:off x="928284" y="919042"/>
            <a:ext cx="7648182" cy="417358"/>
          </a:xfrm>
          <a:prstGeom prst="rect">
            <a:avLst/>
          </a:prstGeom>
          <a:noFill/>
        </p:spPr>
        <p:txBody>
          <a:bodyPr wrap="square">
            <a:spAutoFit/>
          </a:bodyPr>
          <a:lstStyle/>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422646" y="919042"/>
            <a:ext cx="9763218" cy="1289905"/>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从</a:t>
            </a:r>
            <a:r>
              <a:rPr lang="zh-CN" altLang="en-US" b="1" dirty="0">
                <a:latin typeface="微软雅黑" panose="020B0503020204020204" pitchFamily="34" charset="-122"/>
                <a:ea typeface="微软雅黑" panose="020B0503020204020204" pitchFamily="34" charset="-122"/>
              </a:rPr>
              <a:t>最大可分性</a:t>
            </a:r>
            <a:r>
              <a:rPr lang="zh-CN" altLang="en-US" dirty="0">
                <a:latin typeface="微软雅黑" panose="020B0503020204020204" pitchFamily="34" charset="-122"/>
                <a:ea typeface="微软雅黑" panose="020B0503020204020204" pitchFamily="34" charset="-122"/>
              </a:rPr>
              <a:t>出发，能得到主成分分析的另一种解释。我们知道，样本点      在新的空间上的投影为           若所有样本点的投影能尽可能分开，则应该使投影后样本点的方差最大化，如图所示。  </a:t>
            </a:r>
            <a:endParaRPr lang="en-US" altLang="zh-CN"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9144000" y="1028652"/>
            <a:ext cx="331420" cy="307748"/>
          </a:xfrm>
          <a:prstGeom prst="rect">
            <a:avLst/>
          </a:prstGeom>
        </p:spPr>
      </p:pic>
      <p:pic>
        <p:nvPicPr>
          <p:cNvPr id="13" name="图片 12"/>
          <p:cNvPicPr>
            <a:picLocks noChangeAspect="1"/>
          </p:cNvPicPr>
          <p:nvPr/>
        </p:nvPicPr>
        <p:blipFill>
          <a:blip r:embed="rId2"/>
          <a:stretch>
            <a:fillRect/>
          </a:stretch>
        </p:blipFill>
        <p:spPr>
          <a:xfrm>
            <a:off x="2723458" y="1439739"/>
            <a:ext cx="721364" cy="290549"/>
          </a:xfrm>
          <a:prstGeom prst="rect">
            <a:avLst/>
          </a:prstGeom>
        </p:spPr>
      </p:pic>
      <p:pic>
        <p:nvPicPr>
          <p:cNvPr id="4" name="图片 3"/>
          <p:cNvPicPr>
            <a:picLocks noChangeAspect="1"/>
          </p:cNvPicPr>
          <p:nvPr/>
        </p:nvPicPr>
        <p:blipFill>
          <a:blip r:embed="rId3"/>
          <a:stretch>
            <a:fillRect/>
          </a:stretch>
        </p:blipFill>
        <p:spPr>
          <a:xfrm>
            <a:off x="3444822" y="2370298"/>
            <a:ext cx="4955939" cy="370970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a:stretch>
            <a:fillRect/>
          </a:stretch>
        </p:blipFill>
        <p:spPr>
          <a:xfrm>
            <a:off x="2398294" y="3894717"/>
            <a:ext cx="3018430" cy="1188441"/>
          </a:xfrm>
          <a:prstGeom prst="rect">
            <a:avLst/>
          </a:prstGeom>
        </p:spPr>
      </p:pic>
      <p:pic>
        <p:nvPicPr>
          <p:cNvPr id="4" name="图片 3"/>
          <p:cNvPicPr>
            <a:picLocks noChangeAspect="1"/>
          </p:cNvPicPr>
          <p:nvPr/>
        </p:nvPicPr>
        <p:blipFill>
          <a:blip r:embed="rId2"/>
          <a:stretch>
            <a:fillRect/>
          </a:stretch>
        </p:blipFill>
        <p:spPr>
          <a:xfrm>
            <a:off x="2304503" y="5627568"/>
            <a:ext cx="3125572" cy="1018332"/>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最大可分性</a:t>
            </a:r>
            <a:endParaRPr lang="zh-CN" altLang="en-US" dirty="0"/>
          </a:p>
        </p:txBody>
      </p:sp>
      <p:sp>
        <p:nvSpPr>
          <p:cNvPr id="12" name="文本框 68"/>
          <p:cNvSpPr txBox="1"/>
          <p:nvPr/>
        </p:nvSpPr>
        <p:spPr>
          <a:xfrm>
            <a:off x="1727545" y="1748340"/>
            <a:ext cx="9822303" cy="2217851"/>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为了方便处理，我们将每个变量的</a:t>
            </a:r>
            <a:r>
              <a:rPr lang="zh-CN" altLang="en-US" dirty="0">
                <a:solidFill>
                  <a:srgbClr val="FF0000"/>
                </a:solidFill>
                <a:latin typeface="微软雅黑" panose="020B0503020204020204" pitchFamily="34" charset="-122"/>
                <a:ea typeface="微软雅黑" panose="020B0503020204020204" pitchFamily="34" charset="-122"/>
              </a:rPr>
              <a:t>均值都化为 </a:t>
            </a:r>
            <a:r>
              <a:rPr lang="en-US" altLang="zh-CN" dirty="0">
                <a:solidFill>
                  <a:srgbClr val="FF0000"/>
                </a:solidFill>
                <a:latin typeface="微软雅黑" panose="020B0503020204020204" pitchFamily="34" charset="-122"/>
                <a:ea typeface="微软雅黑" panose="020B0503020204020204" pitchFamily="34" charset="-122"/>
              </a:rPr>
              <a:t>0 </a:t>
            </a:r>
            <a:r>
              <a:rPr lang="zh-CN" altLang="en-US" dirty="0">
                <a:latin typeface="微软雅黑" panose="020B0503020204020204" pitchFamily="34" charset="-122"/>
                <a:ea typeface="微软雅黑" panose="020B0503020204020204" pitchFamily="34" charset="-122"/>
              </a:rPr>
              <a:t>，因此方差可以直接用每个元素的平方和除以元素个数表示：</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因此，投影后的样本点的协方差矩阵是                     ，于是优化目标可写为</a:t>
            </a:r>
            <a:endParaRPr lang="en-US" altLang="zh-CN"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4475486" y="873212"/>
            <a:ext cx="3241027" cy="984843"/>
          </a:xfrm>
          <a:prstGeom prst="rect">
            <a:avLst/>
          </a:prstGeom>
        </p:spPr>
      </p:pic>
      <p:pic>
        <p:nvPicPr>
          <p:cNvPr id="9" name="图片 8"/>
          <p:cNvPicPr>
            <a:picLocks noChangeAspect="1"/>
          </p:cNvPicPr>
          <p:nvPr/>
        </p:nvPicPr>
        <p:blipFill>
          <a:blip r:embed="rId4"/>
          <a:stretch>
            <a:fillRect/>
          </a:stretch>
        </p:blipFill>
        <p:spPr>
          <a:xfrm>
            <a:off x="4525317" y="2229548"/>
            <a:ext cx="3163263" cy="1192233"/>
          </a:xfrm>
          <a:prstGeom prst="rect">
            <a:avLst/>
          </a:prstGeom>
        </p:spPr>
      </p:pic>
      <p:pic>
        <p:nvPicPr>
          <p:cNvPr id="13" name="图片 12"/>
          <p:cNvPicPr>
            <a:picLocks noChangeAspect="1"/>
          </p:cNvPicPr>
          <p:nvPr/>
        </p:nvPicPr>
        <p:blipFill>
          <a:blip r:embed="rId5"/>
          <a:stretch>
            <a:fillRect/>
          </a:stretch>
        </p:blipFill>
        <p:spPr>
          <a:xfrm>
            <a:off x="6018819" y="3588742"/>
            <a:ext cx="1366845" cy="337031"/>
          </a:xfrm>
          <a:prstGeom prst="rect">
            <a:avLst/>
          </a:prstGeom>
        </p:spPr>
      </p:pic>
      <p:pic>
        <p:nvPicPr>
          <p:cNvPr id="18" name="图片 17"/>
          <p:cNvPicPr>
            <a:picLocks noChangeAspect="1"/>
          </p:cNvPicPr>
          <p:nvPr/>
        </p:nvPicPr>
        <p:blipFill>
          <a:blip r:embed="rId6"/>
          <a:stretch>
            <a:fillRect/>
          </a:stretch>
        </p:blipFill>
        <p:spPr>
          <a:xfrm>
            <a:off x="7385664" y="4845858"/>
            <a:ext cx="3282814" cy="559030"/>
          </a:xfrm>
          <a:prstGeom prst="rect">
            <a:avLst/>
          </a:prstGeom>
        </p:spPr>
      </p:pic>
      <p:sp>
        <p:nvSpPr>
          <p:cNvPr id="20" name="箭头: 右 19"/>
          <p:cNvSpPr/>
          <p:nvPr/>
        </p:nvSpPr>
        <p:spPr>
          <a:xfrm>
            <a:off x="5430075" y="4935748"/>
            <a:ext cx="1662082" cy="281518"/>
          </a:xfrm>
          <a:prstGeom prst="right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738406" y="841278"/>
            <a:ext cx="6027938" cy="417358"/>
          </a:xfrm>
          <a:prstGeom prst="rect">
            <a:avLst/>
          </a:prstGeom>
          <a:noFill/>
        </p:spPr>
        <p:txBody>
          <a:bodyPr wrap="square" rtlCol="0">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方差的计算公式为</a:t>
            </a:r>
            <a:endParaRPr lang="en-US" altLang="zh-CN" dirty="0">
              <a:latin typeface="微软雅黑" panose="020B0503020204020204" pitchFamily="34" charset="-122"/>
              <a:ea typeface="微软雅黑" panose="020B0503020204020204" pitchFamily="34" charset="-122"/>
            </a:endParaRPr>
          </a:p>
        </p:txBody>
      </p:sp>
      <p:sp>
        <p:nvSpPr>
          <p:cNvPr id="5" name="左右箭头 4"/>
          <p:cNvSpPr/>
          <p:nvPr/>
        </p:nvSpPr>
        <p:spPr>
          <a:xfrm rot="16200000">
            <a:off x="3296012" y="5274354"/>
            <a:ext cx="576197" cy="21013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3689179" y="5170697"/>
            <a:ext cx="646331"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等价</a:t>
            </a:r>
            <a:endParaRPr kumimoji="1"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dirty="0"/>
          </a:p>
        </p:txBody>
      </p:sp>
      <p:pic>
        <p:nvPicPr>
          <p:cNvPr id="3" name="图片 2"/>
          <p:cNvPicPr>
            <a:picLocks noChangeAspect="1"/>
          </p:cNvPicPr>
          <p:nvPr/>
        </p:nvPicPr>
        <p:blipFill>
          <a:blip r:embed="rId1"/>
          <a:stretch>
            <a:fillRect/>
          </a:stretch>
        </p:blipFill>
        <p:spPr>
          <a:xfrm>
            <a:off x="1211314" y="794166"/>
            <a:ext cx="9251414" cy="3954665"/>
          </a:xfrm>
          <a:prstGeom prst="rect">
            <a:avLst/>
          </a:prstGeom>
        </p:spPr>
      </p:pic>
      <p:sp>
        <p:nvSpPr>
          <p:cNvPr id="8" name="文本框 68"/>
          <p:cNvSpPr txBox="1"/>
          <p:nvPr/>
        </p:nvSpPr>
        <p:spPr>
          <a:xfrm>
            <a:off x="1211314" y="5197115"/>
            <a:ext cx="9822303" cy="1289905"/>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因此，只需对协方差矩阵           进行特征值分解，将求得的特征值排序</a:t>
            </a: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再取前 </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个特征值对应的特征向量构成 </a:t>
            </a:r>
            <a:r>
              <a:rPr lang="en-US" altLang="zh-CN" dirty="0">
                <a:latin typeface="微软雅黑" panose="020B0503020204020204" pitchFamily="34" charset="-122"/>
                <a:ea typeface="微软雅黑" panose="020B0503020204020204" pitchFamily="34" charset="-122"/>
              </a:rPr>
              <a:t>W = (</a:t>
            </a:r>
            <a:r>
              <a:rPr lang="el-GR" altLang="zh-CN" dirty="0">
                <a:latin typeface="微软雅黑" panose="020B0503020204020204" pitchFamily="34" charset="-122"/>
                <a:ea typeface="微软雅黑" panose="020B0503020204020204" pitchFamily="34" charset="-122"/>
              </a:rPr>
              <a:t>ω</a:t>
            </a:r>
            <a:r>
              <a:rPr lang="el-GR" altLang="zh-CN" baseline="-25000" dirty="0">
                <a:latin typeface="微软雅黑" panose="020B0503020204020204" pitchFamily="34" charset="-122"/>
                <a:ea typeface="微软雅黑" panose="020B0503020204020204" pitchFamily="34" charset="-122"/>
              </a:rPr>
              <a:t>1 </a:t>
            </a:r>
            <a:r>
              <a:rPr lang="zh-CN" altLang="el-GR" dirty="0">
                <a:latin typeface="微软雅黑" panose="020B0503020204020204" pitchFamily="34" charset="-122"/>
                <a:ea typeface="微软雅黑" panose="020B0503020204020204" pitchFamily="34" charset="-122"/>
              </a:rPr>
              <a:t>， </a:t>
            </a:r>
            <a:r>
              <a:rPr lang="el-GR" altLang="zh-CN" dirty="0">
                <a:latin typeface="微软雅黑" panose="020B0503020204020204" pitchFamily="34" charset="-122"/>
                <a:ea typeface="微软雅黑" panose="020B0503020204020204" pitchFamily="34" charset="-122"/>
              </a:rPr>
              <a:t>ω</a:t>
            </a:r>
            <a:r>
              <a:rPr lang="en-US" altLang="zh-CN" baseline="-25000"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el-GR" altLang="zh-CN" dirty="0">
                <a:latin typeface="微软雅黑" panose="020B0503020204020204" pitchFamily="34" charset="-122"/>
                <a:ea typeface="微软雅黑" panose="020B0503020204020204" pitchFamily="34" charset="-122"/>
              </a:rPr>
              <a:t>ω</a:t>
            </a:r>
            <a:r>
              <a:rPr lang="en-US" altLang="zh-CN" baseline="-25000" dirty="0">
                <a:latin typeface="微软雅黑" panose="020B0503020204020204" pitchFamily="34" charset="-122"/>
                <a:ea typeface="微软雅黑" panose="020B0503020204020204" pitchFamily="34" charset="-122"/>
              </a:rPr>
              <a:t>d’</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，这就是主成分分析的解。</a:t>
            </a:r>
            <a:endParaRPr lang="en-US" altLang="zh-CN" dirty="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4179447" y="5335557"/>
            <a:ext cx="580443" cy="257974"/>
          </a:xfrm>
          <a:prstGeom prst="rect">
            <a:avLst/>
          </a:prstGeom>
        </p:spPr>
      </p:pic>
      <p:pic>
        <p:nvPicPr>
          <p:cNvPr id="10" name="图片 9"/>
          <p:cNvPicPr>
            <a:picLocks noChangeAspect="1"/>
          </p:cNvPicPr>
          <p:nvPr/>
        </p:nvPicPr>
        <p:blipFill>
          <a:blip r:embed="rId3"/>
          <a:stretch>
            <a:fillRect/>
          </a:stretch>
        </p:blipFill>
        <p:spPr>
          <a:xfrm>
            <a:off x="8879274" y="5372216"/>
            <a:ext cx="2023080" cy="229728"/>
          </a:xfrm>
          <a:prstGeom prst="rect">
            <a:avLst/>
          </a:prstGeom>
        </p:spPr>
      </p:pic>
      <p:pic>
        <p:nvPicPr>
          <p:cNvPr id="4" name="图片 3"/>
          <p:cNvPicPr>
            <a:picLocks noChangeAspect="1"/>
          </p:cNvPicPr>
          <p:nvPr/>
        </p:nvPicPr>
        <p:blipFill>
          <a:blip r:embed="rId4"/>
          <a:stretch>
            <a:fillRect/>
          </a:stretch>
        </p:blipFill>
        <p:spPr>
          <a:xfrm>
            <a:off x="4481058" y="4763352"/>
            <a:ext cx="3282814" cy="5590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PCA</a:t>
            </a:r>
            <a:r>
              <a:rPr lang="zh-CN" altLang="en-US" dirty="0"/>
              <a:t>算法及其性质</a:t>
            </a:r>
            <a:endParaRPr lang="zh-CN" altLang="en-US" dirty="0"/>
          </a:p>
        </p:txBody>
      </p:sp>
      <p:sp>
        <p:nvSpPr>
          <p:cNvPr id="10" name="文本框 9"/>
          <p:cNvSpPr txBox="1"/>
          <p:nvPr/>
        </p:nvSpPr>
        <p:spPr>
          <a:xfrm>
            <a:off x="783820" y="4575600"/>
            <a:ext cx="10287001" cy="2126095"/>
          </a:xfrm>
          <a:prstGeom prst="rect">
            <a:avLst/>
          </a:prstGeom>
          <a:noFill/>
        </p:spPr>
        <p:txBody>
          <a:bodyPr wrap="square">
            <a:spAutoFit/>
          </a:bodyPr>
          <a:lstStyle/>
          <a:p>
            <a:pPr>
              <a:lnSpc>
                <a:spcPct val="150000"/>
              </a:lnSpc>
            </a:pPr>
            <a:r>
              <a:rPr lang="en-US" altLang="zh-CN" b="1" i="0" dirty="0">
                <a:solidFill>
                  <a:srgbClr val="121212"/>
                </a:solidFill>
                <a:effectLst/>
                <a:latin typeface="微软雅黑" panose="020B0503020204020204" pitchFamily="34" charset="-122"/>
                <a:ea typeface="微软雅黑" panose="020B0503020204020204" pitchFamily="34" charset="-122"/>
              </a:rPr>
              <a:t>1.</a:t>
            </a:r>
            <a:r>
              <a:rPr lang="zh-CN" altLang="en-US" b="1" i="0" dirty="0">
                <a:solidFill>
                  <a:srgbClr val="121212"/>
                </a:solidFill>
                <a:effectLst/>
                <a:latin typeface="微软雅黑" panose="020B0503020204020204" pitchFamily="34" charset="-122"/>
                <a:ea typeface="微软雅黑" panose="020B0503020204020204" pitchFamily="34" charset="-122"/>
              </a:rPr>
              <a:t>缓解维度灾难</a:t>
            </a:r>
            <a:r>
              <a:rPr lang="zh-CN" altLang="en-US" b="0" i="0" dirty="0">
                <a:solidFill>
                  <a:srgbClr val="121212"/>
                </a:solidFill>
                <a:effectLst/>
                <a:latin typeface="微软雅黑" panose="020B0503020204020204" pitchFamily="34" charset="-122"/>
                <a:ea typeface="微软雅黑" panose="020B0503020204020204" pitchFamily="34" charset="-122"/>
              </a:rPr>
              <a:t>：</a:t>
            </a:r>
            <a:r>
              <a:rPr lang="en-US" altLang="zh-CN" b="0" i="0" dirty="0">
                <a:solidFill>
                  <a:srgbClr val="121212"/>
                </a:solidFill>
                <a:effectLst/>
                <a:latin typeface="微软雅黑" panose="020B0503020204020204" pitchFamily="34" charset="-122"/>
                <a:ea typeface="微软雅黑" panose="020B0503020204020204" pitchFamily="34" charset="-122"/>
              </a:rPr>
              <a:t>PCA </a:t>
            </a:r>
            <a:r>
              <a:rPr lang="zh-CN" altLang="en-US" b="0" i="0" dirty="0">
                <a:solidFill>
                  <a:srgbClr val="121212"/>
                </a:solidFill>
                <a:effectLst/>
                <a:latin typeface="微软雅黑" panose="020B0503020204020204" pitchFamily="34" charset="-122"/>
                <a:ea typeface="微软雅黑" panose="020B0503020204020204" pitchFamily="34" charset="-122"/>
              </a:rPr>
              <a:t>算法通过舍去一部分信息之后能使得样本的采样密度增大（因为维数降低了），这是缓解维度灾难的重要手段；</a:t>
            </a:r>
            <a:r>
              <a:rPr lang="en-US" altLang="zh-CN" b="0" i="0" dirty="0">
                <a:solidFill>
                  <a:srgbClr val="121212"/>
                </a:solidFill>
                <a:effectLst/>
                <a:latin typeface="微软雅黑" panose="020B0503020204020204" pitchFamily="34" charset="-122"/>
                <a:ea typeface="微软雅黑" panose="020B0503020204020204" pitchFamily="34" charset="-122"/>
              </a:rPr>
              <a:t> </a:t>
            </a: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a:lnSpc>
                <a:spcPct val="150000"/>
              </a:lnSpc>
            </a:pPr>
            <a:r>
              <a:rPr lang="en-US" altLang="zh-CN" b="1" dirty="0">
                <a:solidFill>
                  <a:srgbClr val="121212"/>
                </a:solidFill>
                <a:latin typeface="微软雅黑" panose="020B0503020204020204" pitchFamily="34" charset="-122"/>
                <a:ea typeface="微软雅黑" panose="020B0503020204020204" pitchFamily="34" charset="-122"/>
              </a:rPr>
              <a:t>2.</a:t>
            </a:r>
            <a:r>
              <a:rPr lang="zh-CN" altLang="en-US" b="1" i="0" dirty="0">
                <a:solidFill>
                  <a:srgbClr val="121212"/>
                </a:solidFill>
                <a:effectLst/>
                <a:latin typeface="微软雅黑" panose="020B0503020204020204" pitchFamily="34" charset="-122"/>
                <a:ea typeface="微软雅黑" panose="020B0503020204020204" pitchFamily="34" charset="-122"/>
              </a:rPr>
              <a:t>降噪</a:t>
            </a:r>
            <a:r>
              <a:rPr lang="zh-CN" altLang="en-US" b="0" i="0" dirty="0">
                <a:solidFill>
                  <a:srgbClr val="121212"/>
                </a:solidFill>
                <a:effectLst/>
                <a:latin typeface="微软雅黑" panose="020B0503020204020204" pitchFamily="34" charset="-122"/>
                <a:ea typeface="微软雅黑" panose="020B0503020204020204" pitchFamily="34" charset="-122"/>
              </a:rPr>
              <a:t>：当数据受到噪声影响时，最小特征值对应的特征向量往往与噪声有关，将它们舍弃能在一定程度上起到降噪的效果；</a:t>
            </a: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a:lnSpc>
                <a:spcPct val="150000"/>
              </a:lnSpc>
            </a:pPr>
            <a:r>
              <a:rPr lang="en-US" altLang="zh-CN" b="1" dirty="0">
                <a:solidFill>
                  <a:srgbClr val="121212"/>
                </a:solidFill>
                <a:latin typeface="微软雅黑" panose="020B0503020204020204" pitchFamily="34" charset="-122"/>
                <a:ea typeface="微软雅黑" panose="020B0503020204020204" pitchFamily="34" charset="-122"/>
              </a:rPr>
              <a:t>3.</a:t>
            </a:r>
            <a:r>
              <a:rPr lang="zh-CN" altLang="en-US" b="1" i="0" dirty="0">
                <a:solidFill>
                  <a:srgbClr val="121212"/>
                </a:solidFill>
                <a:effectLst/>
                <a:latin typeface="微软雅黑" panose="020B0503020204020204" pitchFamily="34" charset="-122"/>
                <a:ea typeface="微软雅黑" panose="020B0503020204020204" pitchFamily="34" charset="-122"/>
              </a:rPr>
              <a:t>特征独立</a:t>
            </a:r>
            <a:r>
              <a:rPr lang="zh-CN" altLang="en-US" b="0" i="0" dirty="0">
                <a:solidFill>
                  <a:srgbClr val="121212"/>
                </a:solidFill>
                <a:effectLst/>
                <a:latin typeface="微软雅黑" panose="020B0503020204020204" pitchFamily="34" charset="-122"/>
                <a:ea typeface="微软雅黑" panose="020B0503020204020204" pitchFamily="34" charset="-122"/>
              </a:rPr>
              <a:t>：</a:t>
            </a:r>
            <a:r>
              <a:rPr lang="en-US" altLang="zh-CN" b="0" i="0" dirty="0">
                <a:solidFill>
                  <a:srgbClr val="121212"/>
                </a:solidFill>
                <a:effectLst/>
                <a:latin typeface="微软雅黑" panose="020B0503020204020204" pitchFamily="34" charset="-122"/>
                <a:ea typeface="微软雅黑" panose="020B0503020204020204" pitchFamily="34" charset="-122"/>
              </a:rPr>
              <a:t>PCA </a:t>
            </a:r>
            <a:r>
              <a:rPr lang="zh-CN" altLang="en-US" b="0" i="0" dirty="0">
                <a:solidFill>
                  <a:srgbClr val="121212"/>
                </a:solidFill>
                <a:effectLst/>
                <a:latin typeface="微软雅黑" panose="020B0503020204020204" pitchFamily="34" charset="-122"/>
                <a:ea typeface="微软雅黑" panose="020B0503020204020204" pitchFamily="34" charset="-122"/>
              </a:rPr>
              <a:t>不仅将数据压缩到低维，它也使得降维之后的数据各特征相互独立；</a:t>
            </a:r>
            <a:endParaRPr lang="en-US" altLang="zh-CN" b="0" i="0" dirty="0">
              <a:solidFill>
                <a:srgbClr val="121212"/>
              </a:solidFill>
              <a:effectLst/>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570576" y="790156"/>
            <a:ext cx="6825669" cy="2738034"/>
          </a:xfrm>
          <a:prstGeom prst="rect">
            <a:avLst/>
          </a:prstGeom>
        </p:spPr>
      </p:pic>
      <p:pic>
        <p:nvPicPr>
          <p:cNvPr id="6" name="图片 5"/>
          <p:cNvPicPr>
            <a:picLocks noChangeAspect="1"/>
          </p:cNvPicPr>
          <p:nvPr/>
        </p:nvPicPr>
        <p:blipFill>
          <a:blip r:embed="rId2"/>
          <a:stretch>
            <a:fillRect/>
          </a:stretch>
        </p:blipFill>
        <p:spPr>
          <a:xfrm>
            <a:off x="5202033" y="3630424"/>
            <a:ext cx="1562757" cy="84294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a:t>(Principle Component Analysis,PCA)</a:t>
            </a:r>
            <a:endParaRPr lang="zh-CN" altLang="en-US" dirty="0"/>
          </a:p>
        </p:txBody>
      </p:sp>
      <p:sp>
        <p:nvSpPr>
          <p:cNvPr id="6" name="文本框 68"/>
          <p:cNvSpPr txBox="1"/>
          <p:nvPr/>
        </p:nvSpPr>
        <p:spPr>
          <a:xfrm>
            <a:off x="745637" y="860506"/>
            <a:ext cx="10804211" cy="5029390"/>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的主要思想：在原有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维特征的基础上重新构造出来的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维特征，这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维是全新的正交特征，也被称为主成分。</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的工作过程：从原始的空间中顺序地找一组</a:t>
            </a:r>
            <a:r>
              <a:rPr lang="zh-CN" altLang="en-US" b="1" dirty="0">
                <a:latin typeface="微软雅黑" panose="020B0503020204020204" pitchFamily="34" charset="-122"/>
                <a:ea typeface="微软雅黑" panose="020B0503020204020204" pitchFamily="34" charset="-122"/>
              </a:rPr>
              <a:t>相互正交的坐标轴</a:t>
            </a:r>
            <a:r>
              <a:rPr lang="zh-CN" altLang="en-US" dirty="0">
                <a:latin typeface="微软雅黑" panose="020B0503020204020204" pitchFamily="34" charset="-122"/>
                <a:ea typeface="微软雅黑" panose="020B0503020204020204" pitchFamily="34" charset="-122"/>
              </a:rPr>
              <a:t>，新的坐标轴的选择与数据本身是密切相关的。其中，</a:t>
            </a:r>
            <a:r>
              <a:rPr lang="zh-CN" altLang="en-US" b="1" dirty="0">
                <a:latin typeface="微软雅黑" panose="020B0503020204020204" pitchFamily="34" charset="-122"/>
                <a:ea typeface="微软雅黑" panose="020B0503020204020204" pitchFamily="34" charset="-122"/>
              </a:rPr>
              <a:t>第一个新坐标轴选择是原始数据中方差最大的方向</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第二个新坐标轴选取是与第一个坐标轴正交的平面中使得方差最大的</a:t>
            </a:r>
            <a:r>
              <a:rPr lang="zh-CN" altLang="en-US" dirty="0">
                <a:latin typeface="微软雅黑" panose="020B0503020204020204" pitchFamily="34" charset="-122"/>
                <a:ea typeface="微软雅黑" panose="020B0503020204020204" pitchFamily="34" charset="-122"/>
              </a:rPr>
              <a:t>，第三个轴是与第一，二个轴正交的平面中方差最大的。通过这种方式获得的新的坐标轴，我们发现，大部分方差都包含在前面</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个坐标轴中，后面的坐标轴所含的方差几乎为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。于是，我们可以忽略余下的坐标轴，只保留前面</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个含有绝大部分方差的坐标轴。</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如何得到这些包含最大差异性的主成分方向呢？</a:t>
            </a:r>
            <a:endParaRPr lang="zh-CN" altLang="en-US"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通过计算数据矩阵的协方差矩阵，然后得到协方差矩阵的特征值特征向量，选择特征值最大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即方差最大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个特征所对应的特征向量组成的矩阵。</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如何中心化？</a:t>
            </a:r>
            <a:endParaRPr lang="zh-CN" altLang="en-US"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样本的方差</a:t>
            </a:r>
            <a:r>
              <a:rPr lang="en-US" altLang="zh-CN" dirty="0">
                <a:latin typeface="微软雅黑" panose="020B0503020204020204" pitchFamily="34" charset="-122"/>
                <a:ea typeface="微软雅黑" panose="020B0503020204020204" pitchFamily="34" charset="-122"/>
              </a:rPr>
              <a:t>XX^T</a:t>
            </a:r>
            <a:r>
              <a:rPr lang="zh-CN" altLang="en-US" dirty="0">
                <a:latin typeface="微软雅黑" panose="020B0503020204020204" pitchFamily="34" charset="-122"/>
                <a:ea typeface="微软雅黑" panose="020B0503020204020204" pitchFamily="34" charset="-122"/>
              </a:rPr>
              <a:t>表示协方差矩阵</a:t>
            </a:r>
            <a:endParaRPr lang="zh-CN" altLang="en-US"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5471451" y="5568529"/>
            <a:ext cx="1516042" cy="825057"/>
          </a:xfrm>
          <a:prstGeom prst="rect">
            <a:avLst/>
          </a:prstGeom>
        </p:spPr>
      </p:pic>
      <p:pic>
        <p:nvPicPr>
          <p:cNvPr id="9" name="图片 8"/>
          <p:cNvPicPr>
            <a:picLocks noChangeAspect="1"/>
          </p:cNvPicPr>
          <p:nvPr/>
        </p:nvPicPr>
        <p:blipFill>
          <a:blip r:embed="rId2"/>
          <a:stretch>
            <a:fillRect/>
          </a:stretch>
        </p:blipFill>
        <p:spPr>
          <a:xfrm>
            <a:off x="7463169" y="5571579"/>
            <a:ext cx="2267110" cy="81895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3647152"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核化线性降维</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核化线性降维</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6" name="文本框 5"/>
          <p:cNvSpPr txBox="1"/>
          <p:nvPr/>
        </p:nvSpPr>
        <p:spPr>
          <a:xfrm>
            <a:off x="738855" y="816304"/>
            <a:ext cx="9641149" cy="378289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线性降维方法假设从高维空间到低维空间的函数映射是线性的，然而，在不少现实任务中，可能需要非线性映射才能找到恰当的低</a:t>
            </a:r>
            <a:r>
              <a:rPr lang="zh-CN" altLang="en-US">
                <a:latin typeface="微软雅黑" panose="020B0503020204020204" pitchFamily="34" charset="-122"/>
                <a:ea typeface="微软雅黑" panose="020B0503020204020204" pitchFamily="34" charset="-122"/>
              </a:rPr>
              <a:t>维嵌入。</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样本点从二维空间中的矩形区域（</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）采样投影后以</a:t>
            </a:r>
            <a:r>
              <a:rPr lang="en-US" altLang="zh-CN" dirty="0">
                <a:latin typeface="微软雅黑" panose="020B0503020204020204" pitchFamily="34" charset="-122"/>
                <a:ea typeface="微软雅黑" panose="020B0503020204020204" pitchFamily="34" charset="-122"/>
              </a:rPr>
              <a:t>S </a:t>
            </a:r>
            <a:r>
              <a:rPr lang="zh-CN" altLang="en-US" dirty="0">
                <a:latin typeface="微软雅黑" panose="020B0503020204020204" pitchFamily="34" charset="-122"/>
                <a:ea typeface="微软雅黑" panose="020B0503020204020204" pitchFamily="34" charset="-122"/>
              </a:rPr>
              <a:t>形曲面嵌入到三维空间（</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，若直接使用线性降维方法对三维空间观察到的样本点进行降维，则将</a:t>
            </a:r>
            <a:r>
              <a:rPr lang="zh-CN" altLang="en-US" b="1" dirty="0">
                <a:latin typeface="微软雅黑" panose="020B0503020204020204" pitchFamily="34" charset="-122"/>
                <a:ea typeface="微软雅黑" panose="020B0503020204020204" pitchFamily="34" charset="-122"/>
              </a:rPr>
              <a:t>丢失原本的低维结构</a:t>
            </a:r>
            <a:r>
              <a:rPr lang="zh-CN" altLang="en-US" dirty="0">
                <a:latin typeface="微软雅黑" panose="020B0503020204020204" pitchFamily="34" charset="-122"/>
                <a:ea typeface="微软雅黑" panose="020B0503020204020204" pitchFamily="34" charset="-122"/>
              </a:rPr>
              <a:t>见图</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3069654" y="1663708"/>
            <a:ext cx="6052691" cy="2089618"/>
          </a:xfrm>
          <a:prstGeom prst="rect">
            <a:avLst/>
          </a:prstGeom>
        </p:spPr>
      </p:pic>
      <p:pic>
        <p:nvPicPr>
          <p:cNvPr id="9" name="图片 8"/>
          <p:cNvPicPr>
            <a:picLocks noChangeAspect="1"/>
          </p:cNvPicPr>
          <p:nvPr/>
        </p:nvPicPr>
        <p:blipFill>
          <a:blip r:embed="rId2"/>
          <a:stretch>
            <a:fillRect/>
          </a:stretch>
        </p:blipFill>
        <p:spPr>
          <a:xfrm>
            <a:off x="3232681" y="4663686"/>
            <a:ext cx="6052692" cy="202093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核化线性降维（</a:t>
            </a:r>
            <a:r>
              <a:rPr lang="en-US" altLang="zh-CN" dirty="0"/>
              <a:t>KPCA</a:t>
            </a:r>
            <a:r>
              <a:rPr lang="zh-CN" altLang="en-US" dirty="0"/>
              <a:t>）</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1011278" y="853999"/>
                <a:ext cx="10671735" cy="5458738"/>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核主成分分析</a:t>
                </a:r>
                <a:r>
                  <a:rPr lang="en-US" altLang="zh-CN" dirty="0">
                    <a:latin typeface="微软雅黑" panose="020B0503020204020204" pitchFamily="34" charset="-122"/>
                    <a:ea typeface="微软雅黑" panose="020B0503020204020204" pitchFamily="34" charset="-122"/>
                  </a:rPr>
                  <a:t>(Kernel PCA, KPCA)</a:t>
                </a:r>
                <a:r>
                  <a:rPr lang="zh-CN" altLang="en-US" dirty="0">
                    <a:latin typeface="微软雅黑" panose="020B0503020204020204" pitchFamily="34" charset="-122"/>
                    <a:ea typeface="微软雅黑" panose="020B0503020204020204" pitchFamily="34" charset="-122"/>
                  </a:rPr>
                  <a:t>可实现数据的非线性降维，用于处理线性不可分的数据集。</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KPCA</a:t>
                </a:r>
                <a:r>
                  <a:rPr lang="zh-CN" altLang="en-US" dirty="0">
                    <a:latin typeface="微软雅黑" panose="020B0503020204020204" pitchFamily="34" charset="-122"/>
                    <a:ea typeface="微软雅黑" panose="020B0503020204020204" pitchFamily="34" charset="-122"/>
                  </a:rPr>
                  <a:t>的大致思路是：对于输入空间</a:t>
                </a:r>
                <a:r>
                  <a:rPr lang="en-US" altLang="zh-CN" dirty="0">
                    <a:latin typeface="微软雅黑" panose="020B0503020204020204" pitchFamily="34" charset="-122"/>
                    <a:ea typeface="微软雅黑" panose="020B0503020204020204" pitchFamily="34" charset="-122"/>
                  </a:rPr>
                  <a:t>(Input space)</a:t>
                </a:r>
                <a:r>
                  <a:rPr lang="zh-CN" altLang="en-US" dirty="0">
                    <a:latin typeface="微软雅黑" panose="020B0503020204020204" pitchFamily="34" charset="-122"/>
                    <a:ea typeface="微软雅黑" panose="020B0503020204020204" pitchFamily="34" charset="-122"/>
                  </a:rPr>
                  <a:t>中的矩阵      ，我们先用一个非线性映射把</a:t>
                </a: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中的所有样本映射到一个高维甚至是无穷维的空间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称为特征空间，</a:t>
                </a:r>
                <a:r>
                  <a:rPr lang="en-US" altLang="zh-CN" dirty="0">
                    <a:latin typeface="微软雅黑" panose="020B0503020204020204" pitchFamily="34" charset="-122"/>
                    <a:ea typeface="微软雅黑" panose="020B0503020204020204" pitchFamily="34" charset="-122"/>
                  </a:rPr>
                  <a:t>Feature space)</a:t>
                </a:r>
                <a:r>
                  <a:rPr lang="zh-CN" altLang="en-US" dirty="0">
                    <a:latin typeface="微软雅黑" panose="020B0503020204020204" pitchFamily="34" charset="-122"/>
                    <a:ea typeface="微软雅黑" panose="020B0503020204020204" pitchFamily="34" charset="-122"/>
                  </a:rPr>
                  <a:t>，使其线性可分，</a:t>
                </a: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然后在这个高维空间进行</a:t>
                </a: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降维。</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在上节中我们求得                      ，解得 </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，是主成分分析的解。我们将样本矩阵所有样本映射到高维甚至是无穷维的空间，将在高维特征空间中把数据投影到由 </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 确定的超平面上，即</a:t>
                </a: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欲求解：</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其中，</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𝑧</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是样本点 </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𝑥</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在高维特征空间中的像。</a:t>
                </a: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1011278" y="853999"/>
                <a:ext cx="10671735" cy="5458738"/>
              </a:xfrm>
              <a:prstGeom prst="rect">
                <a:avLst/>
              </a:prstGeom>
              <a:blipFill rotWithShape="1">
                <a:blip r:embed="rId1"/>
                <a:stretch>
                  <a:fillRect l="-3" t="-10" r="3" b="4"/>
                </a:stretch>
              </a:blipFill>
            </p:spPr>
            <p:txBody>
              <a:bodyPr/>
              <a:lstStyle/>
              <a:p>
                <a:r>
                  <a:rPr lang="zh-CN" altLang="en-US">
                    <a:noFill/>
                  </a:rPr>
                  <a:t> </a:t>
                </a:r>
              </a:p>
            </p:txBody>
          </p:sp>
        </mc:Fallback>
      </mc:AlternateContent>
      <p:pic>
        <p:nvPicPr>
          <p:cNvPr id="13" name="图片 12"/>
          <p:cNvPicPr>
            <a:picLocks noChangeAspect="1"/>
          </p:cNvPicPr>
          <p:nvPr/>
        </p:nvPicPr>
        <p:blipFill>
          <a:blip r:embed="rId2"/>
          <a:stretch>
            <a:fillRect/>
          </a:stretch>
        </p:blipFill>
        <p:spPr>
          <a:xfrm>
            <a:off x="7365348" y="1648120"/>
            <a:ext cx="251691" cy="287647"/>
          </a:xfrm>
          <a:prstGeom prst="rect">
            <a:avLst/>
          </a:prstGeom>
        </p:spPr>
      </p:pic>
      <p:pic>
        <p:nvPicPr>
          <p:cNvPr id="19" name="图片 18"/>
          <p:cNvPicPr>
            <a:picLocks noChangeAspect="1"/>
          </p:cNvPicPr>
          <p:nvPr/>
        </p:nvPicPr>
        <p:blipFill>
          <a:blip r:embed="rId2"/>
          <a:stretch>
            <a:fillRect/>
          </a:stretch>
        </p:blipFill>
        <p:spPr>
          <a:xfrm>
            <a:off x="10756620" y="1648119"/>
            <a:ext cx="251691" cy="287647"/>
          </a:xfrm>
          <a:prstGeom prst="rect">
            <a:avLst/>
          </a:prstGeom>
        </p:spPr>
      </p:pic>
      <p:pic>
        <p:nvPicPr>
          <p:cNvPr id="23" name="图片 22"/>
          <p:cNvPicPr>
            <a:picLocks noChangeAspect="1"/>
          </p:cNvPicPr>
          <p:nvPr/>
        </p:nvPicPr>
        <p:blipFill>
          <a:blip r:embed="rId3"/>
          <a:stretch>
            <a:fillRect/>
          </a:stretch>
        </p:blipFill>
        <p:spPr>
          <a:xfrm>
            <a:off x="3327589" y="4146363"/>
            <a:ext cx="1424786" cy="274403"/>
          </a:xfrm>
          <a:prstGeom prst="rect">
            <a:avLst/>
          </a:prstGeom>
        </p:spPr>
      </p:pic>
      <p:pic>
        <p:nvPicPr>
          <p:cNvPr id="6" name="图片 5"/>
          <p:cNvPicPr>
            <a:picLocks noChangeAspect="1"/>
          </p:cNvPicPr>
          <p:nvPr/>
        </p:nvPicPr>
        <p:blipFill>
          <a:blip r:embed="rId4"/>
          <a:stretch>
            <a:fillRect/>
          </a:stretch>
        </p:blipFill>
        <p:spPr>
          <a:xfrm>
            <a:off x="3858668" y="2672719"/>
            <a:ext cx="4770986" cy="1461071"/>
          </a:xfrm>
          <a:prstGeom prst="rect">
            <a:avLst/>
          </a:prstGeom>
        </p:spPr>
      </p:pic>
      <p:pic>
        <p:nvPicPr>
          <p:cNvPr id="11" name="图片 10"/>
          <p:cNvPicPr>
            <a:picLocks noChangeAspect="1"/>
          </p:cNvPicPr>
          <p:nvPr/>
        </p:nvPicPr>
        <p:blipFill>
          <a:blip r:embed="rId5"/>
          <a:stretch>
            <a:fillRect/>
          </a:stretch>
        </p:blipFill>
        <p:spPr>
          <a:xfrm>
            <a:off x="4680885" y="4743851"/>
            <a:ext cx="2684463" cy="96855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核化线性降维（</a:t>
            </a:r>
            <a:r>
              <a:rPr lang="en-US" altLang="zh-CN" dirty="0"/>
              <a:t>KPCA</a:t>
            </a:r>
            <a:r>
              <a:rPr lang="zh-CN" altLang="en-US" dirty="0"/>
              <a:t>）</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1011278" y="853999"/>
                <a:ext cx="10671735" cy="3408947"/>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通过对上式变化，可以得到</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假定</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𝑧</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是由原始属性空间中的样本点 </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𝑥</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通过映射</a:t>
                </a:r>
                <a14:m>
                  <m:oMath xmlns:m="http://schemas.openxmlformats.org/officeDocument/2006/math">
                    <m:r>
                      <a:rPr lang="zh-CN" altLang="en-US" i="1" dirty="0">
                        <a:latin typeface="Cambria Math" panose="02040503050406030204" pitchFamily="18" charset="0"/>
                        <a:ea typeface="微软雅黑" panose="020B0503020204020204" pitchFamily="34" charset="-122"/>
                      </a:rPr>
                      <m:t>𝜙</m:t>
                    </m:r>
                  </m:oMath>
                </a14:m>
                <a:r>
                  <a:rPr lang="zh-CN" altLang="en-US" dirty="0">
                    <a:latin typeface="微软雅黑" panose="020B0503020204020204" pitchFamily="34" charset="-122"/>
                    <a:ea typeface="微软雅黑" panose="020B0503020204020204" pitchFamily="34" charset="-122"/>
                  </a:rPr>
                  <a:t>产生，即</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𝑧</m:t>
                        </m:r>
                      </m:e>
                      <m:sub>
                        <m:r>
                          <a:rPr lang="en-US" altLang="zh-CN" i="1" dirty="0">
                            <a:latin typeface="Cambria Math" panose="02040503050406030204" pitchFamily="18" charset="0"/>
                            <a:ea typeface="微软雅黑" panose="020B0503020204020204" pitchFamily="34" charset="-122"/>
                          </a:rPr>
                          <m:t>𝑖</m:t>
                        </m:r>
                      </m:sub>
                    </m:sSub>
                    <m:r>
                      <a:rPr lang="en-US" altLang="zh-CN" b="0" i="1" dirty="0">
                        <a:latin typeface="Cambria Math" panose="02040503050406030204" pitchFamily="18" charset="0"/>
                        <a:ea typeface="微软雅黑" panose="020B0503020204020204" pitchFamily="34" charset="-122"/>
                      </a:rPr>
                      <m:t>=</m:t>
                    </m:r>
                    <m:r>
                      <a:rPr lang="en-US" altLang="zh-CN" b="0" i="1" dirty="0">
                        <a:latin typeface="Cambria Math" panose="02040503050406030204" pitchFamily="18" charset="0"/>
                        <a:ea typeface="Cambria Math" panose="02040503050406030204" pitchFamily="18" charset="0"/>
                      </a:rPr>
                      <m:t>𝜙</m:t>
                    </m:r>
                    <m:r>
                      <a:rPr lang="en-US" altLang="zh-CN" b="0" i="1" dirty="0">
                        <a:latin typeface="Cambria Math" panose="02040503050406030204" pitchFamily="18" charset="0"/>
                        <a:ea typeface="Cambria Math" panose="02040503050406030204" pitchFamily="18" charset="0"/>
                      </a:rPr>
                      <m:t>(</m:t>
                    </m:r>
                    <m:sSub>
                      <m:sSubPr>
                        <m:ctrlPr>
                          <a:rPr lang="en-US" altLang="zh-CN" b="0" i="1" dirty="0">
                            <a:latin typeface="Cambria Math" panose="02040503050406030204" pitchFamily="18" charset="0"/>
                            <a:ea typeface="Cambria Math" panose="02040503050406030204" pitchFamily="18" charset="0"/>
                          </a:rPr>
                        </m:ctrlPr>
                      </m:sSubPr>
                      <m:e>
                        <m:r>
                          <a:rPr lang="en-US" altLang="zh-CN" b="0" i="1" dirty="0">
                            <a:latin typeface="Cambria Math" panose="02040503050406030204" pitchFamily="18" charset="0"/>
                            <a:ea typeface="Cambria Math" panose="02040503050406030204" pitchFamily="18" charset="0"/>
                          </a:rPr>
                          <m:t>𝑥</m:t>
                        </m:r>
                      </m:e>
                      <m:sub>
                        <m:r>
                          <a:rPr lang="en-US" altLang="zh-CN" b="0" i="1" dirty="0">
                            <a:latin typeface="Cambria Math" panose="02040503050406030204" pitchFamily="18" charset="0"/>
                            <a:ea typeface="Cambria Math" panose="02040503050406030204" pitchFamily="18" charset="0"/>
                          </a:rPr>
                          <m:t>𝑖</m:t>
                        </m:r>
                      </m:sub>
                    </m:sSub>
                    <m:r>
                      <a:rPr lang="en-US" altLang="zh-CN" b="0"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ea typeface="Cambria Math" panose="02040503050406030204" pitchFamily="18" charset="0"/>
                      </a:rPr>
                      <m:t>。</m:t>
                    </m:r>
                  </m:oMath>
                </a14:m>
                <a:r>
                  <a:rPr lang="zh-CN" altLang="en-US" dirty="0">
                    <a:latin typeface="微软雅黑" panose="020B0503020204020204" pitchFamily="34" charset="-122"/>
                    <a:ea typeface="微软雅黑" panose="020B0503020204020204" pitchFamily="34" charset="-122"/>
                  </a:rPr>
                  <a:t>若</a:t>
                </a:r>
                <a14:m>
                  <m:oMath xmlns:m="http://schemas.openxmlformats.org/officeDocument/2006/math">
                    <m:r>
                      <a:rPr lang="zh-CN" altLang="en-US" i="1" dirty="0">
                        <a:latin typeface="Cambria Math" panose="02040503050406030204" pitchFamily="18" charset="0"/>
                        <a:ea typeface="微软雅黑" panose="020B0503020204020204" pitchFamily="34" charset="-122"/>
                      </a:rPr>
                      <m:t>𝜙</m:t>
                    </m:r>
                  </m:oMath>
                </a14:m>
                <a:r>
                  <a:rPr lang="zh-CN" altLang="en-US" dirty="0">
                    <a:latin typeface="微软雅黑" panose="020B0503020204020204" pitchFamily="34" charset="-122"/>
                    <a:ea typeface="微软雅黑" panose="020B0503020204020204" pitchFamily="34" charset="-122"/>
                  </a:rPr>
                  <a:t>能被显式表达出来，则通过它将样本映射至高维特征空间，再在特征空间中实施 </a:t>
                </a:r>
                <a:r>
                  <a:rPr lang="en-US" altLang="zh-CN" dirty="0">
                    <a:latin typeface="微软雅黑" panose="020B0503020204020204" pitchFamily="34" charset="-122"/>
                    <a:ea typeface="微软雅黑" panose="020B0503020204020204" pitchFamily="34" charset="-122"/>
                  </a:rPr>
                  <a:t>PCA </a:t>
                </a:r>
                <a:r>
                  <a:rPr lang="zh-CN" altLang="en-US" dirty="0">
                    <a:latin typeface="微软雅黑" panose="020B0503020204020204" pitchFamily="34" charset="-122"/>
                    <a:ea typeface="微软雅黑" panose="020B0503020204020204" pitchFamily="34" charset="-122"/>
                  </a:rPr>
                  <a:t>即可</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743200" lvl="7">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1011278" y="853999"/>
                <a:ext cx="10671735" cy="3408947"/>
              </a:xfrm>
              <a:prstGeom prst="rect">
                <a:avLst/>
              </a:prstGeom>
              <a:blipFill rotWithShape="1">
                <a:blip r:embed="rId1"/>
                <a:stretch>
                  <a:fillRect l="-3" t="-16" r="3" b="6"/>
                </a:stretch>
              </a:blipFill>
            </p:spPr>
            <p:txBody>
              <a:bodyPr/>
              <a:lstStyle/>
              <a:p>
                <a:r>
                  <a:rPr lang="zh-CN" altLang="en-US">
                    <a:noFill/>
                  </a:rPr>
                  <a:t> </a:t>
                </a:r>
              </a:p>
            </p:txBody>
          </p:sp>
        </mc:Fallback>
      </mc:AlternateContent>
      <p:sp>
        <p:nvSpPr>
          <p:cNvPr id="10" name="右箭头 9"/>
          <p:cNvSpPr/>
          <p:nvPr/>
        </p:nvSpPr>
        <p:spPr>
          <a:xfrm>
            <a:off x="5626168" y="3792836"/>
            <a:ext cx="368440" cy="2604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右箭头 13"/>
          <p:cNvSpPr/>
          <p:nvPr/>
        </p:nvSpPr>
        <p:spPr>
          <a:xfrm>
            <a:off x="5626168" y="5314750"/>
            <a:ext cx="368440" cy="2604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6" name="图片 5"/>
          <p:cNvPicPr>
            <a:picLocks noChangeAspect="1"/>
          </p:cNvPicPr>
          <p:nvPr/>
        </p:nvPicPr>
        <p:blipFill>
          <a:blip r:embed="rId2"/>
          <a:stretch>
            <a:fillRect/>
          </a:stretch>
        </p:blipFill>
        <p:spPr>
          <a:xfrm>
            <a:off x="4491599" y="1032642"/>
            <a:ext cx="3493947" cy="1615317"/>
          </a:xfrm>
          <a:prstGeom prst="rect">
            <a:avLst/>
          </a:prstGeom>
        </p:spPr>
      </p:pic>
      <p:pic>
        <p:nvPicPr>
          <p:cNvPr id="8" name="图片 7"/>
          <p:cNvPicPr>
            <a:picLocks noChangeAspect="1"/>
          </p:cNvPicPr>
          <p:nvPr/>
        </p:nvPicPr>
        <p:blipFill>
          <a:blip r:embed="rId2"/>
          <a:stretch>
            <a:fillRect/>
          </a:stretch>
        </p:blipFill>
        <p:spPr>
          <a:xfrm>
            <a:off x="1638575" y="4727615"/>
            <a:ext cx="3621528" cy="1674300"/>
          </a:xfrm>
          <a:prstGeom prst="rect">
            <a:avLst/>
          </a:prstGeom>
        </p:spPr>
      </p:pic>
      <p:pic>
        <p:nvPicPr>
          <p:cNvPr id="13" name="图片 12"/>
          <p:cNvPicPr>
            <a:picLocks noChangeAspect="1"/>
          </p:cNvPicPr>
          <p:nvPr/>
        </p:nvPicPr>
        <p:blipFill>
          <a:blip r:embed="rId3"/>
          <a:stretch>
            <a:fillRect/>
          </a:stretch>
        </p:blipFill>
        <p:spPr>
          <a:xfrm>
            <a:off x="2336980" y="3543044"/>
            <a:ext cx="2684463" cy="968559"/>
          </a:xfrm>
          <a:prstGeom prst="rect">
            <a:avLst/>
          </a:prstGeom>
        </p:spPr>
      </p:pic>
      <p:pic>
        <p:nvPicPr>
          <p:cNvPr id="15" name="图片 14"/>
          <p:cNvPicPr>
            <a:picLocks noChangeAspect="1"/>
          </p:cNvPicPr>
          <p:nvPr/>
        </p:nvPicPr>
        <p:blipFill>
          <a:blip r:embed="rId4"/>
          <a:stretch>
            <a:fillRect/>
          </a:stretch>
        </p:blipFill>
        <p:spPr>
          <a:xfrm>
            <a:off x="6379286" y="3651262"/>
            <a:ext cx="3366697" cy="913097"/>
          </a:xfrm>
          <a:prstGeom prst="rect">
            <a:avLst/>
          </a:prstGeom>
        </p:spPr>
      </p:pic>
      <p:pic>
        <p:nvPicPr>
          <p:cNvPr id="17" name="图片 16"/>
          <p:cNvPicPr>
            <a:picLocks noChangeAspect="1"/>
          </p:cNvPicPr>
          <p:nvPr/>
        </p:nvPicPr>
        <p:blipFill>
          <a:blip r:embed="rId5"/>
          <a:stretch>
            <a:fillRect/>
          </a:stretch>
        </p:blipFill>
        <p:spPr>
          <a:xfrm>
            <a:off x="6379286" y="4988240"/>
            <a:ext cx="2335439" cy="83711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核化线性降维（</a:t>
            </a:r>
            <a:r>
              <a:rPr lang="en-US" altLang="zh-CN" dirty="0"/>
              <a:t>KPCA</a:t>
            </a:r>
            <a:r>
              <a:rPr lang="zh-CN" altLang="en-US" dirty="0"/>
              <a:t>）</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1011278" y="1504727"/>
                <a:ext cx="10671735" cy="4378443"/>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一般情形下，我们不清楚</a:t>
                </a:r>
                <a14:m>
                  <m:oMath xmlns:m="http://schemas.openxmlformats.org/officeDocument/2006/math">
                    <m:r>
                      <a:rPr lang="zh-CN" altLang="en-US" i="1" dirty="0">
                        <a:latin typeface="Cambria Math" panose="02040503050406030204" pitchFamily="18" charset="0"/>
                        <a:ea typeface="微软雅黑" panose="020B0503020204020204" pitchFamily="34" charset="-122"/>
                      </a:rPr>
                      <m:t>𝜙</m:t>
                    </m:r>
                  </m:oMath>
                </a14:m>
                <a:r>
                  <a:rPr lang="zh-CN" altLang="en-US" dirty="0">
                    <a:latin typeface="微软雅黑" panose="020B0503020204020204" pitchFamily="34" charset="-122"/>
                    <a:ea typeface="微软雅黑" panose="020B0503020204020204" pitchFamily="34" charset="-122"/>
                  </a:rPr>
                  <a:t>的具体形式，于是引入核函数</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将前面的两个公式推导结果带入到                                                 ，简化后可以得到：</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其中，</a:t>
                </a:r>
                <a:r>
                  <a:rPr lang="en-US" altLang="zh-CN" b="1"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为</a:t>
                </a:r>
                <a:r>
                  <a:rPr lang="en-US" altLang="zh-CN" i="1" dirty="0">
                    <a:latin typeface="微软雅黑" panose="020B0503020204020204" pitchFamily="34" charset="-122"/>
                    <a:ea typeface="微软雅黑" panose="020B0503020204020204" pitchFamily="34" charset="-122"/>
                  </a:rPr>
                  <a:t>k</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对应的核矩阵，即</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                  ，是特征值分解问题，取</a:t>
                </a:r>
                <a:r>
                  <a:rPr lang="en-US" altLang="zh-CN" b="1"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中最大的</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个特征值对应的特征向量即可。</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1011278" y="1504727"/>
                <a:ext cx="10671735" cy="4378443"/>
              </a:xfrm>
              <a:prstGeom prst="rect">
                <a:avLst/>
              </a:prstGeom>
              <a:blipFill rotWithShape="1">
                <a:blip r:embed="rId1"/>
                <a:stretch>
                  <a:fillRect l="-3" t="-9" r="3" b="12"/>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4287440" y="2092375"/>
            <a:ext cx="3583437" cy="500790"/>
          </a:xfrm>
          <a:prstGeom prst="rect">
            <a:avLst/>
          </a:prstGeom>
        </p:spPr>
      </p:pic>
      <p:pic>
        <p:nvPicPr>
          <p:cNvPr id="9" name="图片 8"/>
          <p:cNvPicPr>
            <a:picLocks noChangeAspect="1"/>
          </p:cNvPicPr>
          <p:nvPr/>
        </p:nvPicPr>
        <p:blipFill>
          <a:blip r:embed="rId3"/>
          <a:stretch>
            <a:fillRect/>
          </a:stretch>
        </p:blipFill>
        <p:spPr>
          <a:xfrm>
            <a:off x="4584072" y="4415145"/>
            <a:ext cx="4384780" cy="316170"/>
          </a:xfrm>
          <a:prstGeom prst="rect">
            <a:avLst/>
          </a:prstGeom>
        </p:spPr>
      </p:pic>
      <p:pic>
        <p:nvPicPr>
          <p:cNvPr id="10" name="图片 9"/>
          <p:cNvPicPr>
            <a:picLocks noChangeAspect="1"/>
          </p:cNvPicPr>
          <p:nvPr/>
        </p:nvPicPr>
        <p:blipFill>
          <a:blip r:embed="rId4"/>
          <a:stretch>
            <a:fillRect/>
          </a:stretch>
        </p:blipFill>
        <p:spPr>
          <a:xfrm>
            <a:off x="1910336" y="5127169"/>
            <a:ext cx="1194603" cy="338894"/>
          </a:xfrm>
          <a:prstGeom prst="rect">
            <a:avLst/>
          </a:prstGeom>
        </p:spPr>
      </p:pic>
      <p:pic>
        <p:nvPicPr>
          <p:cNvPr id="6" name="图片 5"/>
          <p:cNvPicPr>
            <a:picLocks noChangeAspect="1"/>
          </p:cNvPicPr>
          <p:nvPr/>
        </p:nvPicPr>
        <p:blipFill>
          <a:blip r:embed="rId5"/>
          <a:stretch>
            <a:fillRect/>
          </a:stretch>
        </p:blipFill>
        <p:spPr>
          <a:xfrm>
            <a:off x="4986390" y="2691231"/>
            <a:ext cx="2884488" cy="1040728"/>
          </a:xfrm>
          <a:prstGeom prst="rect">
            <a:avLst/>
          </a:prstGeom>
        </p:spPr>
      </p:pic>
      <p:pic>
        <p:nvPicPr>
          <p:cNvPr id="8" name="图片 7"/>
          <p:cNvPicPr>
            <a:picLocks noChangeAspect="1"/>
          </p:cNvPicPr>
          <p:nvPr/>
        </p:nvPicPr>
        <p:blipFill>
          <a:blip r:embed="rId6"/>
          <a:stretch>
            <a:fillRect/>
          </a:stretch>
        </p:blipFill>
        <p:spPr>
          <a:xfrm>
            <a:off x="3422315" y="3818246"/>
            <a:ext cx="1730250" cy="596899"/>
          </a:xfrm>
          <a:prstGeom prst="rect">
            <a:avLst/>
          </a:prstGeom>
        </p:spPr>
      </p:pic>
      <p:pic>
        <p:nvPicPr>
          <p:cNvPr id="12" name="图片 11"/>
          <p:cNvPicPr>
            <a:picLocks noChangeAspect="1"/>
          </p:cNvPicPr>
          <p:nvPr/>
        </p:nvPicPr>
        <p:blipFill>
          <a:blip r:embed="rId7"/>
          <a:stretch>
            <a:fillRect/>
          </a:stretch>
        </p:blipFill>
        <p:spPr>
          <a:xfrm>
            <a:off x="5923014" y="3932190"/>
            <a:ext cx="1439863" cy="369010"/>
          </a:xfrm>
          <a:prstGeom prst="rect">
            <a:avLst/>
          </a:prstGeom>
        </p:spPr>
      </p:pic>
      <p:cxnSp>
        <p:nvCxnSpPr>
          <p:cNvPr id="14" name="直线箭头连接符 13"/>
          <p:cNvCxnSpPr/>
          <p:nvPr/>
        </p:nvCxnSpPr>
        <p:spPr>
          <a:xfrm>
            <a:off x="5314950" y="4116695"/>
            <a:ext cx="414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492990"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流形学习</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流形学习</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5" name="文本框 68"/>
          <p:cNvSpPr txBox="1"/>
          <p:nvPr/>
        </p:nvSpPr>
        <p:spPr>
          <a:xfrm>
            <a:off x="676182" y="1061138"/>
            <a:ext cx="10839635" cy="4987840"/>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流形（</a:t>
            </a:r>
            <a:r>
              <a:rPr lang="en-US" altLang="zh-CN" dirty="0">
                <a:latin typeface="微软雅黑" panose="020B0503020204020204" pitchFamily="34" charset="-122"/>
                <a:ea typeface="微软雅黑" panose="020B0503020204020204" pitchFamily="34" charset="-122"/>
              </a:rPr>
              <a:t>manifold</a:t>
            </a:r>
            <a:r>
              <a:rPr lang="zh-CN" altLang="en-US" dirty="0">
                <a:latin typeface="微软雅黑" panose="020B0503020204020204" pitchFamily="34" charset="-122"/>
                <a:ea typeface="微软雅黑" panose="020B0503020204020204" pitchFamily="34" charset="-122"/>
              </a:rPr>
              <a:t>）是几何中的一个概念，它是高维空间中的几何结构。流形在局部与欧氏空间同胚的，即在局部具有欧氏空间的性质，能用欧氏距离来计算距离。</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在很多应用问题中，数据在高维空间中的分布都具有某种几何形状，比如瑞士卷，即高维空间中流行样本点都映射到某个低维的流形附近。</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流形学习（</a:t>
            </a:r>
            <a:r>
              <a:rPr lang="en-US" altLang="zh-CN" dirty="0">
                <a:latin typeface="微软雅黑" panose="020B0503020204020204" pitchFamily="34" charset="-122"/>
                <a:ea typeface="微软雅黑" panose="020B0503020204020204" pitchFamily="34" charset="-122"/>
              </a:rPr>
              <a:t>manifold learning</a:t>
            </a:r>
            <a:r>
              <a:rPr lang="zh-CN" altLang="en-US" dirty="0">
                <a:latin typeface="微软雅黑" panose="020B0503020204020204" pitchFamily="34" charset="-122"/>
                <a:ea typeface="微软雅黑" panose="020B0503020204020204" pitchFamily="34" charset="-122"/>
              </a:rPr>
              <a:t>）假设数据在高维空间的分布可以映射到更低维的流形上（换种说法，</a:t>
            </a:r>
            <a:r>
              <a:rPr lang="zh-CN" altLang="en-US" dirty="0">
                <a:solidFill>
                  <a:srgbClr val="FF0000"/>
                </a:solidFill>
                <a:latin typeface="微软雅黑" panose="020B0503020204020204" pitchFamily="34" charset="-122"/>
                <a:ea typeface="微软雅黑" panose="020B0503020204020204" pitchFamily="34" charset="-122"/>
              </a:rPr>
              <a:t>实际是一种低维流形也可嵌入到高维空间中</a:t>
            </a:r>
            <a:r>
              <a:rPr lang="zh-CN" altLang="en-US" dirty="0">
                <a:latin typeface="微软雅黑" panose="020B0503020204020204" pitchFamily="34" charset="-122"/>
                <a:ea typeface="微软雅黑" panose="020B0503020204020204" pitchFamily="34" charset="-122"/>
              </a:rPr>
              <a:t>），并且能够在局部上具有欧式空间的性质。</a:t>
            </a:r>
            <a:endParaRPr lang="en-US" altLang="zh-CN" dirty="0">
              <a:latin typeface="微软雅黑" panose="020B0503020204020204" pitchFamily="34" charset="-122"/>
              <a:ea typeface="微软雅黑" panose="020B0503020204020204" pitchFamily="34" charset="-122"/>
            </a:endParaRPr>
          </a:p>
          <a:p>
            <a:pPr marL="285750" lvl="1" indent="-285750" algn="just">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对于降维，</a:t>
            </a:r>
            <a:r>
              <a:rPr lang="zh-CN" altLang="en-US" b="1" dirty="0">
                <a:latin typeface="微软雅黑" panose="020B0503020204020204" pitchFamily="34" charset="-122"/>
                <a:ea typeface="微软雅黑" panose="020B0503020204020204" pitchFamily="34" charset="-122"/>
              </a:rPr>
              <a:t>要保证降维之后的数据同样满足与高维空间流形有关的几何约束关系</a:t>
            </a:r>
            <a:r>
              <a:rPr lang="zh-CN" altLang="en-US" dirty="0">
                <a:latin typeface="微软雅黑" panose="020B0503020204020204" pitchFamily="34" charset="-122"/>
                <a:ea typeface="微软雅黑" panose="020B0503020204020204" pitchFamily="34" charset="-122"/>
              </a:rPr>
              <a:t>（使该低维的数据能够反映原高维数据的某些本质结构特征）。</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949584" y="866433"/>
                <a:ext cx="10236280" cy="3298147"/>
              </a:xfrm>
              <a:prstGeom prst="rect">
                <a:avLst/>
              </a:prstGeom>
              <a:noFill/>
            </p:spPr>
            <p:txBody>
              <a:bodyPr wrap="square">
                <a:spAutoFit/>
              </a:bodyPr>
              <a:lstStyle/>
              <a:p>
                <a:pPr marL="285750" lvl="1" indent="-285750" algn="just">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对于一些非线性的流形，如果使用线性的降维方法得到的效果就不尽人意了，例如瑞士卷；</a:t>
                </a: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测地线：在距离度量定义时，测地线可以定义为空间中两点的局部最短路径，在一个球面上，两点之间的测地线就是过这两个点的大圆的弧线；</a:t>
                </a: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对于非线性流形，</a:t>
                </a:r>
                <a:r>
                  <a:rPr lang="en-US" altLang="zh-CN" dirty="0">
                    <a:latin typeface="微软雅黑" panose="020B0503020204020204" pitchFamily="34" charset="-122"/>
                    <a:ea typeface="微软雅黑" panose="020B0503020204020204" pitchFamily="34" charset="-122"/>
                  </a:rPr>
                  <a:t>ISOMAP </a:t>
                </a:r>
                <a:r>
                  <a:rPr lang="zh-CN" altLang="en-US" dirty="0">
                    <a:latin typeface="微软雅黑" panose="020B0503020204020204" pitchFamily="34" charset="-122"/>
                    <a:ea typeface="微软雅黑" panose="020B0503020204020204" pitchFamily="34" charset="-122"/>
                  </a:rPr>
                  <a:t>则是通过构建邻接图，利用图上的最短距离来</a:t>
                </a:r>
                <a:r>
                  <a:rPr lang="zh-CN" altLang="en-US" dirty="0">
                    <a:solidFill>
                      <a:srgbClr val="FF0000"/>
                    </a:solidFill>
                    <a:latin typeface="微软雅黑" panose="020B0503020204020204" pitchFamily="34" charset="-122"/>
                    <a:ea typeface="微软雅黑" panose="020B0503020204020204" pitchFamily="34" charset="-122"/>
                  </a:rPr>
                  <a:t>近似</a:t>
                </a:r>
                <a:r>
                  <a:rPr lang="zh-CN" altLang="en-US" dirty="0">
                    <a:latin typeface="微软雅黑" panose="020B0503020204020204" pitchFamily="34" charset="-122"/>
                    <a:ea typeface="微软雅黑" panose="020B0503020204020204" pitchFamily="34" charset="-122"/>
                  </a:rPr>
                  <a:t>测地线。在构造邻接图时，我们使用最近邻算法，对于一个点</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b="0" i="1" dirty="0">
                            <a:latin typeface="Cambria Math" panose="02040503050406030204" pitchFamily="18" charset="0"/>
                            <a:ea typeface="微软雅黑" panose="020B0503020204020204" pitchFamily="34" charset="-122"/>
                          </a:rPr>
                          <m:t>𝑥</m:t>
                        </m:r>
                      </m:e>
                      <m:sub>
                        <m:r>
                          <a:rPr lang="en-US" altLang="zh-CN" b="0"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连接距离其最近的</a:t>
                </a:r>
                <a14:m>
                  <m:oMath xmlns:m="http://schemas.openxmlformats.org/officeDocument/2006/math">
                    <m:r>
                      <a:rPr lang="en-US" altLang="zh-CN" b="0" i="1" dirty="0">
                        <a:latin typeface="Cambria Math" panose="02040503050406030204" pitchFamily="18" charset="0"/>
                        <a:ea typeface="微软雅黑" panose="020B0503020204020204" pitchFamily="34" charset="-122"/>
                      </a:rPr>
                      <m:t>𝑘</m:t>
                    </m:r>
                  </m:oMath>
                </a14:m>
                <a:r>
                  <a:rPr lang="zh-CN" altLang="en-US" dirty="0">
                    <a:latin typeface="微软雅黑" panose="020B0503020204020204" pitchFamily="34" charset="-122"/>
                    <a:ea typeface="微软雅黑" panose="020B0503020204020204" pitchFamily="34" charset="-122"/>
                  </a:rPr>
                  <a:t>个点，两点之间的距离我们则一般使用传统的欧式距离。则任意两点之间的测地线距离，可利用构建的邻接图上的最短路径进行估计，图上的最短路问题我们可以通过 </a:t>
                </a:r>
                <a:r>
                  <a:rPr lang="en-US" altLang="zh-CN">
                    <a:latin typeface="微软雅黑" panose="020B0503020204020204" pitchFamily="34" charset="-122"/>
                    <a:ea typeface="微软雅黑" panose="020B0503020204020204" pitchFamily="34" charset="-122"/>
                  </a:rPr>
                  <a:t>Dijkstra</a:t>
                </a:r>
                <a:r>
                  <a:rPr lang="zh-CN" altLang="en-US">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迪克斯特</a:t>
                </a:r>
                <a:r>
                  <a:rPr lang="zh-CN" altLang="en-US">
                    <a:latin typeface="微软雅黑" panose="020B0503020204020204" pitchFamily="34" charset="-122"/>
                    <a:ea typeface="微软雅黑" panose="020B0503020204020204" pitchFamily="34" charset="-122"/>
                  </a:rPr>
                  <a:t>拉）算法或 </a:t>
                </a:r>
                <a:r>
                  <a:rPr lang="en-US" altLang="zh-CN" dirty="0">
                    <a:latin typeface="微软雅黑" panose="020B0503020204020204" pitchFamily="34" charset="-122"/>
                    <a:ea typeface="微软雅黑" panose="020B0503020204020204" pitchFamily="34" charset="-122"/>
                  </a:rPr>
                  <a:t>Floyd-Warshall </a:t>
                </a:r>
                <a:r>
                  <a:rPr lang="zh-CN" altLang="en-US" dirty="0">
                    <a:latin typeface="微软雅黑" panose="020B0503020204020204" pitchFamily="34" charset="-122"/>
                    <a:ea typeface="微软雅黑" panose="020B0503020204020204" pitchFamily="34" charset="-122"/>
                  </a:rPr>
                  <a:t>算法计算。</a:t>
                </a: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949584" y="866433"/>
                <a:ext cx="10236280" cy="3298147"/>
              </a:xfrm>
              <a:prstGeom prst="rect">
                <a:avLst/>
              </a:prstGeom>
              <a:blipFill rotWithShape="1">
                <a:blip r:embed="rId1"/>
                <a:stretch>
                  <a:fillRect l="-3" t="-9" r="-1076" b="8"/>
                </a:stretch>
              </a:blipFill>
            </p:spPr>
            <p:txBody>
              <a:bodyPr/>
              <a:lstStyle/>
              <a:p>
                <a:r>
                  <a:rPr lang="zh-CN" altLang="en-US">
                    <a:noFill/>
                  </a:rPr>
                  <a:t> </a:t>
                </a:r>
              </a:p>
            </p:txBody>
          </p:sp>
        </mc:Fallback>
      </mc:AlternateContent>
      <p:pic>
        <p:nvPicPr>
          <p:cNvPr id="6" name="Picture 2" descr="Approximate geodesic distance between A and B.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0925" y="4164580"/>
            <a:ext cx="3159873" cy="26092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5998" y="4122960"/>
            <a:ext cx="2497868" cy="25134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5" name="文本框 68"/>
          <p:cNvSpPr txBox="1"/>
          <p:nvPr/>
        </p:nvSpPr>
        <p:spPr>
          <a:xfrm>
            <a:off x="949584" y="866433"/>
            <a:ext cx="10236280" cy="5458738"/>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等度量映射（</a:t>
            </a:r>
            <a:r>
              <a:rPr lang="en-US" altLang="zh-CN" dirty="0" err="1">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）使用了</a:t>
            </a:r>
            <a:r>
              <a:rPr lang="zh-CN" altLang="en-US" b="1" u="sng" dirty="0">
                <a:latin typeface="微软雅黑" panose="020B0503020204020204" pitchFamily="34" charset="-122"/>
                <a:ea typeface="微软雅黑" panose="020B0503020204020204" pitchFamily="34" charset="-122"/>
              </a:rPr>
              <a:t>微分几何中测地线</a:t>
            </a:r>
            <a:r>
              <a:rPr lang="zh-CN" altLang="en-US" dirty="0">
                <a:latin typeface="微软雅黑" panose="020B0503020204020204" pitchFamily="34" charset="-122"/>
                <a:ea typeface="微软雅黑" panose="020B0503020204020204" pitchFamily="34" charset="-122"/>
              </a:rPr>
              <a:t>的思想，当数据在向低维空间映射之后能够</a:t>
            </a:r>
            <a:r>
              <a:rPr lang="zh-CN" altLang="en-US" b="1" u="sng" dirty="0">
                <a:latin typeface="微软雅黑" panose="020B0503020204020204" pitchFamily="34" charset="-122"/>
                <a:ea typeface="微软雅黑" panose="020B0503020204020204" pitchFamily="34" charset="-122"/>
              </a:rPr>
              <a:t>保持流形上的测地线距离</a:t>
            </a:r>
            <a:r>
              <a:rPr lang="zh-CN" altLang="en-US" dirty="0">
                <a:latin typeface="微软雅黑" panose="020B0503020204020204" pitchFamily="34" charset="-122"/>
                <a:ea typeface="微软雅黑" panose="020B0503020204020204" pitchFamily="34" charset="-122"/>
              </a:rPr>
              <a:t>。直观来看，将数据投影到低维空间之前，保持</a:t>
            </a:r>
            <a:r>
              <a:rPr lang="zh-CN" altLang="en-US" b="1" u="sng" dirty="0">
                <a:latin typeface="微软雅黑" panose="020B0503020204020204" pitchFamily="34" charset="-122"/>
                <a:ea typeface="微软雅黑" panose="020B0503020204020204" pitchFamily="34" charset="-122"/>
              </a:rPr>
              <a:t>数据点之间的相对远近关系</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en-US" altLang="zh-CN" dirty="0" err="1">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的理论框架为</a:t>
            </a:r>
            <a:r>
              <a:rPr lang="en-US" altLang="zh-CN" dirty="0">
                <a:latin typeface="微软雅黑" panose="020B0503020204020204" pitchFamily="34" charset="-122"/>
                <a:ea typeface="微软雅黑" panose="020B0503020204020204" pitchFamily="34" charset="-122"/>
              </a:rPr>
              <a:t>MDS</a:t>
            </a:r>
            <a:r>
              <a:rPr lang="zh-CN" altLang="en-US" dirty="0">
                <a:latin typeface="微软雅黑" panose="020B0503020204020204" pitchFamily="34" charset="-122"/>
                <a:ea typeface="微软雅黑" panose="020B0503020204020204" pitchFamily="34" charset="-122"/>
              </a:rPr>
              <a:t>，放在流形的理论框架中，</a:t>
            </a:r>
            <a:r>
              <a:rPr lang="zh-CN" altLang="en-US" b="1" u="sng" dirty="0">
                <a:latin typeface="微软雅黑" panose="020B0503020204020204" pitchFamily="34" charset="-122"/>
                <a:ea typeface="微软雅黑" panose="020B0503020204020204" pitchFamily="34" charset="-122"/>
              </a:rPr>
              <a:t>原始的高维空间欧氏距离换成了流形上的测地线距离</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是把任意两点的</a:t>
            </a:r>
            <a:r>
              <a:rPr lang="zh-CN" altLang="en-US" b="1" dirty="0">
                <a:latin typeface="微软雅黑" panose="020B0503020204020204" pitchFamily="34" charset="-122"/>
                <a:ea typeface="微软雅黑" panose="020B0503020204020204" pitchFamily="34" charset="-122"/>
              </a:rPr>
              <a:t>测地线距离（</a:t>
            </a:r>
            <a:r>
              <a:rPr lang="zh-CN" altLang="en-US" dirty="0">
                <a:latin typeface="微软雅黑" panose="020B0503020204020204" pitchFamily="34" charset="-122"/>
                <a:ea typeface="微软雅黑" panose="020B0503020204020204" pitchFamily="34" charset="-122"/>
              </a:rPr>
              <a:t>准确地说是</a:t>
            </a:r>
            <a:r>
              <a:rPr lang="zh-CN" altLang="en-US" b="1" dirty="0">
                <a:latin typeface="微软雅黑" panose="020B0503020204020204" pitchFamily="34" charset="-122"/>
                <a:ea typeface="微软雅黑" panose="020B0503020204020204" pitchFamily="34" charset="-122"/>
              </a:rPr>
              <a:t>最短距离</a:t>
            </a:r>
            <a:r>
              <a:rPr lang="zh-CN" altLang="en-US" dirty="0">
                <a:latin typeface="微软雅黑" panose="020B0503020204020204" pitchFamily="34" charset="-122"/>
                <a:ea typeface="微软雅黑" panose="020B0503020204020204" pitchFamily="34" charset="-122"/>
              </a:rPr>
              <a:t>）作为流形的几何描述，用</a:t>
            </a:r>
            <a:r>
              <a:rPr lang="en-US" altLang="zh-CN" dirty="0">
                <a:latin typeface="微软雅黑" panose="020B0503020204020204" pitchFamily="34" charset="-122"/>
                <a:ea typeface="微软雅黑" panose="020B0503020204020204" pitchFamily="34" charset="-122"/>
              </a:rPr>
              <a:t>MDS</a:t>
            </a:r>
            <a:r>
              <a:rPr lang="zh-CN" altLang="en-US" dirty="0">
                <a:latin typeface="微软雅黑" panose="020B0503020204020204" pitchFamily="34" charset="-122"/>
                <a:ea typeface="微软雅黑" panose="020B0503020204020204" pitchFamily="34" charset="-122"/>
              </a:rPr>
              <a:t>理论框架保持点与点之间的最短距离。</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b="1" dirty="0">
                <a:latin typeface="微软雅黑" panose="020B0503020204020204" pitchFamily="34" charset="-122"/>
                <a:ea typeface="微软雅黑" panose="020B0503020204020204" pitchFamily="34" charset="-122"/>
              </a:rPr>
              <a:t>测地线距离计算</a:t>
            </a:r>
            <a:r>
              <a:rPr lang="zh-CN" altLang="en-US" dirty="0">
                <a:latin typeface="微软雅黑" panose="020B0503020204020204" pitchFamily="34" charset="-122"/>
                <a:ea typeface="微软雅黑" panose="020B0503020204020204" pitchFamily="34" charset="-122"/>
              </a:rPr>
              <a:t>：在流形结构未知，通过构造数据点间的邻接图</a:t>
            </a:r>
            <a:r>
              <a:rPr lang="en-US" altLang="zh-CN" dirty="0">
                <a:latin typeface="微软雅黑" panose="020B0503020204020204" pitchFamily="34" charset="-122"/>
                <a:ea typeface="微软雅黑" panose="020B0503020204020204" pitchFamily="34" charset="-122"/>
              </a:rPr>
              <a:t>(Graph)</a:t>
            </a:r>
            <a:r>
              <a:rPr lang="zh-CN" altLang="en-US" dirty="0">
                <a:latin typeface="微软雅黑" panose="020B0503020204020204" pitchFamily="34" charset="-122"/>
                <a:ea typeface="微软雅黑" panose="020B0503020204020204" pitchFamily="34" charset="-122"/>
              </a:rPr>
              <a:t>，用图上的最短距离来近似测地线距离，当数据点趋于无穷多时，近似距离趋向于真实的测地线距离。</a:t>
            </a:r>
            <a:endParaRPr lang="en-US" altLang="zh-CN"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2534061" y="1732469"/>
            <a:ext cx="7576528" cy="239599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592215" y="907140"/>
                <a:ext cx="10369118" cy="5698804"/>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第一步：构造样本集的邻接图，如果两个数据点之间的距离小于指定阈值或者其中一个节点在另外一个节点的邻居集合中，则两个节点是连通的。假设有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个样本，则邻接图有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个节点。邻接图的节点 </a:t>
                </a:r>
                <a:r>
                  <a:rPr lang="en-US" altLang="zh-CN" dirty="0" err="1">
                    <a:latin typeface="微软雅黑" panose="020B0503020204020204" pitchFamily="34" charset="-122"/>
                    <a:ea typeface="微软雅黑" panose="020B0503020204020204" pitchFamily="34" charset="-122"/>
                  </a:rPr>
                  <a:t>i</a:t>
                </a:r>
                <a:r>
                  <a:rPr lang="zh-CN" altLang="en-US" dirty="0" err="1">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rPr>
                  <a:t>j</a:t>
                </a:r>
                <a:r>
                  <a:rPr lang="zh-CN" altLang="en-US" dirty="0">
                    <a:latin typeface="微软雅黑" panose="020B0503020204020204" pitchFamily="34" charset="-122"/>
                    <a:ea typeface="微软雅黑" panose="020B0503020204020204" pitchFamily="34" charset="-122"/>
                  </a:rPr>
                  <a:t> 之间边的权重为它们之间的距离</a:t>
                </a:r>
                <a:r>
                  <a:rPr lang="en-US" altLang="zh-CN" i="1" dirty="0" err="1">
                    <a:latin typeface="微软雅黑" panose="020B0503020204020204" pitchFamily="34" charset="-122"/>
                    <a:ea typeface="微软雅黑" panose="020B0503020204020204" pitchFamily="34" charset="-122"/>
                  </a:rPr>
                  <a:t>w</a:t>
                </a:r>
                <a:r>
                  <a:rPr lang="en-US" altLang="zh-CN" i="1" baseline="-25000" dirty="0" err="1">
                    <a:latin typeface="微软雅黑" panose="020B0503020204020204" pitchFamily="34" charset="-122"/>
                    <a:ea typeface="微软雅黑" panose="020B0503020204020204" pitchFamily="34" charset="-122"/>
                  </a:rPr>
                  <a:t>ij</a:t>
                </a:r>
                <a:r>
                  <a:rPr lang="zh-CN" altLang="en-US" dirty="0">
                    <a:latin typeface="微软雅黑" panose="020B0503020204020204" pitchFamily="34" charset="-122"/>
                    <a:ea typeface="微软雅黑" panose="020B0503020204020204" pitchFamily="34" charset="-122"/>
                  </a:rPr>
                  <a:t>，距离的计算公式可以有多种选择。</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sz="120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第二步：计算图中任意两点之间的最短路径长度，可以通过经典的</a:t>
                </a:r>
                <a:r>
                  <a:rPr lang="en-US" altLang="zh-CN" dirty="0">
                    <a:latin typeface="微软雅黑" panose="020B0503020204020204" pitchFamily="34" charset="-122"/>
                    <a:ea typeface="微软雅黑" panose="020B0503020204020204" pitchFamily="34" charset="-122"/>
                  </a:rPr>
                  <a:t>Dijkstra</a:t>
                </a:r>
                <a:r>
                  <a:rPr lang="zh-CN" altLang="en-US" dirty="0">
                    <a:latin typeface="微软雅黑" panose="020B0503020204020204" pitchFamily="34" charset="-122"/>
                    <a:ea typeface="微软雅黑" panose="020B0503020204020204" pitchFamily="34" charset="-122"/>
                  </a:rPr>
                  <a:t>算法实现。假设最短路径长度为           ，由它构造如下矩阵：                    </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其中，元素是所有节点对之间的最短路径长度。</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第三步：根据矩阵</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𝐷</m:t>
                        </m:r>
                      </m:e>
                      <m:sub>
                        <m:r>
                          <a:rPr lang="en-US" altLang="zh-CN">
                            <a:latin typeface="Cambria Math" panose="02040503050406030204" pitchFamily="18" charset="0"/>
                            <a:ea typeface="微软雅黑" panose="020B0503020204020204" pitchFamily="34" charset="-122"/>
                          </a:rPr>
                          <m:t>𝐺</m:t>
                        </m:r>
                      </m:sub>
                    </m:sSub>
                  </m:oMath>
                </a14:m>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MDS</a:t>
                </a:r>
                <a:r>
                  <a:rPr lang="zh-CN" altLang="en-US" dirty="0">
                    <a:latin typeface="微软雅黑" panose="020B0503020204020204" pitchFamily="34" charset="-122"/>
                    <a:ea typeface="微软雅黑" panose="020B0503020204020204" pitchFamily="34" charset="-122"/>
                  </a:rPr>
                  <a:t>来构造</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维投影，通过求解如下最优化问题实现：</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优化目标：降维之前任意两点间的最短距离，与降维之后这两点间的最短距离，要尽可能接近。向量降维之后任意两点之间的距离要尽量的接近在原始空间中这两点之间的最短路径长度，因此，降维尽量保留了数据点之间的测地距离信息。     </a:t>
                </a: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592215" y="907140"/>
                <a:ext cx="10369118" cy="5698804"/>
              </a:xfrm>
              <a:prstGeom prst="rect">
                <a:avLst/>
              </a:prstGeom>
              <a:blipFill rotWithShape="1">
                <a:blip r:embed="rId1"/>
                <a:stretch>
                  <a:fillRect l="-4" t="-6" r="6" b="1"/>
                </a:stretch>
              </a:blipFill>
            </p:spPr>
            <p:txBody>
              <a:bodyPr/>
              <a:lstStyle/>
              <a:p>
                <a:r>
                  <a:rPr lang="zh-CN" altLang="en-US">
                    <a:noFill/>
                  </a:rPr>
                  <a:t> </a:t>
                </a:r>
              </a:p>
            </p:txBody>
          </p:sp>
        </mc:Fallback>
      </mc:AlternateContent>
      <p:pic>
        <p:nvPicPr>
          <p:cNvPr id="11" name="图片 10"/>
          <p:cNvPicPr>
            <a:picLocks noChangeAspect="1"/>
          </p:cNvPicPr>
          <p:nvPr/>
        </p:nvPicPr>
        <p:blipFill>
          <a:blip r:embed="rId2"/>
          <a:stretch>
            <a:fillRect/>
          </a:stretch>
        </p:blipFill>
        <p:spPr>
          <a:xfrm>
            <a:off x="1926600" y="2649959"/>
            <a:ext cx="693480" cy="297206"/>
          </a:xfrm>
          <a:prstGeom prst="rect">
            <a:avLst/>
          </a:prstGeom>
        </p:spPr>
      </p:pic>
      <p:pic>
        <p:nvPicPr>
          <p:cNvPr id="13" name="图片 12"/>
          <p:cNvPicPr>
            <a:picLocks noChangeAspect="1"/>
          </p:cNvPicPr>
          <p:nvPr/>
        </p:nvPicPr>
        <p:blipFill>
          <a:blip r:embed="rId3"/>
          <a:stretch>
            <a:fillRect/>
          </a:stretch>
        </p:blipFill>
        <p:spPr>
          <a:xfrm>
            <a:off x="5086350" y="2834189"/>
            <a:ext cx="2371725" cy="722934"/>
          </a:xfrm>
          <a:prstGeom prst="rect">
            <a:avLst/>
          </a:prstGeom>
        </p:spPr>
      </p:pic>
      <p:pic>
        <p:nvPicPr>
          <p:cNvPr id="15" name="图片 14"/>
          <p:cNvPicPr>
            <a:picLocks noChangeAspect="1"/>
          </p:cNvPicPr>
          <p:nvPr/>
        </p:nvPicPr>
        <p:blipFill>
          <a:blip r:embed="rId4"/>
          <a:stretch>
            <a:fillRect/>
          </a:stretch>
        </p:blipFill>
        <p:spPr>
          <a:xfrm>
            <a:off x="3949445" y="4435659"/>
            <a:ext cx="4022979" cy="8169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4" name="TextBox 12"/>
          <p:cNvSpPr txBox="1">
            <a:spLocks noChangeArrowheads="1"/>
          </p:cNvSpPr>
          <p:nvPr/>
        </p:nvSpPr>
        <p:spPr bwMode="auto">
          <a:xfrm>
            <a:off x="639105" y="889160"/>
            <a:ext cx="44940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en-US" altLang="zh-CN" b="1" dirty="0" err="1">
                <a:solidFill>
                  <a:schemeClr val="accent5">
                    <a:lumMod val="50000"/>
                  </a:schemeClr>
                </a:solidFill>
                <a:latin typeface="微软雅黑" panose="020B0503020204020204" pitchFamily="34" charset="-122"/>
              </a:rPr>
              <a:t>Isomap</a:t>
            </a:r>
            <a:r>
              <a:rPr lang="zh-CN" altLang="en-US" b="1" dirty="0">
                <a:solidFill>
                  <a:schemeClr val="accent5">
                    <a:lumMod val="50000"/>
                  </a:schemeClr>
                </a:solidFill>
                <a:latin typeface="微软雅黑" panose="020B0503020204020204" pitchFamily="34" charset="-122"/>
              </a:rPr>
              <a:t>算法描述</a:t>
            </a:r>
            <a:endParaRPr lang="zh-CN" altLang="en-US" b="1" dirty="0">
              <a:solidFill>
                <a:schemeClr val="accent5">
                  <a:lumMod val="50000"/>
                </a:schemeClr>
              </a:solidFill>
              <a:latin typeface="微软雅黑" panose="020B0503020204020204" pitchFamily="34" charset="-122"/>
            </a:endParaRPr>
          </a:p>
        </p:txBody>
      </p:sp>
      <p:sp>
        <p:nvSpPr>
          <p:cNvPr id="8" name="标题 7"/>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endParaRPr lang="zh-CN" altLang="en-US"/>
          </a:p>
        </p:txBody>
      </p:sp>
      <p:pic>
        <p:nvPicPr>
          <p:cNvPr id="17" name="图片 16"/>
          <p:cNvPicPr>
            <a:picLocks noChangeAspect="1"/>
          </p:cNvPicPr>
          <p:nvPr/>
        </p:nvPicPr>
        <p:blipFill>
          <a:blip r:embed="rId1"/>
          <a:stretch>
            <a:fillRect/>
          </a:stretch>
        </p:blipFill>
        <p:spPr>
          <a:xfrm>
            <a:off x="860239" y="1418887"/>
            <a:ext cx="10413245" cy="431040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2451823" y="2657476"/>
            <a:ext cx="7857629" cy="2706516"/>
          </a:xfrm>
          <a:prstGeom prst="rect">
            <a:avLst/>
          </a:prstGeom>
        </p:spPr>
      </p:pic>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4" name="TextBox 12"/>
          <p:cNvSpPr txBox="1">
            <a:spLocks noChangeArrowheads="1"/>
          </p:cNvSpPr>
          <p:nvPr/>
        </p:nvSpPr>
        <p:spPr bwMode="auto">
          <a:xfrm>
            <a:off x="479106" y="752602"/>
            <a:ext cx="44940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en-US" altLang="zh-CN" b="1" dirty="0">
                <a:solidFill>
                  <a:schemeClr val="accent5">
                    <a:lumMod val="50000"/>
                  </a:schemeClr>
                </a:solidFill>
                <a:latin typeface="微软雅黑" panose="020B0503020204020204" pitchFamily="34" charset="-122"/>
              </a:rPr>
              <a:t>LLE</a:t>
            </a:r>
            <a:r>
              <a:rPr lang="zh-CN" altLang="en-US" b="1" dirty="0">
                <a:solidFill>
                  <a:schemeClr val="accent5">
                    <a:lumMod val="50000"/>
                  </a:schemeClr>
                </a:solidFill>
                <a:latin typeface="微软雅黑" panose="020B0503020204020204" pitchFamily="34" charset="-122"/>
              </a:rPr>
              <a:t>基本思想：</a:t>
            </a:r>
            <a:endParaRPr lang="zh-CN" altLang="en-US" b="1" dirty="0">
              <a:solidFill>
                <a:schemeClr val="accent5">
                  <a:lumMod val="50000"/>
                </a:schemeClr>
              </a:solidFill>
              <a:latin typeface="微软雅黑" panose="020B0503020204020204" pitchFamily="34" charset="-122"/>
            </a:endParaRPr>
          </a:p>
        </p:txBody>
      </p:sp>
      <p:sp>
        <p:nvSpPr>
          <p:cNvPr id="5" name="文本框 68"/>
          <p:cNvSpPr txBox="1"/>
          <p:nvPr/>
        </p:nvSpPr>
        <p:spPr>
          <a:xfrm>
            <a:off x="763479" y="1122054"/>
            <a:ext cx="10665041" cy="4613892"/>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试图保持</a:t>
            </a:r>
            <a:r>
              <a:rPr lang="zh-CN" altLang="en-US" b="1" u="sng" dirty="0">
                <a:latin typeface="微软雅黑" panose="020B0503020204020204" pitchFamily="34" charset="-122"/>
                <a:ea typeface="微软雅黑" panose="020B0503020204020204" pitchFamily="34" charset="-122"/>
              </a:rPr>
              <a:t>近邻样本之间的距离</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LLE</a:t>
            </a:r>
            <a:r>
              <a:rPr lang="zh-CN" altLang="en-US" dirty="0">
                <a:latin typeface="微软雅黑" panose="020B0503020204020204" pitchFamily="34" charset="-122"/>
                <a:ea typeface="微软雅黑" panose="020B0503020204020204" pitchFamily="34" charset="-122"/>
              </a:rPr>
              <a:t>保持</a:t>
            </a:r>
            <a:r>
              <a:rPr lang="zh-CN" altLang="en-US" b="1" u="sng" dirty="0">
                <a:latin typeface="微软雅黑" panose="020B0503020204020204" pitchFamily="34" charset="-122"/>
                <a:ea typeface="微软雅黑" panose="020B0503020204020204" pitchFamily="34" charset="-122"/>
              </a:rPr>
              <a:t>领域样本之间的线性关系</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流形在很小的局部邻域上看作为欧氏空间（局部线性），即一个样本就可以用它周围的样本在最小二乘意义下获得最优线性来表示。</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局部线性嵌入（简称</a:t>
            </a:r>
            <a:r>
              <a:rPr lang="en-US" altLang="zh-CN" dirty="0">
                <a:latin typeface="微软雅黑" panose="020B0503020204020204" pitchFamily="34" charset="-122"/>
                <a:ea typeface="微软雅黑" panose="020B0503020204020204" pitchFamily="34" charset="-122"/>
              </a:rPr>
              <a:t>LLE</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核心思想</a:t>
            </a:r>
            <a:r>
              <a:rPr lang="zh-CN" altLang="en-US" dirty="0">
                <a:latin typeface="微软雅黑" panose="020B0503020204020204" pitchFamily="34" charset="-122"/>
                <a:ea typeface="微软雅黑" panose="020B0503020204020204" pitchFamily="34" charset="-122"/>
              </a:rPr>
              <a:t>是每个样本点都可以由与它相邻的多个样本点线性组合来近似重构。</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5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如图所示，假定样本点      的坐标能通过它的邻域样本     ，   ，    的坐标通过线性组合重构</a:t>
            </a:r>
            <a:endParaRPr lang="en-US" altLang="zh-CN"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3490043" y="5360439"/>
            <a:ext cx="308769" cy="298121"/>
          </a:xfrm>
          <a:prstGeom prst="rect">
            <a:avLst/>
          </a:prstGeom>
        </p:spPr>
      </p:pic>
      <p:pic>
        <p:nvPicPr>
          <p:cNvPr id="12" name="图片 11"/>
          <p:cNvPicPr>
            <a:picLocks noChangeAspect="1"/>
          </p:cNvPicPr>
          <p:nvPr/>
        </p:nvPicPr>
        <p:blipFill>
          <a:blip r:embed="rId3"/>
          <a:stretch>
            <a:fillRect/>
          </a:stretch>
        </p:blipFill>
        <p:spPr>
          <a:xfrm>
            <a:off x="6624768" y="5257824"/>
            <a:ext cx="319849" cy="413137"/>
          </a:xfrm>
          <a:prstGeom prst="rect">
            <a:avLst/>
          </a:prstGeom>
        </p:spPr>
      </p:pic>
      <p:pic>
        <p:nvPicPr>
          <p:cNvPr id="14" name="图片 13"/>
          <p:cNvPicPr>
            <a:picLocks noChangeAspect="1"/>
          </p:cNvPicPr>
          <p:nvPr/>
        </p:nvPicPr>
        <p:blipFill>
          <a:blip r:embed="rId4"/>
          <a:stretch>
            <a:fillRect/>
          </a:stretch>
        </p:blipFill>
        <p:spPr>
          <a:xfrm>
            <a:off x="7022588" y="5365464"/>
            <a:ext cx="319849" cy="284310"/>
          </a:xfrm>
          <a:prstGeom prst="rect">
            <a:avLst/>
          </a:prstGeom>
        </p:spPr>
      </p:pic>
      <p:pic>
        <p:nvPicPr>
          <p:cNvPr id="16" name="图片 15"/>
          <p:cNvPicPr>
            <a:picLocks noChangeAspect="1"/>
          </p:cNvPicPr>
          <p:nvPr/>
        </p:nvPicPr>
        <p:blipFill>
          <a:blip r:embed="rId5"/>
          <a:stretch>
            <a:fillRect/>
          </a:stretch>
        </p:blipFill>
        <p:spPr>
          <a:xfrm>
            <a:off x="7484760" y="5365463"/>
            <a:ext cx="319850" cy="295247"/>
          </a:xfrm>
          <a:prstGeom prst="rect">
            <a:avLst/>
          </a:prstGeom>
        </p:spPr>
      </p:pic>
      <p:pic>
        <p:nvPicPr>
          <p:cNvPr id="19" name="图片 18"/>
          <p:cNvPicPr>
            <a:picLocks noChangeAspect="1"/>
          </p:cNvPicPr>
          <p:nvPr/>
        </p:nvPicPr>
        <p:blipFill>
          <a:blip r:embed="rId6"/>
          <a:stretch>
            <a:fillRect/>
          </a:stretch>
        </p:blipFill>
        <p:spPr>
          <a:xfrm>
            <a:off x="4133731" y="5781476"/>
            <a:ext cx="3475867" cy="404171"/>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5" name="文本框 68"/>
          <p:cNvSpPr txBox="1"/>
          <p:nvPr/>
        </p:nvSpPr>
        <p:spPr>
          <a:xfrm>
            <a:off x="709439" y="1067132"/>
            <a:ext cx="10929186" cy="4766241"/>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假设数据集由</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维向量      组成，它们分布在</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空间中的一个流形附近。每个数据点和它的邻居位于或者接近于流形的局部线性片段（平面，体现了线性，类似于微积分中的以直代曲的思想）上，即可以用邻居点的线性组合来重构，组合系数刻画了局部流行的几何特性：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权重        为第 </a:t>
            </a:r>
            <a:r>
              <a:rPr lang="en-US" altLang="zh-CN" i="1" dirty="0">
                <a:solidFill>
                  <a:srgbClr val="121212"/>
                </a:solidFill>
                <a:latin typeface="微软雅黑" panose="020B0503020204020204" pitchFamily="34" charset="-122"/>
                <a:ea typeface="微软雅黑" panose="020B0503020204020204" pitchFamily="34" charset="-122"/>
              </a:rPr>
              <a:t>j</a:t>
            </a:r>
            <a:r>
              <a:rPr lang="zh-CN" altLang="en-US" dirty="0">
                <a:solidFill>
                  <a:srgbClr val="121212"/>
                </a:solidFill>
                <a:latin typeface="微软雅黑" panose="020B0503020204020204" pitchFamily="34" charset="-122"/>
                <a:ea typeface="微软雅黑" panose="020B0503020204020204" pitchFamily="34" charset="-122"/>
              </a:rPr>
              <a:t> 个数据点对第</a:t>
            </a:r>
            <a:r>
              <a:rPr lang="zh-CN" altLang="en-US" i="1" dirty="0">
                <a:solidFill>
                  <a:srgbClr val="121212"/>
                </a:solidFill>
                <a:latin typeface="微软雅黑" panose="020B0503020204020204" pitchFamily="34" charset="-122"/>
                <a:ea typeface="微软雅黑" panose="020B0503020204020204" pitchFamily="34" charset="-122"/>
              </a:rPr>
              <a:t> </a:t>
            </a:r>
            <a:r>
              <a:rPr lang="en-US" altLang="zh-CN" i="1" dirty="0" err="1">
                <a:solidFill>
                  <a:srgbClr val="121212"/>
                </a:solidFill>
                <a:latin typeface="微软雅黑" panose="020B0503020204020204" pitchFamily="34" charset="-122"/>
                <a:ea typeface="微软雅黑" panose="020B0503020204020204" pitchFamily="34" charset="-122"/>
              </a:rPr>
              <a:t>i</a:t>
            </a:r>
            <a:r>
              <a:rPr lang="zh-CN" altLang="en-US" i="1" dirty="0">
                <a:solidFill>
                  <a:srgbClr val="121212"/>
                </a:solidFill>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个点的组合权重，这些点的线性组合被用来近似重构数据点      。权重系数通过最小化下面的重构误差确定： </a:t>
            </a: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在这里还加上了约束条件：每个点只由它的邻居来重构，且限定权重矩阵的每一行元素之和为</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其中，</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 和</a:t>
            </a:r>
            <a:r>
              <a:rPr lang="en-US" altLang="zh-CN" i="1" dirty="0" err="1">
                <a:latin typeface="微软雅黑" panose="020B0503020204020204" pitchFamily="34" charset="-122"/>
                <a:ea typeface="微软雅黑" panose="020B0503020204020204" pitchFamily="34" charset="-122"/>
              </a:rPr>
              <a:t>x</a:t>
            </a:r>
            <a:r>
              <a:rPr lang="en-US" altLang="zh-CN" i="1" baseline="-25000" dirty="0" err="1">
                <a:latin typeface="微软雅黑" panose="020B0503020204020204" pitchFamily="34" charset="-122"/>
                <a:ea typeface="微软雅黑" panose="020B0503020204020204" pitchFamily="34" charset="-122"/>
              </a:rPr>
              <a:t>j</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均为已知，令                                         ，       有闭式解：</a:t>
            </a:r>
            <a:endParaRPr lang="zh-CN" altLang="en-US"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1"/>
          <a:stretch>
            <a:fillRect/>
          </a:stretch>
        </p:blipFill>
        <p:spPr>
          <a:xfrm>
            <a:off x="3829175" y="1234394"/>
            <a:ext cx="289899" cy="217425"/>
          </a:xfrm>
          <a:prstGeom prst="rect">
            <a:avLst/>
          </a:prstGeom>
        </p:spPr>
      </p:pic>
      <p:pic>
        <p:nvPicPr>
          <p:cNvPr id="24" name="图片 23"/>
          <p:cNvPicPr>
            <a:picLocks noChangeAspect="1"/>
          </p:cNvPicPr>
          <p:nvPr/>
        </p:nvPicPr>
        <p:blipFill>
          <a:blip r:embed="rId2"/>
          <a:stretch>
            <a:fillRect/>
          </a:stretch>
        </p:blipFill>
        <p:spPr>
          <a:xfrm>
            <a:off x="8152792" y="1945275"/>
            <a:ext cx="1448408" cy="447303"/>
          </a:xfrm>
          <a:prstGeom prst="rect">
            <a:avLst/>
          </a:prstGeom>
        </p:spPr>
      </p:pic>
      <p:pic>
        <p:nvPicPr>
          <p:cNvPr id="31" name="图片 30"/>
          <p:cNvPicPr>
            <a:picLocks noChangeAspect="1"/>
          </p:cNvPicPr>
          <p:nvPr/>
        </p:nvPicPr>
        <p:blipFill>
          <a:blip r:embed="rId3"/>
          <a:stretch>
            <a:fillRect/>
          </a:stretch>
        </p:blipFill>
        <p:spPr>
          <a:xfrm>
            <a:off x="10371313" y="1976856"/>
            <a:ext cx="529241" cy="352827"/>
          </a:xfrm>
          <a:prstGeom prst="rect">
            <a:avLst/>
          </a:prstGeom>
        </p:spPr>
      </p:pic>
      <p:pic>
        <p:nvPicPr>
          <p:cNvPr id="7" name="图片 6"/>
          <p:cNvPicPr>
            <a:picLocks noChangeAspect="1"/>
          </p:cNvPicPr>
          <p:nvPr/>
        </p:nvPicPr>
        <p:blipFill>
          <a:blip r:embed="rId1"/>
          <a:stretch>
            <a:fillRect/>
          </a:stretch>
        </p:blipFill>
        <p:spPr>
          <a:xfrm>
            <a:off x="8659311" y="2480613"/>
            <a:ext cx="296153" cy="222115"/>
          </a:xfrm>
          <a:prstGeom prst="rect">
            <a:avLst/>
          </a:prstGeom>
        </p:spPr>
      </p:pic>
      <p:pic>
        <p:nvPicPr>
          <p:cNvPr id="8" name="图片 7"/>
          <p:cNvPicPr>
            <a:picLocks noChangeAspect="1"/>
          </p:cNvPicPr>
          <p:nvPr/>
        </p:nvPicPr>
        <p:blipFill>
          <a:blip r:embed="rId4"/>
          <a:stretch>
            <a:fillRect/>
          </a:stretch>
        </p:blipFill>
        <p:spPr>
          <a:xfrm>
            <a:off x="4475307" y="2825791"/>
            <a:ext cx="4173234" cy="1887121"/>
          </a:xfrm>
          <a:prstGeom prst="rect">
            <a:avLst/>
          </a:prstGeom>
        </p:spPr>
      </p:pic>
      <p:pic>
        <p:nvPicPr>
          <p:cNvPr id="10" name="图片 9"/>
          <p:cNvPicPr>
            <a:picLocks noChangeAspect="1"/>
          </p:cNvPicPr>
          <p:nvPr/>
        </p:nvPicPr>
        <p:blipFill>
          <a:blip r:embed="rId5"/>
          <a:stretch>
            <a:fillRect/>
          </a:stretch>
        </p:blipFill>
        <p:spPr>
          <a:xfrm>
            <a:off x="5221210" y="5430153"/>
            <a:ext cx="2293500" cy="1195663"/>
          </a:xfrm>
          <a:prstGeom prst="rect">
            <a:avLst/>
          </a:prstGeom>
        </p:spPr>
      </p:pic>
      <p:pic>
        <p:nvPicPr>
          <p:cNvPr id="4" name="图片 3"/>
          <p:cNvPicPr>
            <a:picLocks noChangeAspect="1"/>
          </p:cNvPicPr>
          <p:nvPr/>
        </p:nvPicPr>
        <p:blipFill>
          <a:blip r:embed="rId6"/>
          <a:stretch>
            <a:fillRect/>
          </a:stretch>
        </p:blipFill>
        <p:spPr>
          <a:xfrm>
            <a:off x="3869524" y="5050445"/>
            <a:ext cx="2692400" cy="355600"/>
          </a:xfrm>
          <a:prstGeom prst="rect">
            <a:avLst/>
          </a:prstGeom>
        </p:spPr>
      </p:pic>
      <p:pic>
        <p:nvPicPr>
          <p:cNvPr id="6" name="图片 5"/>
          <p:cNvPicPr>
            <a:picLocks noChangeAspect="1"/>
          </p:cNvPicPr>
          <p:nvPr/>
        </p:nvPicPr>
        <p:blipFill>
          <a:blip r:embed="rId3"/>
          <a:stretch>
            <a:fillRect/>
          </a:stretch>
        </p:blipFill>
        <p:spPr>
          <a:xfrm>
            <a:off x="6844145" y="5074899"/>
            <a:ext cx="455153" cy="30343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6280437" y="835361"/>
            <a:ext cx="5550814" cy="5793700"/>
          </a:xfrm>
          <a:prstGeom prst="rect">
            <a:avLst/>
          </a:prstGeom>
        </p:spPr>
      </p:pic>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pic>
        <p:nvPicPr>
          <p:cNvPr id="9" name="图片 8"/>
          <p:cNvPicPr>
            <a:picLocks noChangeAspect="1"/>
          </p:cNvPicPr>
          <p:nvPr/>
        </p:nvPicPr>
        <p:blipFill>
          <a:blip r:embed="rId2"/>
          <a:stretch>
            <a:fillRect/>
          </a:stretch>
        </p:blipFill>
        <p:spPr>
          <a:xfrm>
            <a:off x="360749" y="889748"/>
            <a:ext cx="4784793" cy="3015626"/>
          </a:xfrm>
          <a:prstGeom prst="rect">
            <a:avLst/>
          </a:prstGeom>
        </p:spPr>
      </p:pic>
      <p:pic>
        <p:nvPicPr>
          <p:cNvPr id="11" name="图片 10"/>
          <p:cNvPicPr>
            <a:picLocks noChangeAspect="1"/>
          </p:cNvPicPr>
          <p:nvPr/>
        </p:nvPicPr>
        <p:blipFill>
          <a:blip r:embed="rId3"/>
          <a:stretch>
            <a:fillRect/>
          </a:stretch>
        </p:blipFill>
        <p:spPr>
          <a:xfrm>
            <a:off x="360749" y="4026871"/>
            <a:ext cx="5762007" cy="257595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5861563" y="2815621"/>
            <a:ext cx="5463997" cy="3907907"/>
          </a:xfrm>
          <a:prstGeom prst="rect">
            <a:avLst/>
          </a:prstGeom>
        </p:spPr>
      </p:pic>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7" name="文本框 6"/>
          <p:cNvSpPr txBox="1"/>
          <p:nvPr/>
        </p:nvSpPr>
        <p:spPr>
          <a:xfrm>
            <a:off x="360749" y="851422"/>
            <a:ext cx="11167636" cy="4129144"/>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en-US" altLang="zh-CN" b="0" i="0" dirty="0">
                <a:solidFill>
                  <a:srgbClr val="121212"/>
                </a:solidFill>
                <a:effectLst/>
                <a:latin typeface="微软雅黑" panose="020B0503020204020204" pitchFamily="34" charset="-122"/>
                <a:ea typeface="微软雅黑" panose="020B0503020204020204" pitchFamily="34" charset="-122"/>
              </a:rPr>
              <a:t>LLE</a:t>
            </a:r>
            <a:r>
              <a:rPr lang="zh-CN" altLang="en-US" b="0" i="0" dirty="0">
                <a:solidFill>
                  <a:srgbClr val="121212"/>
                </a:solidFill>
                <a:effectLst/>
                <a:latin typeface="微软雅黑" panose="020B0503020204020204" pitchFamily="34" charset="-122"/>
                <a:ea typeface="微软雅黑" panose="020B0503020204020204" pitchFamily="34" charset="-122"/>
              </a:rPr>
              <a:t>在低维空间中保持</a:t>
            </a:r>
            <a:r>
              <a:rPr lang="en-US" altLang="zh-CN" b="0" i="1" dirty="0" err="1">
                <a:solidFill>
                  <a:srgbClr val="121212"/>
                </a:solidFill>
                <a:effectLst/>
                <a:latin typeface="微软雅黑" panose="020B0503020204020204" pitchFamily="34" charset="-122"/>
                <a:ea typeface="微软雅黑" panose="020B0503020204020204" pitchFamily="34" charset="-122"/>
              </a:rPr>
              <a:t>w</a:t>
            </a:r>
            <a:r>
              <a:rPr lang="en-US" altLang="zh-CN" b="0" i="1" baseline="-25000" dirty="0" err="1">
                <a:solidFill>
                  <a:srgbClr val="121212"/>
                </a:solidFill>
                <a:effectLst/>
                <a:latin typeface="微软雅黑" panose="020B0503020204020204" pitchFamily="34" charset="-122"/>
                <a:ea typeface="微软雅黑" panose="020B0503020204020204" pitchFamily="34" charset="-122"/>
              </a:rPr>
              <a:t>ij</a:t>
            </a:r>
            <a:r>
              <a:rPr lang="zh-CN" altLang="en-US" b="0" i="1" dirty="0">
                <a:solidFill>
                  <a:srgbClr val="121212"/>
                </a:solidFill>
                <a:effectLst/>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不</a:t>
            </a:r>
            <a:r>
              <a:rPr lang="zh-CN" altLang="en-US" b="0" i="0" dirty="0">
                <a:solidFill>
                  <a:srgbClr val="121212"/>
                </a:solidFill>
                <a:effectLst/>
                <a:latin typeface="微软雅黑" panose="020B0503020204020204" pitchFamily="34" charset="-122"/>
                <a:ea typeface="微软雅黑" panose="020B0503020204020204" pitchFamily="34" charset="-122"/>
              </a:rPr>
              <a:t>变，由于</a:t>
            </a:r>
            <a:r>
              <a:rPr lang="en-US" altLang="zh-CN" b="0" i="1" dirty="0">
                <a:solidFill>
                  <a:srgbClr val="121212"/>
                </a:solidFill>
                <a:effectLst/>
                <a:latin typeface="微软雅黑" panose="020B0503020204020204" pitchFamily="34" charset="-122"/>
                <a:ea typeface="微软雅黑" panose="020B0503020204020204" pitchFamily="34" charset="-122"/>
              </a:rPr>
              <a:t>x</a:t>
            </a:r>
            <a:r>
              <a:rPr lang="en-US" altLang="zh-CN" b="0" i="1" baseline="-25000" dirty="0">
                <a:solidFill>
                  <a:srgbClr val="121212"/>
                </a:solidFill>
                <a:effectLst/>
                <a:latin typeface="微软雅黑" panose="020B0503020204020204" pitchFamily="34" charset="-122"/>
                <a:ea typeface="微软雅黑" panose="020B0503020204020204" pitchFamily="34" charset="-122"/>
              </a:rPr>
              <a:t>i</a:t>
            </a:r>
            <a:r>
              <a:rPr lang="zh-CN" altLang="en-US" b="0" i="1" dirty="0">
                <a:solidFill>
                  <a:srgbClr val="121212"/>
                </a:solidFill>
                <a:effectLst/>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对应的低维空间坐标</a:t>
            </a:r>
            <a:r>
              <a:rPr lang="en-US" altLang="zh-CN" i="1" dirty="0">
                <a:solidFill>
                  <a:srgbClr val="121212"/>
                </a:solidFill>
                <a:latin typeface="微软雅黑" panose="020B0503020204020204" pitchFamily="34" charset="-122"/>
                <a:ea typeface="微软雅黑" panose="020B0503020204020204" pitchFamily="34" charset="-122"/>
              </a:rPr>
              <a:t>z</a:t>
            </a:r>
            <a:r>
              <a:rPr lang="en-US" altLang="zh-CN" i="1" baseline="-25000" dirty="0">
                <a:solidFill>
                  <a:srgbClr val="121212"/>
                </a:solidFill>
                <a:latin typeface="微软雅黑" panose="020B0503020204020204" pitchFamily="34" charset="-122"/>
                <a:ea typeface="微软雅黑" panose="020B0503020204020204" pitchFamily="34" charset="-122"/>
              </a:rPr>
              <a:t>i</a:t>
            </a:r>
            <a:r>
              <a:rPr lang="en-US" altLang="zh-CN" i="1" dirty="0">
                <a:solidFill>
                  <a:srgbClr val="121212"/>
                </a:solidFill>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可以通过下式求解</a:t>
            </a: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solidFill>
                  <a:srgbClr val="121212"/>
                </a:solidFill>
                <a:latin typeface="微软雅黑" panose="020B0503020204020204" pitchFamily="34" charset="-122"/>
                <a:ea typeface="微软雅黑" panose="020B0503020204020204" pitchFamily="34" charset="-122"/>
              </a:rPr>
              <a:t>这里的权重和上一个优化问题的值相同，也就是</a:t>
            </a:r>
            <a:r>
              <a:rPr lang="zh-CN" altLang="en-US" b="1" u="sng" dirty="0">
                <a:solidFill>
                  <a:srgbClr val="121212"/>
                </a:solidFill>
                <a:latin typeface="微软雅黑" panose="020B0503020204020204" pitchFamily="34" charset="-122"/>
                <a:ea typeface="微软雅黑" panose="020B0503020204020204" pitchFamily="34" charset="-122"/>
              </a:rPr>
              <a:t>两个公式优化目标同形</a:t>
            </a:r>
            <a:r>
              <a:rPr lang="zh-CN" altLang="en-US" dirty="0">
                <a:solidFill>
                  <a:srgbClr val="121212"/>
                </a:solidFill>
                <a:latin typeface="微软雅黑" panose="020B0503020204020204" pitchFamily="34" charset="-122"/>
                <a:ea typeface="微软雅黑" panose="020B0503020204020204" pitchFamily="34" charset="-122"/>
              </a:rPr>
              <a:t>，</a:t>
            </a:r>
            <a:r>
              <a:rPr lang="zh-CN" altLang="en-US" b="1" u="sng" dirty="0">
                <a:solidFill>
                  <a:srgbClr val="121212"/>
                </a:solidFill>
                <a:latin typeface="微软雅黑" panose="020B0503020204020204" pitchFamily="34" charset="-122"/>
                <a:ea typeface="微软雅黑" panose="020B0503020204020204" pitchFamily="34" charset="-122"/>
              </a:rPr>
              <a:t>区别</a:t>
            </a:r>
            <a:r>
              <a:rPr lang="zh-CN" altLang="en-US" dirty="0">
                <a:solidFill>
                  <a:srgbClr val="121212"/>
                </a:solidFill>
                <a:latin typeface="微软雅黑" panose="020B0503020204020204" pitchFamily="34" charset="-122"/>
                <a:ea typeface="微软雅黑" panose="020B0503020204020204" pitchFamily="34" charset="-122"/>
              </a:rPr>
              <a:t>在于前一个公式需要确定</a:t>
            </a:r>
            <a:r>
              <a:rPr lang="en-US" altLang="zh-CN" b="0" i="1" dirty="0" err="1">
                <a:solidFill>
                  <a:srgbClr val="121212"/>
                </a:solidFill>
                <a:effectLst/>
                <a:latin typeface="微软雅黑" panose="020B0503020204020204" pitchFamily="34" charset="-122"/>
                <a:ea typeface="微软雅黑" panose="020B0503020204020204" pitchFamily="34" charset="-122"/>
              </a:rPr>
              <a:t>w</a:t>
            </a:r>
            <a:r>
              <a:rPr lang="en-US" altLang="zh-CN" b="0" i="1" baseline="-25000" dirty="0" err="1">
                <a:solidFill>
                  <a:srgbClr val="121212"/>
                </a:solidFill>
                <a:effectLst/>
                <a:latin typeface="微软雅黑" panose="020B0503020204020204" pitchFamily="34" charset="-122"/>
                <a:ea typeface="微软雅黑" panose="020B0503020204020204" pitchFamily="34" charset="-122"/>
              </a:rPr>
              <a:t>ij</a:t>
            </a:r>
            <a:r>
              <a:rPr lang="zh-CN" altLang="en-US" b="0" i="1" dirty="0">
                <a:solidFill>
                  <a:srgbClr val="121212"/>
                </a:solidFill>
                <a:effectLst/>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，而上式需要确定的是</a:t>
            </a:r>
            <a:r>
              <a:rPr lang="en-US" altLang="zh-CN" i="1" dirty="0">
                <a:solidFill>
                  <a:srgbClr val="121212"/>
                </a:solidFill>
                <a:latin typeface="微软雅黑" panose="020B0503020204020204" pitchFamily="34" charset="-122"/>
                <a:ea typeface="微软雅黑" panose="020B0503020204020204" pitchFamily="34" charset="-122"/>
              </a:rPr>
              <a:t>x</a:t>
            </a:r>
            <a:r>
              <a:rPr lang="en-US" altLang="zh-CN" b="0" i="1" baseline="-25000" dirty="0" err="1">
                <a:solidFill>
                  <a:srgbClr val="121212"/>
                </a:solidFill>
                <a:effectLst/>
                <a:latin typeface="微软雅黑" panose="020B0503020204020204" pitchFamily="34" charset="-122"/>
                <a:ea typeface="微软雅黑" panose="020B0503020204020204" pitchFamily="34" charset="-122"/>
              </a:rPr>
              <a:t>i</a:t>
            </a:r>
            <a:r>
              <a:rPr lang="zh-CN" altLang="en-US" dirty="0">
                <a:solidFill>
                  <a:srgbClr val="121212"/>
                </a:solidFill>
                <a:latin typeface="微软雅黑" panose="020B0503020204020204" pitchFamily="34" charset="-122"/>
                <a:ea typeface="微软雅黑" panose="020B0503020204020204" pitchFamily="34" charset="-122"/>
              </a:rPr>
              <a:t> 对应的低维空间的坐标</a:t>
            </a:r>
            <a:r>
              <a:rPr lang="en-US" altLang="zh-CN" i="1" dirty="0">
                <a:solidFill>
                  <a:srgbClr val="121212"/>
                </a:solidFill>
                <a:latin typeface="微软雅黑" panose="020B0503020204020204" pitchFamily="34" charset="-122"/>
                <a:ea typeface="微软雅黑" panose="020B0503020204020204" pitchFamily="34" charset="-122"/>
              </a:rPr>
              <a:t>z</a:t>
            </a:r>
            <a:r>
              <a:rPr lang="en-US" altLang="zh-CN" i="1" baseline="-25000" dirty="0">
                <a:solidFill>
                  <a:srgbClr val="121212"/>
                </a:solidFill>
                <a:latin typeface="微软雅黑" panose="020B0503020204020204" pitchFamily="34" charset="-122"/>
                <a:ea typeface="微软雅黑" panose="020B0503020204020204" pitchFamily="34" charset="-122"/>
              </a:rPr>
              <a:t>i</a:t>
            </a:r>
            <a:r>
              <a:rPr lang="en-US" altLang="zh-CN" i="1" dirty="0">
                <a:solidFill>
                  <a:srgbClr val="121212"/>
                </a:solidFill>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a:t>
            </a: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0" lvl="1">
              <a:lnSpc>
                <a:spcPct val="130000"/>
              </a:lnSpc>
            </a:pPr>
            <a:endParaRPr lang="en-US" altLang="zh-CN" dirty="0">
              <a:solidFill>
                <a:srgbClr val="121212"/>
              </a:solidFill>
              <a:latin typeface="微软雅黑" panose="020B0503020204020204" pitchFamily="34" charset="-122"/>
              <a:ea typeface="微软雅黑" panose="020B0503020204020204" pitchFamily="34" charset="-122"/>
            </a:endParaRPr>
          </a:p>
          <a:p>
            <a:pPr marL="0" lvl="1">
              <a:lnSpc>
                <a:spcPct val="130000"/>
              </a:lnSpc>
            </a:pP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solidFill>
                  <a:srgbClr val="121212"/>
                </a:solidFill>
                <a:latin typeface="微软雅黑" panose="020B0503020204020204" pitchFamily="34" charset="-122"/>
                <a:ea typeface="微软雅黑" panose="020B0503020204020204" pitchFamily="34" charset="-122"/>
              </a:rPr>
              <a:t>上述公式可以重写为</a:t>
            </a:r>
            <a:endParaRPr lang="en-US" altLang="zh-CN" dirty="0">
              <a:solidFill>
                <a:srgbClr val="121212"/>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4259429" y="1281020"/>
            <a:ext cx="3526825" cy="956744"/>
          </a:xfrm>
          <a:prstGeom prst="rect">
            <a:avLst/>
          </a:prstGeom>
        </p:spPr>
      </p:pic>
      <p:pic>
        <p:nvPicPr>
          <p:cNvPr id="5" name="图片 4"/>
          <p:cNvPicPr>
            <a:picLocks noChangeAspect="1"/>
          </p:cNvPicPr>
          <p:nvPr/>
        </p:nvPicPr>
        <p:blipFill>
          <a:blip r:embed="rId3"/>
          <a:stretch>
            <a:fillRect/>
          </a:stretch>
        </p:blipFill>
        <p:spPr>
          <a:xfrm>
            <a:off x="962313" y="3353638"/>
            <a:ext cx="4567409" cy="956744"/>
          </a:xfrm>
          <a:prstGeom prst="rect">
            <a:avLst/>
          </a:prstGeom>
        </p:spPr>
      </p:pic>
      <p:pic>
        <p:nvPicPr>
          <p:cNvPr id="6" name="图片 5"/>
          <p:cNvPicPr>
            <a:picLocks noChangeAspect="1"/>
          </p:cNvPicPr>
          <p:nvPr/>
        </p:nvPicPr>
        <p:blipFill>
          <a:blip r:embed="rId4"/>
          <a:stretch>
            <a:fillRect/>
          </a:stretch>
        </p:blipFill>
        <p:spPr>
          <a:xfrm>
            <a:off x="1508755" y="5052459"/>
            <a:ext cx="2062439" cy="95411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9" name="TextBox 12"/>
          <p:cNvSpPr txBox="1">
            <a:spLocks noChangeArrowheads="1"/>
          </p:cNvSpPr>
          <p:nvPr/>
        </p:nvSpPr>
        <p:spPr bwMode="auto">
          <a:xfrm>
            <a:off x="639105" y="889160"/>
            <a:ext cx="44940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en-US" altLang="zh-CN" b="1" dirty="0">
                <a:solidFill>
                  <a:schemeClr val="accent5">
                    <a:lumMod val="50000"/>
                  </a:schemeClr>
                </a:solidFill>
                <a:latin typeface="微软雅黑" panose="020B0503020204020204" pitchFamily="34" charset="-122"/>
              </a:rPr>
              <a:t>LLE</a:t>
            </a:r>
            <a:r>
              <a:rPr lang="zh-CN" altLang="en-US" b="1" dirty="0">
                <a:solidFill>
                  <a:schemeClr val="accent5">
                    <a:lumMod val="50000"/>
                  </a:schemeClr>
                </a:solidFill>
                <a:latin typeface="微软雅黑" panose="020B0503020204020204" pitchFamily="34" charset="-122"/>
              </a:rPr>
              <a:t>算法描述</a:t>
            </a:r>
            <a:endParaRPr lang="zh-CN" altLang="en-US" b="1" dirty="0">
              <a:solidFill>
                <a:schemeClr val="accent5">
                  <a:lumMod val="50000"/>
                </a:schemeClr>
              </a:solidFill>
              <a:latin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2810615" y="1442951"/>
            <a:ext cx="6570770" cy="4095903"/>
          </a:xfrm>
          <a:prstGeom prst="rect">
            <a:avLst/>
          </a:prstGeom>
        </p:spPr>
      </p:pic>
      <p:sp>
        <p:nvSpPr>
          <p:cNvPr id="13" name="文本框 12"/>
          <p:cNvSpPr txBox="1"/>
          <p:nvPr/>
        </p:nvSpPr>
        <p:spPr>
          <a:xfrm>
            <a:off x="1189103" y="5968840"/>
            <a:ext cx="959928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算法第 4 行：对于不在样本</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 邻域区域的样本</a:t>
            </a:r>
            <a:r>
              <a:rPr lang="en-US" altLang="zh-CN" i="1" dirty="0" err="1">
                <a:latin typeface="微软雅黑" panose="020B0503020204020204" pitchFamily="34" charset="-122"/>
                <a:ea typeface="微软雅黑" panose="020B0503020204020204" pitchFamily="34" charset="-122"/>
              </a:rPr>
              <a:t>x</a:t>
            </a:r>
            <a:r>
              <a:rPr lang="en-US" altLang="zh-CN" i="1" baseline="-25000" dirty="0" err="1">
                <a:latin typeface="微软雅黑" panose="020B0503020204020204" pitchFamily="34" charset="-122"/>
                <a:ea typeface="微软雅黑" panose="020B0503020204020204" pitchFamily="34" charset="-122"/>
              </a:rPr>
              <a:t>j</a:t>
            </a:r>
            <a:r>
              <a:rPr lang="zh-CN" altLang="en-US" dirty="0">
                <a:latin typeface="微软雅黑" panose="020B0503020204020204" pitchFamily="34" charset="-122"/>
                <a:ea typeface="微软雅黑" panose="020B0503020204020204" pitchFamily="34" charset="-122"/>
              </a:rPr>
              <a:t> ，无论其如何变化都对</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 和</a:t>
            </a:r>
            <a:r>
              <a:rPr lang="en-US" altLang="zh-CN" i="1" dirty="0">
                <a:latin typeface="微软雅黑" panose="020B0503020204020204" pitchFamily="34" charset="-122"/>
                <a:ea typeface="微软雅黑" panose="020B0503020204020204" pitchFamily="34" charset="-122"/>
              </a:rPr>
              <a:t>z</a:t>
            </a:r>
            <a:r>
              <a:rPr lang="zh-CN" altLang="en-US" i="1" baseline="-25000" dirty="0">
                <a:latin typeface="微软雅黑" panose="020B0503020204020204" pitchFamily="34" charset="-122"/>
                <a:ea typeface="微软雅黑" panose="020B0503020204020204" pitchFamily="34" charset="-122"/>
              </a:rPr>
              <a:t>i</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没有任何影响</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492990"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度量学习</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度量学习</a:t>
            </a:r>
            <a:endParaRPr lang="zh-CN" altLang="en-US" dirty="0"/>
          </a:p>
        </p:txBody>
      </p:sp>
      <p:sp>
        <p:nvSpPr>
          <p:cNvPr id="6" name="文本框 68"/>
          <p:cNvSpPr txBox="1"/>
          <p:nvPr/>
        </p:nvSpPr>
        <p:spPr>
          <a:xfrm>
            <a:off x="692458" y="740144"/>
            <a:ext cx="10546672" cy="3215047"/>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前面讨论的降维方法都是为了应对维数灾难而提出的方法，即都试图将原空间投影到一个合适的低维空间中，接着在低维空间中进行学习任务从而产生比较好的性能。</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寻找合适的投影空间，实质上就是在寻找一个合适的</a:t>
            </a:r>
            <a:r>
              <a:rPr lang="zh-CN" altLang="en-US" b="1" u="sng" dirty="0">
                <a:latin typeface="微软雅黑" panose="020B0503020204020204" pitchFamily="34" charset="-122"/>
                <a:ea typeface="微软雅黑" panose="020B0503020204020204" pitchFamily="34" charset="-122"/>
              </a:rPr>
              <a:t>距离度量</a:t>
            </a:r>
            <a:r>
              <a:rPr lang="zh-CN" altLang="en-US" dirty="0">
                <a:latin typeface="微软雅黑" panose="020B0503020204020204" pitchFamily="34" charset="-122"/>
                <a:ea typeface="微软雅黑" panose="020B0503020204020204" pitchFamily="34" charset="-122"/>
              </a:rPr>
              <a:t>。事实上，不管高维空间还是低维空间都潜在对应着一个距离度量，如何学习出距离度量来降维？这便是</a:t>
            </a:r>
            <a:r>
              <a:rPr lang="zh-CN" altLang="en-US" u="sng" dirty="0">
                <a:latin typeface="微软雅黑" panose="020B0503020204020204" pitchFamily="34" charset="-122"/>
                <a:ea typeface="微软雅黑" panose="020B0503020204020204" pitchFamily="34" charset="-122"/>
              </a:rPr>
              <a:t>度量学习</a:t>
            </a:r>
            <a:r>
              <a:rPr lang="en-US" altLang="zh-CN" dirty="0">
                <a:latin typeface="微软雅黑" panose="020B0503020204020204" pitchFamily="34" charset="-122"/>
                <a:ea typeface="微软雅黑" panose="020B0503020204020204" pitchFamily="34" charset="-122"/>
              </a:rPr>
              <a:t>(metric learning)</a:t>
            </a:r>
            <a:r>
              <a:rPr lang="zh-CN" altLang="en-US" dirty="0">
                <a:latin typeface="微软雅黑" panose="020B0503020204020204" pitchFamily="34" charset="-122"/>
                <a:ea typeface="微软雅黑" panose="020B0503020204020204" pitchFamily="34" charset="-122"/>
              </a:rPr>
              <a:t>的动机。首先，学习距离度量，要定义合适的距离度量形式，对两个</a:t>
            </a:r>
            <a:r>
              <a:rPr lang="en-US" altLang="zh-CN" dirty="0">
                <a:latin typeface="微软雅黑" panose="020B0503020204020204" pitchFamily="34" charset="-122"/>
                <a:ea typeface="微软雅黑" panose="020B0503020204020204" pitchFamily="34" charset="-122"/>
              </a:rPr>
              <a:t>d </a:t>
            </a:r>
            <a:r>
              <a:rPr lang="zh-CN" altLang="en-US" dirty="0">
                <a:latin typeface="微软雅黑" panose="020B0503020204020204" pitchFamily="34" charset="-122"/>
                <a:ea typeface="微软雅黑" panose="020B0503020204020204" pitchFamily="34" charset="-122"/>
              </a:rPr>
              <a:t>维样本    和      之间欧氏距离：</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7937081" y="2900199"/>
            <a:ext cx="245772" cy="288516"/>
          </a:xfrm>
          <a:prstGeom prst="rect">
            <a:avLst/>
          </a:prstGeom>
        </p:spPr>
      </p:pic>
      <p:pic>
        <p:nvPicPr>
          <p:cNvPr id="13" name="图片 12"/>
          <p:cNvPicPr>
            <a:picLocks noChangeAspect="1"/>
          </p:cNvPicPr>
          <p:nvPr/>
        </p:nvPicPr>
        <p:blipFill>
          <a:blip r:embed="rId2"/>
          <a:stretch>
            <a:fillRect/>
          </a:stretch>
        </p:blipFill>
        <p:spPr>
          <a:xfrm>
            <a:off x="8442912" y="2896543"/>
            <a:ext cx="315044" cy="270038"/>
          </a:xfrm>
          <a:prstGeom prst="rect">
            <a:avLst/>
          </a:prstGeom>
        </p:spPr>
      </p:pic>
      <p:pic>
        <p:nvPicPr>
          <p:cNvPr id="15" name="图片 14"/>
          <p:cNvPicPr>
            <a:picLocks noChangeAspect="1"/>
          </p:cNvPicPr>
          <p:nvPr/>
        </p:nvPicPr>
        <p:blipFill>
          <a:blip r:embed="rId3"/>
          <a:stretch>
            <a:fillRect/>
          </a:stretch>
        </p:blipFill>
        <p:spPr>
          <a:xfrm>
            <a:off x="2137904" y="3328715"/>
            <a:ext cx="6947908" cy="525788"/>
          </a:xfrm>
          <a:prstGeom prst="rect">
            <a:avLst/>
          </a:prstGeom>
        </p:spPr>
      </p:pic>
      <p:sp>
        <p:nvSpPr>
          <p:cNvPr id="17" name="文本框 16"/>
          <p:cNvSpPr txBox="1"/>
          <p:nvPr/>
        </p:nvSpPr>
        <p:spPr>
          <a:xfrm>
            <a:off x="976543" y="4002786"/>
            <a:ext cx="10262587" cy="45890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其中           代表     与     在第</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维的距离，假定不同维度上属性的重要性不同，则可以引入权重</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得      </a:t>
            </a:r>
            <a:endParaRPr lang="zh-CN" altLang="en-US"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4"/>
          <a:stretch>
            <a:fillRect/>
          </a:stretch>
        </p:blipFill>
        <p:spPr>
          <a:xfrm>
            <a:off x="1606806" y="4140565"/>
            <a:ext cx="681935" cy="295166"/>
          </a:xfrm>
          <a:prstGeom prst="rect">
            <a:avLst/>
          </a:prstGeom>
        </p:spPr>
      </p:pic>
      <p:pic>
        <p:nvPicPr>
          <p:cNvPr id="23" name="图片 22"/>
          <p:cNvPicPr>
            <a:picLocks noChangeAspect="1"/>
          </p:cNvPicPr>
          <p:nvPr/>
        </p:nvPicPr>
        <p:blipFill>
          <a:blip r:embed="rId5"/>
          <a:stretch>
            <a:fillRect/>
          </a:stretch>
        </p:blipFill>
        <p:spPr>
          <a:xfrm>
            <a:off x="2819100" y="4140565"/>
            <a:ext cx="265935" cy="255297"/>
          </a:xfrm>
          <a:prstGeom prst="rect">
            <a:avLst/>
          </a:prstGeom>
        </p:spPr>
      </p:pic>
      <p:pic>
        <p:nvPicPr>
          <p:cNvPr id="25" name="图片 24"/>
          <p:cNvPicPr>
            <a:picLocks noChangeAspect="1"/>
          </p:cNvPicPr>
          <p:nvPr/>
        </p:nvPicPr>
        <p:blipFill>
          <a:blip r:embed="rId6"/>
          <a:stretch>
            <a:fillRect/>
          </a:stretch>
        </p:blipFill>
        <p:spPr>
          <a:xfrm>
            <a:off x="3296272" y="4160499"/>
            <a:ext cx="319122" cy="255297"/>
          </a:xfrm>
          <a:prstGeom prst="rect">
            <a:avLst/>
          </a:prstGeom>
        </p:spPr>
      </p:pic>
      <p:pic>
        <p:nvPicPr>
          <p:cNvPr id="27" name="图片 26"/>
          <p:cNvPicPr>
            <a:picLocks noChangeAspect="1"/>
          </p:cNvPicPr>
          <p:nvPr/>
        </p:nvPicPr>
        <p:blipFill>
          <a:blip r:embed="rId7"/>
          <a:stretch>
            <a:fillRect/>
          </a:stretch>
        </p:blipFill>
        <p:spPr>
          <a:xfrm>
            <a:off x="1840270" y="4623828"/>
            <a:ext cx="8740510" cy="488367"/>
          </a:xfrm>
          <a:prstGeom prst="rect">
            <a:avLst/>
          </a:prstGeom>
        </p:spPr>
      </p:pic>
      <p:pic>
        <p:nvPicPr>
          <p:cNvPr id="29" name="图片 28"/>
          <p:cNvPicPr>
            <a:picLocks noChangeAspect="1"/>
          </p:cNvPicPr>
          <p:nvPr/>
        </p:nvPicPr>
        <p:blipFill>
          <a:blip r:embed="rId8"/>
          <a:stretch>
            <a:fillRect/>
          </a:stretch>
        </p:blipFill>
        <p:spPr>
          <a:xfrm>
            <a:off x="1888341" y="5337565"/>
            <a:ext cx="2766569" cy="493171"/>
          </a:xfrm>
          <a:prstGeom prst="rect">
            <a:avLst/>
          </a:prstGeom>
        </p:spPr>
      </p:pic>
      <p:pic>
        <p:nvPicPr>
          <p:cNvPr id="31" name="图片 30"/>
          <p:cNvPicPr>
            <a:picLocks noChangeAspect="1"/>
          </p:cNvPicPr>
          <p:nvPr/>
        </p:nvPicPr>
        <p:blipFill>
          <a:blip r:embed="rId9"/>
          <a:stretch>
            <a:fillRect/>
          </a:stretch>
        </p:blipFill>
        <p:spPr>
          <a:xfrm>
            <a:off x="4735639" y="5291774"/>
            <a:ext cx="6857007" cy="64781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fld>
            <a:endParaRPr lang="zh-CN" altLang="en-US" dirty="0"/>
          </a:p>
        </p:txBody>
      </p:sp>
      <p:sp>
        <p:nvSpPr>
          <p:cNvPr id="3" name="标题 2"/>
          <p:cNvSpPr>
            <a:spLocks noGrp="1"/>
          </p:cNvSpPr>
          <p:nvPr>
            <p:ph type="title"/>
          </p:nvPr>
        </p:nvSpPr>
        <p:spPr/>
        <p:txBody>
          <a:bodyPr>
            <a:normAutofit fontScale="90000"/>
          </a:bodyPr>
          <a:lstStyle/>
          <a:p>
            <a:r>
              <a:rPr lang="zh-CN" altLang="en-US" dirty="0"/>
              <a:t>度量学习</a:t>
            </a:r>
            <a:endParaRPr lang="zh-CN" altLang="en-US" dirty="0"/>
          </a:p>
        </p:txBody>
      </p:sp>
      <p:sp>
        <p:nvSpPr>
          <p:cNvPr id="4" name="文本框 3"/>
          <p:cNvSpPr txBox="1"/>
          <p:nvPr/>
        </p:nvSpPr>
        <p:spPr>
          <a:xfrm>
            <a:off x="614722" y="914400"/>
            <a:ext cx="10636245" cy="3693319"/>
          </a:xfrm>
          <a:prstGeom prst="rect">
            <a:avLst/>
          </a:prstGeom>
          <a:noFill/>
        </p:spPr>
        <p:txBody>
          <a:bodyPr wrap="square"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矩阵</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可通过学习确定，</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非对角元素都为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，意味着坐标轴正交。但是，考虑维度在实际意义上可能具有相关性（两个属性之间是相关联的而非正交的，比如“重量”和“体积”），此时用</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矩阵替代</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矩阵，</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矩阵是半正定对称矩阵，相对于</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来说有更大的灵活性。于是，只需学习</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即可，如果</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满足协方差矩阵的逆，称这个距离为马氏距离。</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3173589" y="2728514"/>
            <a:ext cx="5844822" cy="567458"/>
          </a:xfrm>
          <a:prstGeom prst="rect">
            <a:avLst/>
          </a:prstGeom>
        </p:spPr>
      </p:pic>
      <p:sp>
        <p:nvSpPr>
          <p:cNvPr id="16" name="文本框 15"/>
          <p:cNvSpPr txBox="1"/>
          <p:nvPr/>
        </p:nvSpPr>
        <p:spPr>
          <a:xfrm>
            <a:off x="614722" y="4684799"/>
            <a:ext cx="989860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度量矩阵</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的优化方式有两种：</a:t>
            </a:r>
            <a:endParaRPr lang="en-US" altLang="zh-CN"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126667" y="5212414"/>
            <a:ext cx="9286043"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直接将马氏距离的嵌入到目标的损失函数，然后根据损失值向前求导从而更新</a:t>
            </a:r>
            <a:r>
              <a:rPr lang="en-US" altLang="zh-CN" dirty="0">
                <a:latin typeface="微软雅黑" panose="020B0503020204020204" pitchFamily="34" charset="-122"/>
                <a:ea typeface="微软雅黑" panose="020B0503020204020204" pitchFamily="34" charset="-122"/>
              </a:rPr>
              <a:t>M</a:t>
            </a: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b="0" i="0" dirty="0">
                <a:solidFill>
                  <a:srgbClr val="121212"/>
                </a:solidFill>
                <a:effectLst/>
                <a:latin typeface="微软雅黑" panose="020B0503020204020204" pitchFamily="34" charset="-122"/>
                <a:ea typeface="微软雅黑" panose="020B0503020204020204" pitchFamily="34" charset="-122"/>
              </a:rPr>
              <a:t>提前知道样本的领域知识，根据样本之间的相似性来求解矩阵</a:t>
            </a:r>
            <a:r>
              <a:rPr lang="en-US" altLang="zh-CN" b="0" i="0" dirty="0">
                <a:solidFill>
                  <a:srgbClr val="121212"/>
                </a:solidFill>
                <a:effectLst/>
                <a:latin typeface="微软雅黑" panose="020B0503020204020204" pitchFamily="34" charset="-122"/>
                <a:ea typeface="微软雅黑" panose="020B0503020204020204" pitchFamily="34" charset="-122"/>
              </a:rPr>
              <a:t>M</a:t>
            </a:r>
            <a:r>
              <a:rPr lang="zh-CN" altLang="en-US" b="0" i="0" dirty="0">
                <a:solidFill>
                  <a:srgbClr val="121212"/>
                </a:solidFill>
                <a:effectLst/>
                <a:latin typeface="微软雅黑" panose="020B0503020204020204" pitchFamily="34" charset="-122"/>
                <a:ea typeface="微软雅黑" panose="020B0503020204020204" pitchFamily="34" charset="-122"/>
              </a:rPr>
              <a:t>的优化问题</a:t>
            </a: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614722" y="3493396"/>
            <a:ext cx="10496391" cy="874407"/>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其中 M 亦称“度量矩阵”，而度量学习则是对 M 进行学习。为了保持距离非负且对称， </a:t>
            </a:r>
            <a:r>
              <a:rPr lang="en-US" altLang="zh-CN" dirty="0">
                <a:latin typeface="微软雅黑" panose="020B0503020204020204" pitchFamily="34" charset="-122"/>
                <a:ea typeface="微软雅黑" panose="020B0503020204020204" pitchFamily="34" charset="-122"/>
              </a:rPr>
              <a:t>M </a:t>
            </a:r>
            <a:r>
              <a:rPr lang="zh-CN" altLang="en-US" dirty="0">
                <a:latin typeface="微软雅黑" panose="020B0503020204020204" pitchFamily="34" charset="-122"/>
                <a:ea typeface="微软雅黑" panose="020B0503020204020204" pitchFamily="34" charset="-122"/>
              </a:rPr>
              <a:t>必须是</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半</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正定对称矩阵，即有正交基 </a:t>
            </a:r>
            <a:r>
              <a:rPr lang="en-US" altLang="zh-CN" dirty="0">
                <a:latin typeface="微软雅黑" panose="020B0503020204020204" pitchFamily="34" charset="-122"/>
                <a:ea typeface="微软雅黑" panose="020B0503020204020204" pitchFamily="34" charset="-122"/>
              </a:rPr>
              <a:t>P </a:t>
            </a:r>
            <a:r>
              <a:rPr lang="zh-CN" altLang="en-US" dirty="0">
                <a:latin typeface="微软雅黑" panose="020B0503020204020204" pitchFamily="34" charset="-122"/>
                <a:ea typeface="微软雅黑" panose="020B0503020204020204" pitchFamily="34" charset="-122"/>
              </a:rPr>
              <a:t>使得 </a:t>
            </a:r>
            <a:r>
              <a:rPr lang="en-US" altLang="zh-CN" dirty="0">
                <a:latin typeface="微软雅黑" panose="020B0503020204020204" pitchFamily="34" charset="-122"/>
                <a:ea typeface="微软雅黑" panose="020B0503020204020204" pitchFamily="34" charset="-122"/>
              </a:rPr>
              <a:t>M </a:t>
            </a:r>
            <a:r>
              <a:rPr lang="zh-CN" altLang="en-US" dirty="0">
                <a:latin typeface="微软雅黑" panose="020B0503020204020204" pitchFamily="34" charset="-122"/>
                <a:ea typeface="微软雅黑" panose="020B0503020204020204" pitchFamily="34" charset="-122"/>
              </a:rPr>
              <a:t>能写为 </a:t>
            </a:r>
            <a:r>
              <a:rPr lang="en-US" altLang="zh-CN" dirty="0">
                <a:latin typeface="微软雅黑" panose="020B0503020204020204" pitchFamily="34" charset="-122"/>
                <a:ea typeface="微软雅黑" panose="020B0503020204020204" pitchFamily="34" charset="-122"/>
              </a:rPr>
              <a:t>M=PP</a:t>
            </a:r>
            <a:r>
              <a:rPr lang="en-US" altLang="zh-CN" baseline="30000"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9423868" y="4357810"/>
            <a:ext cx="1231900" cy="520700"/>
          </a:xfrm>
          <a:prstGeom prst="rect">
            <a:avLst/>
          </a:prstGeom>
        </p:spPr>
      </p:pic>
      <p:sp>
        <p:nvSpPr>
          <p:cNvPr id="2" name="标题 1"/>
          <p:cNvSpPr>
            <a:spLocks noGrp="1"/>
          </p:cNvSpPr>
          <p:nvPr>
            <p:ph type="title"/>
          </p:nvPr>
        </p:nvSpPr>
        <p:spPr/>
        <p:txBody>
          <a:bodyPr>
            <a:normAutofit fontScale="90000"/>
          </a:bodyPr>
          <a:lstStyle/>
          <a:p>
            <a:r>
              <a:rPr lang="zh-CN" altLang="en-US" dirty="0"/>
              <a:t>近邻成分分析（</a:t>
            </a:r>
            <a:r>
              <a:rPr lang="en-US" altLang="zh-CN" dirty="0"/>
              <a:t>NCA</a:t>
            </a:r>
            <a:r>
              <a:rPr lang="zh-CN" altLang="en-US" dirty="0"/>
              <a:t>）</a:t>
            </a:r>
            <a:endParaRPr lang="zh-CN" altLang="en-US" dirty="0"/>
          </a:p>
        </p:txBody>
      </p:sp>
      <p:sp>
        <p:nvSpPr>
          <p:cNvPr id="3" name="文本框 68"/>
          <p:cNvSpPr txBox="1"/>
          <p:nvPr/>
        </p:nvSpPr>
        <p:spPr>
          <a:xfrm>
            <a:off x="635000" y="866433"/>
            <a:ext cx="11252200" cy="5735737"/>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b="1" u="sng">
                <a:latin typeface="微软雅黑" panose="020B0503020204020204" pitchFamily="34" charset="-122"/>
                <a:ea typeface="微软雅黑" panose="020B0503020204020204" pitchFamily="34" charset="-122"/>
              </a:rPr>
              <a:t>将监督学习性能指标（正确率）作为度量学习优化目标</a:t>
            </a:r>
            <a:r>
              <a:rPr lang="zh-CN" altLang="en-US">
                <a:latin typeface="微软雅黑" panose="020B0503020204020204" pitchFamily="34" charset="-122"/>
                <a:ea typeface="微软雅黑" panose="020B0503020204020204" pitchFamily="34" charset="-122"/>
              </a:rPr>
              <a:t>，求解矩阵</a:t>
            </a:r>
            <a:r>
              <a:rPr lang="en-US" altLang="zh-CN">
                <a:latin typeface="微软雅黑" panose="020B0503020204020204" pitchFamily="34" charset="-122"/>
                <a:ea typeface="微软雅黑" panose="020B0503020204020204" pitchFamily="34" charset="-122"/>
              </a:rPr>
              <a:t>M</a:t>
            </a:r>
            <a:r>
              <a:rPr lang="zh-CN" altLang="en-US">
                <a:latin typeface="微软雅黑" panose="020B0503020204020204" pitchFamily="34" charset="-122"/>
                <a:ea typeface="微软雅黑" panose="020B0503020204020204" pitchFamily="34" charset="-122"/>
              </a:rPr>
              <a:t>，以近邻成分分析方法为例</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近邻分类器在进行判别时通常使用多数投票法，邻域中的每个样本投 </a:t>
            </a: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票，邻域外的样本投 </a:t>
            </a:r>
            <a:r>
              <a:rPr lang="en-US" altLang="zh-CN" dirty="0">
                <a:latin typeface="微软雅黑" panose="020B0503020204020204" pitchFamily="34" charset="-122"/>
                <a:ea typeface="微软雅黑" panose="020B0503020204020204" pitchFamily="34" charset="-122"/>
              </a:rPr>
              <a:t>0 </a:t>
            </a:r>
            <a:r>
              <a:rPr lang="zh-CN" altLang="en-US" dirty="0">
                <a:latin typeface="微软雅黑" panose="020B0503020204020204" pitchFamily="34" charset="-122"/>
                <a:ea typeface="微软雅黑" panose="020B0503020204020204" pitchFamily="34" charset="-122"/>
              </a:rPr>
              <a:t>票。不妨将其替换为概率投票法，对于任意样本</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j</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，它对</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分类结果影响的概率为</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以留一法正确率的最大化为目标，则计算</a:t>
            </a:r>
            <a:r>
              <a:rPr lang="en-US" altLang="zh-CN" dirty="0">
                <a:latin typeface="微软雅黑" panose="020B0503020204020204" pitchFamily="34" charset="-122"/>
                <a:ea typeface="微软雅黑" panose="020B0503020204020204" pitchFamily="34" charset="-122"/>
              </a:rPr>
              <a:t>xi</a:t>
            </a:r>
            <a:r>
              <a:rPr lang="zh-CN" altLang="en-US" dirty="0">
                <a:latin typeface="微软雅黑" panose="020B0503020204020204" pitchFamily="34" charset="-122"/>
                <a:ea typeface="微软雅黑" panose="020B0503020204020204" pitchFamily="34" charset="-122"/>
              </a:rPr>
              <a:t>的留一法正确率，即它被自身之外的所有样本正确分类的概率为</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其中，向表示与 </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 </a:t>
            </a:r>
            <a:r>
              <a:rPr lang="zh-CN" altLang="en-US" dirty="0">
                <a:latin typeface="微软雅黑" panose="020B0503020204020204" pitchFamily="34" charset="-122"/>
                <a:ea typeface="微软雅黑" panose="020B0503020204020204" pitchFamily="34" charset="-122"/>
              </a:rPr>
              <a:t>属于相同类别的样本的下标集合。因此，整个样本集上的正确率为</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将</a:t>
            </a:r>
            <a:r>
              <a:rPr lang="en-US" altLang="zh-CN" i="1" dirty="0">
                <a:latin typeface="微软雅黑" panose="020B0503020204020204" pitchFamily="34" charset="-122"/>
                <a:ea typeface="微软雅黑" panose="020B0503020204020204" pitchFamily="34" charset="-122"/>
              </a:rPr>
              <a:t>p</a:t>
            </a:r>
            <a:r>
              <a:rPr lang="en-US" altLang="zh-CN" i="1" baseline="-25000" dirty="0">
                <a:latin typeface="微软雅黑" panose="020B0503020204020204" pitchFamily="34" charset="-122"/>
                <a:ea typeface="微软雅黑" panose="020B0503020204020204" pitchFamily="34" charset="-122"/>
              </a:rPr>
              <a:t>ij</a:t>
            </a:r>
            <a:r>
              <a:rPr lang="zh-CN" altLang="en-US" i="1" baseline="-25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代入到上式，再考虑到</a:t>
            </a:r>
            <a:r>
              <a:rPr lang="en-US" altLang="zh-CN" dirty="0">
                <a:latin typeface="微软雅黑" panose="020B0503020204020204" pitchFamily="34" charset="-122"/>
                <a:ea typeface="微软雅黑" panose="020B0503020204020204" pitchFamily="34" charset="-122"/>
              </a:rPr>
              <a:t>M=PP</a:t>
            </a:r>
            <a:r>
              <a:rPr lang="en-US" altLang="zh-CN" baseline="30000"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，则</a:t>
            </a:r>
            <a:r>
              <a:rPr lang="en-US" altLang="zh-CN" dirty="0">
                <a:latin typeface="微软雅黑" panose="020B0503020204020204" pitchFamily="34" charset="-122"/>
                <a:ea typeface="微软雅黑" panose="020B0503020204020204" pitchFamily="34" charset="-122"/>
              </a:rPr>
              <a:t>NCA</a:t>
            </a:r>
            <a:r>
              <a:rPr lang="zh-CN" altLang="en-US" dirty="0">
                <a:latin typeface="微软雅黑" panose="020B0503020204020204" pitchFamily="34" charset="-122"/>
                <a:ea typeface="微软雅黑" panose="020B0503020204020204" pitchFamily="34" charset="-122"/>
              </a:rPr>
              <a:t>的优化目标转化为求解错误率：</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经过最大化近似分类器的正确率可获得矩阵</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，进而获得距离度量矩阵</a:t>
            </a:r>
            <a:r>
              <a:rPr lang="en-US" altLang="zh-CN" dirty="0">
                <a:latin typeface="微软雅黑" panose="020B0503020204020204" pitchFamily="34" charset="-122"/>
                <a:ea typeface="微软雅黑" panose="020B0503020204020204" pitchFamily="34" charset="-122"/>
              </a:rPr>
              <a:t>M</a:t>
            </a:r>
            <a:endParaRPr lang="en-US" altLang="zh-CN"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4752375" y="2176650"/>
            <a:ext cx="3080524" cy="969505"/>
          </a:xfrm>
          <a:prstGeom prst="rect">
            <a:avLst/>
          </a:prstGeom>
        </p:spPr>
      </p:pic>
      <p:pic>
        <p:nvPicPr>
          <p:cNvPr id="6" name="图片 5"/>
          <p:cNvPicPr>
            <a:picLocks noChangeAspect="1"/>
          </p:cNvPicPr>
          <p:nvPr/>
        </p:nvPicPr>
        <p:blipFill>
          <a:blip r:embed="rId3"/>
          <a:stretch>
            <a:fillRect/>
          </a:stretch>
        </p:blipFill>
        <p:spPr>
          <a:xfrm>
            <a:off x="5783650" y="3740904"/>
            <a:ext cx="1651000" cy="584200"/>
          </a:xfrm>
          <a:prstGeom prst="rect">
            <a:avLst/>
          </a:prstGeom>
        </p:spPr>
      </p:pic>
      <p:pic>
        <p:nvPicPr>
          <p:cNvPr id="7" name="图片 6"/>
          <p:cNvPicPr>
            <a:picLocks noChangeAspect="1"/>
          </p:cNvPicPr>
          <p:nvPr/>
        </p:nvPicPr>
        <p:blipFill>
          <a:blip r:embed="rId4"/>
          <a:stretch>
            <a:fillRect/>
          </a:stretch>
        </p:blipFill>
        <p:spPr>
          <a:xfrm>
            <a:off x="4729550" y="5140667"/>
            <a:ext cx="3759200" cy="8509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利用相似度计算</a:t>
            </a:r>
            <a:r>
              <a:rPr lang="en-US" altLang="zh-CN" dirty="0"/>
              <a:t>M</a:t>
            </a:r>
            <a:endParaRPr lang="zh-CN" altLang="en-US" dirty="0"/>
          </a:p>
        </p:txBody>
      </p:sp>
      <p:pic>
        <p:nvPicPr>
          <p:cNvPr id="4" name="图片 3"/>
          <p:cNvPicPr>
            <a:picLocks noChangeAspect="1"/>
          </p:cNvPicPr>
          <p:nvPr/>
        </p:nvPicPr>
        <p:blipFill>
          <a:blip r:embed="rId1"/>
          <a:stretch>
            <a:fillRect/>
          </a:stretch>
        </p:blipFill>
        <p:spPr>
          <a:xfrm>
            <a:off x="652849" y="988287"/>
            <a:ext cx="11420347" cy="515851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l="277" t="-376" r="1097" b="376"/>
          <a:stretch>
            <a:fillRect/>
          </a:stretch>
        </p:blipFill>
        <p:spPr>
          <a:xfrm>
            <a:off x="1524000" y="-32458"/>
            <a:ext cx="9144000" cy="6890458"/>
          </a:xfrm>
          <a:prstGeom prst="rect">
            <a:avLst/>
          </a:prstGeom>
        </p:spPr>
      </p:pic>
      <p:sp>
        <p:nvSpPr>
          <p:cNvPr id="5" name="矩形 4"/>
          <p:cNvSpPr/>
          <p:nvPr/>
        </p:nvSpPr>
        <p:spPr>
          <a:xfrm>
            <a:off x="1524000" y="4086226"/>
            <a:ext cx="9144000" cy="2771774"/>
          </a:xfrm>
          <a:prstGeom prst="rect">
            <a:avLst/>
          </a:prstGeom>
          <a:solidFill>
            <a:srgbClr val="002060"/>
          </a:solidFill>
          <a:ln>
            <a:noFill/>
          </a:ln>
          <a:effectLst>
            <a:innerShdw blurRad="152400" dist="2540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66640" y="1641342"/>
            <a:ext cx="4072461" cy="2260865"/>
          </a:xfrm>
          <a:prstGeom prst="rect">
            <a:avLst/>
          </a:prstGeom>
          <a:effectLst>
            <a:innerShdw blurRad="63500" dist="50800" dir="13500000">
              <a:prstClr val="black">
                <a:alpha val="50000"/>
              </a:prstClr>
            </a:innerShdw>
          </a:effectLst>
        </p:spPr>
      </p:pic>
      <p:pic>
        <p:nvPicPr>
          <p:cNvPr id="7" name="图片 6"/>
          <p:cNvPicPr>
            <a:picLocks noChangeAspect="1"/>
          </p:cNvPicPr>
          <p:nvPr/>
        </p:nvPicPr>
        <p:blipFill rotWithShape="1">
          <a:blip r:embed="rId3" cstate="print">
            <a:extLst>
              <a:ext uri="{BEBA8EAE-BF5A-486C-A8C5-ECC9F3942E4B}">
                <a14:imgProps xmlns:a14="http://schemas.microsoft.com/office/drawing/2010/main">
                  <a14:imgLayer r:embed="rId4">
                    <a14:imgEffect>
                      <a14:artisticPhotocopy trans="30000" detail="2"/>
                    </a14:imgEffect>
                    <a14:imgEffect>
                      <a14:saturation sat="33000"/>
                    </a14:imgEffect>
                  </a14:imgLayer>
                </a14:imgProps>
              </a:ext>
              <a:ext uri="{28A0092B-C50C-407E-A947-70E740481C1C}">
                <a14:useLocalDpi xmlns:a14="http://schemas.microsoft.com/office/drawing/2010/main" val="0"/>
              </a:ext>
            </a:extLst>
          </a:blip>
          <a:srcRect l="2371" t="23333" r="16751"/>
          <a:stretch>
            <a:fillRect/>
          </a:stretch>
        </p:blipFill>
        <p:spPr>
          <a:xfrm>
            <a:off x="7502451" y="-32458"/>
            <a:ext cx="3531454" cy="3347597"/>
          </a:xfrm>
          <a:prstGeom prst="rect">
            <a:avLst/>
          </a:prstGeom>
          <a:ln>
            <a:noFill/>
          </a:ln>
          <a:effectLst/>
        </p:spPr>
      </p:pic>
      <p:pic>
        <p:nvPicPr>
          <p:cNvPr id="8" name="图片 7"/>
          <p:cNvPicPr>
            <a:picLocks noChangeAspect="1"/>
          </p:cNvPicPr>
          <p:nvPr/>
        </p:nvPicPr>
        <p:blipFill>
          <a:blip r:embed="rId5" cstate="print">
            <a:grayscl/>
            <a:extLst>
              <a:ext uri="{BEBA8EAE-BF5A-486C-A8C5-ECC9F3942E4B}">
                <a14:imgProps xmlns:a14="http://schemas.microsoft.com/office/drawing/2010/main">
                  <a14:imgLayer r:embed="rId6">
                    <a14:imgEffect>
                      <a14:artisticChalkSketch/>
                    </a14:imgEffect>
                  </a14:imgLayer>
                </a14:imgProps>
              </a:ext>
              <a:ext uri="{28A0092B-C50C-407E-A947-70E740481C1C}">
                <a14:useLocalDpi xmlns:a14="http://schemas.microsoft.com/office/drawing/2010/main" val="0"/>
              </a:ext>
            </a:extLst>
          </a:blip>
          <a:stretch>
            <a:fillRect/>
          </a:stretch>
        </p:blipFill>
        <p:spPr>
          <a:xfrm>
            <a:off x="9116313" y="627102"/>
            <a:ext cx="931677" cy="933189"/>
          </a:xfrm>
          <a:prstGeom prst="rect">
            <a:avLst/>
          </a:prstGeom>
          <a:effectLst>
            <a:innerShdw blurRad="114300">
              <a:prstClr val="black"/>
            </a:innerShdw>
          </a:effectLst>
        </p:spPr>
      </p:pic>
      <p:pic>
        <p:nvPicPr>
          <p:cNvPr id="9" name="图片 8"/>
          <p:cNvPicPr>
            <a:picLocks noChangeAspect="1"/>
          </p:cNvPicPr>
          <p:nvPr/>
        </p:nvPicPr>
        <p:blipFill rotWithShape="1">
          <a:blip r:embed="rId7" cstate="print">
            <a:extLst>
              <a:ext uri="{28A0092B-C50C-407E-A947-70E740481C1C}">
                <a14:useLocalDpi xmlns:a14="http://schemas.microsoft.com/office/drawing/2010/main" val="0"/>
              </a:ext>
            </a:extLst>
          </a:blip>
          <a:srcRect t="11218" r="55688" b="42178"/>
          <a:stretch>
            <a:fillRect/>
          </a:stretch>
        </p:blipFill>
        <p:spPr>
          <a:xfrm flipH="1">
            <a:off x="2144011" y="535715"/>
            <a:ext cx="1118396" cy="1422400"/>
          </a:xfrm>
          <a:prstGeom prst="rect">
            <a:avLst/>
          </a:prstGeom>
        </p:spPr>
      </p:pic>
      <p:pic>
        <p:nvPicPr>
          <p:cNvPr id="10" name="图片 9"/>
          <p:cNvPicPr>
            <a:picLocks noChangeAspect="1"/>
          </p:cNvPicPr>
          <p:nvPr/>
        </p:nvPicPr>
        <p:blipFill rotWithShape="1">
          <a:blip r:embed="rId8" cstate="print">
            <a:extLst>
              <a:ext uri="{28A0092B-C50C-407E-A947-70E740481C1C}">
                <a14:useLocalDpi xmlns:a14="http://schemas.microsoft.com/office/drawing/2010/main" val="0"/>
              </a:ext>
            </a:extLst>
          </a:blip>
          <a:srcRect l="15236" t="40799" r="31019" b="39942"/>
          <a:stretch>
            <a:fillRect/>
          </a:stretch>
        </p:blipFill>
        <p:spPr>
          <a:xfrm>
            <a:off x="7502451" y="1425949"/>
            <a:ext cx="3048000" cy="1320800"/>
          </a:xfrm>
          <a:prstGeom prst="rect">
            <a:avLst/>
          </a:prstGeom>
        </p:spPr>
      </p:pic>
      <p:sp>
        <p:nvSpPr>
          <p:cNvPr id="12" name="Shape 45"/>
          <p:cNvSpPr/>
          <p:nvPr/>
        </p:nvSpPr>
        <p:spPr>
          <a:xfrm>
            <a:off x="4314120" y="4411517"/>
            <a:ext cx="3807415" cy="707886"/>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dist"/>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3" name="组合 45"/>
          <p:cNvGrpSpPr/>
          <p:nvPr/>
        </p:nvGrpSpPr>
        <p:grpSpPr>
          <a:xfrm>
            <a:off x="2274880" y="5279073"/>
            <a:ext cx="7946680" cy="961289"/>
            <a:chOff x="2002264" y="3258103"/>
            <a:chExt cx="8187473" cy="961286"/>
          </a:xfrm>
        </p:grpSpPr>
        <p:sp>
          <p:nvSpPr>
            <p:cNvPr id="14" name="矩形 17"/>
            <p:cNvSpPr>
              <a:spLocks noChangeArrowheads="1"/>
            </p:cNvSpPr>
            <p:nvPr/>
          </p:nvSpPr>
          <p:spPr bwMode="auto">
            <a:xfrm>
              <a:off x="3866722" y="3258103"/>
              <a:ext cx="4395931" cy="96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吉林大学人工智能学院</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a:p>
              <a:pPr algn="ctr">
                <a:lnSpc>
                  <a:spcPct val="150000"/>
                </a:lnSpc>
              </a:pPr>
              <a:r>
                <a:rPr lang="zh-CN" altLang="en-US" sz="2000" b="1">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高一星</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p:txBody>
        </p:sp>
        <p:cxnSp>
          <p:nvCxnSpPr>
            <p:cNvPr id="15"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6"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9433</Words>
  <Application>WPS 演示</Application>
  <PresentationFormat>宽屏</PresentationFormat>
  <Paragraphs>546</Paragraphs>
  <Slides>52</Slides>
  <Notes>33</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6</vt:i4>
      </vt:variant>
      <vt:variant>
        <vt:lpstr>幻灯片标题</vt:lpstr>
      </vt:variant>
      <vt:variant>
        <vt:i4>52</vt:i4>
      </vt:variant>
    </vt:vector>
  </HeadingPairs>
  <TitlesOfParts>
    <vt:vector size="85" baseType="lpstr">
      <vt:lpstr>Arial</vt:lpstr>
      <vt:lpstr>宋体</vt:lpstr>
      <vt:lpstr>Wingdings</vt:lpstr>
      <vt:lpstr>Impact</vt:lpstr>
      <vt:lpstr>微软雅黑</vt:lpstr>
      <vt:lpstr>Calibri</vt:lpstr>
      <vt:lpstr>等线</vt:lpstr>
      <vt:lpstr>方正兰亭粗黑简体</vt:lpstr>
      <vt:lpstr>黑体</vt:lpstr>
      <vt:lpstr>方正粗黑宋简体</vt:lpstr>
      <vt:lpstr>方正兰亭特黑简体</vt:lpstr>
      <vt:lpstr>Arial Black</vt:lpstr>
      <vt:lpstr>Cambria Math</vt:lpstr>
      <vt:lpstr>Helvetica</vt:lpstr>
      <vt:lpstr>Arial Unicode MS</vt:lpstr>
      <vt:lpstr>等线 Light</vt:lpstr>
      <vt:lpstr>仿宋_GB2312</vt:lpstr>
      <vt:lpstr>Georgia</vt:lpstr>
      <vt:lpstr>Impact</vt:lpstr>
      <vt:lpstr>Wingdings</vt:lpstr>
      <vt:lpstr>方正兰亭特黑简体</vt:lpstr>
      <vt:lpstr>方正兰亭粗黑简体</vt:lpstr>
      <vt:lpstr>方正兰亭黑简体</vt:lpstr>
      <vt:lpstr>Helvetica LT Pro</vt:lpstr>
      <vt:lpstr>Marlett</vt:lpstr>
      <vt:lpstr>Times New Roman</vt:lpstr>
      <vt:lpstr>Office 主题​​</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K近邻学习</vt:lpstr>
      <vt:lpstr>K近邻学习</vt:lpstr>
      <vt:lpstr>K近邻学习</vt:lpstr>
      <vt:lpstr>最近邻分类器-误差界限</vt:lpstr>
      <vt:lpstr>PowerPoint 演示文稿</vt:lpstr>
      <vt:lpstr>特征值分解</vt:lpstr>
      <vt:lpstr>奇异值分解</vt:lpstr>
      <vt:lpstr>低维嵌入</vt:lpstr>
      <vt:lpstr>低维嵌入</vt:lpstr>
      <vt:lpstr>低维嵌入</vt:lpstr>
      <vt:lpstr>多维缩放（Multiple Dimensional Scaling）</vt:lpstr>
      <vt:lpstr>公式推导</vt:lpstr>
      <vt:lpstr>公式推导</vt:lpstr>
      <vt:lpstr>低维空间表示Z求解</vt:lpstr>
      <vt:lpstr>低维空间表示Z求解</vt:lpstr>
      <vt:lpstr>线性降维</vt:lpstr>
      <vt:lpstr>PowerPoint 演示文稿</vt:lpstr>
      <vt:lpstr>主成分分析(Principle Component Analysis，PCA)</vt:lpstr>
      <vt:lpstr>主成分分析(Principle Component Analysis，PCA)</vt:lpstr>
      <vt:lpstr>主成分分析(Principle Component Analysis，PCA)</vt:lpstr>
      <vt:lpstr>最近重构性</vt:lpstr>
      <vt:lpstr>最近重构性</vt:lpstr>
      <vt:lpstr>最大可分性</vt:lpstr>
      <vt:lpstr>最大可分性</vt:lpstr>
      <vt:lpstr>PowerPoint 演示文稿</vt:lpstr>
      <vt:lpstr>PCA算法及其性质</vt:lpstr>
      <vt:lpstr>主成分分析(Principle Component Analysis,PCA)</vt:lpstr>
      <vt:lpstr>PowerPoint 演示文稿</vt:lpstr>
      <vt:lpstr>核化线性降维</vt:lpstr>
      <vt:lpstr>核化线性降维（KPCA）</vt:lpstr>
      <vt:lpstr>核化线性降维（KPCA）</vt:lpstr>
      <vt:lpstr>核化线性降维（KPCA）</vt:lpstr>
      <vt:lpstr>PowerPoint 演示文稿</vt:lpstr>
      <vt:lpstr>流形学习</vt:lpstr>
      <vt:lpstr>等度量映射（Isomap）</vt:lpstr>
      <vt:lpstr>等度量映射（Isomap）</vt:lpstr>
      <vt:lpstr>等度量映射（Isomap）</vt:lpstr>
      <vt:lpstr>等度量映射（Isomap）</vt:lpstr>
      <vt:lpstr>局部线性嵌入(Locally Linear Embedding)</vt:lpstr>
      <vt:lpstr>局部线性嵌入(Locally Linear Embedding)</vt:lpstr>
      <vt:lpstr>局部线性嵌入(Locally Linear Embedding)</vt:lpstr>
      <vt:lpstr>局部线性嵌入(Locally Linear Embedding)</vt:lpstr>
      <vt:lpstr>局部线性嵌入(Locally Linear Embedding)</vt:lpstr>
      <vt:lpstr>PowerPoint 演示文稿</vt:lpstr>
      <vt:lpstr>度量学习</vt:lpstr>
      <vt:lpstr>度量学习</vt:lpstr>
      <vt:lpstr>近邻成分分析（NCA）</vt:lpstr>
      <vt:lpstr>利用相似度计算M</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鑫 王</dc:creator>
  <cp:lastModifiedBy>W.X.</cp:lastModifiedBy>
  <cp:revision>280</cp:revision>
  <dcterms:created xsi:type="dcterms:W3CDTF">2022-02-17T05:36:00Z</dcterms:created>
  <dcterms:modified xsi:type="dcterms:W3CDTF">2026-03-25T08:50:07Z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B0380CC763174AB2918CE3B503176FCC_12</vt:lpwstr>
  </property>
  <property fmtid="{D5CDD505-2E9C-101B-9397-08002B2CF9AE}" pid="3" name="KSOProductBuildVer">
    <vt:lpwstr>2052-12.1.0.25222</vt:lpwstr>
  </property>
</Properties>
</file>
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1314" r:id="rId3"/>
    <p:sldId id="1317" r:id="rId5"/>
    <p:sldId id="1271" r:id="rId6"/>
    <p:sldId id="918" r:id="rId7"/>
    <p:sldId id="1041" r:id="rId8"/>
    <p:sldId id="1086" r:id="rId9"/>
    <p:sldId id="1318" r:id="rId10"/>
    <p:sldId id="1319" r:id="rId11"/>
    <p:sldId id="1095" r:id="rId12"/>
    <p:sldId id="1039" r:id="rId13"/>
    <p:sldId id="1040" r:id="rId14"/>
    <p:sldId id="935" r:id="rId15"/>
    <p:sldId id="1038" r:id="rId16"/>
    <p:sldId id="1302" r:id="rId17"/>
    <p:sldId id="1300" r:id="rId18"/>
    <p:sldId id="1301" r:id="rId19"/>
    <p:sldId id="1299" r:id="rId20"/>
    <p:sldId id="1270" r:id="rId21"/>
    <p:sldId id="1049" r:id="rId22"/>
    <p:sldId id="1094" r:id="rId23"/>
    <p:sldId id="1050" r:id="rId24"/>
    <p:sldId id="1093" r:id="rId25"/>
    <p:sldId id="937" r:id="rId26"/>
    <p:sldId id="1153" r:id="rId27"/>
    <p:sldId id="1056" r:id="rId28"/>
    <p:sldId id="1057" r:id="rId29"/>
    <p:sldId id="1060" r:id="rId30"/>
    <p:sldId id="1155" r:id="rId31"/>
    <p:sldId id="1315" r:id="rId32"/>
    <p:sldId id="1087" r:id="rId33"/>
    <p:sldId id="1269" r:id="rId34"/>
    <p:sldId id="1268" r:id="rId35"/>
    <p:sldId id="1287" r:id="rId36"/>
    <p:sldId id="1290" r:id="rId37"/>
    <p:sldId id="1289" r:id="rId38"/>
    <p:sldId id="1088" r:id="rId39"/>
    <p:sldId id="1150" r:id="rId40"/>
    <p:sldId id="1303" r:id="rId41"/>
    <p:sldId id="1266" r:id="rId42"/>
    <p:sldId id="1292" r:id="rId43"/>
    <p:sldId id="1316" r:id="rId44"/>
    <p:sldId id="1295" r:id="rId45"/>
    <p:sldId id="1291" r:id="rId46"/>
    <p:sldId id="1288" r:id="rId47"/>
    <p:sldId id="447" r:id="rId48"/>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90204" pitchFamily="34" charset="0"/>
        <a:ea typeface="+mn-ea"/>
        <a:cs typeface="Arial" panose="020B0604020202090204" pitchFamily="34" charset="0"/>
      </a:defRPr>
    </a:lvl1pPr>
    <a:lvl2pPr marL="457200" algn="l" rtl="0" eaLnBrk="0" fontAlgn="base" hangingPunct="0">
      <a:spcBef>
        <a:spcPct val="0"/>
      </a:spcBef>
      <a:spcAft>
        <a:spcPct val="0"/>
      </a:spcAft>
      <a:defRPr kern="1200">
        <a:solidFill>
          <a:schemeClr val="tx1"/>
        </a:solidFill>
        <a:latin typeface="Arial" panose="020B0604020202090204" pitchFamily="34" charset="0"/>
        <a:ea typeface="+mn-ea"/>
        <a:cs typeface="Arial" panose="020B0604020202090204" pitchFamily="34" charset="0"/>
      </a:defRPr>
    </a:lvl2pPr>
    <a:lvl3pPr marL="914400" algn="l" rtl="0" eaLnBrk="0" fontAlgn="base" hangingPunct="0">
      <a:spcBef>
        <a:spcPct val="0"/>
      </a:spcBef>
      <a:spcAft>
        <a:spcPct val="0"/>
      </a:spcAft>
      <a:defRPr kern="1200">
        <a:solidFill>
          <a:schemeClr val="tx1"/>
        </a:solidFill>
        <a:latin typeface="Arial" panose="020B0604020202090204" pitchFamily="34" charset="0"/>
        <a:ea typeface="+mn-ea"/>
        <a:cs typeface="Arial" panose="020B0604020202090204" pitchFamily="34" charset="0"/>
      </a:defRPr>
    </a:lvl3pPr>
    <a:lvl4pPr marL="1371600" algn="l" rtl="0" eaLnBrk="0" fontAlgn="base" hangingPunct="0">
      <a:spcBef>
        <a:spcPct val="0"/>
      </a:spcBef>
      <a:spcAft>
        <a:spcPct val="0"/>
      </a:spcAft>
      <a:defRPr kern="1200">
        <a:solidFill>
          <a:schemeClr val="tx1"/>
        </a:solidFill>
        <a:latin typeface="Arial" panose="020B0604020202090204" pitchFamily="34" charset="0"/>
        <a:ea typeface="+mn-ea"/>
        <a:cs typeface="Arial" panose="020B0604020202090204" pitchFamily="34" charset="0"/>
      </a:defRPr>
    </a:lvl4pPr>
    <a:lvl5pPr marL="1828800" algn="l" rtl="0" eaLnBrk="0" fontAlgn="base" hangingPunct="0">
      <a:spcBef>
        <a:spcPct val="0"/>
      </a:spcBef>
      <a:spcAft>
        <a:spcPct val="0"/>
      </a:spcAft>
      <a:defRPr kern="1200">
        <a:solidFill>
          <a:schemeClr val="tx1"/>
        </a:solidFill>
        <a:latin typeface="Arial" panose="020B0604020202090204" pitchFamily="34" charset="0"/>
        <a:ea typeface="+mn-ea"/>
        <a:cs typeface="Arial" panose="020B0604020202090204" pitchFamily="34" charset="0"/>
      </a:defRPr>
    </a:lvl5pPr>
    <a:lvl6pPr marL="2286000" algn="l" defTabSz="914400" rtl="0" eaLnBrk="1" latinLnBrk="0" hangingPunct="1">
      <a:defRPr kern="1200">
        <a:solidFill>
          <a:schemeClr val="tx1"/>
        </a:solidFill>
        <a:latin typeface="Arial" panose="020B0604020202090204" pitchFamily="34" charset="0"/>
        <a:ea typeface="+mn-ea"/>
        <a:cs typeface="Arial" panose="020B0604020202090204" pitchFamily="34" charset="0"/>
      </a:defRPr>
    </a:lvl6pPr>
    <a:lvl7pPr marL="2743200" algn="l" defTabSz="914400" rtl="0" eaLnBrk="1" latinLnBrk="0" hangingPunct="1">
      <a:defRPr kern="1200">
        <a:solidFill>
          <a:schemeClr val="tx1"/>
        </a:solidFill>
        <a:latin typeface="Arial" panose="020B0604020202090204" pitchFamily="34" charset="0"/>
        <a:ea typeface="+mn-ea"/>
        <a:cs typeface="Arial" panose="020B0604020202090204" pitchFamily="34" charset="0"/>
      </a:defRPr>
    </a:lvl7pPr>
    <a:lvl8pPr marL="3200400" algn="l" defTabSz="914400" rtl="0" eaLnBrk="1" latinLnBrk="0" hangingPunct="1">
      <a:defRPr kern="1200">
        <a:solidFill>
          <a:schemeClr val="tx1"/>
        </a:solidFill>
        <a:latin typeface="Arial" panose="020B0604020202090204" pitchFamily="34" charset="0"/>
        <a:ea typeface="+mn-ea"/>
        <a:cs typeface="Arial" panose="020B0604020202090204" pitchFamily="34" charset="0"/>
      </a:defRPr>
    </a:lvl8pPr>
    <a:lvl9pPr marL="3657600" algn="l" defTabSz="914400" rtl="0" eaLnBrk="1" latinLnBrk="0" hangingPunct="1">
      <a:defRPr kern="1200">
        <a:solidFill>
          <a:schemeClr val="tx1"/>
        </a:solidFill>
        <a:latin typeface="Arial" panose="020B0604020202090204" pitchFamily="34" charset="0"/>
        <a:ea typeface="+mn-ea"/>
        <a:cs typeface="Arial" panose="020B0604020202090204"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郑 鹏" initials="郑" lastIdx="6"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B641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29" autoAdjust="0"/>
    <p:restoredTop sz="86627" autoAdjust="0"/>
  </p:normalViewPr>
  <p:slideViewPr>
    <p:cSldViewPr showGuides="1">
      <p:cViewPr varScale="1">
        <p:scale>
          <a:sx n="90" d="100"/>
          <a:sy n="90" d="100"/>
        </p:scale>
        <p:origin x="702" y="54"/>
      </p:cViewPr>
      <p:guideLst>
        <p:guide orient="horz" pos="2160"/>
        <p:guide pos="3840"/>
      </p:guideLst>
    </p:cSldViewPr>
  </p:slideViewPr>
  <p:notesTextViewPr>
    <p:cViewPr>
      <p:scale>
        <a:sx n="3" d="2"/>
        <a:sy n="3" d="2"/>
      </p:scale>
      <p:origin x="0" y="0"/>
    </p:cViewPr>
  </p:notesTextViewPr>
  <p:sorterViewPr>
    <p:cViewPr>
      <p:scale>
        <a:sx n="66" d="100"/>
        <a:sy n="66" d="100"/>
      </p:scale>
      <p:origin x="0" y="0"/>
    </p:cViewPr>
  </p:sorterViewPr>
  <p:notesViewPr>
    <p:cSldViewPr>
      <p:cViewPr varScale="1">
        <p:scale>
          <a:sx n="55" d="100"/>
          <a:sy n="55" d="100"/>
        </p:scale>
        <p:origin x="2880" y="90"/>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2" Type="http://schemas.openxmlformats.org/officeDocument/2006/relationships/commentAuthors" Target="commentAuthors.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 Target="slides/slide2.xml"/><Relationship Id="rId49" Type="http://schemas.openxmlformats.org/officeDocument/2006/relationships/presProps" Target="presProps.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lstStyle>
            <a:lvl1pPr eaLnBrk="1" hangingPunct="1">
              <a:defRPr sz="1200">
                <a:latin typeface="Calibri" panose="020F0502020204030204" pitchFamily="34" charset="0"/>
              </a:defRPr>
            </a:lvl1pPr>
          </a:lstStyle>
          <a:p>
            <a:pPr>
              <a:defRPr/>
            </a:pPr>
            <a:endParaRPr lang="zh-CN" altLang="zh-CN"/>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lstStyle>
            <a:lvl1pPr algn="r" eaLnBrk="1" hangingPunct="1">
              <a:defRPr sz="1200">
                <a:latin typeface="Calibri" panose="020F0502020204030204" pitchFamily="34" charset="0"/>
              </a:defRPr>
            </a:lvl1pPr>
          </a:lstStyle>
          <a:p>
            <a:pPr>
              <a:defRPr/>
            </a:pPr>
            <a:fld id="{683E5292-C197-4B29-8ABD-C7AEB5E0B154}" type="datetimeFigureOut">
              <a:rPr lang="en-US" altLang="zh-CN"/>
            </a:fld>
            <a:endParaRPr lang="en-US" altLang="zh-C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lstStyle>
            <a:lvl1pPr eaLnBrk="1" hangingPunct="1">
              <a:defRPr sz="1200">
                <a:latin typeface="Calibri" panose="020F0502020204030204" pitchFamily="34" charset="0"/>
              </a:defRPr>
            </a:lvl1pPr>
          </a:lstStyle>
          <a:p>
            <a:pPr>
              <a:defRPr/>
            </a:pPr>
            <a:endParaRPr lang="zh-CN" alt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atin typeface="Calibri" panose="020F0502020204030204" pitchFamily="34" charset="0"/>
              </a:defRPr>
            </a:lvl1pPr>
          </a:lstStyle>
          <a:p>
            <a:pPr>
              <a:defRPr/>
            </a:pPr>
            <a:fld id="{B4C119E0-CEE4-4FF8-83B2-DC856A2C17CC}"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en.wikipedia.org/wiki/EM_clustering" TargetMode="External"/><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CA" dirty="0"/>
              <a:t>30mins</a:t>
            </a:r>
            <a:endParaRPr lang="en-CA" dirty="0"/>
          </a:p>
        </p:txBody>
      </p:sp>
      <p:sp>
        <p:nvSpPr>
          <p:cNvPr id="4" name="Slide Number Placeholder 3"/>
          <p:cNvSpPr>
            <a:spLocks noGrp="1"/>
          </p:cNvSpPr>
          <p:nvPr>
            <p:ph type="sldNum" sz="quarter" idx="10"/>
          </p:nvPr>
        </p:nvSpPr>
        <p:spPr/>
        <p:txBody>
          <a:bodyPr/>
          <a:lstStyle/>
          <a:p>
            <a:fld id="{064F4047-4078-4824-BA43-550E26D73261}" type="slidenum">
              <a:rPr lang="en-CA" smtClean="0"/>
            </a:fld>
            <a:endParaRPr lang="en-CA"/>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间接因果关系（图</a:t>
            </a:r>
            <a:r>
              <a:rPr lang="en-US" altLang="zh-CN" dirty="0"/>
              <a:t>11.2a</a:t>
            </a:r>
            <a:r>
              <a:rPr lang="zh-CN" altLang="en-US" dirty="0"/>
              <a:t>） 在已知</a:t>
            </a:r>
            <a:r>
              <a:rPr lang="en-US" altLang="zh-CN" dirty="0"/>
              <a:t>x 2 </a:t>
            </a:r>
            <a:r>
              <a:rPr lang="zh-CN" altLang="en-US" dirty="0"/>
              <a:t>时，</a:t>
            </a:r>
            <a:r>
              <a:rPr lang="en-US" altLang="zh-CN" dirty="0"/>
              <a:t>x 1 </a:t>
            </a:r>
            <a:r>
              <a:rPr lang="zh-CN" altLang="en-US" dirty="0"/>
              <a:t>和</a:t>
            </a:r>
            <a:r>
              <a:rPr lang="en-US" altLang="zh-CN" dirty="0"/>
              <a:t>x 3 </a:t>
            </a:r>
            <a:r>
              <a:rPr lang="zh-CN" altLang="en-US" dirty="0"/>
              <a:t>为条件独立；</a:t>
            </a:r>
            <a:endParaRPr lang="zh-CN" altLang="en-US" dirty="0"/>
          </a:p>
          <a:p>
            <a:r>
              <a:rPr lang="zh-CN" altLang="en-US" dirty="0"/>
              <a:t>间接果因关系（图</a:t>
            </a:r>
            <a:r>
              <a:rPr lang="en-US" altLang="zh-CN" dirty="0"/>
              <a:t>11.2b</a:t>
            </a:r>
            <a:r>
              <a:rPr lang="zh-CN" altLang="en-US" dirty="0"/>
              <a:t>） 在已知</a:t>
            </a:r>
            <a:r>
              <a:rPr lang="en-US" altLang="zh-CN" dirty="0"/>
              <a:t>x 2 </a:t>
            </a:r>
            <a:r>
              <a:rPr lang="zh-CN" altLang="en-US" dirty="0"/>
              <a:t>时，</a:t>
            </a:r>
            <a:r>
              <a:rPr lang="en-US" altLang="zh-CN" dirty="0"/>
              <a:t>x 1 </a:t>
            </a:r>
            <a:r>
              <a:rPr lang="zh-CN" altLang="en-US" dirty="0"/>
              <a:t>和</a:t>
            </a:r>
            <a:r>
              <a:rPr lang="en-US" altLang="zh-CN" dirty="0"/>
              <a:t>x 3 </a:t>
            </a:r>
            <a:r>
              <a:rPr lang="zh-CN" altLang="en-US" dirty="0"/>
              <a:t>为条件独立；</a:t>
            </a:r>
            <a:endParaRPr lang="zh-CN" altLang="en-US" dirty="0"/>
          </a:p>
          <a:p>
            <a:r>
              <a:rPr lang="zh-CN" altLang="en-US" dirty="0"/>
              <a:t>共因关系（图</a:t>
            </a:r>
            <a:r>
              <a:rPr lang="en-US" altLang="zh-CN" dirty="0"/>
              <a:t>11.2c</a:t>
            </a:r>
            <a:r>
              <a:rPr lang="zh-CN" altLang="en-US" dirty="0"/>
              <a:t>） </a:t>
            </a:r>
            <a:r>
              <a:rPr lang="en-US" altLang="zh-CN" dirty="0"/>
              <a:t>x 1 </a:t>
            </a:r>
            <a:r>
              <a:rPr lang="zh-CN" altLang="en-US" dirty="0"/>
              <a:t>和 </a:t>
            </a:r>
            <a:r>
              <a:rPr lang="en-US" altLang="zh-CN" dirty="0"/>
              <a:t>x 3 </a:t>
            </a:r>
            <a:r>
              <a:rPr lang="zh-CN" altLang="en-US" dirty="0"/>
              <a:t>是不独立的，在已知</a:t>
            </a:r>
            <a:r>
              <a:rPr lang="en-US" altLang="zh-CN" dirty="0"/>
              <a:t>x 2 </a:t>
            </a:r>
            <a:r>
              <a:rPr lang="zh-CN" altLang="en-US" dirty="0"/>
              <a:t>时，</a:t>
            </a:r>
            <a:r>
              <a:rPr lang="en-US" altLang="zh-CN" dirty="0"/>
              <a:t>x 1 </a:t>
            </a:r>
            <a:r>
              <a:rPr lang="zh-CN" altLang="en-US" dirty="0"/>
              <a:t>和 </a:t>
            </a:r>
            <a:r>
              <a:rPr lang="en-US" altLang="zh-CN" dirty="0"/>
              <a:t>x 3 </a:t>
            </a:r>
            <a:r>
              <a:rPr lang="zh-CN" altLang="en-US" dirty="0"/>
              <a:t>条件独立；</a:t>
            </a:r>
            <a:endParaRPr lang="zh-CN" altLang="en-US" dirty="0"/>
          </a:p>
          <a:p>
            <a:r>
              <a:rPr lang="zh-CN" altLang="en-US" dirty="0"/>
              <a:t>共果关系（图</a:t>
            </a:r>
            <a:r>
              <a:rPr lang="en-US" altLang="zh-CN" dirty="0"/>
              <a:t>11.2d</a:t>
            </a:r>
            <a:r>
              <a:rPr lang="zh-CN" altLang="en-US" dirty="0"/>
              <a:t>） </a:t>
            </a:r>
            <a:r>
              <a:rPr lang="en-US" altLang="zh-CN" dirty="0"/>
              <a:t>x 1 </a:t>
            </a:r>
            <a:r>
              <a:rPr lang="zh-CN" altLang="en-US" dirty="0"/>
              <a:t>和 </a:t>
            </a:r>
            <a:r>
              <a:rPr lang="en-US" altLang="zh-CN" dirty="0"/>
              <a:t>x 3 </a:t>
            </a:r>
            <a:r>
              <a:rPr lang="zh-CN" altLang="en-US" dirty="0"/>
              <a:t>是独立的，在已知</a:t>
            </a:r>
            <a:r>
              <a:rPr lang="en-US" altLang="zh-CN" dirty="0"/>
              <a:t>x 2 </a:t>
            </a:r>
            <a:r>
              <a:rPr lang="zh-CN" altLang="en-US" dirty="0"/>
              <a:t>时，</a:t>
            </a:r>
            <a:r>
              <a:rPr lang="en-US" altLang="zh-CN" dirty="0"/>
              <a:t>x 1 </a:t>
            </a:r>
            <a:r>
              <a:rPr lang="zh-CN" altLang="en-US" dirty="0"/>
              <a:t>和 </a:t>
            </a:r>
            <a:r>
              <a:rPr lang="en-US" altLang="zh-CN" dirty="0"/>
              <a:t>x 3 </a:t>
            </a:r>
            <a:r>
              <a:rPr lang="zh-CN" altLang="en-US" dirty="0"/>
              <a:t>不独立</a:t>
            </a:r>
            <a:endParaRPr lang="zh-CN" altLang="en-US" dirty="0"/>
          </a:p>
        </p:txBody>
      </p:sp>
      <p:sp>
        <p:nvSpPr>
          <p:cNvPr id="4" name="灯片编号占位符 3"/>
          <p:cNvSpPr>
            <a:spLocks noGrp="1"/>
          </p:cNvSpPr>
          <p:nvPr>
            <p:ph type="sldNum" sz="quarter" idx="10"/>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每篇文章都是由多个“主题”混合而成的，而每个“主题”又是由一系列相关的“词语”组成的</a:t>
            </a:r>
            <a:endParaRPr lang="zh-CN" altLang="en-US"/>
          </a:p>
          <a:p>
            <a:endParaRPr lang="zh-CN" altLang="en-US"/>
          </a:p>
          <a:p>
            <a:r>
              <a:rPr lang="zh-CN" altLang="en-US"/>
              <a:t>这个模型实际上是在描述一个**“生成过程”**：</a:t>
            </a:r>
            <a:endParaRPr lang="zh-CN" altLang="en-US"/>
          </a:p>
          <a:p>
            <a:r>
              <a:rPr lang="zh-CN" altLang="en-US"/>
              <a:t>我们要写一篇文章，先从话题分布 (</a:t>
            </a:r>
            <a:endParaRPr lang="zh-CN" altLang="en-US"/>
          </a:p>
          <a:p>
            <a:r>
              <a:rPr lang="en-US" altLang="zh-CN"/>
              <a:t>θ</a:t>
            </a:r>
            <a:endParaRPr lang="en-US" altLang="zh-CN"/>
          </a:p>
          <a:p>
            <a:r>
              <a:rPr lang="en-US" altLang="zh-CN"/>
              <a:t>θ</a:t>
            </a:r>
            <a:endParaRPr lang="en-US" altLang="zh-CN"/>
          </a:p>
          <a:p>
            <a:r>
              <a:rPr lang="zh-CN" altLang="en-US"/>
              <a:t>) 里选一个主题。</a:t>
            </a:r>
            <a:endParaRPr lang="zh-CN" altLang="en-US"/>
          </a:p>
          <a:p>
            <a:r>
              <a:rPr lang="zh-CN" altLang="en-US"/>
              <a:t>选定主题后，根据该主题下的词频分布 (</a:t>
            </a:r>
            <a:endParaRPr lang="zh-CN" altLang="en-US"/>
          </a:p>
          <a:p>
            <a:r>
              <a:rPr lang="en-US" altLang="zh-CN"/>
              <a:t>β</a:t>
            </a:r>
            <a:endParaRPr lang="en-US" altLang="zh-CN"/>
          </a:p>
          <a:p>
            <a:r>
              <a:rPr lang="en-US" altLang="zh-CN"/>
              <a:t>β</a:t>
            </a:r>
            <a:endParaRPr lang="en-US" altLang="zh-CN"/>
          </a:p>
          <a:p>
            <a:r>
              <a:rPr lang="zh-CN" altLang="en-US"/>
              <a:t>) 选出一个具体的词语。</a:t>
            </a:r>
            <a:endParaRPr lang="zh-CN" altLang="en-US"/>
          </a:p>
          <a:p>
            <a:r>
              <a:rPr lang="zh-CN" altLang="en-US"/>
              <a:t>不断重复这个过程，直到写完一篇文章</a:t>
            </a:r>
            <a:br>
              <a:rPr lang="zh-CN" altLang="en-US"/>
            </a:b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简单来说，它研究的是：在一组相互关联的随机变量中，哪些变量之间有直接关系，哪些没有。</a:t>
            </a:r>
            <a:endParaRPr lang="zh-CN" altLang="en-US"/>
          </a:p>
          <a:p>
            <a:r>
              <a:rPr lang="zh-CN" altLang="en-US"/>
              <a:t>直观理解：想象你在一个社交圈里，你的行为只受你“直接邻居”（好朋友）的影响。一旦我们知道了你所有好朋友的状态，那么圈子里其他远房亲戚、陌生人的状态就和你没关系了</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t>、</a:t>
            </a:r>
            <a:endParaRPr 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最大团就是社交网络里那些“所有人互相都认识”的最紧密的小圈子。</a:t>
            </a:r>
            <a:endParaRPr lang="zh-CN" altLang="en-US"/>
          </a:p>
          <a:p>
            <a:r>
              <a:rPr lang="zh-CN" altLang="en-US"/>
              <a:t>每个势函数只定义在一个“最大团”上。这意味着，全局的复杂概率分布是由这些最紧密的小圈子内部的相互作用共同决定的。</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通常我们用指数形式和能量函数来表达这些关系，能量越低的情况越容易发生。</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CRF </a:t>
            </a:r>
            <a:r>
              <a:rPr lang="zh-CN" altLang="en-US" dirty="0"/>
              <a:t>不去建模整句话是怎么产生的，它只关心：在给定这句话 (</a:t>
            </a:r>
            <a:endParaRPr lang="zh-CN" altLang="en-US" dirty="0"/>
          </a:p>
          <a:p>
            <a:r>
              <a:rPr lang="en-US" altLang="zh-CN" dirty="0"/>
              <a:t>x</a:t>
            </a:r>
            <a:endParaRPr lang="en-US" altLang="zh-CN" dirty="0"/>
          </a:p>
          <a:p>
            <a:r>
              <a:rPr lang="en-US" altLang="zh-CN" dirty="0"/>
              <a:t>x</a:t>
            </a:r>
            <a:endParaRPr lang="en-US" altLang="zh-CN" dirty="0"/>
          </a:p>
          <a:p>
            <a:r>
              <a:rPr lang="zh-CN" altLang="en-US" dirty="0"/>
              <a:t>) 的前提下，哪种标签序列 (</a:t>
            </a:r>
            <a:endParaRPr lang="zh-CN" altLang="en-US" dirty="0"/>
          </a:p>
          <a:p>
            <a:r>
              <a:rPr lang="en-US" altLang="zh-CN" dirty="0"/>
              <a:t>y</a:t>
            </a:r>
            <a:endParaRPr lang="en-US" altLang="zh-CN" dirty="0"/>
          </a:p>
          <a:p>
            <a:r>
              <a:rPr lang="en-US" altLang="zh-CN" dirty="0"/>
              <a:t>y</a:t>
            </a:r>
            <a:endParaRPr lang="en-US" altLang="zh-CN" dirty="0"/>
          </a:p>
          <a:p>
            <a:r>
              <a:rPr lang="zh-CN" altLang="en-US" dirty="0"/>
              <a:t>) 的得分最高？ 这就是为什么它叫“条件”随机场。</a:t>
            </a:r>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收敛性证明 假设在第</a:t>
            </a:r>
            <a:r>
              <a:rPr lang="en-US" altLang="zh-CN" dirty="0"/>
              <a:t>t</a:t>
            </a:r>
            <a:r>
              <a:rPr lang="zh-CN" altLang="en-US" dirty="0"/>
              <a:t>步时参数为</a:t>
            </a:r>
            <a:r>
              <a:rPr lang="el-GR" altLang="zh-CN" dirty="0"/>
              <a:t>θ </a:t>
            </a:r>
            <a:r>
              <a:rPr lang="en-US" altLang="zh-CN" dirty="0"/>
              <a:t>t </a:t>
            </a:r>
            <a:r>
              <a:rPr lang="zh-CN" altLang="en-US" dirty="0"/>
              <a:t>，在</a:t>
            </a:r>
            <a:r>
              <a:rPr lang="en-US" altLang="zh-CN" dirty="0"/>
              <a:t>E</a:t>
            </a:r>
            <a:r>
              <a:rPr lang="zh-CN" altLang="en-US" dirty="0"/>
              <a:t>步时找到一个变分分布</a:t>
            </a:r>
            <a:r>
              <a:rPr lang="en-US" altLang="zh-CN" dirty="0"/>
              <a:t>q t+1 (z)</a:t>
            </a:r>
            <a:r>
              <a:rPr lang="zh-CN" altLang="en-US" dirty="0"/>
              <a:t>使得</a:t>
            </a:r>
            <a:endParaRPr lang="zh-CN" altLang="en-US" dirty="0"/>
          </a:p>
          <a:p>
            <a:r>
              <a:rPr lang="en-US" altLang="zh-CN" dirty="0" err="1"/>
              <a:t>logp</a:t>
            </a:r>
            <a:r>
              <a:rPr lang="en-US" altLang="zh-CN" dirty="0"/>
              <a:t>(x|</a:t>
            </a:r>
            <a:r>
              <a:rPr lang="el-GR" altLang="zh-CN" dirty="0"/>
              <a:t>θ </a:t>
            </a:r>
            <a:r>
              <a:rPr lang="en-US" altLang="zh-CN" dirty="0"/>
              <a:t>t ) = ELBO(</a:t>
            </a:r>
            <a:r>
              <a:rPr lang="en-US" altLang="zh-CN" dirty="0" err="1"/>
              <a:t>q,x</a:t>
            </a:r>
            <a:r>
              <a:rPr lang="en-US" altLang="zh-CN" dirty="0"/>
              <a:t>|</a:t>
            </a:r>
            <a:r>
              <a:rPr lang="el-GR" altLang="zh-CN" dirty="0"/>
              <a:t>θ </a:t>
            </a:r>
            <a:r>
              <a:rPr lang="en-US" altLang="zh-CN" dirty="0"/>
              <a:t>t )</a:t>
            </a:r>
            <a:r>
              <a:rPr lang="zh-CN" altLang="en-US" dirty="0"/>
              <a:t>。在</a:t>
            </a:r>
            <a:r>
              <a:rPr lang="en-US" altLang="zh-CN" dirty="0"/>
              <a:t>M</a:t>
            </a:r>
            <a:r>
              <a:rPr lang="zh-CN" altLang="en-US" dirty="0"/>
              <a:t>步时固定</a:t>
            </a:r>
            <a:r>
              <a:rPr lang="en-US" altLang="zh-CN" dirty="0"/>
              <a:t>q t+1 (z)</a:t>
            </a:r>
            <a:r>
              <a:rPr lang="zh-CN" altLang="en-US" dirty="0"/>
              <a:t>找到一组参数</a:t>
            </a:r>
            <a:r>
              <a:rPr lang="el-GR" altLang="zh-CN" dirty="0"/>
              <a:t>θ </a:t>
            </a:r>
            <a:r>
              <a:rPr lang="en-US" altLang="zh-CN" dirty="0"/>
              <a:t>t+1 </a:t>
            </a:r>
            <a:r>
              <a:rPr lang="zh-CN" altLang="en-US" dirty="0"/>
              <a:t>，使得</a:t>
            </a:r>
            <a:endParaRPr lang="zh-CN" altLang="en-US" dirty="0"/>
          </a:p>
          <a:p>
            <a:r>
              <a:rPr lang="en-US" altLang="zh-CN" dirty="0"/>
              <a:t>ELBO(q t+1 ,x|</a:t>
            </a:r>
            <a:r>
              <a:rPr lang="el-GR" altLang="zh-CN" dirty="0"/>
              <a:t>θ </a:t>
            </a:r>
            <a:r>
              <a:rPr lang="en-US" altLang="zh-CN" dirty="0"/>
              <a:t>t+1 ) ≥ ELBO(q t+1 ,x|</a:t>
            </a:r>
            <a:r>
              <a:rPr lang="el-GR" altLang="zh-CN" dirty="0"/>
              <a:t>θ </a:t>
            </a:r>
            <a:r>
              <a:rPr lang="en-US" altLang="zh-CN" dirty="0"/>
              <a:t>t )</a:t>
            </a:r>
            <a:r>
              <a:rPr lang="zh-CN" altLang="en-US" dirty="0"/>
              <a:t>。</a:t>
            </a:r>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sz="1200" b="0" i="1" kern="1200" dirty="0">
                <a:solidFill>
                  <a:schemeClr val="tx1"/>
                </a:solidFill>
                <a:effectLst/>
                <a:latin typeface="+mn-lt"/>
                <a:ea typeface="+mn-ea"/>
                <a:cs typeface="+mn-cs"/>
              </a:rPr>
              <a:t>k</a:t>
            </a:r>
            <a:r>
              <a:rPr lang="en-US" altLang="zh-CN" sz="1200" b="0" i="0" kern="1200" dirty="0">
                <a:solidFill>
                  <a:schemeClr val="tx1"/>
                </a:solidFill>
                <a:effectLst/>
                <a:latin typeface="+mn-lt"/>
                <a:ea typeface="+mn-ea"/>
                <a:cs typeface="+mn-cs"/>
              </a:rPr>
              <a:t>-means clustering vs. </a:t>
            </a:r>
            <a:r>
              <a:rPr lang="en-US" altLang="zh-CN" sz="1200" b="0" i="0" u="none" strike="noStrike" kern="1200" dirty="0">
                <a:solidFill>
                  <a:schemeClr val="tx1"/>
                </a:solidFill>
                <a:effectLst/>
                <a:latin typeface="+mn-lt"/>
                <a:ea typeface="+mn-ea"/>
                <a:cs typeface="+mn-cs"/>
                <a:hlinkClick r:id="rId3"/>
              </a:rPr>
              <a:t>EM clustering</a:t>
            </a:r>
            <a:r>
              <a:rPr lang="en-US" altLang="zh-CN" sz="1200" b="0" i="0" kern="1200" dirty="0">
                <a:solidFill>
                  <a:schemeClr val="tx1"/>
                </a:solidFill>
                <a:effectLst/>
                <a:latin typeface="+mn-lt"/>
                <a:ea typeface="+mn-ea"/>
                <a:cs typeface="+mn-cs"/>
              </a:rPr>
              <a:t> on an artificial dataset ("mouse"). The tendency of </a:t>
            </a:r>
            <a:r>
              <a:rPr lang="en-US" altLang="zh-CN" sz="1200" b="0" i="1" kern="1200" dirty="0">
                <a:solidFill>
                  <a:schemeClr val="tx1"/>
                </a:solidFill>
                <a:effectLst/>
                <a:latin typeface="+mn-lt"/>
                <a:ea typeface="+mn-ea"/>
                <a:cs typeface="+mn-cs"/>
              </a:rPr>
              <a:t>k</a:t>
            </a:r>
            <a:r>
              <a:rPr lang="en-US" altLang="zh-CN" sz="1200" b="0" i="0" kern="1200" dirty="0">
                <a:solidFill>
                  <a:schemeClr val="tx1"/>
                </a:solidFill>
                <a:effectLst/>
                <a:latin typeface="+mn-lt"/>
                <a:ea typeface="+mn-ea"/>
                <a:cs typeface="+mn-cs"/>
              </a:rPr>
              <a:t>-means to produce equal-sized clusters leads to bad results here, while EM benefits from the Gaussian distributions with different radius present in the data set.</a:t>
            </a:r>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6000">
                <a:solidFill>
                  <a:srgbClr val="002E72"/>
                </a:solidFill>
                <a:latin typeface="黑体" panose="02010609060101010101" pitchFamily="49" charset="-122"/>
                <a:ea typeface="黑体" panose="02010609060101010101" pitchFamily="49" charset="-122"/>
              </a:defRPr>
            </a:lvl1pPr>
          </a:lstStyle>
          <a:p>
            <a:r>
              <a:rPr lang="en-US" dirty="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rgbClr val="002E7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4" name="Date Placeholder 3"/>
          <p:cNvSpPr>
            <a:spLocks noGrp="1"/>
          </p:cNvSpPr>
          <p:nvPr>
            <p:ph type="dt" sz="half" idx="10"/>
          </p:nvPr>
        </p:nvSpPr>
        <p:spPr/>
        <p:txBody>
          <a:bodyPr/>
          <a:lstStyle/>
          <a:p>
            <a:fld id="{B6D70221-8FD4-4927-B794-23EFC9EBADF4}" type="datetime1">
              <a:rPr lang="en-CA" smtClean="0"/>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0DC95AB2-2ADF-47D4-9F9F-591B17A5773C}" type="slidenum">
              <a:rPr lang="en-CA" smtClean="0"/>
            </a:fld>
            <a:endParaRPr lang="en-CA"/>
          </a:p>
        </p:txBody>
      </p:sp>
      <p:pic>
        <p:nvPicPr>
          <p:cNvPr id="8" name="Picture 7" descr="A picture containing text, clipart&#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89168" y="42507"/>
            <a:ext cx="1750431" cy="95852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23561"/>
            <a:ext cx="10515600" cy="632400"/>
          </a:xfrm>
        </p:spPr>
        <p:txBody>
          <a:bodyPr>
            <a:noAutofit/>
          </a:bodyPr>
          <a:lstStyle>
            <a:lvl1pPr>
              <a:defRPr sz="3600" b="1">
                <a:solidFill>
                  <a:srgbClr val="002E72"/>
                </a:solidFill>
                <a:latin typeface="微软雅黑" panose="020B0503020204020204" pitchFamily="34" charset="-122"/>
                <a:ea typeface="微软雅黑" panose="020B0503020204020204" pitchFamily="34" charset="-122"/>
              </a:defRPr>
            </a:lvl1pPr>
          </a:lstStyle>
          <a:p>
            <a:r>
              <a:rPr lang="en-US" dirty="0"/>
              <a:t>Click to edit Master title style</a:t>
            </a:r>
            <a:endParaRPr lang="en-US" dirty="0"/>
          </a:p>
        </p:txBody>
      </p:sp>
      <p:sp>
        <p:nvSpPr>
          <p:cNvPr id="3" name="Content Placeholder 2"/>
          <p:cNvSpPr>
            <a:spLocks noGrp="1"/>
          </p:cNvSpPr>
          <p:nvPr>
            <p:ph idx="1"/>
          </p:nvPr>
        </p:nvSpPr>
        <p:spPr>
          <a:xfrm>
            <a:off x="838200" y="1180418"/>
            <a:ext cx="10515600" cy="4996546"/>
          </a:xfrm>
        </p:spPr>
        <p:txBody>
          <a:bodyPr/>
          <a:lstStyle>
            <a:lvl1pPr>
              <a:lnSpc>
                <a:spcPct val="120000"/>
              </a:lnSpc>
              <a:defRPr sz="2800" b="1">
                <a:latin typeface="微软雅黑" panose="020B0503020204020204" pitchFamily="34" charset="-122"/>
                <a:ea typeface="微软雅黑" panose="020B0503020204020204" pitchFamily="34" charset="-122"/>
              </a:defRPr>
            </a:lvl1pPr>
            <a:lvl2pPr>
              <a:lnSpc>
                <a:spcPct val="120000"/>
              </a:lnSpc>
              <a:defRPr sz="2400">
                <a:latin typeface="微软雅黑" panose="020B0503020204020204" pitchFamily="34" charset="-122"/>
                <a:ea typeface="微软雅黑" panose="020B0503020204020204" pitchFamily="34" charset="-122"/>
              </a:defRPr>
            </a:lvl2pPr>
            <a:lvl3pPr>
              <a:lnSpc>
                <a:spcPct val="120000"/>
              </a:lnSpc>
              <a:defRPr sz="2200">
                <a:latin typeface="微软雅黑" panose="020B0503020204020204" pitchFamily="34" charset="-122"/>
                <a:ea typeface="微软雅黑" panose="020B0503020204020204" pitchFamily="34" charset="-122"/>
              </a:defRPr>
            </a:lvl3pPr>
            <a:lvl4pPr>
              <a:lnSpc>
                <a:spcPct val="120000"/>
              </a:lnSpc>
              <a:defRPr sz="2000">
                <a:latin typeface="微软雅黑" panose="020B0503020204020204" pitchFamily="34" charset="-122"/>
                <a:ea typeface="微软雅黑" panose="020B0503020204020204" pitchFamily="34" charset="-122"/>
              </a:defRPr>
            </a:lvl4pPr>
            <a:lvl5pPr>
              <a:lnSpc>
                <a:spcPct val="120000"/>
              </a:lnSpc>
              <a:defRPr sz="2000">
                <a:latin typeface="微软雅黑" panose="020B0503020204020204" pitchFamily="34" charset="-122"/>
                <a:ea typeface="微软雅黑" panose="020B0503020204020204" pitchFamily="34" charset="-122"/>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p:txBody>
          <a:bodyPr/>
          <a:lstStyle/>
          <a:p>
            <a:fld id="{74CF1E6D-CF9D-41F2-8342-7C6B0EFD9380}" type="datetime1">
              <a:rPr lang="en-CA" smtClean="0"/>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pic>
        <p:nvPicPr>
          <p:cNvPr id="9" name="Picture 8" descr="A picture containing text, clipart&#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89168" y="42507"/>
            <a:ext cx="1750431" cy="95852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3112800"/>
            <a:ext cx="10515600" cy="632400"/>
          </a:xfrm>
        </p:spPr>
        <p:txBody>
          <a:bodyPr>
            <a:noAutofit/>
          </a:bodyPr>
          <a:lstStyle>
            <a:lvl1pPr algn="ctr">
              <a:defRPr sz="6000" b="1">
                <a:solidFill>
                  <a:srgbClr val="002E72"/>
                </a:solidFill>
                <a:latin typeface="微软雅黑" panose="020B0503020204020204" pitchFamily="34" charset="-122"/>
                <a:ea typeface="微软雅黑" panose="020B0503020204020204" pitchFamily="34" charset="-122"/>
              </a:defRPr>
            </a:lvl1pPr>
          </a:lstStyle>
          <a:p>
            <a:r>
              <a:rPr lang="en-US" dirty="0"/>
              <a:t>Title</a:t>
            </a:r>
            <a:endParaRPr lang="en-US" dirty="0"/>
          </a:p>
        </p:txBody>
      </p:sp>
      <p:sp>
        <p:nvSpPr>
          <p:cNvPr id="4" name="Date Placeholder 3"/>
          <p:cNvSpPr>
            <a:spLocks noGrp="1"/>
          </p:cNvSpPr>
          <p:nvPr>
            <p:ph type="dt" sz="half" idx="10"/>
          </p:nvPr>
        </p:nvSpPr>
        <p:spPr/>
        <p:txBody>
          <a:bodyPr/>
          <a:lstStyle/>
          <a:p>
            <a:fld id="{74CF1E6D-CF9D-41F2-8342-7C6B0EFD9380}" type="datetime1">
              <a:rPr lang="en-CA" smtClean="0"/>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pic>
        <p:nvPicPr>
          <p:cNvPr id="9" name="Picture 8" descr="A picture containing text, clipart&#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89168" y="42507"/>
            <a:ext cx="1750431" cy="95852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cSld name="标题幻灯片">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9807" y="1524000"/>
            <a:ext cx="6117446" cy="4684464"/>
          </a:xfrm>
          <a:prstGeom prst="rect">
            <a:avLst/>
          </a:prstGeom>
        </p:spPr>
      </p:pic>
      <p:sp>
        <p:nvSpPr>
          <p:cNvPr id="8" name="Title 7"/>
          <p:cNvSpPr>
            <a:spLocks noGrp="1"/>
          </p:cNvSpPr>
          <p:nvPr>
            <p:ph type="ctrTitle"/>
          </p:nvPr>
        </p:nvSpPr>
        <p:spPr>
          <a:xfrm>
            <a:off x="4343400" y="3827594"/>
            <a:ext cx="6142566" cy="1280888"/>
          </a:xfrm>
        </p:spPr>
        <p:txBody>
          <a:bodyPr anchor="ctr"/>
          <a:lstStyle>
            <a:lvl1pPr algn="ctr">
              <a:defRPr sz="2700" baseline="0">
                <a:solidFill>
                  <a:schemeClr val="tx1"/>
                </a:solidFill>
                <a:latin typeface="+mj-lt"/>
                <a:ea typeface="+mj-ea"/>
              </a:defRPr>
            </a:lvl1pPr>
          </a:lstStyle>
          <a:p>
            <a:r>
              <a:rPr lang="zh-CN" altLang="en-US"/>
              <a:t>单击此处编辑母版标题样式</a:t>
            </a:r>
            <a:endParaRPr lang="en-US" dirty="0"/>
          </a:p>
        </p:txBody>
      </p:sp>
      <p:sp>
        <p:nvSpPr>
          <p:cNvPr id="9" name="Subtitle 8"/>
          <p:cNvSpPr>
            <a:spLocks noGrp="1"/>
          </p:cNvSpPr>
          <p:nvPr>
            <p:ph type="subTitle" idx="1"/>
          </p:nvPr>
        </p:nvSpPr>
        <p:spPr>
          <a:xfrm>
            <a:off x="563006" y="726666"/>
            <a:ext cx="5812317" cy="568735"/>
          </a:xfrm>
        </p:spPr>
        <p:txBody>
          <a:bodyPr anchor="ctr"/>
          <a:lstStyle>
            <a:lvl1pPr marL="0" indent="0" algn="ctr">
              <a:buNone/>
              <a:defRPr sz="1800" baseline="0">
                <a:solidFill>
                  <a:schemeClr val="tx2"/>
                </a:solidFill>
                <a:latin typeface="+mn-lt"/>
                <a:ea typeface="+mn-ea"/>
                <a:cs typeface="+mj-cs"/>
              </a:defRPr>
            </a:lvl1pPr>
            <a:lvl2pPr marL="257175" indent="0" algn="ctr">
              <a:buNone/>
            </a:lvl2pPr>
            <a:lvl3pPr marL="514350" indent="0" algn="ctr">
              <a:buNone/>
            </a:lvl3pPr>
            <a:lvl4pPr marL="771525" indent="0" algn="ctr">
              <a:buNone/>
            </a:lvl4pPr>
            <a:lvl5pPr marL="1028700" indent="0" algn="ctr">
              <a:buNone/>
            </a:lvl5pPr>
            <a:lvl6pPr marL="1285875" indent="0" algn="ctr">
              <a:buNone/>
            </a:lvl6pPr>
            <a:lvl7pPr marL="1543050" indent="0" algn="ctr">
              <a:buNone/>
            </a:lvl7pPr>
            <a:lvl8pPr marL="1800225" indent="0" algn="ctr">
              <a:buNone/>
            </a:lvl8pPr>
            <a:lvl9pPr marL="2057400" indent="0" algn="ctr">
              <a:buNone/>
            </a:lvl9pPr>
          </a:lstStyle>
          <a:p>
            <a:r>
              <a:rPr lang="zh-CN" altLang="en-US"/>
              <a:t>单击此处编辑母版副标题样式</a:t>
            </a:r>
            <a:endParaRPr lang="en-US" dirty="0"/>
          </a:p>
        </p:txBody>
      </p:sp>
      <p:sp>
        <p:nvSpPr>
          <p:cNvPr id="25" name="Text Placeholder 24"/>
          <p:cNvSpPr>
            <a:spLocks noGrp="1"/>
          </p:cNvSpPr>
          <p:nvPr>
            <p:ph type="body" sz="quarter" idx="10" hasCustomPrompt="1"/>
          </p:nvPr>
        </p:nvSpPr>
        <p:spPr>
          <a:xfrm>
            <a:off x="5280025" y="5550204"/>
            <a:ext cx="4273554" cy="790860"/>
          </a:xfrm>
        </p:spPr>
        <p:txBody>
          <a:bodyPr/>
          <a:lstStyle>
            <a:lvl1pPr marL="0" indent="0" algn="ctr">
              <a:buNone/>
              <a:defRPr sz="1800" baseline="0">
                <a:solidFill>
                  <a:schemeClr val="accent1">
                    <a:lumMod val="60000"/>
                    <a:lumOff val="40000"/>
                  </a:schemeClr>
                </a:solidFill>
                <a:latin typeface="+mn-lt"/>
                <a:ea typeface="+mn-ea"/>
              </a:defRPr>
            </a:lvl1pPr>
          </a:lstStyle>
          <a:p>
            <a:pPr lvl="0"/>
            <a:r>
              <a:rPr lang="zh-CN" altLang="en-US"/>
              <a:t>编辑母版文本样式</a:t>
            </a:r>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t>单击此处编辑母版标题样式</a:t>
            </a:r>
            <a:endParaRPr lang="zh-CN" altLang="en-US"/>
          </a:p>
        </p:txBody>
      </p:sp>
      <p:sp>
        <p:nvSpPr>
          <p:cNvPr id="8" name="Text Placeholder 12"/>
          <p:cNvSpPr>
            <a:spLocks noGrp="1"/>
          </p:cNvSpPr>
          <p:nvPr>
            <p:ph idx="1" hasCustomPrompt="1"/>
          </p:nvPr>
        </p:nvSpPr>
        <p:spPr bwMode="auto">
          <a:xfrm>
            <a:off x="609600" y="1066800"/>
            <a:ext cx="10972800" cy="506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baseline="0">
                <a:latin typeface="+mn-lt"/>
              </a:defRPr>
            </a:lvl1pPr>
            <a:lvl2pPr>
              <a:defRPr baseline="0">
                <a:latin typeface="+mn-lt"/>
              </a:defRPr>
            </a:lvl2pPr>
            <a:lvl3pPr>
              <a:defRPr baseline="0">
                <a:latin typeface="+mn-lt"/>
              </a:defRPr>
            </a:lvl3pPr>
            <a:lvl4pPr>
              <a:defRPr baseline="0">
                <a:latin typeface="+mn-lt"/>
              </a:defRPr>
            </a:lvl4pPr>
            <a:lvl5pPr>
              <a:defRPr baseline="0">
                <a:latin typeface="+mn-lt"/>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Just Title">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Subsection">
    <p:spTree>
      <p:nvGrpSpPr>
        <p:cNvPr id="1" name=""/>
        <p:cNvGrpSpPr/>
        <p:nvPr/>
      </p:nvGrpSpPr>
      <p:grpSpPr>
        <a:xfrm>
          <a:off x="0" y="0"/>
          <a:ext cx="0" cy="0"/>
          <a:chOff x="0" y="0"/>
          <a:chExt cx="0" cy="0"/>
        </a:xfrm>
      </p:grpSpPr>
      <p:pic>
        <p:nvPicPr>
          <p:cNvPr id="12" name="图片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9807" y="1524000"/>
            <a:ext cx="6117446" cy="4684464"/>
          </a:xfrm>
          <a:prstGeom prst="rect">
            <a:avLst/>
          </a:prstGeom>
        </p:spPr>
      </p:pic>
      <p:sp>
        <p:nvSpPr>
          <p:cNvPr id="16" name="Rectangle 10"/>
          <p:cNvSpPr/>
          <p:nvPr userDrawn="1"/>
        </p:nvSpPr>
        <p:spPr>
          <a:xfrm>
            <a:off x="4038600" y="3657600"/>
            <a:ext cx="6637866" cy="1654481"/>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a:solidFill>
                <a:srgbClr val="FFFFFF"/>
              </a:solidFill>
            </a:endParaRPr>
          </a:p>
        </p:txBody>
      </p:sp>
      <p:sp>
        <p:nvSpPr>
          <p:cNvPr id="17" name="Rectangle 14"/>
          <p:cNvSpPr/>
          <p:nvPr userDrawn="1"/>
        </p:nvSpPr>
        <p:spPr>
          <a:xfrm>
            <a:off x="4038600" y="3657600"/>
            <a:ext cx="304800" cy="1654481"/>
          </a:xfrm>
          <a:prstGeom prst="rect">
            <a:avLst/>
          </a:prstGeom>
          <a:solidFill>
            <a:srgbClr val="EB641B"/>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a:solidFill>
                <a:srgbClr val="FFFFFF"/>
              </a:solidFill>
            </a:endParaRPr>
          </a:p>
        </p:txBody>
      </p:sp>
      <p:sp>
        <p:nvSpPr>
          <p:cNvPr id="18" name="Title 7"/>
          <p:cNvSpPr>
            <a:spLocks noGrp="1"/>
          </p:cNvSpPr>
          <p:nvPr>
            <p:ph type="ctrTitle"/>
          </p:nvPr>
        </p:nvSpPr>
        <p:spPr>
          <a:xfrm>
            <a:off x="4343400" y="3827594"/>
            <a:ext cx="6142566" cy="1280888"/>
          </a:xfrm>
        </p:spPr>
        <p:txBody>
          <a:bodyPr anchor="ctr"/>
          <a:lstStyle>
            <a:lvl1pPr algn="ctr">
              <a:defRPr sz="2700" baseline="0">
                <a:solidFill>
                  <a:schemeClr val="tx1"/>
                </a:solidFill>
                <a:latin typeface="+mj-lt"/>
                <a:ea typeface="+mj-ea"/>
              </a:defRPr>
            </a:lvl1pPr>
          </a:lstStyle>
          <a:p>
            <a:r>
              <a:rPr lang="zh-CN" altLang="en-US"/>
              <a:t>单击此处编辑母版标题样式</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两栏内容">
    <p:spTree>
      <p:nvGrpSpPr>
        <p:cNvPr id="1" name=""/>
        <p:cNvGrpSpPr/>
        <p:nvPr/>
      </p:nvGrpSpPr>
      <p:grpSpPr>
        <a:xfrm>
          <a:off x="0" y="0"/>
          <a:ext cx="0" cy="0"/>
          <a:chOff x="0" y="0"/>
          <a:chExt cx="0" cy="0"/>
        </a:xfrm>
      </p:grpSpPr>
      <p:sp>
        <p:nvSpPr>
          <p:cNvPr id="7" name="Text Placeholder 12"/>
          <p:cNvSpPr>
            <a:spLocks noGrp="1"/>
          </p:cNvSpPr>
          <p:nvPr>
            <p:ph idx="1" hasCustomPrompt="1"/>
          </p:nvPr>
        </p:nvSpPr>
        <p:spPr bwMode="auto">
          <a:xfrm>
            <a:off x="609600" y="1066800"/>
            <a:ext cx="5486400" cy="506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baseline="0">
                <a:latin typeface="+mn-lt"/>
              </a:defRPr>
            </a:lvl1pPr>
            <a:lvl2pPr>
              <a:defRPr baseline="0">
                <a:latin typeface="+mn-lt"/>
              </a:defRPr>
            </a:lvl2pPr>
            <a:lvl3pPr>
              <a:defRPr baseline="0">
                <a:latin typeface="+mn-lt"/>
              </a:defRPr>
            </a:lvl3pPr>
            <a:lvl4pPr>
              <a:defRPr baseline="0">
                <a:latin typeface="+mn-lt"/>
              </a:defRPr>
            </a:lvl4pPr>
            <a:lvl5pPr>
              <a:defRPr baseline="0">
                <a:latin typeface="+mn-lt"/>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p:txBody>
      </p:sp>
      <p:sp>
        <p:nvSpPr>
          <p:cNvPr id="8" name="Text Placeholder 12"/>
          <p:cNvSpPr>
            <a:spLocks noGrp="1"/>
          </p:cNvSpPr>
          <p:nvPr>
            <p:ph idx="10" hasCustomPrompt="1"/>
          </p:nvPr>
        </p:nvSpPr>
        <p:spPr bwMode="auto">
          <a:xfrm>
            <a:off x="6248400" y="1066800"/>
            <a:ext cx="5334000" cy="506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p:txBody>
      </p:sp>
      <p:sp>
        <p:nvSpPr>
          <p:cNvPr id="3" name="标题 2"/>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cSld name="两栏内容-图">
    <p:spTree>
      <p:nvGrpSpPr>
        <p:cNvPr id="1" name=""/>
        <p:cNvGrpSpPr/>
        <p:nvPr/>
      </p:nvGrpSpPr>
      <p:grpSpPr>
        <a:xfrm>
          <a:off x="0" y="0"/>
          <a:ext cx="0" cy="0"/>
          <a:chOff x="0" y="0"/>
          <a:chExt cx="0" cy="0"/>
        </a:xfrm>
      </p:grpSpPr>
      <p:sp>
        <p:nvSpPr>
          <p:cNvPr id="7" name="Text Placeholder 12"/>
          <p:cNvSpPr>
            <a:spLocks noGrp="1"/>
          </p:cNvSpPr>
          <p:nvPr>
            <p:ph idx="1" hasCustomPrompt="1"/>
          </p:nvPr>
        </p:nvSpPr>
        <p:spPr bwMode="auto">
          <a:xfrm>
            <a:off x="609600" y="1066800"/>
            <a:ext cx="5486400" cy="506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baseline="0">
                <a:latin typeface="+mn-lt"/>
              </a:defRPr>
            </a:lvl1pPr>
            <a:lvl2pPr>
              <a:defRPr baseline="0">
                <a:latin typeface="+mn-lt"/>
              </a:defRPr>
            </a:lvl2pPr>
            <a:lvl3pPr>
              <a:defRPr baseline="0">
                <a:latin typeface="+mn-lt"/>
              </a:defRPr>
            </a:lvl3pPr>
            <a:lvl4pPr>
              <a:defRPr baseline="0">
                <a:latin typeface="+mn-lt"/>
              </a:defRPr>
            </a:lvl4pPr>
            <a:lvl5pPr>
              <a:defRPr baseline="0">
                <a:latin typeface="+mn-lt"/>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p:txBody>
      </p:sp>
      <p:sp>
        <p:nvSpPr>
          <p:cNvPr id="3" name="标题 2"/>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cSld name="empty">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End">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9807" y="1524000"/>
            <a:ext cx="6117446" cy="4684464"/>
          </a:xfrm>
          <a:prstGeom prst="rect">
            <a:avLst/>
          </a:prstGeom>
        </p:spPr>
      </p:pic>
      <p:sp>
        <p:nvSpPr>
          <p:cNvPr id="4" name="Rectangle 3"/>
          <p:cNvSpPr/>
          <p:nvPr userDrawn="1"/>
        </p:nvSpPr>
        <p:spPr>
          <a:xfrm>
            <a:off x="5943600" y="3543066"/>
            <a:ext cx="3048000" cy="646331"/>
          </a:xfrm>
          <a:prstGeom prst="rect">
            <a:avLst/>
          </a:prstGeom>
        </p:spPr>
        <p:txBody>
          <a:bodyPr wrap="square">
            <a:spAutoFit/>
          </a:bodyPr>
          <a:lstStyle/>
          <a:p>
            <a:pPr algn="ctr"/>
            <a:r>
              <a:rPr lang="zh-CN" altLang="en-US" sz="3600" dirty="0">
                <a:latin typeface="华文楷体" panose="02010600040101010101" pitchFamily="2" charset="-122"/>
                <a:ea typeface="华文楷体" panose="02010600040101010101" pitchFamily="2" charset="-122"/>
              </a:rPr>
              <a:t>谢  谢</a:t>
            </a:r>
            <a:endParaRPr lang="en-US" altLang="zh-CN" sz="3600" dirty="0">
              <a:latin typeface="华文楷体" panose="02010600040101010101" pitchFamily="2" charset="-122"/>
              <a:ea typeface="华文楷体" panose="02010600040101010101" pitchFamily="2"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980668-3367-4FC7-A83B-0B0611654BC3}" type="datetime1">
              <a:rPr lang="en-CA" smtClean="0"/>
            </a:fld>
            <a:endParaRPr lang="en-CA"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C95AB2-2ADF-47D4-9F9F-591B17A5773C}" type="slidenum">
              <a:rPr lang="en-CA" smtClean="0"/>
            </a:fld>
            <a:endParaRPr lang="en-CA"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emf"/></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slideLayout" Target="../slideLayouts/slideLayout2.xml"/><Relationship Id="rId7" Type="http://schemas.openxmlformats.org/officeDocument/2006/relationships/tags" Target="../tags/tag3.xml"/><Relationship Id="rId6" Type="http://schemas.openxmlformats.org/officeDocument/2006/relationships/image" Target="../media/image14.png"/><Relationship Id="rId5" Type="http://schemas.openxmlformats.org/officeDocument/2006/relationships/tags" Target="../tags/tag2.xml"/><Relationship Id="rId4" Type="http://schemas.openxmlformats.org/officeDocument/2006/relationships/image" Target="../media/image13.png"/><Relationship Id="rId3" Type="http://schemas.openxmlformats.org/officeDocument/2006/relationships/tags" Target="../tags/tag1.xml"/><Relationship Id="rId2" Type="http://schemas.openxmlformats.org/officeDocument/2006/relationships/image" Target="../media/image12.jpeg"/><Relationship Id="rId1" Type="http://schemas.openxmlformats.org/officeDocument/2006/relationships/image" Target="../media/image11.jpe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6.png"/><Relationship Id="rId2" Type="http://schemas.openxmlformats.org/officeDocument/2006/relationships/image" Target="../media/image10.png"/><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image" Target="../media/image23.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2.xml"/><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image" Target="../media/image40.png"/><Relationship Id="rId2" Type="http://schemas.openxmlformats.org/officeDocument/2006/relationships/image" Target="../media/image36.png"/><Relationship Id="rId1" Type="http://schemas.openxmlformats.org/officeDocument/2006/relationships/image" Target="../media/image39.png"/></Relationships>
</file>

<file path=ppt/slides/_rels/slide25.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tags" Target="../tags/tag5.xml"/><Relationship Id="rId4" Type="http://schemas.openxmlformats.org/officeDocument/2006/relationships/image" Target="../media/image43.png"/><Relationship Id="rId3" Type="http://schemas.openxmlformats.org/officeDocument/2006/relationships/tags" Target="../tags/tag4.xml"/><Relationship Id="rId2" Type="http://schemas.openxmlformats.org/officeDocument/2006/relationships/image" Target="../media/image42.jpeg"/><Relationship Id="rId1" Type="http://schemas.openxmlformats.org/officeDocument/2006/relationships/image" Target="../media/image41.jpe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7.png"/><Relationship Id="rId2" Type="http://schemas.openxmlformats.org/officeDocument/2006/relationships/image" Target="../media/image46.jpeg"/><Relationship Id="rId1" Type="http://schemas.openxmlformats.org/officeDocument/2006/relationships/image" Target="../media/image45.jpeg"/></Relationships>
</file>

<file path=ppt/slides/_rels/slide27.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image" Target="../media/image52.png"/><Relationship Id="rId7" Type="http://schemas.openxmlformats.org/officeDocument/2006/relationships/tags" Target="../tags/tag8.xml"/><Relationship Id="rId6" Type="http://schemas.openxmlformats.org/officeDocument/2006/relationships/image" Target="../media/image51.png"/><Relationship Id="rId5" Type="http://schemas.openxmlformats.org/officeDocument/2006/relationships/tags" Target="../tags/tag7.xml"/><Relationship Id="rId4" Type="http://schemas.openxmlformats.org/officeDocument/2006/relationships/image" Target="../media/image50.png"/><Relationship Id="rId3" Type="http://schemas.openxmlformats.org/officeDocument/2006/relationships/tags" Target="../tags/tag6.xml"/><Relationship Id="rId2" Type="http://schemas.openxmlformats.org/officeDocument/2006/relationships/image" Target="../media/image49.jpeg"/><Relationship Id="rId13" Type="http://schemas.openxmlformats.org/officeDocument/2006/relationships/slideLayout" Target="../slideLayouts/slideLayout2.xml"/><Relationship Id="rId12" Type="http://schemas.openxmlformats.org/officeDocument/2006/relationships/image" Target="../media/image54.png"/><Relationship Id="rId11" Type="http://schemas.openxmlformats.org/officeDocument/2006/relationships/tags" Target="../tags/tag10.xml"/><Relationship Id="rId10" Type="http://schemas.openxmlformats.org/officeDocument/2006/relationships/image" Target="../media/image53.png"/><Relationship Id="rId1" Type="http://schemas.openxmlformats.org/officeDocument/2006/relationships/image" Target="../media/image48.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2.xml"/><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image" Target="../media/image55.png"/></Relationships>
</file>

<file path=ppt/slides/_rels/slide3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image" Target="../media/image5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4.png"/></Relationships>
</file>

<file path=ppt/slides/_rels/slide3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69.png"/><Relationship Id="rId4" Type="http://schemas.openxmlformats.org/officeDocument/2006/relationships/image" Target="../media/image68.png"/><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image" Target="../media/image65.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0.GIF"/></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image" Target="../media/image71.png"/></Relationships>
</file>

<file path=ppt/slides/_rels/slide37.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2.xml"/><Relationship Id="rId4" Type="http://schemas.openxmlformats.org/officeDocument/2006/relationships/image" Target="../media/image77.png"/><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image" Target="../media/image74.png"/></Relationships>
</file>

<file path=ppt/slides/_rels/slide38.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2.xml"/><Relationship Id="rId4" Type="http://schemas.openxmlformats.org/officeDocument/2006/relationships/image" Target="../media/image81.png"/><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image" Target="../media/image78.png"/></Relationships>
</file>

<file path=ppt/slides/_rels/slide39.xml.rels><?xml version="1.0" encoding="UTF-8" standalone="yes"?>
<Relationships xmlns="http://schemas.openxmlformats.org/package/2006/relationships"><Relationship Id="rId9" Type="http://schemas.openxmlformats.org/officeDocument/2006/relationships/notesSlide" Target="../notesSlides/notesSlide15.xml"/><Relationship Id="rId8" Type="http://schemas.openxmlformats.org/officeDocument/2006/relationships/slideLayout" Target="../slideLayouts/slideLayout2.xml"/><Relationship Id="rId7" Type="http://schemas.openxmlformats.org/officeDocument/2006/relationships/image" Target="../media/image87.png"/><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 Id="rId3" Type="http://schemas.openxmlformats.org/officeDocument/2006/relationships/image" Target="../media/image78.png"/><Relationship Id="rId2" Type="http://schemas.openxmlformats.org/officeDocument/2006/relationships/image" Target="../media/image83.png"/><Relationship Id="rId1" Type="http://schemas.openxmlformats.org/officeDocument/2006/relationships/image" Target="../media/image82.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9.png"/><Relationship Id="rId1" Type="http://schemas.openxmlformats.org/officeDocument/2006/relationships/image" Target="../media/image88.png"/></Relationships>
</file>

<file path=ppt/slides/_rels/slide4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4.png"/><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image" Target="../media/image21.png"/></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2.xml"/><Relationship Id="rId3" Type="http://schemas.openxmlformats.org/officeDocument/2006/relationships/image" Target="../media/image21.png"/><Relationship Id="rId2" Type="http://schemas.openxmlformats.org/officeDocument/2006/relationships/image" Target="../media/image91.png"/><Relationship Id="rId1" Type="http://schemas.openxmlformats.org/officeDocument/2006/relationships/image" Target="../media/image90.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3.GIF"/><Relationship Id="rId1" Type="http://schemas.openxmlformats.org/officeDocument/2006/relationships/image" Target="../media/image92.GIF"/></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94.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6.png"/><Relationship Id="rId1" Type="http://schemas.openxmlformats.org/officeDocument/2006/relationships/image" Target="../media/image9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58286" y="2575748"/>
            <a:ext cx="8075428" cy="1230399"/>
          </a:xfrm>
        </p:spPr>
        <p:txBody>
          <a:bodyPr>
            <a:normAutofit fontScale="90000"/>
          </a:bodyPr>
          <a:lstStyle/>
          <a:p>
            <a:pPr>
              <a:lnSpc>
                <a:spcPct val="150000"/>
              </a:lnSpc>
            </a:pPr>
            <a:r>
              <a:rPr lang="zh-CN" altLang="en-US" b="1" dirty="0">
                <a:latin typeface="微软雅黑" panose="020B0503020204020204" pitchFamily="34" charset="-122"/>
                <a:ea typeface="微软雅黑" panose="020B0503020204020204" pitchFamily="34" charset="-122"/>
              </a:rPr>
              <a:t>深度学习</a:t>
            </a:r>
            <a:br>
              <a:rPr lang="en-US" altLang="zh-CN" sz="4800" dirty="0">
                <a:latin typeface="微软雅黑" panose="020B0503020204020204" pitchFamily="34" charset="-122"/>
                <a:ea typeface="微软雅黑" panose="020B0503020204020204" pitchFamily="34" charset="-122"/>
              </a:rPr>
            </a:br>
            <a:r>
              <a:rPr lang="zh-CN" altLang="en-US" sz="3600" dirty="0">
                <a:latin typeface="微软雅黑" panose="020B0503020204020204" pitchFamily="34" charset="-122"/>
                <a:ea typeface="微软雅黑" panose="020B0503020204020204" pitchFamily="34" charset="-122"/>
              </a:rPr>
              <a:t>第</a:t>
            </a:r>
            <a:r>
              <a:rPr lang="en-US" altLang="zh-CN" sz="3600" dirty="0">
                <a:latin typeface="微软雅黑" panose="020B0503020204020204" pitchFamily="34" charset="-122"/>
                <a:ea typeface="微软雅黑" panose="020B0503020204020204" pitchFamily="34" charset="-122"/>
              </a:rPr>
              <a:t>11</a:t>
            </a:r>
            <a:r>
              <a:rPr lang="zh-CN" altLang="en-US" sz="3600" dirty="0">
                <a:latin typeface="微软雅黑" panose="020B0503020204020204" pitchFamily="34" charset="-122"/>
                <a:ea typeface="微软雅黑" panose="020B0503020204020204" pitchFamily="34" charset="-122"/>
              </a:rPr>
              <a:t>章：概率图模型</a:t>
            </a:r>
            <a:endParaRPr lang="en-CA" sz="3200" dirty="0">
              <a:latin typeface="微软雅黑" panose="020B0503020204020204" pitchFamily="34" charset="-122"/>
              <a:ea typeface="微软雅黑" panose="020B0503020204020204" pitchFamily="34" charset="-122"/>
            </a:endParaRPr>
          </a:p>
        </p:txBody>
      </p:sp>
      <p:sp>
        <p:nvSpPr>
          <p:cNvPr id="3" name="Subtitle 2"/>
          <p:cNvSpPr>
            <a:spLocks noGrp="1"/>
          </p:cNvSpPr>
          <p:nvPr>
            <p:ph type="subTitle" idx="1"/>
          </p:nvPr>
        </p:nvSpPr>
        <p:spPr>
          <a:xfrm>
            <a:off x="2667000" y="4346406"/>
            <a:ext cx="6858000" cy="2190750"/>
          </a:xfrm>
        </p:spPr>
        <p:txBody>
          <a:bodyPr>
            <a:normAutofit/>
          </a:bodyPr>
          <a:lstStyle/>
          <a:p>
            <a:r>
              <a:rPr lang="zh-CN" altLang="en-US" sz="3200" dirty="0">
                <a:latin typeface="微软雅黑" panose="020B0503020204020204" pitchFamily="34" charset="-122"/>
                <a:ea typeface="微软雅黑" panose="020B0503020204020204" pitchFamily="34" charset="-122"/>
              </a:rPr>
              <a:t>王亚星</a:t>
            </a:r>
            <a:endParaRPr lang="en-US" altLang="zh-CN" sz="3200" dirty="0">
              <a:latin typeface="微软雅黑" panose="020B0503020204020204" pitchFamily="34" charset="-122"/>
              <a:ea typeface="微软雅黑" panose="020B0503020204020204" pitchFamily="34" charset="-122"/>
            </a:endParaRPr>
          </a:p>
          <a:p>
            <a:r>
              <a:rPr lang="zh-CN" altLang="en-US" sz="3200" dirty="0">
                <a:latin typeface="微软雅黑" panose="020B0503020204020204" pitchFamily="34" charset="-122"/>
                <a:ea typeface="微软雅黑" panose="020B0503020204020204" pitchFamily="34" charset="-122"/>
              </a:rPr>
              <a:t>人工智能学院</a:t>
            </a:r>
            <a:endParaRPr lang="en-CA" altLang="zh-CN" sz="3200" dirty="0">
              <a:latin typeface="微软雅黑" panose="020B0503020204020204" pitchFamily="34" charset="-122"/>
              <a:ea typeface="微软雅黑" panose="020B0503020204020204" pitchFamily="34" charset="-122"/>
            </a:endParaRPr>
          </a:p>
          <a:p>
            <a:r>
              <a:rPr lang="en-CA" sz="3200" dirty="0">
                <a:latin typeface="微软雅黑" panose="020B0503020204020204" pitchFamily="34" charset="-122"/>
                <a:ea typeface="微软雅黑" panose="020B0503020204020204" pitchFamily="34" charset="-122"/>
              </a:rPr>
              <a:t>202</a:t>
            </a:r>
            <a:r>
              <a:rPr lang="en-US" altLang="en-CA" sz="3200" dirty="0">
                <a:latin typeface="微软雅黑" panose="020B0503020204020204" pitchFamily="34" charset="-122"/>
                <a:ea typeface="微软雅黑" panose="020B0503020204020204" pitchFamily="34" charset="-122"/>
              </a:rPr>
              <a:t>6</a:t>
            </a:r>
            <a:r>
              <a:rPr lang="en-CA" sz="3200" dirty="0">
                <a:latin typeface="微软雅黑" panose="020B0503020204020204" pitchFamily="34" charset="-122"/>
                <a:ea typeface="微软雅黑" panose="020B0503020204020204" pitchFamily="34" charset="-122"/>
              </a:rPr>
              <a:t>.5</a:t>
            </a:r>
            <a:endParaRPr lang="en-CA" sz="3200" dirty="0">
              <a:latin typeface="微软雅黑" panose="020B0503020204020204" pitchFamily="34" charset="-122"/>
              <a:ea typeface="微软雅黑" panose="020B0503020204020204" pitchFamily="34" charset="-122"/>
            </a:endParaRPr>
          </a:p>
        </p:txBody>
      </p:sp>
      <p:sp>
        <p:nvSpPr>
          <p:cNvPr id="4"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Tree>
  </p:cSld>
  <p:clrMapOvr>
    <a:masterClrMapping/>
  </p:clrMapOvr>
  <mc:AlternateContent xmlns:mc="http://schemas.openxmlformats.org/markup-compatibility/2006">
    <mc:Choice xmlns:p14="http://schemas.microsoft.com/office/powerpoint/2010/main" Requires="p14">
      <p:transition p14:dur="0" advTm="3909"/>
    </mc:Choice>
    <mc:Fallback>
      <p:transition advTm="390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课程概括</a:t>
            </a:r>
            <a:endParaRPr lang="zh-CN" altLang="en-US" dirty="0"/>
          </a:p>
        </p:txBody>
      </p:sp>
      <p:sp>
        <p:nvSpPr>
          <p:cNvPr id="4" name="灯片编号占位符 3"/>
          <p:cNvSpPr>
            <a:spLocks noGrp="1"/>
          </p:cNvSpPr>
          <p:nvPr>
            <p:ph type="sldNum" sz="quarter" idx="12"/>
          </p:nvPr>
        </p:nvSpPr>
        <p:spPr/>
        <p:txBody>
          <a:bodyPr/>
          <a:lstStyle/>
          <a:p>
            <a:fld id="{9F58998E-2429-314E-B86C-A079AABAA7E0}" type="slidenum">
              <a:rPr lang="en-US" smtClean="0"/>
            </a:fld>
            <a:endParaRPr lang="en-CA" dirty="0"/>
          </a:p>
        </p:txBody>
      </p:sp>
      <p:pic>
        <p:nvPicPr>
          <p:cNvPr id="5" name="图片 4"/>
          <p:cNvPicPr>
            <a:picLocks noChangeAspect="1"/>
          </p:cNvPicPr>
          <p:nvPr/>
        </p:nvPicPr>
        <p:blipFill>
          <a:blip r:embed="rId1" cstate="hqprint"/>
          <a:stretch>
            <a:fillRect/>
          </a:stretch>
        </p:blipFill>
        <p:spPr>
          <a:xfrm>
            <a:off x="1828800" y="917805"/>
            <a:ext cx="8259917" cy="547670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如何表示高维随机向量的概率密度？</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14:m>
                  <m:oMath xmlns:m="http://schemas.openxmlformats.org/officeDocument/2006/math">
                    <m:r>
                      <a:rPr lang="en-US" altLang="zh-CN" dirty="0" smtClean="0">
                        <a:latin typeface="Cambria Math" panose="02040503050406030204" pitchFamily="18" charset="0"/>
                      </a:rPr>
                      <m:t>𝑃</m:t>
                    </m:r>
                    <m:d>
                      <m:dPr>
                        <m:ctrlPr>
                          <a:rPr lang="en-US" altLang="zh-CN" i="1" dirty="0" smtClean="0">
                            <a:latin typeface="Cambria Math" panose="02040503050406030204" pitchFamily="18" charset="0"/>
                          </a:rPr>
                        </m:ctrlPr>
                      </m:dPr>
                      <m:e>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𝑋</m:t>
                            </m:r>
                          </m:e>
                          <m:sub>
                            <m:r>
                              <a:rPr lang="en-US" altLang="zh-CN" dirty="0" smtClean="0">
                                <a:latin typeface="Cambria Math" panose="02040503050406030204" pitchFamily="18" charset="0"/>
                              </a:rPr>
                              <m:t>1</m:t>
                            </m:r>
                          </m:sub>
                        </m:sSub>
                        <m:r>
                          <a:rPr lang="en-US" altLang="zh-CN"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𝑋</m:t>
                            </m:r>
                          </m:e>
                          <m:sub>
                            <m:r>
                              <a:rPr lang="en-US" altLang="zh-CN" dirty="0" smtClean="0">
                                <a:latin typeface="Cambria Math" panose="02040503050406030204" pitchFamily="18" charset="0"/>
                              </a:rPr>
                              <m:t>2</m:t>
                            </m:r>
                          </m:sub>
                        </m:sSub>
                        <m:r>
                          <a:rPr lang="en-US" altLang="zh-CN"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𝑋</m:t>
                            </m:r>
                          </m:e>
                          <m:sub>
                            <m:r>
                              <a:rPr lang="en-US" altLang="zh-CN" dirty="0" smtClean="0">
                                <a:latin typeface="Cambria Math" panose="02040503050406030204" pitchFamily="18" charset="0"/>
                              </a:rPr>
                              <m:t>𝐾</m:t>
                            </m:r>
                          </m:sub>
                        </m:sSub>
                      </m:e>
                    </m:d>
                  </m:oMath>
                </a14:m>
                <a:endParaRPr lang="en-US" altLang="zh-CN" dirty="0"/>
              </a:p>
              <a:p>
                <a:pPr lvl="1"/>
                <a:r>
                  <a:rPr lang="zh-CN" altLang="en-US" dirty="0"/>
                  <a:t>全概率公式</a:t>
                </a:r>
                <a:endParaRPr lang="en-US" altLang="zh-CN" dirty="0"/>
              </a:p>
              <a:p>
                <a:pPr lvl="1"/>
                <a:endParaRPr lang="en-US" altLang="zh-CN" dirty="0"/>
              </a:p>
              <a:p>
                <a:pPr lvl="1"/>
                <a:endParaRPr lang="en-US" altLang="zh-CN" dirty="0"/>
              </a:p>
              <a:p>
                <a:pPr lvl="1"/>
                <a:endParaRPr lang="en-US" altLang="zh-CN" dirty="0"/>
              </a:p>
              <a:p>
                <a:pPr lvl="1"/>
                <a:endParaRPr lang="en-US" altLang="zh-CN" dirty="0"/>
              </a:p>
              <a:p>
                <a:r>
                  <a:rPr lang="zh-CN" altLang="en-US" dirty="0"/>
                  <a:t>例子：</a:t>
                </a:r>
                <a14:m>
                  <m:oMath xmlns:m="http://schemas.openxmlformats.org/officeDocument/2006/math">
                    <m:r>
                      <a:rPr lang="en-US" altLang="zh-CN" dirty="0">
                        <a:latin typeface="Cambria Math" panose="02040503050406030204" pitchFamily="18" charset="0"/>
                      </a:rPr>
                      <m:t>𝑃</m:t>
                    </m:r>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dirty="0">
                                <a:latin typeface="Cambria Math" panose="02040503050406030204" pitchFamily="18" charset="0"/>
                              </a:rPr>
                              <m:t>𝑋</m:t>
                            </m:r>
                          </m:e>
                          <m:sub>
                            <m:r>
                              <a:rPr lang="en-US" altLang="zh-CN" dirty="0">
                                <a:latin typeface="Cambria Math" panose="02040503050406030204" pitchFamily="18" charset="0"/>
                              </a:rPr>
                              <m:t>1</m:t>
                            </m:r>
                          </m:sub>
                        </m:sSub>
                        <m:r>
                          <a:rPr lang="en-US" altLang="zh-CN"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dirty="0">
                                <a:latin typeface="Cambria Math" panose="02040503050406030204" pitchFamily="18" charset="0"/>
                              </a:rPr>
                              <m:t>𝑋</m:t>
                            </m:r>
                          </m:e>
                          <m:sub>
                            <m:r>
                              <a:rPr lang="en-US" altLang="zh-CN" dirty="0">
                                <a:latin typeface="Cambria Math" panose="02040503050406030204" pitchFamily="18" charset="0"/>
                              </a:rPr>
                              <m:t>2</m:t>
                            </m:r>
                          </m:sub>
                        </m:sSub>
                        <m:r>
                          <a:rPr lang="en-US" altLang="zh-CN" dirty="0">
                            <a:latin typeface="Cambria Math" panose="02040503050406030204" pitchFamily="18" charset="0"/>
                          </a:rPr>
                          <m:t>,</m:t>
                        </m:r>
                        <m:r>
                          <a:rPr lang="en-US" altLang="zh-CN" dirty="0" smtClean="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dirty="0">
                                <a:latin typeface="Cambria Math" panose="02040503050406030204" pitchFamily="18" charset="0"/>
                              </a:rPr>
                              <m:t>𝑋</m:t>
                            </m:r>
                          </m:e>
                          <m:sub>
                            <m:r>
                              <a:rPr lang="en-US" altLang="zh-CN" dirty="0" smtClean="0">
                                <a:latin typeface="Cambria Math" panose="02040503050406030204" pitchFamily="18" charset="0"/>
                              </a:rPr>
                              <m:t>3</m:t>
                            </m:r>
                          </m:sub>
                        </m:sSub>
                      </m:e>
                    </m:d>
                  </m:oMath>
                </a14:m>
                <a:endParaRPr lang="en-US" altLang="zh-CN" dirty="0"/>
              </a:p>
              <a:p>
                <a:pPr lvl="1"/>
                <a:r>
                  <a:rPr lang="zh-CN" altLang="en-US" dirty="0"/>
                  <a:t>如果</a:t>
                </a:r>
                <a14:m>
                  <m:oMath xmlns:m="http://schemas.openxmlformats.org/officeDocument/2006/math">
                    <m:sSub>
                      <m:sSubPr>
                        <m:ctrlPr>
                          <a:rPr lang="en-US" altLang="zh-CN" i="1" dirty="0">
                            <a:latin typeface="Cambria Math" panose="02040503050406030204" pitchFamily="18" charset="0"/>
                          </a:rPr>
                        </m:ctrlPr>
                      </m:sSubPr>
                      <m:e>
                        <m:r>
                          <a:rPr lang="en-US" altLang="zh-CN" dirty="0" smtClean="0">
                            <a:latin typeface="Cambria Math" panose="02040503050406030204" pitchFamily="18" charset="0"/>
                          </a:rPr>
                          <m:t>(</m:t>
                        </m:r>
                        <m:r>
                          <a:rPr lang="en-US" altLang="zh-CN" dirty="0">
                            <a:latin typeface="Cambria Math" panose="02040503050406030204" pitchFamily="18" charset="0"/>
                          </a:rPr>
                          <m:t>𝑋</m:t>
                        </m:r>
                      </m:e>
                      <m:sub>
                        <m:r>
                          <a:rPr lang="en-US" altLang="zh-CN" dirty="0" smtClean="0">
                            <a:latin typeface="Cambria Math" panose="02040503050406030204" pitchFamily="18" charset="0"/>
                          </a:rPr>
                          <m:t>1</m:t>
                        </m:r>
                      </m:sub>
                    </m:sSub>
                    <m:r>
                      <a:rPr lang="en-US" altLang="zh-CN" dirty="0" smtClean="0">
                        <a:latin typeface="Cambria Math" panose="02040503050406030204" pitchFamily="18" charset="0"/>
                      </a:rPr>
                      <m:t>|</m:t>
                    </m:r>
                    <m:r>
                      <a:rPr lang="en-US" altLang="zh-CN"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dirty="0">
                            <a:latin typeface="Cambria Math" panose="02040503050406030204" pitchFamily="18" charset="0"/>
                          </a:rPr>
                          <m:t>𝑋</m:t>
                        </m:r>
                      </m:e>
                      <m:sub>
                        <m:r>
                          <a:rPr lang="en-US" altLang="zh-CN" dirty="0" smtClean="0">
                            <a:latin typeface="Cambria Math" panose="02040503050406030204" pitchFamily="18" charset="0"/>
                          </a:rPr>
                          <m:t>3</m:t>
                        </m:r>
                      </m:sub>
                    </m:sSub>
                    <m:r>
                      <a:rPr lang="en-US" altLang="zh-CN"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dirty="0">
                            <a:latin typeface="Cambria Math" panose="02040503050406030204" pitchFamily="18" charset="0"/>
                          </a:rPr>
                          <m:t>𝑋</m:t>
                        </m:r>
                      </m:e>
                      <m:sub>
                        <m:r>
                          <a:rPr lang="en-US" altLang="zh-CN" dirty="0" smtClean="0">
                            <a:latin typeface="Cambria Math" panose="02040503050406030204" pitchFamily="18" charset="0"/>
                          </a:rPr>
                          <m:t>2</m:t>
                        </m:r>
                      </m:sub>
                    </m:sSub>
                    <m:r>
                      <a:rPr lang="zh-CN" altLang="en-US" dirty="0" smtClean="0">
                        <a:latin typeface="Cambria Math" panose="02040503050406030204" pitchFamily="18" charset="0"/>
                      </a:rPr>
                      <m:t>是</m:t>
                    </m:r>
                  </m:oMath>
                </a14:m>
                <a:r>
                  <a:rPr lang="zh-CN" altLang="en-US" dirty="0"/>
                  <a:t>条件独立的，如何化简？</a:t>
                </a:r>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t="-12" b="6"/>
                </a:stretch>
              </a:blipFill>
            </p:spPr>
            <p:txBody>
              <a:bodyPr/>
              <a:lstStyle/>
              <a:p>
                <a:r>
                  <a:rPr lang="zh-CN" altLang="en-US">
                    <a:noFill/>
                  </a:rPr>
                  <a:t> </a:t>
                </a:r>
              </a:p>
            </p:txBody>
          </p:sp>
        </mc:Fallback>
      </mc:AlternateContent>
      <p:sp>
        <p:nvSpPr>
          <p:cNvPr id="4"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概率图模型</a:t>
            </a:r>
            <a:endParaRPr lang="zh-CN" altLang="en-US" dirty="0"/>
          </a:p>
        </p:txBody>
      </p:sp>
      <p:sp>
        <p:nvSpPr>
          <p:cNvPr id="3" name="内容占位符 2"/>
          <p:cNvSpPr>
            <a:spLocks noGrp="1"/>
          </p:cNvSpPr>
          <p:nvPr>
            <p:ph idx="1"/>
          </p:nvPr>
        </p:nvSpPr>
        <p:spPr/>
        <p:txBody>
          <a:bodyPr>
            <a:normAutofit fontScale="92500" lnSpcReduction="20000"/>
          </a:bodyPr>
          <a:lstStyle/>
          <a:p>
            <a:r>
              <a:rPr lang="zh-CN" altLang="en-US" dirty="0"/>
              <a:t>概率图模型（</a:t>
            </a:r>
            <a:r>
              <a:rPr lang="en-US" altLang="zh-CN" dirty="0"/>
              <a:t>Probabilistic Graphical Model</a:t>
            </a:r>
            <a:r>
              <a:rPr lang="zh-CN" altLang="en-US" dirty="0"/>
              <a:t>）是指一种用</a:t>
            </a:r>
            <a:r>
              <a:rPr lang="zh-CN" altLang="en-US" dirty="0">
                <a:solidFill>
                  <a:srgbClr val="00B0F0"/>
                </a:solidFill>
              </a:rPr>
              <a:t>图结构</a:t>
            </a:r>
            <a:r>
              <a:rPr lang="zh-CN" altLang="en-US" dirty="0"/>
              <a:t>来描述多元</a:t>
            </a:r>
            <a:r>
              <a:rPr lang="zh-CN" altLang="en-US" dirty="0">
                <a:solidFill>
                  <a:srgbClr val="00B0F0"/>
                </a:solidFill>
              </a:rPr>
              <a:t>随机变量</a:t>
            </a:r>
            <a:r>
              <a:rPr lang="zh-CN" altLang="en-US" dirty="0"/>
              <a:t>之间</a:t>
            </a:r>
            <a:r>
              <a:rPr lang="zh-CN" altLang="en-US" dirty="0">
                <a:solidFill>
                  <a:srgbClr val="00B0F0"/>
                </a:solidFill>
              </a:rPr>
              <a:t>条件独立关系</a:t>
            </a:r>
            <a:r>
              <a:rPr lang="zh-CN" altLang="en-US" dirty="0"/>
              <a:t>的概率模型。</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每个</a:t>
            </a:r>
            <a:r>
              <a:rPr lang="zh-CN" altLang="en-US" dirty="0">
                <a:solidFill>
                  <a:srgbClr val="00B0F0"/>
                </a:solidFill>
              </a:rPr>
              <a:t>节点</a:t>
            </a:r>
            <a:r>
              <a:rPr lang="zh-CN" altLang="en-US" dirty="0"/>
              <a:t>都对应一个随机变量，可以是观察变量，隐变量或是未知参数等；</a:t>
            </a:r>
            <a:endParaRPr lang="en-US" altLang="zh-CN" dirty="0"/>
          </a:p>
          <a:p>
            <a:r>
              <a:rPr lang="zh-CN" altLang="en-US" dirty="0"/>
              <a:t>每个</a:t>
            </a:r>
            <a:r>
              <a:rPr lang="zh-CN" altLang="en-US" dirty="0">
                <a:solidFill>
                  <a:srgbClr val="00B0F0"/>
                </a:solidFill>
              </a:rPr>
              <a:t>连接</a:t>
            </a:r>
            <a:r>
              <a:rPr lang="zh-CN" altLang="en-US" dirty="0"/>
              <a:t>表示两个随机变量之间具有</a:t>
            </a:r>
            <a:r>
              <a:rPr lang="zh-CN" altLang="en-US" dirty="0">
                <a:solidFill>
                  <a:srgbClr val="00B0F0"/>
                </a:solidFill>
              </a:rPr>
              <a:t>依赖关系</a:t>
            </a:r>
            <a:r>
              <a:rPr lang="zh-CN" altLang="en-US" dirty="0"/>
              <a:t>。</a:t>
            </a:r>
            <a:endParaRPr lang="zh-CN" altLang="en-US" dirty="0"/>
          </a:p>
        </p:txBody>
      </p:sp>
      <p:pic>
        <p:nvPicPr>
          <p:cNvPr id="4" name="图片 3" descr="屏幕剪辑"/>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829285" y="1981200"/>
            <a:ext cx="6533429" cy="2233651"/>
          </a:xfrm>
          <a:prstGeom prst="rect">
            <a:avLst/>
          </a:prstGeom>
        </p:spPr>
      </p:pic>
      <p:sp>
        <p:nvSpPr>
          <p:cNvPr id="5"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概率图模型</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a:t>模型表示（图结构）</a:t>
            </a:r>
            <a:endParaRPr lang="en-US" altLang="zh-CN" dirty="0"/>
          </a:p>
          <a:p>
            <a:pPr lvl="1"/>
            <a:r>
              <a:rPr lang="zh-CN" altLang="en-US" dirty="0"/>
              <a:t>有向图</a:t>
            </a:r>
            <a:r>
              <a:rPr lang="en-US" altLang="zh-CN" dirty="0"/>
              <a:t> </a:t>
            </a:r>
            <a:endParaRPr lang="en-US" altLang="zh-CN" dirty="0"/>
          </a:p>
          <a:p>
            <a:pPr lvl="1"/>
            <a:r>
              <a:rPr lang="zh-CN" altLang="en-US" dirty="0"/>
              <a:t>无向图</a:t>
            </a:r>
            <a:endParaRPr lang="en-US" altLang="zh-CN" dirty="0"/>
          </a:p>
          <a:p>
            <a:pPr lvl="1"/>
            <a:endParaRPr lang="en-US" altLang="zh-CN" dirty="0"/>
          </a:p>
          <a:p>
            <a:pPr lvl="1"/>
            <a:endParaRPr lang="en-US" altLang="zh-CN" dirty="0"/>
          </a:p>
          <a:p>
            <a:r>
              <a:rPr lang="zh-CN" altLang="en-US" dirty="0"/>
              <a:t>学习（</a:t>
            </a:r>
            <a:r>
              <a:rPr lang="en-US" altLang="zh-CN" dirty="0"/>
              <a:t>Learning</a:t>
            </a:r>
            <a:r>
              <a:rPr lang="zh-CN" altLang="en-US" dirty="0"/>
              <a:t>）</a:t>
            </a:r>
            <a:endParaRPr lang="en-US" altLang="zh-CN" dirty="0"/>
          </a:p>
          <a:p>
            <a:pPr lvl="1"/>
            <a:r>
              <a:rPr lang="zh-CN" altLang="en-US" dirty="0"/>
              <a:t>参数学习：给定一组训练样本，求解模型参数</a:t>
            </a:r>
            <a:endParaRPr lang="zh-CN" altLang="en-US" dirty="0"/>
          </a:p>
          <a:p>
            <a:endParaRPr lang="en-US" altLang="zh-CN" dirty="0"/>
          </a:p>
          <a:p>
            <a:r>
              <a:rPr lang="zh-CN" altLang="en-US" dirty="0"/>
              <a:t>推断（</a:t>
            </a:r>
            <a:r>
              <a:rPr lang="en-GB" altLang="zh-CN" dirty="0"/>
              <a:t> Inference </a:t>
            </a:r>
            <a:r>
              <a:rPr lang="zh-CN" altLang="en-US" dirty="0"/>
              <a:t>）</a:t>
            </a:r>
            <a:endParaRPr lang="en-US" altLang="zh-CN" dirty="0"/>
          </a:p>
          <a:p>
            <a:pPr lvl="1"/>
            <a:r>
              <a:rPr lang="zh-CN" altLang="en-US" dirty="0"/>
              <a:t>给定部分变量，推断另一部分变量的后验概率。</a:t>
            </a:r>
            <a:endParaRPr lang="en-US" altLang="zh-CN" dirty="0"/>
          </a:p>
          <a:p>
            <a:pPr lvl="1"/>
            <a:endParaRPr lang="en-US" altLang="zh-CN" dirty="0"/>
          </a:p>
        </p:txBody>
      </p:sp>
      <p:pic>
        <p:nvPicPr>
          <p:cNvPr id="4" name="图片 3" descr="屏幕剪辑"/>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953000" y="1034143"/>
            <a:ext cx="5934541" cy="2028903"/>
          </a:xfrm>
          <a:prstGeom prst="rect">
            <a:avLst/>
          </a:prstGeom>
        </p:spPr>
      </p:pic>
      <p:sp>
        <p:nvSpPr>
          <p:cNvPr id="5"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概率图模型</a:t>
            </a:r>
            <a:endParaRPr lang="zh-CN" altLang="en-US" dirty="0"/>
          </a:p>
        </p:txBody>
      </p:sp>
      <p:pic>
        <p:nvPicPr>
          <p:cNvPr id="4" name="图片 3"/>
          <p:cNvPicPr>
            <a:picLocks noChangeAspect="1"/>
          </p:cNvPicPr>
          <p:nvPr/>
        </p:nvPicPr>
        <p:blipFill>
          <a:blip r:embed="rId1"/>
          <a:stretch>
            <a:fillRect/>
          </a:stretch>
        </p:blipFill>
        <p:spPr>
          <a:xfrm>
            <a:off x="1143000" y="2133600"/>
            <a:ext cx="9663822" cy="3424246"/>
          </a:xfrm>
          <a:prstGeom prst="rect">
            <a:avLst/>
          </a:prstGeom>
        </p:spPr>
      </p:pic>
      <p:sp>
        <p:nvSpPr>
          <p:cNvPr id="5"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概率图有什么用？</a:t>
            </a:r>
            <a:endParaRPr lang="zh-CN" altLang="en-US" dirty="0"/>
          </a:p>
        </p:txBody>
      </p:sp>
      <p:sp>
        <p:nvSpPr>
          <p:cNvPr id="5"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pic>
        <p:nvPicPr>
          <p:cNvPr id="6" name="图片 5"/>
          <p:cNvPicPr>
            <a:picLocks noChangeAspect="1"/>
          </p:cNvPicPr>
          <p:nvPr/>
        </p:nvPicPr>
        <p:blipFill rotWithShape="1">
          <a:blip r:embed="rId1"/>
          <a:srcRect b="58774"/>
          <a:stretch>
            <a:fillRect/>
          </a:stretch>
        </p:blipFill>
        <p:spPr>
          <a:xfrm>
            <a:off x="214976" y="3881550"/>
            <a:ext cx="4926660" cy="1303221"/>
          </a:xfrm>
          <a:prstGeom prst="rect">
            <a:avLst/>
          </a:prstGeom>
        </p:spPr>
      </p:pic>
      <p:sp>
        <p:nvSpPr>
          <p:cNvPr id="7" name="文本框 6"/>
          <p:cNvSpPr txBox="1"/>
          <p:nvPr/>
        </p:nvSpPr>
        <p:spPr>
          <a:xfrm>
            <a:off x="2490951" y="6276569"/>
            <a:ext cx="7945821" cy="369332"/>
          </a:xfrm>
          <a:prstGeom prst="rect">
            <a:avLst/>
          </a:prstGeom>
          <a:noFill/>
        </p:spPr>
        <p:txBody>
          <a:bodyPr wrap="square">
            <a:spAutoFit/>
          </a:bodyPr>
          <a:lstStyle/>
          <a:p>
            <a:r>
              <a:rPr lang="en-US" altLang="zh-CN" b="1" dirty="0">
                <a:latin typeface="微软雅黑" panose="020B0503020204020204" pitchFamily="34" charset="-122"/>
                <a:ea typeface="微软雅黑" panose="020B0503020204020204" pitchFamily="34" charset="-122"/>
              </a:rPr>
              <a:t>Denoising Diffusion Probabilistic Models [</a:t>
            </a:r>
            <a:r>
              <a:rPr lang="en-US" altLang="zh-CN" b="1" dirty="0" err="1">
                <a:latin typeface="微软雅黑" panose="020B0503020204020204" pitchFamily="34" charset="-122"/>
                <a:ea typeface="微软雅黑" panose="020B0503020204020204" pitchFamily="34" charset="-122"/>
              </a:rPr>
              <a:t>NeurIPS</a:t>
            </a:r>
            <a:r>
              <a:rPr lang="en-US" altLang="zh-CN" b="1" dirty="0">
                <a:latin typeface="微软雅黑" panose="020B0503020204020204" pitchFamily="34" charset="-122"/>
                <a:ea typeface="微软雅黑" panose="020B0503020204020204" pitchFamily="34" charset="-122"/>
              </a:rPr>
              <a:t> 2020]</a:t>
            </a:r>
            <a:endParaRPr lang="zh-CN" altLang="en-US" b="1" dirty="0">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2"/>
          <a:stretch>
            <a:fillRect/>
          </a:stretch>
        </p:blipFill>
        <p:spPr>
          <a:xfrm>
            <a:off x="5421210" y="3674246"/>
            <a:ext cx="6555814" cy="1595823"/>
          </a:xfrm>
          <a:prstGeom prst="rect">
            <a:avLst/>
          </a:prstGeom>
        </p:spPr>
      </p:pic>
      <p:sp>
        <p:nvSpPr>
          <p:cNvPr id="9" name="内容占位符 2"/>
          <p:cNvSpPr>
            <a:spLocks noGrp="1"/>
          </p:cNvSpPr>
          <p:nvPr>
            <p:ph idx="1"/>
          </p:nvPr>
        </p:nvSpPr>
        <p:spPr>
          <a:xfrm>
            <a:off x="838200" y="1175973"/>
            <a:ext cx="10515600" cy="4996546"/>
          </a:xfrm>
        </p:spPr>
        <p:txBody>
          <a:bodyPr>
            <a:normAutofit/>
          </a:bodyPr>
          <a:lstStyle/>
          <a:p>
            <a:r>
              <a:rPr lang="zh-CN" altLang="en-US" dirty="0"/>
              <a:t>扩散模型（</a:t>
            </a:r>
            <a:r>
              <a:rPr lang="en-US" altLang="zh-CN" dirty="0"/>
              <a:t>Diffusion Model</a:t>
            </a:r>
            <a:r>
              <a:rPr lang="zh-CN" altLang="en-US" dirty="0"/>
              <a:t>）是一个有向的概率图模型</a:t>
            </a:r>
            <a:endParaRPr lang="en-US" altLang="zh-CN" dirty="0"/>
          </a:p>
          <a:p>
            <a:r>
              <a:rPr lang="zh-CN" altLang="en-US" dirty="0"/>
              <a:t>扩散模型通过逐步去噪的生成过程，间接学习训练数据的分布，其理论基础可视为一种隐变量模型，如马尔可夫链</a:t>
            </a:r>
            <a:endParaRPr lang="en-US" altLang="zh-CN" dirty="0"/>
          </a:p>
          <a:p>
            <a:endParaRPr lang="en-US" altLang="zh-C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概率图有什么用？</a:t>
            </a:r>
            <a:endParaRPr lang="zh-CN" altLang="en-US" dirty="0"/>
          </a:p>
        </p:txBody>
      </p:sp>
      <p:sp>
        <p:nvSpPr>
          <p:cNvPr id="5"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
        <p:nvSpPr>
          <p:cNvPr id="9" name="内容占位符 2"/>
          <p:cNvSpPr>
            <a:spLocks noGrp="1"/>
          </p:cNvSpPr>
          <p:nvPr>
            <p:ph idx="1"/>
          </p:nvPr>
        </p:nvSpPr>
        <p:spPr>
          <a:xfrm>
            <a:off x="838200" y="1175972"/>
            <a:ext cx="10515600" cy="5180377"/>
          </a:xfrm>
        </p:spPr>
        <p:txBody>
          <a:bodyPr>
            <a:normAutofit fontScale="92500" lnSpcReduction="10000"/>
          </a:bodyPr>
          <a:lstStyle/>
          <a:p>
            <a:pPr algn="l"/>
            <a:r>
              <a:rPr lang="zh-CN" altLang="en-US" b="1" i="0" dirty="0">
                <a:effectLst/>
              </a:rPr>
              <a:t>处理不确定性</a:t>
            </a:r>
            <a:endParaRPr lang="en-US" altLang="zh-CN" b="1" i="0" dirty="0">
              <a:effectLst/>
            </a:endParaRPr>
          </a:p>
          <a:p>
            <a:pPr lvl="1"/>
            <a:r>
              <a:rPr lang="zh-CN" altLang="en-US" b="0" i="0" dirty="0">
                <a:effectLst/>
              </a:rPr>
              <a:t>深度学习模型（如</a:t>
            </a:r>
            <a:r>
              <a:rPr lang="en-US" altLang="zh-CN" b="0" i="0" dirty="0">
                <a:effectLst/>
              </a:rPr>
              <a:t>CNN</a:t>
            </a:r>
            <a:r>
              <a:rPr lang="zh-CN" altLang="en-US" b="0" i="0" dirty="0">
                <a:effectLst/>
              </a:rPr>
              <a:t>、</a:t>
            </a:r>
            <a:r>
              <a:rPr lang="en-US" altLang="zh-CN" b="0" i="0" dirty="0">
                <a:effectLst/>
              </a:rPr>
              <a:t>RNN</a:t>
            </a:r>
            <a:r>
              <a:rPr lang="zh-CN" altLang="en-US" b="0" i="0" dirty="0">
                <a:effectLst/>
              </a:rPr>
              <a:t>）通常输出确定性预测，而概率图模型（如贝叶斯网络、马尔可夫随机场）可以</a:t>
            </a:r>
            <a:r>
              <a:rPr lang="zh-CN" altLang="en-US" b="1" i="0" dirty="0">
                <a:solidFill>
                  <a:srgbClr val="00B0F0"/>
                </a:solidFill>
                <a:effectLst/>
              </a:rPr>
              <a:t>建模变量之间的概率依赖关系</a:t>
            </a:r>
            <a:r>
              <a:rPr lang="zh-CN" altLang="en-US" b="0" i="0" dirty="0">
                <a:effectLst/>
              </a:rPr>
              <a:t>，提供预测的不确定性估计</a:t>
            </a:r>
            <a:endParaRPr lang="en-US" altLang="zh-CN" b="1" dirty="0"/>
          </a:p>
          <a:p>
            <a:r>
              <a:rPr lang="zh-CN" altLang="en-US" b="1" i="0" dirty="0">
                <a:effectLst/>
              </a:rPr>
              <a:t>结构化数据建模</a:t>
            </a:r>
            <a:endParaRPr lang="zh-CN" altLang="en-US" b="1" i="0" dirty="0">
              <a:effectLst/>
            </a:endParaRPr>
          </a:p>
          <a:p>
            <a:pPr lvl="1"/>
            <a:r>
              <a:rPr lang="zh-CN" altLang="en-US" b="0" i="0" dirty="0">
                <a:effectLst/>
              </a:rPr>
              <a:t>擅长建模变量之间的复杂依赖关系</a:t>
            </a:r>
            <a:r>
              <a:rPr lang="zh-CN" altLang="en-US" dirty="0"/>
              <a:t>，适用于</a:t>
            </a:r>
            <a:r>
              <a:rPr lang="zh-CN" altLang="en-US" b="1" dirty="0">
                <a:solidFill>
                  <a:srgbClr val="00B0F0"/>
                </a:solidFill>
              </a:rPr>
              <a:t>序列数据</a:t>
            </a:r>
            <a:r>
              <a:rPr lang="zh-CN" altLang="en-US" dirty="0"/>
              <a:t>（</a:t>
            </a:r>
            <a:r>
              <a:rPr lang="zh-CN" altLang="en-US" b="0" i="0" dirty="0">
                <a:effectLst/>
              </a:rPr>
              <a:t>用于</a:t>
            </a:r>
            <a:r>
              <a:rPr lang="en-US" altLang="zh-CN" b="0" i="0" dirty="0">
                <a:effectLst/>
              </a:rPr>
              <a:t>NLP</a:t>
            </a:r>
            <a:r>
              <a:rPr lang="zh-CN" altLang="en-US" b="0" i="0" dirty="0">
                <a:effectLst/>
              </a:rPr>
              <a:t>和语音识别</a:t>
            </a:r>
            <a:r>
              <a:rPr lang="zh-CN" altLang="en-US" dirty="0"/>
              <a:t>）、</a:t>
            </a:r>
            <a:r>
              <a:rPr lang="zh-CN" altLang="en-US" b="1" i="0" dirty="0">
                <a:solidFill>
                  <a:srgbClr val="00B0F0"/>
                </a:solidFill>
                <a:effectLst/>
              </a:rPr>
              <a:t>图结构数据</a:t>
            </a:r>
            <a:r>
              <a:rPr lang="zh-CN" altLang="en-US" b="0" i="0" dirty="0">
                <a:effectLst/>
              </a:rPr>
              <a:t>（如社交网络、知识图谱）、</a:t>
            </a:r>
            <a:r>
              <a:rPr lang="zh-CN" altLang="en-US" b="1" i="0" dirty="0">
                <a:solidFill>
                  <a:srgbClr val="00B0F0"/>
                </a:solidFill>
                <a:effectLst/>
              </a:rPr>
              <a:t>多模态数据</a:t>
            </a:r>
            <a:r>
              <a:rPr lang="zh-CN" altLang="en-US" b="0" i="0" dirty="0">
                <a:effectLst/>
              </a:rPr>
              <a:t>等；</a:t>
            </a:r>
            <a:endParaRPr lang="en-US" altLang="zh-CN" b="0" i="0" dirty="0">
              <a:effectLst/>
            </a:endParaRPr>
          </a:p>
          <a:p>
            <a:r>
              <a:rPr lang="zh-CN" altLang="en-US" dirty="0"/>
              <a:t>可解释性</a:t>
            </a:r>
            <a:endParaRPr lang="en-US" altLang="zh-CN" dirty="0"/>
          </a:p>
          <a:p>
            <a:pPr lvl="1"/>
            <a:r>
              <a:rPr lang="zh-CN" altLang="en-US" i="0" dirty="0">
                <a:effectLst/>
              </a:rPr>
              <a:t>可以</a:t>
            </a:r>
            <a:r>
              <a:rPr lang="zh-CN" altLang="en-US" b="0" i="0" dirty="0">
                <a:effectLst/>
              </a:rPr>
              <a:t>通过图结构直观地表示变量间的</a:t>
            </a:r>
            <a:r>
              <a:rPr lang="zh-CN" altLang="en-US" b="1" i="0" dirty="0">
                <a:solidFill>
                  <a:srgbClr val="00B0F0"/>
                </a:solidFill>
                <a:effectLst/>
              </a:rPr>
              <a:t>因果关系</a:t>
            </a:r>
            <a:r>
              <a:rPr lang="zh-CN" altLang="en-US" b="0" i="0" dirty="0">
                <a:effectLst/>
              </a:rPr>
              <a:t>或</a:t>
            </a:r>
            <a:r>
              <a:rPr lang="zh-CN" altLang="en-US" b="1" i="0" dirty="0">
                <a:solidFill>
                  <a:srgbClr val="00B0F0"/>
                </a:solidFill>
                <a:effectLst/>
              </a:rPr>
              <a:t>依赖关系</a:t>
            </a:r>
            <a:endParaRPr lang="en-US" altLang="zh-CN" b="1" i="0" dirty="0">
              <a:solidFill>
                <a:srgbClr val="00B0F0"/>
              </a:solidFill>
              <a:effectLst/>
            </a:endParaRPr>
          </a:p>
          <a:p>
            <a:r>
              <a:rPr lang="zh-CN" altLang="en-US" dirty="0"/>
              <a:t>生成模型</a:t>
            </a:r>
            <a:endParaRPr lang="en-US" altLang="zh-CN" dirty="0"/>
          </a:p>
          <a:p>
            <a:pPr lvl="1"/>
            <a:r>
              <a:rPr lang="zh-CN" altLang="en-US" b="0" i="0" dirty="0">
                <a:effectLst/>
              </a:rPr>
              <a:t>可以学习数据的潜在变量分布，进而生成数据（</a:t>
            </a:r>
            <a:r>
              <a:rPr lang="en-US" altLang="zh-CN" b="0" i="0" dirty="0">
                <a:effectLst/>
              </a:rPr>
              <a:t>VAE</a:t>
            </a:r>
            <a:r>
              <a:rPr lang="zh-CN" altLang="en-US" b="0" i="0" dirty="0">
                <a:effectLst/>
              </a:rPr>
              <a:t>、</a:t>
            </a:r>
            <a:r>
              <a:rPr lang="en-US" altLang="zh-CN" b="0" i="0" dirty="0">
                <a:effectLst/>
              </a:rPr>
              <a:t>GAN</a:t>
            </a:r>
            <a:r>
              <a:rPr lang="zh-CN" altLang="en-US" b="0" i="0" dirty="0">
                <a:effectLst/>
              </a:rPr>
              <a:t>、扩散模型）</a:t>
            </a:r>
            <a:endParaRPr lang="zh-CN" altLang="en-US" b="0" i="0" dirty="0">
              <a:effectLst/>
            </a:endParaRPr>
          </a:p>
          <a:p>
            <a:pPr lvl="1"/>
            <a:endParaRPr lang="zh-CN" altLang="en-US" b="1" i="0" dirty="0">
              <a:effectLst/>
              <a:latin typeface="DeepSeek-CJK-patch"/>
            </a:endParaRPr>
          </a:p>
          <a:p>
            <a:endParaRPr lang="en-US" altLang="zh-C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模型表示</a:t>
            </a:r>
            <a:endParaRPr lang="zh-CN" altLang="en-US" dirty="0"/>
          </a:p>
        </p:txBody>
      </p:sp>
      <p:sp>
        <p:nvSpPr>
          <p:cNvPr id="3"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贝叶斯网络</a:t>
            </a:r>
            <a:endParaRPr lang="zh-CN" altLang="en-US" dirty="0"/>
          </a:p>
        </p:txBody>
      </p:sp>
      <p:sp>
        <p:nvSpPr>
          <p:cNvPr id="8" name="内容占位符 7"/>
          <p:cNvSpPr>
            <a:spLocks noGrp="1"/>
          </p:cNvSpPr>
          <p:nvPr>
            <p:ph idx="1"/>
          </p:nvPr>
        </p:nvSpPr>
        <p:spPr>
          <a:xfrm>
            <a:off x="838200" y="1180418"/>
            <a:ext cx="10820400" cy="4996546"/>
          </a:xfrm>
        </p:spPr>
        <p:txBody>
          <a:bodyPr/>
          <a:lstStyle/>
          <a:p>
            <a:r>
              <a:rPr lang="zh-CN" altLang="en-US" dirty="0"/>
              <a:t>有向图模型（</a:t>
            </a:r>
            <a:r>
              <a:rPr lang="en-US" altLang="zh-CN" dirty="0"/>
              <a:t>Directed Graphical model</a:t>
            </a:r>
            <a:r>
              <a:rPr lang="zh-CN" altLang="en-US" dirty="0"/>
              <a:t>），也称为贝叶斯网络（</a:t>
            </a:r>
            <a:r>
              <a:rPr lang="en-US" altLang="zh-CN" dirty="0"/>
              <a:t>Bayesian Network</a:t>
            </a:r>
            <a:r>
              <a:rPr lang="zh-CN" altLang="en-US" dirty="0"/>
              <a:t>），或信念网络（</a:t>
            </a:r>
            <a:r>
              <a:rPr lang="en-US" altLang="zh-CN" dirty="0"/>
              <a:t>Belief Network</a:t>
            </a:r>
            <a:r>
              <a:rPr lang="zh-CN" altLang="en-US" dirty="0"/>
              <a:t>，</a:t>
            </a:r>
            <a:r>
              <a:rPr lang="en-US" altLang="zh-CN" dirty="0"/>
              <a:t>BN</a:t>
            </a:r>
            <a:r>
              <a:rPr lang="zh-CN" altLang="en-US" dirty="0"/>
              <a:t>）。</a:t>
            </a:r>
            <a:endParaRPr lang="zh-CN" altLang="en-US" dirty="0"/>
          </a:p>
        </p:txBody>
      </p:sp>
      <p:pic>
        <p:nvPicPr>
          <p:cNvPr id="4" name="图片 3"/>
          <p:cNvPicPr>
            <a:picLocks noChangeAspect="1"/>
          </p:cNvPicPr>
          <p:nvPr/>
        </p:nvPicPr>
        <p:blipFill>
          <a:blip r:embed="rId1"/>
          <a:stretch>
            <a:fillRect/>
          </a:stretch>
        </p:blipFill>
        <p:spPr>
          <a:xfrm>
            <a:off x="539262" y="2438400"/>
            <a:ext cx="7196977" cy="3886200"/>
          </a:xfrm>
          <a:prstGeom prst="rect">
            <a:avLst/>
          </a:prstGeom>
        </p:spPr>
      </p:pic>
      <p:pic>
        <p:nvPicPr>
          <p:cNvPr id="16" name="图片 15"/>
          <p:cNvPicPr>
            <a:picLocks noChangeAspect="1"/>
          </p:cNvPicPr>
          <p:nvPr/>
        </p:nvPicPr>
        <p:blipFill>
          <a:blip r:embed="rId2"/>
          <a:stretch>
            <a:fillRect/>
          </a:stretch>
        </p:blipFill>
        <p:spPr>
          <a:xfrm>
            <a:off x="7924800" y="3526706"/>
            <a:ext cx="3794844" cy="1654894"/>
          </a:xfrm>
          <a:prstGeom prst="rect">
            <a:avLst/>
          </a:prstGeom>
        </p:spPr>
      </p:pic>
      <p:sp>
        <p:nvSpPr>
          <p:cNvPr id="6"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endParaRPr lang="zh-CN" altLang="en-US" dirty="0"/>
          </a:p>
        </p:txBody>
      </p:sp>
      <p:pic>
        <p:nvPicPr>
          <p:cNvPr id="4" name="Picture 4" descr="Figure8.1.jpg"/>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600200" y="1905000"/>
            <a:ext cx="2309812" cy="208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descr="Figure8.2.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00" y="1350404"/>
            <a:ext cx="2719387"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0" descr="TP_tmp.png"/>
          <p:cNvPicPr>
            <a:picLocks noChangeAspect="1"/>
          </p:cNvPicPr>
          <p:nvPr>
            <p:custDataLst>
              <p:tags r:id="rId3"/>
            </p:custDataLst>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995988" y="5486400"/>
            <a:ext cx="5586412" cy="66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TP_tmp.png"/>
          <p:cNvPicPr>
            <a:picLocks noChangeAspect="1"/>
          </p:cNvPicPr>
          <p:nvPr>
            <p:custDataLst>
              <p:tags r:id="rId5"/>
            </p:custDataLst>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7400" y="4462721"/>
            <a:ext cx="5080000"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Tree>
    <p:custDataLst>
      <p:tags r:id="rId7"/>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局部马尔可夫性质</a:t>
            </a:r>
            <a:endParaRPr lang="zh-CN" altLang="en-US" dirty="0"/>
          </a:p>
        </p:txBody>
      </p:sp>
      <p:sp>
        <p:nvSpPr>
          <p:cNvPr id="3" name="内容占位符 2"/>
          <p:cNvSpPr>
            <a:spLocks noGrp="1"/>
          </p:cNvSpPr>
          <p:nvPr>
            <p:ph idx="1"/>
          </p:nvPr>
        </p:nvSpPr>
        <p:spPr/>
        <p:txBody>
          <a:bodyPr>
            <a:normAutofit/>
          </a:bodyPr>
          <a:lstStyle/>
          <a:p>
            <a:r>
              <a:rPr lang="zh-CN" altLang="en-US" sz="2400" dirty="0"/>
              <a:t>贝叶斯网络的局部马尔可夫性质：每个随机变量在给定父节点的情况下，</a:t>
            </a:r>
            <a:br>
              <a:rPr lang="en-US" altLang="zh-CN" sz="2400" dirty="0"/>
            </a:br>
            <a:r>
              <a:rPr lang="zh-CN" altLang="en-US" sz="2400" dirty="0"/>
              <a:t>条件独立于它的非后代节点．</a:t>
            </a:r>
            <a:endParaRPr lang="en-US" altLang="zh-CN" sz="2400" dirty="0"/>
          </a:p>
          <a:p>
            <a:endParaRPr lang="en-US" altLang="zh-CN" sz="2400" dirty="0"/>
          </a:p>
          <a:p>
            <a:pPr lvl="1"/>
            <a:r>
              <a:rPr lang="zh-CN" altLang="en-US" sz="2200" dirty="0"/>
              <a:t>利用局部马尔可夫性，可以</a:t>
            </a:r>
            <a:r>
              <a:rPr lang="zh-CN" altLang="en-US" sz="2200" b="1" dirty="0">
                <a:solidFill>
                  <a:srgbClr val="00B0F0"/>
                </a:solidFill>
              </a:rPr>
              <a:t>对多元变量的联合概率进行简化</a:t>
            </a:r>
            <a:r>
              <a:rPr lang="zh-CN" altLang="en-US" sz="2200" dirty="0"/>
              <a:t>，从而降低建模的复杂度。</a:t>
            </a:r>
            <a:endParaRPr lang="en-US" altLang="zh-CN" sz="2200" dirty="0"/>
          </a:p>
          <a:p>
            <a:r>
              <a:rPr lang="zh-CN" altLang="en-US" sz="2400" dirty="0"/>
              <a:t>例子：</a:t>
            </a:r>
            <a:endParaRPr lang="en-US" altLang="zh-CN" sz="2400" dirty="0"/>
          </a:p>
          <a:p>
            <a:endParaRPr lang="en-US" altLang="zh-CN" sz="2400" dirty="0"/>
          </a:p>
          <a:p>
            <a:pPr lvl="1"/>
            <a:endParaRPr lang="en-US" altLang="zh-CN" sz="1600" dirty="0"/>
          </a:p>
          <a:p>
            <a:pPr lvl="1"/>
            <a:endParaRPr lang="en-US" altLang="zh-CN" sz="1600" dirty="0"/>
          </a:p>
          <a:p>
            <a:pPr lvl="1"/>
            <a:endParaRPr lang="en-US" altLang="zh-CN" sz="1600" dirty="0"/>
          </a:p>
          <a:p>
            <a:pPr lvl="1"/>
            <a:endParaRPr lang="en-US" altLang="zh-CN" sz="1600" dirty="0"/>
          </a:p>
        </p:txBody>
      </p:sp>
      <p:pic>
        <p:nvPicPr>
          <p:cNvPr id="6" name="图片 5"/>
          <p:cNvPicPr>
            <a:picLocks noChangeAspect="1"/>
          </p:cNvPicPr>
          <p:nvPr/>
        </p:nvPicPr>
        <p:blipFill>
          <a:blip r:embed="rId1"/>
          <a:stretch>
            <a:fillRect/>
          </a:stretch>
        </p:blipFill>
        <p:spPr>
          <a:xfrm>
            <a:off x="1797449" y="4283094"/>
            <a:ext cx="6468750" cy="1219200"/>
          </a:xfrm>
          <a:prstGeom prst="rect">
            <a:avLst/>
          </a:prstGeom>
        </p:spPr>
      </p:pic>
      <p:pic>
        <p:nvPicPr>
          <p:cNvPr id="8" name="图片 7"/>
          <p:cNvPicPr>
            <a:picLocks noChangeAspect="1"/>
          </p:cNvPicPr>
          <p:nvPr/>
        </p:nvPicPr>
        <p:blipFill>
          <a:blip r:embed="rId2"/>
          <a:stretch>
            <a:fillRect/>
          </a:stretch>
        </p:blipFill>
        <p:spPr>
          <a:xfrm>
            <a:off x="8284487" y="3733800"/>
            <a:ext cx="3200400" cy="1395663"/>
          </a:xfrm>
          <a:prstGeom prst="rect">
            <a:avLst/>
          </a:prstGeom>
        </p:spPr>
      </p:pic>
      <p:pic>
        <p:nvPicPr>
          <p:cNvPr id="12" name="图片 11"/>
          <p:cNvPicPr>
            <a:picLocks noChangeAspect="1"/>
          </p:cNvPicPr>
          <p:nvPr/>
        </p:nvPicPr>
        <p:blipFill>
          <a:blip r:embed="rId3"/>
          <a:stretch>
            <a:fillRect/>
          </a:stretch>
        </p:blipFill>
        <p:spPr>
          <a:xfrm>
            <a:off x="5181600" y="1905000"/>
            <a:ext cx="1603223" cy="721830"/>
          </a:xfrm>
          <a:prstGeom prst="rect">
            <a:avLst/>
          </a:prstGeom>
        </p:spPr>
      </p:pic>
      <p:sp>
        <p:nvSpPr>
          <p:cNvPr id="7"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条件独立性</a:t>
            </a:r>
            <a:endParaRPr lang="zh-CN" altLang="en-US" dirty="0"/>
          </a:p>
        </p:txBody>
      </p:sp>
      <p:sp>
        <p:nvSpPr>
          <p:cNvPr id="3" name="内容占位符 2"/>
          <p:cNvSpPr>
            <a:spLocks noGrp="1"/>
          </p:cNvSpPr>
          <p:nvPr>
            <p:ph idx="1"/>
          </p:nvPr>
        </p:nvSpPr>
        <p:spPr>
          <a:xfrm>
            <a:off x="838200" y="1180418"/>
            <a:ext cx="10439400" cy="4996546"/>
          </a:xfrm>
        </p:spPr>
        <p:txBody>
          <a:bodyPr/>
          <a:lstStyle/>
          <a:p>
            <a:r>
              <a:rPr lang="zh-CN" altLang="en-US" sz="2400" dirty="0"/>
              <a:t>在贝叶斯网络中，如果两个节点是</a:t>
            </a:r>
            <a:r>
              <a:rPr lang="zh-CN" altLang="en-US" sz="2400" dirty="0">
                <a:solidFill>
                  <a:srgbClr val="00B0F0"/>
                </a:solidFill>
              </a:rPr>
              <a:t>直接连接</a:t>
            </a:r>
            <a:r>
              <a:rPr lang="zh-CN" altLang="en-US" sz="2400" dirty="0"/>
              <a:t>的，它们肯定是非条件独立的，是</a:t>
            </a:r>
            <a:r>
              <a:rPr lang="zh-CN" altLang="en-US" sz="2400" dirty="0">
                <a:solidFill>
                  <a:srgbClr val="00B0F0"/>
                </a:solidFill>
              </a:rPr>
              <a:t>直接因果</a:t>
            </a:r>
            <a:r>
              <a:rPr lang="zh-CN" altLang="en-US" sz="2400" dirty="0"/>
              <a:t>关系。</a:t>
            </a:r>
            <a:endParaRPr lang="en-US" altLang="zh-CN" sz="2400" dirty="0"/>
          </a:p>
          <a:p>
            <a:r>
              <a:rPr lang="zh-CN" altLang="en-US" sz="2400" dirty="0"/>
              <a:t>父节点是“因”，子节点是“果”。</a:t>
            </a:r>
            <a:endParaRPr lang="zh-CN" altLang="en-US" sz="2400" dirty="0"/>
          </a:p>
          <a:p>
            <a:r>
              <a:rPr lang="zh-CN" altLang="en-US" sz="2400" dirty="0"/>
              <a:t>如果两个节点不是直接连接的，但是它们之间有一条经过其他节点的</a:t>
            </a:r>
            <a:r>
              <a:rPr lang="zh-CN" altLang="en-US" sz="2400" dirty="0">
                <a:solidFill>
                  <a:srgbClr val="00B0F0"/>
                </a:solidFill>
              </a:rPr>
              <a:t>路径</a:t>
            </a:r>
            <a:r>
              <a:rPr lang="zh-CN" altLang="en-US" sz="2400" dirty="0"/>
              <a:t>相互连接，它们之间的条件独立性就比较复杂。</a:t>
            </a:r>
            <a:endParaRPr lang="zh-CN" altLang="en-US" sz="2400" dirty="0"/>
          </a:p>
        </p:txBody>
      </p:sp>
      <p:pic>
        <p:nvPicPr>
          <p:cNvPr id="6" name="图片 5"/>
          <p:cNvPicPr>
            <a:picLocks noChangeAspect="1"/>
          </p:cNvPicPr>
          <p:nvPr/>
        </p:nvPicPr>
        <p:blipFill>
          <a:blip r:embed="rId1"/>
          <a:stretch>
            <a:fillRect/>
          </a:stretch>
        </p:blipFill>
        <p:spPr>
          <a:xfrm>
            <a:off x="2895600" y="3782774"/>
            <a:ext cx="5943600" cy="2751665"/>
          </a:xfrm>
          <a:prstGeom prst="rect">
            <a:avLst/>
          </a:prstGeom>
        </p:spPr>
      </p:pic>
      <p:sp>
        <p:nvSpPr>
          <p:cNvPr id="5"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a:t>隐马尔可夫模型（</a:t>
            </a:r>
            <a:r>
              <a:rPr lang="en-US" altLang="zh-CN" sz="2800" dirty="0"/>
              <a:t>Hidden Markov Model</a:t>
            </a:r>
            <a:r>
              <a:rPr lang="zh-CN" altLang="en-US" sz="2800" dirty="0"/>
              <a:t>，</a:t>
            </a:r>
            <a:r>
              <a:rPr lang="en-US" altLang="zh-CN" sz="2800" dirty="0"/>
              <a:t>HMM</a:t>
            </a:r>
            <a:r>
              <a:rPr lang="zh-CN" altLang="en-US" sz="2800" dirty="0"/>
              <a:t>）</a:t>
            </a:r>
            <a:endParaRPr lang="zh-CN" altLang="en-US" sz="2800" dirty="0"/>
          </a:p>
        </p:txBody>
      </p:sp>
      <p:sp>
        <p:nvSpPr>
          <p:cNvPr id="3" name="内容占位符 2"/>
          <p:cNvSpPr>
            <a:spLocks noGrp="1"/>
          </p:cNvSpPr>
          <p:nvPr>
            <p:ph idx="1"/>
          </p:nvPr>
        </p:nvSpPr>
        <p:spPr/>
        <p:txBody>
          <a:bodyPr/>
          <a:lstStyle/>
          <a:p>
            <a:r>
              <a:rPr lang="zh-CN" altLang="en-US" dirty="0"/>
              <a:t>表示一种含有隐变量的马尔可夫过程</a:t>
            </a:r>
            <a:endParaRPr lang="en-US" altLang="zh-CN" dirty="0"/>
          </a:p>
          <a:p>
            <a:endParaRPr lang="en-US" altLang="zh-CN" dirty="0"/>
          </a:p>
          <a:p>
            <a:pPr marL="0" indent="0">
              <a:buNone/>
            </a:pPr>
            <a:endParaRPr lang="en-US" altLang="zh-CN" dirty="0"/>
          </a:p>
          <a:p>
            <a:endParaRPr lang="en-US" altLang="zh-CN" dirty="0"/>
          </a:p>
          <a:p>
            <a:r>
              <a:rPr lang="zh-CN" altLang="en-US" dirty="0"/>
              <a:t>隐马尔可夫模型的联合概率可以分解为</a:t>
            </a:r>
            <a:endParaRPr lang="zh-CN" altLang="en-US"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038600" y="1895856"/>
            <a:ext cx="3657600" cy="1609344"/>
          </a:xfrm>
          <a:prstGeom prst="rect">
            <a:avLst/>
          </a:prstGeom>
        </p:spPr>
      </p:pic>
      <p:sp>
        <p:nvSpPr>
          <p:cNvPr id="8" name="矩形 7"/>
          <p:cNvSpPr/>
          <p:nvPr/>
        </p:nvSpPr>
        <p:spPr>
          <a:xfrm>
            <a:off x="6988314" y="5510309"/>
            <a:ext cx="1415772" cy="461665"/>
          </a:xfrm>
          <a:prstGeom prst="rect">
            <a:avLst/>
          </a:prstGeom>
        </p:spPr>
        <p:txBody>
          <a:bodyPr wrap="none">
            <a:spAutoFit/>
          </a:bodyPr>
          <a:lstStyle/>
          <a:p>
            <a:r>
              <a:rPr lang="zh-CN" altLang="en-US" sz="2400" b="1" dirty="0">
                <a:solidFill>
                  <a:srgbClr val="00B0F0"/>
                </a:solidFill>
                <a:latin typeface="微软雅黑" panose="020B0503020204020204" pitchFamily="34" charset="-122"/>
                <a:ea typeface="微软雅黑" panose="020B0503020204020204" pitchFamily="34" charset="-122"/>
              </a:rPr>
              <a:t>输出概率</a:t>
            </a:r>
            <a:endParaRPr lang="zh-CN" altLang="en-US" sz="2400" b="1" dirty="0">
              <a:solidFill>
                <a:srgbClr val="00B0F0"/>
              </a:solidFill>
              <a:latin typeface="微软雅黑" panose="020B0503020204020204" pitchFamily="34" charset="-122"/>
              <a:ea typeface="微软雅黑" panose="020B0503020204020204" pitchFamily="34" charset="-122"/>
            </a:endParaRPr>
          </a:p>
        </p:txBody>
      </p:sp>
      <p:sp>
        <p:nvSpPr>
          <p:cNvPr id="9" name="矩形 8"/>
          <p:cNvSpPr/>
          <p:nvPr/>
        </p:nvSpPr>
        <p:spPr>
          <a:xfrm>
            <a:off x="5563563" y="5510309"/>
            <a:ext cx="1415772" cy="461665"/>
          </a:xfrm>
          <a:prstGeom prst="rect">
            <a:avLst/>
          </a:prstGeom>
        </p:spPr>
        <p:txBody>
          <a:bodyPr wrap="none">
            <a:spAutoFit/>
          </a:bodyPr>
          <a:lstStyle/>
          <a:p>
            <a:r>
              <a:rPr lang="zh-CN" altLang="en-US" sz="2400" b="1" dirty="0">
                <a:solidFill>
                  <a:srgbClr val="00B0F0"/>
                </a:solidFill>
                <a:latin typeface="微软雅黑" panose="020B0503020204020204" pitchFamily="34" charset="-122"/>
                <a:ea typeface="微软雅黑" panose="020B0503020204020204" pitchFamily="34" charset="-122"/>
              </a:rPr>
              <a:t>转移概率</a:t>
            </a:r>
            <a:endParaRPr lang="zh-CN" altLang="en-US" sz="2400" b="1" dirty="0">
              <a:solidFill>
                <a:srgbClr val="00B0F0"/>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2"/>
          <a:stretch>
            <a:fillRect/>
          </a:stretch>
        </p:blipFill>
        <p:spPr>
          <a:xfrm>
            <a:off x="3429000" y="4521612"/>
            <a:ext cx="4953000" cy="995073"/>
          </a:xfrm>
          <a:prstGeom prst="rect">
            <a:avLst/>
          </a:prstGeom>
        </p:spPr>
      </p:pic>
      <p:sp>
        <p:nvSpPr>
          <p:cNvPr id="10"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高斯混合模型</a:t>
            </a:r>
            <a:endParaRPr lang="zh-CN" altLang="en-US" dirty="0"/>
          </a:p>
        </p:txBody>
      </p:sp>
      <p:sp>
        <p:nvSpPr>
          <p:cNvPr id="3" name="内容占位符 2"/>
          <p:cNvSpPr>
            <a:spLocks noGrp="1"/>
          </p:cNvSpPr>
          <p:nvPr>
            <p:ph idx="1"/>
          </p:nvPr>
        </p:nvSpPr>
        <p:spPr>
          <a:xfrm>
            <a:off x="685800" y="1220898"/>
            <a:ext cx="10744200" cy="4996546"/>
          </a:xfrm>
        </p:spPr>
        <p:txBody>
          <a:bodyPr/>
          <a:lstStyle/>
          <a:p>
            <a:r>
              <a:rPr lang="zh-CN" altLang="en-US" dirty="0"/>
              <a:t>高斯混合模型（</a:t>
            </a:r>
            <a:r>
              <a:rPr lang="en-US" altLang="zh-CN" dirty="0"/>
              <a:t>Gaussian Mixture Model</a:t>
            </a:r>
            <a:r>
              <a:rPr lang="zh-CN" altLang="en-US" dirty="0"/>
              <a:t>，</a:t>
            </a:r>
            <a:r>
              <a:rPr lang="en-US" altLang="zh-CN" dirty="0"/>
              <a:t>GMM</a:t>
            </a:r>
            <a:r>
              <a:rPr lang="zh-CN" altLang="en-US" dirty="0"/>
              <a:t>）是由多个高斯分布组成的模型，其密度函数为</a:t>
            </a:r>
            <a:r>
              <a:rPr lang="zh-CN" altLang="en-US" dirty="0">
                <a:solidFill>
                  <a:srgbClr val="00B0F0"/>
                </a:solidFill>
              </a:rPr>
              <a:t>多个高斯</a:t>
            </a:r>
            <a:r>
              <a:rPr lang="zh-CN" altLang="en-US" dirty="0"/>
              <a:t>密度函数的</a:t>
            </a:r>
            <a:r>
              <a:rPr lang="zh-CN" altLang="en-US" dirty="0">
                <a:solidFill>
                  <a:srgbClr val="00B0F0"/>
                </a:solidFill>
              </a:rPr>
              <a:t>加权组合</a:t>
            </a:r>
            <a:r>
              <a:rPr lang="zh-CN" altLang="en-US" dirty="0"/>
              <a:t>。</a:t>
            </a:r>
            <a:endParaRPr lang="zh-CN" altLang="en-US" dirty="0"/>
          </a:p>
          <a:p>
            <a:endParaRPr lang="zh-CN" altLang="en-US" dirty="0"/>
          </a:p>
        </p:txBody>
      </p:sp>
      <p:pic>
        <p:nvPicPr>
          <p:cNvPr id="1026" name="Picture 2" descr="Image result for gmm model"/>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28800" y="2940844"/>
            <a:ext cx="3986213" cy="332184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gmm mode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65520" y="2667000"/>
            <a:ext cx="4953001" cy="3683794"/>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p:cNvPicPr>
            <a:picLocks noChangeAspect="1"/>
          </p:cNvPicPr>
          <p:nvPr/>
        </p:nvPicPr>
        <p:blipFill>
          <a:blip r:embed="rId3"/>
          <a:stretch>
            <a:fillRect/>
          </a:stretch>
        </p:blipFill>
        <p:spPr>
          <a:xfrm>
            <a:off x="2208007" y="2362200"/>
            <a:ext cx="3505200" cy="1109190"/>
          </a:xfrm>
          <a:prstGeom prst="rect">
            <a:avLst/>
          </a:prstGeom>
        </p:spPr>
      </p:pic>
      <p:sp>
        <p:nvSpPr>
          <p:cNvPr id="8"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457200" y="286853"/>
            <a:ext cx="10515600" cy="632400"/>
          </a:xfrm>
        </p:spPr>
        <p:txBody>
          <a:bodyPr/>
          <a:lstStyle/>
          <a:p>
            <a:r>
              <a:rPr lang="zh-CN" altLang="en-US" sz="3200" dirty="0"/>
              <a:t>高斯混合模型（</a:t>
            </a:r>
            <a:r>
              <a:rPr lang="en-US" altLang="zh-CN" sz="3200" dirty="0"/>
              <a:t>Gaussian Mixture Model, GMM</a:t>
            </a:r>
            <a:r>
              <a:rPr lang="zh-CN" altLang="en-US" sz="3200" dirty="0"/>
              <a:t>）</a:t>
            </a:r>
            <a:endParaRPr lang="zh-CN" altLang="en-US" sz="3200" dirty="0"/>
          </a:p>
        </p:txBody>
      </p:sp>
      <p:sp>
        <p:nvSpPr>
          <p:cNvPr id="2" name="内容占位符 1"/>
          <p:cNvSpPr>
            <a:spLocks noGrp="1"/>
          </p:cNvSpPr>
          <p:nvPr>
            <p:ph idx="1"/>
          </p:nvPr>
        </p:nvSpPr>
        <p:spPr/>
        <p:txBody>
          <a:bodyPr/>
          <a:lstStyle/>
          <a:p>
            <a:r>
              <a:rPr lang="zh-CN" altLang="en-US" dirty="0"/>
              <a:t>图模型表示</a:t>
            </a:r>
            <a:endParaRPr lang="zh-CN" altLang="en-US" dirty="0"/>
          </a:p>
        </p:txBody>
      </p:sp>
      <p:pic>
        <p:nvPicPr>
          <p:cNvPr id="7" name="图片 6"/>
          <p:cNvPicPr>
            <a:picLocks noChangeAspect="1"/>
          </p:cNvPicPr>
          <p:nvPr/>
        </p:nvPicPr>
        <p:blipFill>
          <a:blip r:embed="rId1"/>
          <a:stretch>
            <a:fillRect/>
          </a:stretch>
        </p:blipFill>
        <p:spPr>
          <a:xfrm>
            <a:off x="4525284" y="1635198"/>
            <a:ext cx="6928144" cy="2174802"/>
          </a:xfrm>
          <a:prstGeom prst="rect">
            <a:avLst/>
          </a:prstGeom>
        </p:spPr>
      </p:pic>
      <p:pic>
        <p:nvPicPr>
          <p:cNvPr id="8" name="图片 7"/>
          <p:cNvPicPr>
            <a:picLocks noChangeAspect="1"/>
          </p:cNvPicPr>
          <p:nvPr/>
        </p:nvPicPr>
        <p:blipFill>
          <a:blip r:embed="rId2"/>
          <a:stretch>
            <a:fillRect/>
          </a:stretch>
        </p:blipFill>
        <p:spPr>
          <a:xfrm>
            <a:off x="6264712" y="4332330"/>
            <a:ext cx="3200400" cy="1012739"/>
          </a:xfrm>
          <a:prstGeom prst="rect">
            <a:avLst/>
          </a:prstGeom>
        </p:spPr>
      </p:pic>
      <p:sp>
        <p:nvSpPr>
          <p:cNvPr id="9" name="箭头: 下 8"/>
          <p:cNvSpPr/>
          <p:nvPr/>
        </p:nvSpPr>
        <p:spPr>
          <a:xfrm>
            <a:off x="7620000" y="3810000"/>
            <a:ext cx="489824" cy="381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
        <p:nvSpPr>
          <p:cNvPr id="11" name="矩形 10"/>
          <p:cNvSpPr/>
          <p:nvPr/>
        </p:nvSpPr>
        <p:spPr>
          <a:xfrm>
            <a:off x="1066800" y="5463369"/>
            <a:ext cx="4793300" cy="830997"/>
          </a:xfrm>
          <a:prstGeom prst="rect">
            <a:avLst/>
          </a:prstGeom>
        </p:spPr>
        <p:txBody>
          <a:bodyPr wrap="none">
            <a:spAutoFit/>
          </a:bodyPr>
          <a:lstStyle/>
          <a:p>
            <a:r>
              <a:rPr lang="zh-CN" altLang="en-US" sz="2400" b="1" dirty="0">
                <a:solidFill>
                  <a:srgbClr val="00B0F0"/>
                </a:solidFill>
                <a:latin typeface="微软雅黑" panose="020B0503020204020204" pitchFamily="34" charset="-122"/>
                <a:ea typeface="微软雅黑" panose="020B0503020204020204" pitchFamily="34" charset="-122"/>
              </a:rPr>
              <a:t>盘子表示法（</a:t>
            </a:r>
            <a:r>
              <a:rPr lang="en-US" altLang="zh-CN" sz="2400" b="1" dirty="0">
                <a:solidFill>
                  <a:srgbClr val="00B0F0"/>
                </a:solidFill>
                <a:latin typeface="微软雅黑" panose="020B0503020204020204" pitchFamily="34" charset="-122"/>
                <a:ea typeface="微软雅黑" panose="020B0503020204020204" pitchFamily="34" charset="-122"/>
              </a:rPr>
              <a:t>Plate Notation</a:t>
            </a:r>
            <a:r>
              <a:rPr lang="zh-CN" altLang="en-US" sz="2400" b="1" dirty="0">
                <a:solidFill>
                  <a:srgbClr val="00B0F0"/>
                </a:solidFill>
                <a:latin typeface="微软雅黑" panose="020B0503020204020204" pitchFamily="34" charset="-122"/>
                <a:ea typeface="微软雅黑" panose="020B0503020204020204" pitchFamily="34" charset="-122"/>
              </a:rPr>
              <a:t>）</a:t>
            </a:r>
            <a:endParaRPr lang="en-US" altLang="zh-CN" sz="2400" b="1" dirty="0">
              <a:solidFill>
                <a:srgbClr val="00B0F0"/>
              </a:solidFill>
              <a:latin typeface="微软雅黑" panose="020B0503020204020204" pitchFamily="34" charset="-122"/>
              <a:ea typeface="微软雅黑" panose="020B0503020204020204" pitchFamily="34" charset="-122"/>
            </a:endParaRPr>
          </a:p>
          <a:p>
            <a:pPr marL="342900" indent="-342900">
              <a:buFont typeface="Arial" panose="020B0604020202090204" pitchFamily="34" charset="0"/>
              <a:buChar char="•"/>
            </a:pPr>
            <a:r>
              <a:rPr lang="zh-CN" altLang="en-US" sz="2400" b="1" dirty="0">
                <a:solidFill>
                  <a:srgbClr val="00B0F0"/>
                </a:solidFill>
                <a:latin typeface="微软雅黑" panose="020B0503020204020204" pitchFamily="34" charset="-122"/>
                <a:ea typeface="微软雅黑" panose="020B0503020204020204" pitchFamily="34" charset="-122"/>
              </a:rPr>
              <a:t>表示矩形框内的变量重复了</a:t>
            </a:r>
            <a:r>
              <a:rPr lang="en-US" altLang="zh-CN" sz="2400" b="1" dirty="0">
                <a:solidFill>
                  <a:srgbClr val="00B0F0"/>
                </a:solidFill>
                <a:latin typeface="微软雅黑" panose="020B0503020204020204" pitchFamily="34" charset="-122"/>
                <a:ea typeface="微软雅黑" panose="020B0503020204020204" pitchFamily="34" charset="-122"/>
              </a:rPr>
              <a:t>N</a:t>
            </a:r>
            <a:r>
              <a:rPr lang="zh-CN" altLang="en-US" sz="2400" b="1" dirty="0">
                <a:solidFill>
                  <a:srgbClr val="00B0F0"/>
                </a:solidFill>
                <a:latin typeface="微软雅黑" panose="020B0503020204020204" pitchFamily="34" charset="-122"/>
                <a:ea typeface="微软雅黑" panose="020B0503020204020204" pitchFamily="34" charset="-122"/>
              </a:rPr>
              <a:t>次</a:t>
            </a:r>
            <a:endParaRPr lang="zh-CN" altLang="en-US" sz="2400" b="1" dirty="0">
              <a:solidFill>
                <a:srgbClr val="00B0F0"/>
              </a:solidFill>
              <a:latin typeface="微软雅黑" panose="020B0503020204020204" pitchFamily="34" charset="-122"/>
              <a:ea typeface="微软雅黑" panose="020B0503020204020204" pitchFamily="34" charset="-122"/>
            </a:endParaRPr>
          </a:p>
        </p:txBody>
      </p:sp>
      <p:pic>
        <p:nvPicPr>
          <p:cNvPr id="14" name="图片 13"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7800" y="1981200"/>
            <a:ext cx="3200400" cy="312745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概率主题模型（</a:t>
            </a:r>
            <a:r>
              <a:rPr lang="en-US" altLang="zh-CN" dirty="0"/>
              <a:t>Probabilistic topic model</a:t>
            </a:r>
            <a:r>
              <a:rPr lang="zh-CN" altLang="en-US" dirty="0"/>
              <a:t>）</a:t>
            </a:r>
            <a:endParaRPr lang="zh-CN" altLang="en-US" dirty="0"/>
          </a:p>
        </p:txBody>
      </p:sp>
      <p:pic>
        <p:nvPicPr>
          <p:cNvPr id="1026" name="Picture 2" descr="Image result for 概率主题模型"/>
          <p:cNvPicPr>
            <a:picLocks noGrp="1" noChangeAspect="1" noChangeArrowheads="1"/>
          </p:cNvPicPr>
          <p:nvPr>
            <p:ph idx="1"/>
          </p:nvPr>
        </p:nvPicPr>
        <p:blipFill>
          <a:blip r:embed="rId1">
            <a:extLst>
              <a:ext uri="{28A0092B-C50C-407E-A947-70E740481C1C}">
                <a14:useLocalDpi xmlns:a14="http://schemas.microsoft.com/office/drawing/2010/main" val="0"/>
              </a:ext>
            </a:extLst>
          </a:blip>
          <a:stretch>
            <a:fillRect/>
          </a:stretch>
        </p:blipFill>
        <p:spPr bwMode="auto">
          <a:xfrm>
            <a:off x="2286000" y="1219200"/>
            <a:ext cx="7581900" cy="405466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8400" y="5252857"/>
            <a:ext cx="4783200" cy="1362032"/>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
        <p:nvSpPr>
          <p:cNvPr id="6" name="矩形 5"/>
          <p:cNvSpPr/>
          <p:nvPr/>
        </p:nvSpPr>
        <p:spPr>
          <a:xfrm>
            <a:off x="6553200" y="6196850"/>
            <a:ext cx="1210588" cy="400110"/>
          </a:xfrm>
          <a:prstGeom prst="rect">
            <a:avLst/>
          </a:prstGeom>
        </p:spPr>
        <p:txBody>
          <a:bodyPr wrap="none">
            <a:spAutoFit/>
          </a:bodyPr>
          <a:lstStyle/>
          <a:p>
            <a:r>
              <a:rPr lang="zh-CN" altLang="en-US" sz="2000" b="1" dirty="0">
                <a:solidFill>
                  <a:srgbClr val="00B0F0"/>
                </a:solidFill>
                <a:latin typeface="微软雅黑" panose="020B0503020204020204" pitchFamily="34" charset="-122"/>
                <a:ea typeface="微软雅黑" panose="020B0503020204020204" pitchFamily="34" charset="-122"/>
              </a:rPr>
              <a:t>话题分布</a:t>
            </a:r>
            <a:endParaRPr lang="zh-CN" altLang="en-US" sz="2000" b="1" dirty="0">
              <a:solidFill>
                <a:srgbClr val="00B0F0"/>
              </a:solidFill>
              <a:latin typeface="微软雅黑" panose="020B0503020204020204" pitchFamily="34" charset="-122"/>
              <a:ea typeface="微软雅黑" panose="020B0503020204020204" pitchFamily="34" charset="-122"/>
            </a:endParaRPr>
          </a:p>
        </p:txBody>
      </p:sp>
      <p:sp>
        <p:nvSpPr>
          <p:cNvPr id="7" name="矩形 6"/>
          <p:cNvSpPr/>
          <p:nvPr/>
        </p:nvSpPr>
        <p:spPr>
          <a:xfrm>
            <a:off x="9649530" y="5043035"/>
            <a:ext cx="697627" cy="400110"/>
          </a:xfrm>
          <a:prstGeom prst="rect">
            <a:avLst/>
          </a:prstGeom>
        </p:spPr>
        <p:txBody>
          <a:bodyPr wrap="none">
            <a:spAutoFit/>
          </a:bodyPr>
          <a:lstStyle/>
          <a:p>
            <a:r>
              <a:rPr lang="zh-CN" altLang="en-US" sz="2000" b="1" dirty="0">
                <a:solidFill>
                  <a:srgbClr val="00B0F0"/>
                </a:solidFill>
                <a:latin typeface="微软雅黑" panose="020B0503020204020204" pitchFamily="34" charset="-122"/>
                <a:ea typeface="微软雅黑" panose="020B0503020204020204" pitchFamily="34" charset="-122"/>
              </a:rPr>
              <a:t>词频</a:t>
            </a:r>
            <a:endParaRPr lang="zh-CN" altLang="en-US" sz="2000" b="1" dirty="0">
              <a:solidFill>
                <a:srgbClr val="00B0F0"/>
              </a:solidFill>
              <a:latin typeface="微软雅黑" panose="020B0503020204020204" pitchFamily="34" charset="-122"/>
              <a:ea typeface="微软雅黑" panose="020B0503020204020204" pitchFamily="34" charset="-122"/>
            </a:endParaRPr>
          </a:p>
        </p:txBody>
      </p:sp>
      <p:sp>
        <p:nvSpPr>
          <p:cNvPr id="8" name="矩形 7"/>
          <p:cNvSpPr/>
          <p:nvPr/>
        </p:nvSpPr>
        <p:spPr>
          <a:xfrm>
            <a:off x="7906927" y="5043035"/>
            <a:ext cx="1467068" cy="400110"/>
          </a:xfrm>
          <a:prstGeom prst="rect">
            <a:avLst/>
          </a:prstGeom>
        </p:spPr>
        <p:txBody>
          <a:bodyPr wrap="none">
            <a:spAutoFit/>
          </a:bodyPr>
          <a:lstStyle/>
          <a:p>
            <a:r>
              <a:rPr lang="zh-CN" altLang="en-US" sz="2000" b="1" dirty="0">
                <a:solidFill>
                  <a:srgbClr val="00B0F0"/>
                </a:solidFill>
                <a:latin typeface="微软雅黑" panose="020B0503020204020204" pitchFamily="34" charset="-122"/>
                <a:ea typeface="微软雅黑" panose="020B0503020204020204" pitchFamily="34" charset="-122"/>
              </a:rPr>
              <a:t>文档中词频</a:t>
            </a:r>
            <a:endParaRPr lang="zh-CN" altLang="en-US" sz="2000" b="1" dirty="0">
              <a:solidFill>
                <a:srgbClr val="00B0F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有向图模型</a:t>
            </a:r>
            <a:endParaRPr lang="zh-CN" altLang="en-US" dirty="0"/>
          </a:p>
        </p:txBody>
      </p:sp>
      <p:sp>
        <p:nvSpPr>
          <p:cNvPr id="3" name="内容占位符 2"/>
          <p:cNvSpPr>
            <a:spLocks noGrp="1"/>
          </p:cNvSpPr>
          <p:nvPr>
            <p:ph idx="1"/>
          </p:nvPr>
        </p:nvSpPr>
        <p:spPr/>
        <p:txBody>
          <a:bodyPr/>
          <a:lstStyle/>
          <a:p>
            <a:r>
              <a:rPr lang="zh-CN" altLang="en-US" dirty="0"/>
              <a:t>深度信念网络（</a:t>
            </a:r>
            <a:r>
              <a:rPr lang="en-US" altLang="zh-CN" dirty="0"/>
              <a:t>12</a:t>
            </a:r>
            <a:r>
              <a:rPr lang="zh-CN" altLang="en-US" dirty="0"/>
              <a:t>章介绍，自行了解）</a:t>
            </a:r>
            <a:endParaRPr lang="en-US" altLang="zh-CN" dirty="0"/>
          </a:p>
          <a:p>
            <a:endParaRPr lang="en-US" altLang="zh-CN" dirty="0"/>
          </a:p>
          <a:p>
            <a:endParaRPr lang="en-US" altLang="zh-CN" dirty="0"/>
          </a:p>
          <a:p>
            <a:endParaRPr lang="en-US" altLang="zh-CN" dirty="0"/>
          </a:p>
          <a:p>
            <a:r>
              <a:rPr lang="zh-CN" altLang="en-US" dirty="0"/>
              <a:t>变分自编码器（第</a:t>
            </a:r>
            <a:r>
              <a:rPr lang="en-US" altLang="zh-CN" dirty="0"/>
              <a:t>13</a:t>
            </a:r>
            <a:r>
              <a:rPr lang="zh-CN" altLang="en-US" dirty="0"/>
              <a:t>章介绍）</a:t>
            </a:r>
            <a:endParaRPr lang="en-US" altLang="zh-CN" dirty="0"/>
          </a:p>
          <a:p>
            <a:endParaRPr lang="zh-CN" altLang="en-US" dirty="0"/>
          </a:p>
        </p:txBody>
      </p:sp>
      <p:sp>
        <p:nvSpPr>
          <p:cNvPr id="4"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pic>
        <p:nvPicPr>
          <p:cNvPr id="6" name="图片 5"/>
          <p:cNvPicPr>
            <a:picLocks noChangeAspect="1"/>
          </p:cNvPicPr>
          <p:nvPr/>
        </p:nvPicPr>
        <p:blipFill>
          <a:blip r:embed="rId1"/>
          <a:stretch>
            <a:fillRect/>
          </a:stretch>
        </p:blipFill>
        <p:spPr>
          <a:xfrm>
            <a:off x="7315200" y="1087083"/>
            <a:ext cx="3709939" cy="2743200"/>
          </a:xfrm>
          <a:prstGeom prst="rect">
            <a:avLst/>
          </a:prstGeom>
        </p:spPr>
      </p:pic>
      <p:pic>
        <p:nvPicPr>
          <p:cNvPr id="8" name="图片 7"/>
          <p:cNvPicPr>
            <a:picLocks noChangeAspect="1"/>
          </p:cNvPicPr>
          <p:nvPr/>
        </p:nvPicPr>
        <p:blipFill>
          <a:blip r:embed="rId2"/>
          <a:stretch>
            <a:fillRect/>
          </a:stretch>
        </p:blipFill>
        <p:spPr>
          <a:xfrm>
            <a:off x="5791200" y="3937646"/>
            <a:ext cx="5746376" cy="213195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马尔可夫随机场（</a:t>
            </a:r>
            <a:r>
              <a:rPr lang="en-US" altLang="zh-CN" dirty="0"/>
              <a:t>Markov Random Field</a:t>
            </a:r>
            <a:r>
              <a:rPr lang="zh-CN" altLang="en-US" dirty="0"/>
              <a:t>）</a:t>
            </a:r>
            <a:endParaRPr lang="zh-CN" altLang="en-US" dirty="0"/>
          </a:p>
        </p:txBody>
      </p:sp>
      <p:sp>
        <p:nvSpPr>
          <p:cNvPr id="3" name="内容占位符 2"/>
          <p:cNvSpPr>
            <a:spLocks noGrp="1"/>
          </p:cNvSpPr>
          <p:nvPr>
            <p:ph idx="1"/>
          </p:nvPr>
        </p:nvSpPr>
        <p:spPr/>
        <p:txBody>
          <a:bodyPr/>
          <a:lstStyle/>
          <a:p>
            <a:r>
              <a:rPr lang="zh-CN" altLang="en-US" dirty="0"/>
              <a:t>马尔可夫随机场，也称无向图模型（</a:t>
            </a:r>
            <a:r>
              <a:rPr lang="en-US" altLang="zh-CN" dirty="0"/>
              <a:t>Undirected Graphical Model</a:t>
            </a:r>
            <a:r>
              <a:rPr lang="zh-CN" altLang="en-US" dirty="0"/>
              <a:t>），是一类用无向图来表示一组具有马尔可夫性质的随机变量</a:t>
            </a:r>
            <a:r>
              <a:rPr lang="en-US" altLang="zh-CN" dirty="0"/>
              <a:t>X</a:t>
            </a:r>
            <a:r>
              <a:rPr lang="zh-CN" altLang="en-US" dirty="0"/>
              <a:t>的</a:t>
            </a:r>
            <a:r>
              <a:rPr lang="zh-CN" altLang="en-US" dirty="0">
                <a:solidFill>
                  <a:srgbClr val="00B0F0"/>
                </a:solidFill>
              </a:rPr>
              <a:t>联合概率分布</a:t>
            </a:r>
            <a:r>
              <a:rPr lang="zh-CN" altLang="en-US" dirty="0"/>
              <a:t>模型。</a:t>
            </a:r>
            <a:endParaRPr lang="zh-CN" altLang="en-US" dirty="0"/>
          </a:p>
        </p:txBody>
      </p:sp>
      <p:pic>
        <p:nvPicPr>
          <p:cNvPr id="5" name="图片 4"/>
          <p:cNvPicPr>
            <a:picLocks noChangeAspect="1"/>
          </p:cNvPicPr>
          <p:nvPr/>
        </p:nvPicPr>
        <p:blipFill>
          <a:blip r:embed="rId1"/>
          <a:stretch>
            <a:fillRect/>
          </a:stretch>
        </p:blipFill>
        <p:spPr>
          <a:xfrm>
            <a:off x="1818603" y="2849096"/>
            <a:ext cx="8554794" cy="3872379"/>
          </a:xfrm>
          <a:prstGeom prst="rect">
            <a:avLst/>
          </a:prstGeom>
        </p:spPr>
      </p:pic>
      <p:sp>
        <p:nvSpPr>
          <p:cNvPr id="6"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无向图的马尔可夫性</a:t>
            </a:r>
            <a:endParaRPr lang="zh-CN" altLang="en-US"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0" y="1393624"/>
            <a:ext cx="9339790" cy="1905000"/>
          </a:xfrm>
          <a:prstGeom prst="rect">
            <a:avLst/>
          </a:prstGeom>
        </p:spPr>
      </p:pic>
      <p:pic>
        <p:nvPicPr>
          <p:cNvPr id="10" name="图片 9"/>
          <p:cNvPicPr>
            <a:picLocks noChangeAspect="1"/>
          </p:cNvPicPr>
          <p:nvPr/>
        </p:nvPicPr>
        <p:blipFill>
          <a:blip r:embed="rId2"/>
          <a:stretch>
            <a:fillRect/>
          </a:stretch>
        </p:blipFill>
        <p:spPr>
          <a:xfrm>
            <a:off x="3962400" y="3581400"/>
            <a:ext cx="4556416" cy="2136624"/>
          </a:xfrm>
          <a:prstGeom prst="rect">
            <a:avLst/>
          </a:prstGeom>
        </p:spPr>
      </p:pic>
      <p:sp>
        <p:nvSpPr>
          <p:cNvPr id="6"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
        <p:nvSpPr>
          <p:cNvPr id="3" name="文本框 2"/>
          <p:cNvSpPr txBox="1"/>
          <p:nvPr/>
        </p:nvSpPr>
        <p:spPr>
          <a:xfrm>
            <a:off x="7543800" y="3733800"/>
            <a:ext cx="4493538" cy="461665"/>
          </a:xfrm>
          <a:prstGeom prst="rect">
            <a:avLst/>
          </a:prstGeom>
          <a:noFill/>
        </p:spPr>
        <p:txBody>
          <a:bodyPr wrap="none" rtlCol="0">
            <a:spAutoFit/>
          </a:bodyPr>
          <a:lstStyle/>
          <a:p>
            <a:r>
              <a:rPr lang="zh-CN" altLang="en-US" sz="2400" b="1" dirty="0">
                <a:solidFill>
                  <a:srgbClr val="00B050"/>
                </a:solidFill>
                <a:latin typeface="微软雅黑" panose="020B0503020204020204" pitchFamily="34" charset="-122"/>
                <a:ea typeface="微软雅黑" panose="020B0503020204020204" pitchFamily="34" charset="-122"/>
              </a:rPr>
              <a:t>请列出该图变量的马尔可夫性？</a:t>
            </a:r>
            <a:endParaRPr lang="zh-CN" altLang="en-US" sz="2400" b="1" dirty="0">
              <a:solidFill>
                <a:srgbClr val="00B050"/>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3"/>
          <a:stretch>
            <a:fillRect/>
          </a:stretch>
        </p:blipFill>
        <p:spPr>
          <a:xfrm>
            <a:off x="9183458" y="4567869"/>
            <a:ext cx="2170342" cy="425557"/>
          </a:xfrm>
          <a:prstGeom prst="rect">
            <a:avLst/>
          </a:prstGeom>
        </p:spPr>
      </p:pic>
      <p:pic>
        <p:nvPicPr>
          <p:cNvPr id="9" name="图片 8"/>
          <p:cNvPicPr>
            <a:picLocks noChangeAspect="1"/>
          </p:cNvPicPr>
          <p:nvPr/>
        </p:nvPicPr>
        <p:blipFill>
          <a:blip r:embed="rId4"/>
          <a:stretch>
            <a:fillRect/>
          </a:stretch>
        </p:blipFill>
        <p:spPr>
          <a:xfrm>
            <a:off x="9220200" y="5144448"/>
            <a:ext cx="2133600" cy="35141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团（</a:t>
            </a:r>
            <a:r>
              <a:rPr lang="en-US" altLang="zh-CN" dirty="0"/>
              <a:t>Clique</a:t>
            </a:r>
            <a:r>
              <a:rPr lang="zh-CN" altLang="en-US" dirty="0"/>
              <a:t>）</a:t>
            </a:r>
            <a:endParaRPr lang="zh-CN" altLang="en-US" dirty="0"/>
          </a:p>
        </p:txBody>
      </p:sp>
      <p:sp>
        <p:nvSpPr>
          <p:cNvPr id="9" name="内容占位符 8"/>
          <p:cNvSpPr>
            <a:spLocks noGrp="1"/>
          </p:cNvSpPr>
          <p:nvPr>
            <p:ph idx="1"/>
          </p:nvPr>
        </p:nvSpPr>
        <p:spPr/>
        <p:txBody>
          <a:bodyPr/>
          <a:lstStyle/>
          <a:p>
            <a:r>
              <a:rPr lang="zh-CN" altLang="en-US" dirty="0"/>
              <a:t>团：一个全连通子图，即团内的所有节点之间都连边。</a:t>
            </a:r>
            <a:endParaRPr lang="en-US" altLang="zh-CN" dirty="0"/>
          </a:p>
          <a:p>
            <a:r>
              <a:rPr lang="zh-CN" altLang="en-US" dirty="0"/>
              <a:t>最大团：如果一个团不能被其他团包含，这个团就是一个最大团（</a:t>
            </a:r>
            <a:r>
              <a:rPr lang="en-US" altLang="zh-CN" dirty="0"/>
              <a:t>Maximal Clique</a:t>
            </a:r>
            <a:r>
              <a:rPr lang="zh-CN" altLang="en-US" dirty="0"/>
              <a:t>）。</a:t>
            </a:r>
            <a:endParaRPr lang="zh-CN" altLang="en-US" dirty="0"/>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657600" y="3124200"/>
            <a:ext cx="4369149" cy="2644485"/>
          </a:xfrm>
          <a:prstGeom prst="rect">
            <a:avLst/>
          </a:prstGeom>
        </p:spPr>
      </p:pic>
      <p:sp>
        <p:nvSpPr>
          <p:cNvPr id="10" name="矩形 9"/>
          <p:cNvSpPr/>
          <p:nvPr/>
        </p:nvSpPr>
        <p:spPr>
          <a:xfrm>
            <a:off x="2667000" y="5677582"/>
            <a:ext cx="6934200" cy="954107"/>
          </a:xfrm>
          <a:prstGeom prst="rect">
            <a:avLst/>
          </a:prstGeom>
        </p:spPr>
        <p:txBody>
          <a:bodyPr wrap="square">
            <a:spAutoFit/>
          </a:bodyPr>
          <a:lstStyle/>
          <a:p>
            <a:pPr algn="ctr"/>
            <a:r>
              <a:rPr lang="zh-CN" altLang="en-US" sz="2800" b="1" dirty="0">
                <a:latin typeface="微软雅黑" panose="020B0503020204020204" pitchFamily="34" charset="-122"/>
                <a:ea typeface="微软雅黑" panose="020B0503020204020204" pitchFamily="34" charset="-122"/>
              </a:rPr>
              <a:t>共有7个团，其中两个最大团</a:t>
            </a:r>
            <a:endParaRPr lang="en-US" altLang="zh-CN" sz="2800" b="1" dirty="0">
              <a:latin typeface="微软雅黑" panose="020B0503020204020204" pitchFamily="34" charset="-122"/>
              <a:ea typeface="微软雅黑" panose="020B0503020204020204" pitchFamily="34" charset="-122"/>
            </a:endParaRPr>
          </a:p>
          <a:p>
            <a:pPr algn="ct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5</a:t>
            </a:r>
            <a:r>
              <a:rPr lang="zh-CN" altLang="en-US" sz="2800" b="1" dirty="0">
                <a:latin typeface="微软雅黑" panose="020B0503020204020204" pitchFamily="34" charset="-122"/>
                <a:ea typeface="微软雅黑" panose="020B0503020204020204" pitchFamily="34" charset="-122"/>
              </a:rPr>
              <a:t>个两个结点的团，</a:t>
            </a:r>
            <a:r>
              <a:rPr lang="en-US" altLang="zh-CN" sz="2800" b="1" dirty="0">
                <a:latin typeface="微软雅黑" panose="020B0503020204020204" pitchFamily="34" charset="-122"/>
                <a:ea typeface="微软雅黑" panose="020B0503020204020204" pitchFamily="34" charset="-122"/>
              </a:rPr>
              <a:t>2</a:t>
            </a:r>
            <a:r>
              <a:rPr lang="zh-CN" altLang="en-US" sz="2800" b="1" dirty="0">
                <a:latin typeface="微软雅黑" panose="020B0503020204020204" pitchFamily="34" charset="-122"/>
                <a:ea typeface="微软雅黑" panose="020B0503020204020204" pitchFamily="34" charset="-122"/>
              </a:rPr>
              <a:t>个三个结点的团）</a:t>
            </a:r>
            <a:endParaRPr lang="zh-CN" altLang="en-US" sz="2800" b="1" dirty="0">
              <a:latin typeface="微软雅黑" panose="020B0503020204020204" pitchFamily="34" charset="-122"/>
              <a:ea typeface="微软雅黑" panose="020B0503020204020204" pitchFamily="34" charset="-122"/>
            </a:endParaRPr>
          </a:p>
        </p:txBody>
      </p:sp>
      <p:sp>
        <p:nvSpPr>
          <p:cNvPr id="6"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Hammersley-Clifford</a:t>
            </a:r>
            <a:r>
              <a:rPr lang="zh-CN" altLang="en-US" dirty="0"/>
              <a:t>定理（</a:t>
            </a:r>
            <a:r>
              <a:rPr lang="en-US" altLang="zh-CN" dirty="0"/>
              <a:t>HC</a:t>
            </a:r>
            <a:r>
              <a:rPr lang="zh-CN" altLang="en-US" dirty="0"/>
              <a:t>定理）</a:t>
            </a:r>
            <a:endParaRPr lang="zh-CN" altLang="en-US" dirty="0"/>
          </a:p>
        </p:txBody>
      </p:sp>
      <p:sp>
        <p:nvSpPr>
          <p:cNvPr id="5" name="内容占位符 4"/>
          <p:cNvSpPr>
            <a:spLocks noGrp="1"/>
          </p:cNvSpPr>
          <p:nvPr>
            <p:ph idx="1"/>
          </p:nvPr>
        </p:nvSpPr>
        <p:spPr/>
        <p:txBody>
          <a:bodyPr/>
          <a:lstStyle/>
          <a:p>
            <a:r>
              <a:rPr lang="zh-CN" altLang="en-US" dirty="0"/>
              <a:t>无向图的</a:t>
            </a:r>
            <a:r>
              <a:rPr lang="zh-CN" altLang="en-US" dirty="0">
                <a:solidFill>
                  <a:srgbClr val="00B0F0"/>
                </a:solidFill>
              </a:rPr>
              <a:t>因子分解</a:t>
            </a:r>
            <a:r>
              <a:rPr lang="zh-CN" altLang="en-US" dirty="0"/>
              <a:t>：无向图的联合概率可以</a:t>
            </a:r>
            <a:r>
              <a:rPr lang="zh-CN" altLang="en-US" dirty="0">
                <a:solidFill>
                  <a:srgbClr val="00B0F0"/>
                </a:solidFill>
              </a:rPr>
              <a:t>分解</a:t>
            </a:r>
            <a:r>
              <a:rPr lang="zh-CN" altLang="en-US" dirty="0"/>
              <a:t>为一系列定义在</a:t>
            </a:r>
            <a:r>
              <a:rPr lang="zh-CN" altLang="en-US" dirty="0">
                <a:solidFill>
                  <a:srgbClr val="00B0F0"/>
                </a:solidFill>
              </a:rPr>
              <a:t>最大团</a:t>
            </a:r>
            <a:r>
              <a:rPr lang="zh-CN" altLang="en-US" dirty="0"/>
              <a:t>上的非负函数的</a:t>
            </a:r>
            <a:r>
              <a:rPr lang="zh-CN" altLang="en-US" dirty="0">
                <a:solidFill>
                  <a:srgbClr val="00B0F0"/>
                </a:solidFill>
              </a:rPr>
              <a:t>乘积</a:t>
            </a:r>
            <a:r>
              <a:rPr lang="zh-CN" altLang="en-US" dirty="0"/>
              <a:t>形式。</a:t>
            </a:r>
            <a:endParaRPr lang="zh-CN" altLang="en-US" dirty="0"/>
          </a:p>
        </p:txBody>
      </p:sp>
      <p:pic>
        <p:nvPicPr>
          <p:cNvPr id="6" name="图片 5"/>
          <p:cNvPicPr>
            <a:picLocks noChangeAspect="1"/>
          </p:cNvPicPr>
          <p:nvPr/>
        </p:nvPicPr>
        <p:blipFill>
          <a:blip r:embed="rId1"/>
          <a:stretch>
            <a:fillRect/>
          </a:stretch>
        </p:blipFill>
        <p:spPr>
          <a:xfrm>
            <a:off x="2743200" y="2209800"/>
            <a:ext cx="6629400" cy="4296832"/>
          </a:xfrm>
          <a:prstGeom prst="rect">
            <a:avLst/>
          </a:prstGeom>
        </p:spPr>
      </p:pic>
      <p:sp>
        <p:nvSpPr>
          <p:cNvPr id="7"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
        <p:nvSpPr>
          <p:cNvPr id="8" name="文本框 7"/>
          <p:cNvSpPr txBox="1"/>
          <p:nvPr/>
        </p:nvSpPr>
        <p:spPr>
          <a:xfrm>
            <a:off x="6784062" y="3874139"/>
            <a:ext cx="5118004" cy="400110"/>
          </a:xfrm>
          <a:prstGeom prst="rect">
            <a:avLst/>
          </a:prstGeom>
          <a:noFill/>
        </p:spPr>
        <p:txBody>
          <a:bodyPr wrap="none" rtlCol="0">
            <a:spAutoFit/>
          </a:bodyPr>
          <a:lstStyle/>
          <a:p>
            <a:r>
              <a:rPr lang="zh-CN" altLang="en-US" sz="2000" b="1" dirty="0">
                <a:solidFill>
                  <a:srgbClr val="00B0F0"/>
                </a:solidFill>
                <a:latin typeface="微软雅黑" panose="020B0503020204020204" pitchFamily="34" charset="-122"/>
                <a:ea typeface="微软雅黑" panose="020B0503020204020204" pitchFamily="34" charset="-122"/>
              </a:rPr>
              <a:t>也称为吉布斯分布（</a:t>
            </a:r>
            <a:r>
              <a:rPr lang="en-US" altLang="zh-CN" sz="2000" b="1" dirty="0">
                <a:solidFill>
                  <a:srgbClr val="00B0F0"/>
                </a:solidFill>
                <a:latin typeface="微软雅黑" panose="020B0503020204020204" pitchFamily="34" charset="-122"/>
                <a:ea typeface="微软雅黑" panose="020B0503020204020204" pitchFamily="34" charset="-122"/>
              </a:rPr>
              <a:t>Gibbs Distribution</a:t>
            </a:r>
            <a:r>
              <a:rPr lang="zh-CN" altLang="en-US" sz="2000" b="1" dirty="0">
                <a:solidFill>
                  <a:srgbClr val="00B0F0"/>
                </a:solidFill>
                <a:latin typeface="微软雅黑" panose="020B0503020204020204" pitchFamily="34" charset="-122"/>
                <a:ea typeface="微软雅黑" panose="020B0503020204020204" pitchFamily="34" charset="-122"/>
              </a:rPr>
              <a:t>）</a:t>
            </a:r>
            <a:endParaRPr lang="zh-CN" altLang="en-US" sz="2000" b="1" dirty="0">
              <a:solidFill>
                <a:srgbClr val="00B0F0"/>
              </a:solidFill>
              <a:latin typeface="微软雅黑" panose="020B0503020204020204" pitchFamily="34" charset="-122"/>
              <a:ea typeface="微软雅黑" panose="020B0503020204020204" pitchFamily="34" charset="-122"/>
            </a:endParaRPr>
          </a:p>
        </p:txBody>
      </p:sp>
      <p:cxnSp>
        <p:nvCxnSpPr>
          <p:cNvPr id="4" name="直接连接符 3"/>
          <p:cNvCxnSpPr/>
          <p:nvPr/>
        </p:nvCxnSpPr>
        <p:spPr>
          <a:xfrm>
            <a:off x="4572000" y="4876800"/>
            <a:ext cx="44196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2971800" y="5181600"/>
            <a:ext cx="11430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3886200" y="3124200"/>
            <a:ext cx="16002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2971800" y="3429000"/>
            <a:ext cx="24384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8839200" y="3124200"/>
            <a:ext cx="2286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无向图模型</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t>无向图模型的联合分布可以表示为</a:t>
            </a:r>
            <a:endParaRPr lang="en-US" altLang="zh-CN" dirty="0"/>
          </a:p>
          <a:p>
            <a:endParaRPr lang="en-US" altLang="zh-CN" dirty="0"/>
          </a:p>
          <a:p>
            <a:endParaRPr lang="en-US" altLang="zh-CN" dirty="0"/>
          </a:p>
          <a:p>
            <a:endParaRPr lang="en-US" altLang="zh-CN" dirty="0"/>
          </a:p>
          <a:p>
            <a:endParaRPr lang="en-US" altLang="zh-CN" dirty="0"/>
          </a:p>
          <a:p>
            <a:pPr lvl="1"/>
            <a:endParaRPr lang="en-US" altLang="zh-CN" dirty="0"/>
          </a:p>
          <a:p>
            <a:pPr lvl="1"/>
            <a:endParaRPr lang="en-US" altLang="zh-CN" dirty="0"/>
          </a:p>
          <a:p>
            <a:pPr lvl="1"/>
            <a:endParaRPr lang="en-US" altLang="zh-CN" dirty="0"/>
          </a:p>
          <a:p>
            <a:pPr lvl="1"/>
            <a:r>
              <a:rPr lang="zh-CN" altLang="en-US" dirty="0"/>
              <a:t>其中</a:t>
            </a:r>
            <a:r>
              <a:rPr lang="en-US" altLang="zh-CN" dirty="0"/>
              <a:t> E(</a:t>
            </a:r>
            <a:r>
              <a:rPr lang="en-US" altLang="zh-CN" dirty="0" err="1"/>
              <a:t>X</a:t>
            </a:r>
            <a:r>
              <a:rPr lang="en-US" altLang="zh-CN" baseline="-25000" dirty="0" err="1"/>
              <a:t>c</a:t>
            </a:r>
            <a:r>
              <a:rPr lang="en-US" altLang="zh-CN" dirty="0"/>
              <a:t>)</a:t>
            </a:r>
            <a:r>
              <a:rPr lang="zh-CN" altLang="en-US" dirty="0"/>
              <a:t>为能量函数，</a:t>
            </a:r>
            <a:r>
              <a:rPr lang="en-US" altLang="zh-CN" dirty="0"/>
              <a:t>Z </a:t>
            </a:r>
            <a:r>
              <a:rPr lang="zh-CN" altLang="en-US" dirty="0"/>
              <a:t>是配分函数。</a:t>
            </a:r>
            <a:endParaRPr lang="zh-CN" altLang="en-US" dirty="0"/>
          </a:p>
        </p:txBody>
      </p:sp>
      <p:sp>
        <p:nvSpPr>
          <p:cNvPr id="5"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pic>
        <p:nvPicPr>
          <p:cNvPr id="7" name="图片 6"/>
          <p:cNvPicPr>
            <a:picLocks noChangeAspect="1"/>
          </p:cNvPicPr>
          <p:nvPr/>
        </p:nvPicPr>
        <p:blipFill>
          <a:blip r:embed="rId1"/>
          <a:stretch>
            <a:fillRect/>
          </a:stretch>
        </p:blipFill>
        <p:spPr>
          <a:xfrm>
            <a:off x="4603908" y="1902601"/>
            <a:ext cx="2831358" cy="936847"/>
          </a:xfrm>
          <a:prstGeom prst="rect">
            <a:avLst/>
          </a:prstGeom>
        </p:spPr>
      </p:pic>
      <p:pic>
        <p:nvPicPr>
          <p:cNvPr id="9" name="图片 8"/>
          <p:cNvPicPr>
            <a:picLocks noChangeAspect="1"/>
          </p:cNvPicPr>
          <p:nvPr/>
        </p:nvPicPr>
        <p:blipFill>
          <a:blip r:embed="rId2"/>
          <a:stretch>
            <a:fillRect/>
          </a:stretch>
        </p:blipFill>
        <p:spPr>
          <a:xfrm>
            <a:off x="4638489" y="3035047"/>
            <a:ext cx="3332103" cy="645757"/>
          </a:xfrm>
          <a:prstGeom prst="rect">
            <a:avLst/>
          </a:prstGeom>
        </p:spPr>
      </p:pic>
      <p:pic>
        <p:nvPicPr>
          <p:cNvPr id="11" name="图片 10"/>
          <p:cNvPicPr>
            <a:picLocks noChangeAspect="1"/>
          </p:cNvPicPr>
          <p:nvPr/>
        </p:nvPicPr>
        <p:blipFill>
          <a:blip r:embed="rId3"/>
          <a:stretch>
            <a:fillRect/>
          </a:stretch>
        </p:blipFill>
        <p:spPr>
          <a:xfrm>
            <a:off x="4429948" y="3814160"/>
            <a:ext cx="3332103" cy="1567438"/>
          </a:xfrm>
          <a:prstGeom prst="rect">
            <a:avLst/>
          </a:prstGeom>
        </p:spPr>
      </p:pic>
      <p:sp>
        <p:nvSpPr>
          <p:cNvPr id="12" name="箭头: 下 11"/>
          <p:cNvSpPr/>
          <p:nvPr/>
        </p:nvSpPr>
        <p:spPr>
          <a:xfrm>
            <a:off x="5746805" y="2839448"/>
            <a:ext cx="569907" cy="27153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箭头: 下 12"/>
          <p:cNvSpPr/>
          <p:nvPr/>
        </p:nvSpPr>
        <p:spPr>
          <a:xfrm>
            <a:off x="5734634" y="3544916"/>
            <a:ext cx="569907" cy="27153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8077200" y="3133398"/>
            <a:ext cx="3775393" cy="400110"/>
          </a:xfrm>
          <a:prstGeom prst="rect">
            <a:avLst/>
          </a:prstGeom>
          <a:noFill/>
        </p:spPr>
        <p:txBody>
          <a:bodyPr wrap="none" rtlCol="0">
            <a:spAutoFit/>
          </a:bodyPr>
          <a:lstStyle/>
          <a:p>
            <a:r>
              <a:rPr lang="zh-CN" altLang="en-US" sz="2000" b="1" dirty="0">
                <a:solidFill>
                  <a:srgbClr val="00B0F0"/>
                </a:solidFill>
                <a:latin typeface="微软雅黑" panose="020B0503020204020204" pitchFamily="34" charset="-122"/>
                <a:ea typeface="微软雅黑" panose="020B0503020204020204" pitchFamily="34" charset="-122"/>
              </a:rPr>
              <a:t>势能函数，一般定义为指数函数</a:t>
            </a:r>
            <a:endParaRPr lang="zh-CN" altLang="en-US" sz="2000" b="1" dirty="0">
              <a:solidFill>
                <a:srgbClr val="00B0F0"/>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7848600" y="4802477"/>
            <a:ext cx="3713774" cy="707886"/>
          </a:xfrm>
          <a:prstGeom prst="rect">
            <a:avLst/>
          </a:prstGeom>
          <a:noFill/>
        </p:spPr>
        <p:txBody>
          <a:bodyPr wrap="none" rtlCol="0">
            <a:spAutoFit/>
          </a:bodyPr>
          <a:lstStyle/>
          <a:p>
            <a:r>
              <a:rPr lang="zh-CN" altLang="en-US" sz="2000" b="1" dirty="0">
                <a:solidFill>
                  <a:srgbClr val="00B0F0"/>
                </a:solidFill>
                <a:latin typeface="微软雅黑" panose="020B0503020204020204" pitchFamily="34" charset="-122"/>
                <a:ea typeface="微软雅黑" panose="020B0503020204020204" pitchFamily="34" charset="-122"/>
              </a:rPr>
              <a:t>又称为玻尔兹曼分布</a:t>
            </a:r>
            <a:endParaRPr lang="en-US" altLang="zh-CN" sz="2000" b="1" dirty="0">
              <a:solidFill>
                <a:srgbClr val="00B0F0"/>
              </a:solidFill>
              <a:latin typeface="微软雅黑" panose="020B0503020204020204" pitchFamily="34" charset="-122"/>
              <a:ea typeface="微软雅黑" panose="020B0503020204020204" pitchFamily="34" charset="-122"/>
            </a:endParaRPr>
          </a:p>
          <a:p>
            <a:r>
              <a:rPr lang="zh-CN" altLang="en-US" sz="2000" b="1" dirty="0">
                <a:solidFill>
                  <a:srgbClr val="00B0F0"/>
                </a:solidFill>
                <a:latin typeface="微软雅黑" panose="020B0503020204020204" pitchFamily="34" charset="-122"/>
                <a:ea typeface="微软雅黑" panose="020B0503020204020204" pitchFamily="34" charset="-122"/>
              </a:rPr>
              <a:t>（</a:t>
            </a:r>
            <a:r>
              <a:rPr lang="en-US" altLang="zh-CN" sz="2000" b="1" dirty="0">
                <a:solidFill>
                  <a:srgbClr val="00B0F0"/>
                </a:solidFill>
                <a:latin typeface="微软雅黑" panose="020B0503020204020204" pitchFamily="34" charset="-122"/>
                <a:ea typeface="微软雅黑" panose="020B0503020204020204" pitchFamily="34" charset="-122"/>
              </a:rPr>
              <a:t>Boltzmann Distribution</a:t>
            </a:r>
            <a:r>
              <a:rPr lang="zh-CN" altLang="en-US" sz="2000" b="1" dirty="0">
                <a:solidFill>
                  <a:srgbClr val="00B0F0"/>
                </a:solidFill>
                <a:latin typeface="微软雅黑" panose="020B0503020204020204" pitchFamily="34" charset="-122"/>
                <a:ea typeface="微软雅黑" panose="020B0503020204020204" pitchFamily="34" charset="-122"/>
              </a:rPr>
              <a:t>）</a:t>
            </a:r>
            <a:endParaRPr lang="zh-CN" altLang="en-US" sz="2000" b="1" dirty="0">
              <a:solidFill>
                <a:srgbClr val="00B0F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屏幕剪辑"/>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800600" y="1867334"/>
            <a:ext cx="3792501" cy="2127396"/>
          </a:xfrm>
          <a:prstGeom prst="rect">
            <a:avLst/>
          </a:prstGeom>
        </p:spPr>
      </p:pic>
      <p:sp>
        <p:nvSpPr>
          <p:cNvPr id="2" name="标题 1"/>
          <p:cNvSpPr>
            <a:spLocks noGrp="1"/>
          </p:cNvSpPr>
          <p:nvPr>
            <p:ph type="title"/>
          </p:nvPr>
        </p:nvSpPr>
        <p:spPr/>
        <p:txBody>
          <a:bodyPr/>
          <a:lstStyle/>
          <a:p>
            <a:r>
              <a:rPr lang="zh-CN" altLang="en-US" dirty="0"/>
              <a:t>常见的无向图模型</a:t>
            </a:r>
            <a:endParaRPr lang="zh-CN" altLang="en-US" dirty="0"/>
          </a:p>
        </p:txBody>
      </p:sp>
      <p:sp>
        <p:nvSpPr>
          <p:cNvPr id="3" name="内容占位符 2"/>
          <p:cNvSpPr>
            <a:spLocks noGrp="1"/>
          </p:cNvSpPr>
          <p:nvPr>
            <p:ph idx="1"/>
          </p:nvPr>
        </p:nvSpPr>
        <p:spPr>
          <a:xfrm>
            <a:off x="838200" y="1023254"/>
            <a:ext cx="10515600" cy="4996546"/>
          </a:xfrm>
        </p:spPr>
        <p:txBody>
          <a:bodyPr>
            <a:normAutofit/>
          </a:bodyPr>
          <a:lstStyle/>
          <a:p>
            <a:r>
              <a:rPr lang="zh-CN" altLang="en-US" dirty="0"/>
              <a:t>条件随机场（</a:t>
            </a:r>
            <a:r>
              <a:rPr lang="en-US" altLang="zh-CN" dirty="0"/>
              <a:t>Conditional Random Field</a:t>
            </a:r>
            <a:r>
              <a:rPr lang="zh-CN" altLang="en-US" dirty="0"/>
              <a:t>）</a:t>
            </a:r>
            <a:endParaRPr lang="en-US" altLang="zh-CN" dirty="0"/>
          </a:p>
          <a:p>
            <a:pPr lvl="1"/>
            <a:r>
              <a:rPr lang="en-US" altLang="zh-CN" dirty="0"/>
              <a:t>y</a:t>
            </a:r>
            <a:r>
              <a:rPr lang="zh-CN" altLang="en-US" dirty="0"/>
              <a:t>一般为随机向量</a:t>
            </a:r>
            <a:endParaRPr lang="en-US" altLang="zh-CN" dirty="0"/>
          </a:p>
          <a:p>
            <a:pPr lvl="1"/>
            <a:r>
              <a:rPr lang="zh-CN" altLang="en-US" b="1" dirty="0"/>
              <a:t>条件概率</a:t>
            </a:r>
            <a:r>
              <a:rPr lang="en-US" altLang="zh-CN" b="1" dirty="0"/>
              <a:t>p(</a:t>
            </a:r>
            <a:r>
              <a:rPr lang="en-US" altLang="zh-CN" b="1" dirty="0" err="1"/>
              <a:t>y|x</a:t>
            </a:r>
            <a:r>
              <a:rPr lang="en-US" altLang="zh-CN" b="1" dirty="0"/>
              <a:t>)</a:t>
            </a:r>
            <a:endParaRPr lang="zh-CN" altLang="en-US" b="1" dirty="0"/>
          </a:p>
          <a:p>
            <a:pPr lvl="1"/>
            <a:endParaRPr lang="en-US" altLang="zh-CN" dirty="0"/>
          </a:p>
        </p:txBody>
      </p:sp>
      <p:sp>
        <p:nvSpPr>
          <p:cNvPr id="13"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
        <p:nvSpPr>
          <p:cNvPr id="15" name="文本框 14"/>
          <p:cNvSpPr txBox="1"/>
          <p:nvPr/>
        </p:nvSpPr>
        <p:spPr>
          <a:xfrm>
            <a:off x="5943600" y="192257"/>
            <a:ext cx="1752600" cy="830997"/>
          </a:xfrm>
          <a:prstGeom prst="rect">
            <a:avLst/>
          </a:prstGeom>
          <a:noFill/>
        </p:spPr>
        <p:txBody>
          <a:bodyPr wrap="square">
            <a:spAutoFit/>
          </a:bodyPr>
          <a:lstStyle/>
          <a:p>
            <a:r>
              <a:rPr lang="zh-CN" altLang="en-US" sz="2400" b="1" dirty="0">
                <a:solidFill>
                  <a:srgbClr val="00B0F0"/>
                </a:solidFill>
                <a:latin typeface="微软雅黑" panose="020B0503020204020204" pitchFamily="34" charset="-122"/>
                <a:ea typeface="微软雅黑" panose="020B0503020204020204" pitchFamily="34" charset="-122"/>
              </a:rPr>
              <a:t>无向图模型概率分布</a:t>
            </a:r>
            <a:endParaRPr lang="zh-CN" altLang="en-US" sz="2400" b="1" dirty="0">
              <a:solidFill>
                <a:srgbClr val="00B0F0"/>
              </a:solidFill>
              <a:latin typeface="微软雅黑" panose="020B0503020204020204" pitchFamily="34" charset="-122"/>
              <a:ea typeface="微软雅黑" panose="020B0503020204020204" pitchFamily="34" charset="-122"/>
            </a:endParaRPr>
          </a:p>
        </p:txBody>
      </p:sp>
      <p:pic>
        <p:nvPicPr>
          <p:cNvPr id="16" name="图片 15"/>
          <p:cNvPicPr>
            <a:picLocks noChangeAspect="1"/>
          </p:cNvPicPr>
          <p:nvPr/>
        </p:nvPicPr>
        <p:blipFill>
          <a:blip r:embed="rId2"/>
          <a:stretch>
            <a:fillRect/>
          </a:stretch>
        </p:blipFill>
        <p:spPr>
          <a:xfrm>
            <a:off x="7772400" y="268141"/>
            <a:ext cx="2246233" cy="743239"/>
          </a:xfrm>
          <a:prstGeom prst="rect">
            <a:avLst/>
          </a:prstGeom>
        </p:spPr>
      </p:pic>
      <p:pic>
        <p:nvPicPr>
          <p:cNvPr id="6" name="图片 5"/>
          <p:cNvPicPr>
            <a:picLocks noChangeAspect="1"/>
          </p:cNvPicPr>
          <p:nvPr/>
        </p:nvPicPr>
        <p:blipFill>
          <a:blip r:embed="rId3"/>
          <a:stretch>
            <a:fillRect/>
          </a:stretch>
        </p:blipFill>
        <p:spPr>
          <a:xfrm>
            <a:off x="2669385" y="4648200"/>
            <a:ext cx="5923716" cy="765265"/>
          </a:xfrm>
          <a:prstGeom prst="rect">
            <a:avLst/>
          </a:prstGeom>
        </p:spPr>
      </p:pic>
      <p:sp>
        <p:nvSpPr>
          <p:cNvPr id="14" name="文本框 13"/>
          <p:cNvSpPr txBox="1"/>
          <p:nvPr/>
        </p:nvSpPr>
        <p:spPr>
          <a:xfrm>
            <a:off x="5307536" y="4321692"/>
            <a:ext cx="1264619" cy="400110"/>
          </a:xfrm>
          <a:prstGeom prst="rect">
            <a:avLst/>
          </a:prstGeom>
          <a:noFill/>
        </p:spPr>
        <p:txBody>
          <a:bodyPr wrap="square">
            <a:spAutoFit/>
          </a:bodyPr>
          <a:lstStyle/>
          <a:p>
            <a:r>
              <a:rPr lang="zh-CN" altLang="en-US" sz="2000" b="1" dirty="0">
                <a:solidFill>
                  <a:srgbClr val="00B0F0"/>
                </a:solidFill>
                <a:latin typeface="微软雅黑" panose="020B0503020204020204" pitchFamily="34" charset="-122"/>
                <a:ea typeface="微软雅黑" panose="020B0503020204020204" pitchFamily="34" charset="-122"/>
              </a:rPr>
              <a:t>状态特征</a:t>
            </a:r>
            <a:endParaRPr lang="zh-CN" altLang="en-US" sz="2000" b="1" dirty="0">
              <a:solidFill>
                <a:srgbClr val="00B0F0"/>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8157717" y="4356555"/>
            <a:ext cx="1264619" cy="400110"/>
          </a:xfrm>
          <a:prstGeom prst="rect">
            <a:avLst/>
          </a:prstGeom>
          <a:noFill/>
        </p:spPr>
        <p:txBody>
          <a:bodyPr wrap="square">
            <a:spAutoFit/>
          </a:bodyPr>
          <a:lstStyle/>
          <a:p>
            <a:r>
              <a:rPr lang="zh-CN" altLang="en-US" sz="2000" b="1" dirty="0">
                <a:solidFill>
                  <a:srgbClr val="00B0F0"/>
                </a:solidFill>
                <a:latin typeface="微软雅黑" panose="020B0503020204020204" pitchFamily="34" charset="-122"/>
                <a:ea typeface="微软雅黑" panose="020B0503020204020204" pitchFamily="34" charset="-122"/>
              </a:rPr>
              <a:t>转移特征</a:t>
            </a:r>
            <a:endParaRPr lang="zh-CN" altLang="en-US" sz="2000" b="1" dirty="0">
              <a:solidFill>
                <a:srgbClr val="00B0F0"/>
              </a:solidFill>
              <a:latin typeface="微软雅黑" panose="020B0503020204020204" pitchFamily="34" charset="-122"/>
              <a:ea typeface="微软雅黑" panose="020B0503020204020204" pitchFamily="34" charset="-122"/>
            </a:endParaRPr>
          </a:p>
        </p:txBody>
      </p:sp>
      <p:cxnSp>
        <p:nvCxnSpPr>
          <p:cNvPr id="19" name="直接箭头连接符 18"/>
          <p:cNvCxnSpPr/>
          <p:nvPr/>
        </p:nvCxnSpPr>
        <p:spPr>
          <a:xfrm flipH="1">
            <a:off x="5764736" y="4648200"/>
            <a:ext cx="76200" cy="24337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flipH="1">
            <a:off x="7383618" y="4648200"/>
            <a:ext cx="819518" cy="240255"/>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p:txBody>
          <a:bodyPr/>
          <a:lstStyle/>
          <a:p>
            <a:pPr eaLnBrk="1" hangingPunct="1"/>
            <a:r>
              <a:rPr lang="zh-CN" altLang="en-US" sz="3400" dirty="0"/>
              <a:t>有向图和无向图的转换</a:t>
            </a:r>
            <a:endParaRPr lang="en-GB" altLang="zh-CN" sz="3400" dirty="0"/>
          </a:p>
        </p:txBody>
      </p:sp>
      <p:pic>
        <p:nvPicPr>
          <p:cNvPr id="63491" name="Picture 2" descr="Figure8.32a.jpg"/>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089275" y="1524000"/>
            <a:ext cx="6046788"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2" name="Picture 4" descr="Figure8.32b.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81339" y="5126038"/>
            <a:ext cx="6046787"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3" name="Picture 19" descr="TP_tmp.png"/>
          <p:cNvPicPr>
            <a:picLocks noChangeAspect="1"/>
          </p:cNvPicPr>
          <p:nvPr>
            <p:custDataLst>
              <p:tags r:id="rId3"/>
            </p:custDataLst>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594100" y="2714625"/>
            <a:ext cx="5003800"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4" name="Picture 20" descr="TP_tmp.png"/>
          <p:cNvPicPr>
            <a:picLocks noChangeAspect="1"/>
          </p:cNvPicPr>
          <p:nvPr>
            <p:custDataLst>
              <p:tags r:id="rId5"/>
            </p:custDataLst>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984500" y="4110038"/>
            <a:ext cx="6223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Left Brace 14"/>
          <p:cNvSpPr/>
          <p:nvPr/>
        </p:nvSpPr>
        <p:spPr>
          <a:xfrm rot="16200000">
            <a:off x="5061745" y="2331245"/>
            <a:ext cx="142875" cy="1481137"/>
          </a:xfrm>
          <a:prstGeom prst="leftBrace">
            <a:avLst>
              <a:gd name="adj1" fmla="val 8333"/>
              <a:gd name="adj2" fmla="val 50000"/>
            </a:avLst>
          </a:prstGeom>
          <a:ln w="28575"/>
        </p:spPr>
        <p:style>
          <a:lnRef idx="2">
            <a:schemeClr val="accent1"/>
          </a:lnRef>
          <a:fillRef idx="1">
            <a:schemeClr val="lt1"/>
          </a:fillRef>
          <a:effectRef idx="0">
            <a:schemeClr val="accent1"/>
          </a:effectRef>
          <a:fontRef idx="minor">
            <a:schemeClr val="dk1"/>
          </a:fontRef>
        </p:style>
        <p:txBody>
          <a:bodyPr anchor="ctr"/>
          <a:lstStyle>
            <a:lvl1pPr>
              <a:defRPr>
                <a:solidFill>
                  <a:schemeClr val="tx1"/>
                </a:solidFill>
                <a:latin typeface="Arial" panose="020B0604020202090204" pitchFamily="34" charset="0"/>
                <a:cs typeface="Arial" panose="020B0604020202090204" pitchFamily="34" charset="0"/>
              </a:defRPr>
            </a:lvl1pPr>
            <a:lvl2pPr marL="742950" indent="-285750">
              <a:defRPr>
                <a:solidFill>
                  <a:schemeClr val="tx1"/>
                </a:solidFill>
                <a:latin typeface="Arial" panose="020B0604020202090204" pitchFamily="34" charset="0"/>
                <a:cs typeface="Arial" panose="020B0604020202090204" pitchFamily="34" charset="0"/>
              </a:defRPr>
            </a:lvl2pPr>
            <a:lvl3pPr marL="1143000" indent="-228600">
              <a:defRPr>
                <a:solidFill>
                  <a:schemeClr val="tx1"/>
                </a:solidFill>
                <a:latin typeface="Arial" panose="020B0604020202090204" pitchFamily="34" charset="0"/>
                <a:cs typeface="Arial" panose="020B0604020202090204" pitchFamily="34" charset="0"/>
              </a:defRPr>
            </a:lvl3pPr>
            <a:lvl4pPr marL="1600200" indent="-228600">
              <a:defRPr>
                <a:solidFill>
                  <a:schemeClr val="tx1"/>
                </a:solidFill>
                <a:latin typeface="Arial" panose="020B0604020202090204" pitchFamily="34" charset="0"/>
                <a:cs typeface="Arial" panose="020B0604020202090204" pitchFamily="34" charset="0"/>
              </a:defRPr>
            </a:lvl4pPr>
            <a:lvl5pPr marL="2057400" indent="-228600">
              <a:defRPr>
                <a:solidFill>
                  <a:schemeClr val="tx1"/>
                </a:solidFill>
                <a:latin typeface="Arial" panose="020B0604020202090204" pitchFamily="34" charset="0"/>
                <a:cs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cs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cs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cs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cs typeface="Arial" panose="020B0604020202090204" pitchFamily="34" charset="0"/>
              </a:defRPr>
            </a:lvl9pPr>
          </a:lstStyle>
          <a:p>
            <a:pPr algn="ctr" eaLnBrk="1" hangingPunct="1">
              <a:defRPr/>
            </a:pPr>
            <a:endParaRPr lang="en-GB" altLang="zh-CN">
              <a:latin typeface="Calibri" panose="020F0502020204030204" pitchFamily="34" charset="0"/>
            </a:endParaRPr>
          </a:p>
        </p:txBody>
      </p:sp>
      <p:sp>
        <p:nvSpPr>
          <p:cNvPr id="16" name="Left-Right Arrow 15"/>
          <p:cNvSpPr/>
          <p:nvPr/>
        </p:nvSpPr>
        <p:spPr>
          <a:xfrm rot="17090660">
            <a:off x="4545807" y="3666332"/>
            <a:ext cx="928688" cy="142875"/>
          </a:xfrm>
          <a:prstGeom prst="leftRightArrow">
            <a:avLst/>
          </a:prstGeom>
          <a:solidFill>
            <a:schemeClr val="accent1">
              <a:lumMod val="20000"/>
              <a:lumOff val="80000"/>
            </a:schemeClr>
          </a:solidFill>
          <a:ln w="28575"/>
        </p:spPr>
        <p:style>
          <a:lnRef idx="2">
            <a:schemeClr val="accent1"/>
          </a:lnRef>
          <a:fillRef idx="1">
            <a:schemeClr val="lt1"/>
          </a:fillRef>
          <a:effectRef idx="0">
            <a:schemeClr val="accent1"/>
          </a:effectRef>
          <a:fontRef idx="minor">
            <a:schemeClr val="dk1"/>
          </a:fontRef>
        </p:style>
        <p:txBody>
          <a:bodyPr anchor="ctr"/>
          <a:lstStyle>
            <a:lvl1pPr>
              <a:defRPr>
                <a:solidFill>
                  <a:schemeClr val="tx1"/>
                </a:solidFill>
                <a:latin typeface="Arial" panose="020B0604020202090204" pitchFamily="34" charset="0"/>
                <a:cs typeface="Arial" panose="020B0604020202090204" pitchFamily="34" charset="0"/>
              </a:defRPr>
            </a:lvl1pPr>
            <a:lvl2pPr marL="742950" indent="-285750">
              <a:defRPr>
                <a:solidFill>
                  <a:schemeClr val="tx1"/>
                </a:solidFill>
                <a:latin typeface="Arial" panose="020B0604020202090204" pitchFamily="34" charset="0"/>
                <a:cs typeface="Arial" panose="020B0604020202090204" pitchFamily="34" charset="0"/>
              </a:defRPr>
            </a:lvl2pPr>
            <a:lvl3pPr marL="1143000" indent="-228600">
              <a:defRPr>
                <a:solidFill>
                  <a:schemeClr val="tx1"/>
                </a:solidFill>
                <a:latin typeface="Arial" panose="020B0604020202090204" pitchFamily="34" charset="0"/>
                <a:cs typeface="Arial" panose="020B0604020202090204" pitchFamily="34" charset="0"/>
              </a:defRPr>
            </a:lvl3pPr>
            <a:lvl4pPr marL="1600200" indent="-228600">
              <a:defRPr>
                <a:solidFill>
                  <a:schemeClr val="tx1"/>
                </a:solidFill>
                <a:latin typeface="Arial" panose="020B0604020202090204" pitchFamily="34" charset="0"/>
                <a:cs typeface="Arial" panose="020B0604020202090204" pitchFamily="34" charset="0"/>
              </a:defRPr>
            </a:lvl4pPr>
            <a:lvl5pPr marL="2057400" indent="-228600">
              <a:defRPr>
                <a:solidFill>
                  <a:schemeClr val="tx1"/>
                </a:solidFill>
                <a:latin typeface="Arial" panose="020B0604020202090204" pitchFamily="34" charset="0"/>
                <a:cs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cs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cs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cs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cs typeface="Arial" panose="020B0604020202090204" pitchFamily="34" charset="0"/>
              </a:defRPr>
            </a:lvl9pPr>
          </a:lstStyle>
          <a:p>
            <a:pPr algn="ctr" eaLnBrk="1" hangingPunct="1">
              <a:defRPr/>
            </a:pPr>
            <a:endParaRPr lang="en-GB" altLang="zh-CN">
              <a:solidFill>
                <a:srgbClr val="FFFFFF"/>
              </a:solidFill>
              <a:latin typeface="Calibri" panose="020F0502020204030204" pitchFamily="34" charset="0"/>
            </a:endParaRPr>
          </a:p>
        </p:txBody>
      </p:sp>
      <p:sp>
        <p:nvSpPr>
          <p:cNvPr id="17" name="Left-Right Arrow 16"/>
          <p:cNvSpPr/>
          <p:nvPr/>
        </p:nvSpPr>
        <p:spPr>
          <a:xfrm rot="17288802">
            <a:off x="5716588" y="3549651"/>
            <a:ext cx="1135063" cy="176212"/>
          </a:xfrm>
          <a:prstGeom prst="leftRightArrow">
            <a:avLst/>
          </a:prstGeom>
          <a:solidFill>
            <a:schemeClr val="accent1">
              <a:lumMod val="20000"/>
              <a:lumOff val="80000"/>
            </a:schemeClr>
          </a:solidFill>
          <a:ln w="28575"/>
        </p:spPr>
        <p:style>
          <a:lnRef idx="2">
            <a:schemeClr val="accent1"/>
          </a:lnRef>
          <a:fillRef idx="1">
            <a:schemeClr val="lt1"/>
          </a:fillRef>
          <a:effectRef idx="0">
            <a:schemeClr val="accent1"/>
          </a:effectRef>
          <a:fontRef idx="minor">
            <a:schemeClr val="dk1"/>
          </a:fontRef>
        </p:style>
        <p:txBody>
          <a:bodyPr anchor="ctr"/>
          <a:lstStyle>
            <a:lvl1pPr>
              <a:defRPr>
                <a:solidFill>
                  <a:schemeClr val="tx1"/>
                </a:solidFill>
                <a:latin typeface="Arial" panose="020B0604020202090204" pitchFamily="34" charset="0"/>
                <a:cs typeface="Arial" panose="020B0604020202090204" pitchFamily="34" charset="0"/>
              </a:defRPr>
            </a:lvl1pPr>
            <a:lvl2pPr marL="742950" indent="-285750">
              <a:defRPr>
                <a:solidFill>
                  <a:schemeClr val="tx1"/>
                </a:solidFill>
                <a:latin typeface="Arial" panose="020B0604020202090204" pitchFamily="34" charset="0"/>
                <a:cs typeface="Arial" panose="020B0604020202090204" pitchFamily="34" charset="0"/>
              </a:defRPr>
            </a:lvl2pPr>
            <a:lvl3pPr marL="1143000" indent="-228600">
              <a:defRPr>
                <a:solidFill>
                  <a:schemeClr val="tx1"/>
                </a:solidFill>
                <a:latin typeface="Arial" panose="020B0604020202090204" pitchFamily="34" charset="0"/>
                <a:cs typeface="Arial" panose="020B0604020202090204" pitchFamily="34" charset="0"/>
              </a:defRPr>
            </a:lvl3pPr>
            <a:lvl4pPr marL="1600200" indent="-228600">
              <a:defRPr>
                <a:solidFill>
                  <a:schemeClr val="tx1"/>
                </a:solidFill>
                <a:latin typeface="Arial" panose="020B0604020202090204" pitchFamily="34" charset="0"/>
                <a:cs typeface="Arial" panose="020B0604020202090204" pitchFamily="34" charset="0"/>
              </a:defRPr>
            </a:lvl4pPr>
            <a:lvl5pPr marL="2057400" indent="-228600">
              <a:defRPr>
                <a:solidFill>
                  <a:schemeClr val="tx1"/>
                </a:solidFill>
                <a:latin typeface="Arial" panose="020B0604020202090204" pitchFamily="34" charset="0"/>
                <a:cs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cs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cs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cs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cs typeface="Arial" panose="020B0604020202090204" pitchFamily="34" charset="0"/>
              </a:defRPr>
            </a:lvl9pPr>
          </a:lstStyle>
          <a:p>
            <a:pPr algn="ctr" eaLnBrk="1" hangingPunct="1">
              <a:defRPr/>
            </a:pPr>
            <a:endParaRPr lang="en-GB" altLang="zh-CN">
              <a:solidFill>
                <a:srgbClr val="FFFFFF"/>
              </a:solidFill>
              <a:latin typeface="Calibri" panose="020F0502020204030204" pitchFamily="34" charset="0"/>
            </a:endParaRPr>
          </a:p>
        </p:txBody>
      </p:sp>
      <p:sp>
        <p:nvSpPr>
          <p:cNvPr id="18" name="Left-Right Arrow 17"/>
          <p:cNvSpPr/>
          <p:nvPr/>
        </p:nvSpPr>
        <p:spPr>
          <a:xfrm rot="15433142">
            <a:off x="7389814" y="3556001"/>
            <a:ext cx="1133475" cy="174625"/>
          </a:xfrm>
          <a:prstGeom prst="leftRightArrow">
            <a:avLst/>
          </a:prstGeom>
          <a:solidFill>
            <a:schemeClr val="accent1">
              <a:lumMod val="20000"/>
              <a:lumOff val="80000"/>
            </a:schemeClr>
          </a:solidFill>
          <a:ln w="28575"/>
        </p:spPr>
        <p:style>
          <a:lnRef idx="2">
            <a:schemeClr val="accent1"/>
          </a:lnRef>
          <a:fillRef idx="1">
            <a:schemeClr val="lt1"/>
          </a:fillRef>
          <a:effectRef idx="0">
            <a:schemeClr val="accent1"/>
          </a:effectRef>
          <a:fontRef idx="minor">
            <a:schemeClr val="dk1"/>
          </a:fontRef>
        </p:style>
        <p:txBody>
          <a:bodyPr anchor="ctr"/>
          <a:lstStyle>
            <a:lvl1pPr>
              <a:defRPr>
                <a:solidFill>
                  <a:schemeClr val="tx1"/>
                </a:solidFill>
                <a:latin typeface="Arial" panose="020B0604020202090204" pitchFamily="34" charset="0"/>
                <a:cs typeface="Arial" panose="020B0604020202090204" pitchFamily="34" charset="0"/>
              </a:defRPr>
            </a:lvl1pPr>
            <a:lvl2pPr marL="742950" indent="-285750">
              <a:defRPr>
                <a:solidFill>
                  <a:schemeClr val="tx1"/>
                </a:solidFill>
                <a:latin typeface="Arial" panose="020B0604020202090204" pitchFamily="34" charset="0"/>
                <a:cs typeface="Arial" panose="020B0604020202090204" pitchFamily="34" charset="0"/>
              </a:defRPr>
            </a:lvl2pPr>
            <a:lvl3pPr marL="1143000" indent="-228600">
              <a:defRPr>
                <a:solidFill>
                  <a:schemeClr val="tx1"/>
                </a:solidFill>
                <a:latin typeface="Arial" panose="020B0604020202090204" pitchFamily="34" charset="0"/>
                <a:cs typeface="Arial" panose="020B0604020202090204" pitchFamily="34" charset="0"/>
              </a:defRPr>
            </a:lvl3pPr>
            <a:lvl4pPr marL="1600200" indent="-228600">
              <a:defRPr>
                <a:solidFill>
                  <a:schemeClr val="tx1"/>
                </a:solidFill>
                <a:latin typeface="Arial" panose="020B0604020202090204" pitchFamily="34" charset="0"/>
                <a:cs typeface="Arial" panose="020B0604020202090204" pitchFamily="34" charset="0"/>
              </a:defRPr>
            </a:lvl4pPr>
            <a:lvl5pPr marL="2057400" indent="-228600">
              <a:defRPr>
                <a:solidFill>
                  <a:schemeClr val="tx1"/>
                </a:solidFill>
                <a:latin typeface="Arial" panose="020B0604020202090204" pitchFamily="34" charset="0"/>
                <a:cs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cs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cs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cs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cs typeface="Arial" panose="020B0604020202090204" pitchFamily="34" charset="0"/>
              </a:defRPr>
            </a:lvl9pPr>
          </a:lstStyle>
          <a:p>
            <a:pPr algn="ctr" eaLnBrk="1" hangingPunct="1">
              <a:defRPr/>
            </a:pPr>
            <a:endParaRPr lang="en-GB" altLang="zh-CN">
              <a:solidFill>
                <a:srgbClr val="FFFFFF"/>
              </a:solidFill>
              <a:latin typeface="Calibri" panose="020F0502020204030204" pitchFamily="34" charset="0"/>
            </a:endParaRPr>
          </a:p>
        </p:txBody>
      </p:sp>
      <p:sp>
        <p:nvSpPr>
          <p:cNvPr id="11"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
        <p:nvSpPr>
          <p:cNvPr id="12" name="文本框 11"/>
          <p:cNvSpPr txBox="1"/>
          <p:nvPr/>
        </p:nvSpPr>
        <p:spPr>
          <a:xfrm>
            <a:off x="4038600" y="4582672"/>
            <a:ext cx="1752600" cy="461665"/>
          </a:xfrm>
          <a:prstGeom prst="rect">
            <a:avLst/>
          </a:prstGeom>
          <a:noFill/>
        </p:spPr>
        <p:txBody>
          <a:bodyPr wrap="square">
            <a:spAutoFit/>
          </a:bodyPr>
          <a:lstStyle/>
          <a:p>
            <a:r>
              <a:rPr lang="zh-CN" altLang="en-US" sz="2400" b="1" dirty="0">
                <a:solidFill>
                  <a:srgbClr val="00B0F0"/>
                </a:solidFill>
                <a:latin typeface="微软雅黑" panose="020B0503020204020204" pitchFamily="34" charset="-122"/>
                <a:ea typeface="微软雅黑" panose="020B0503020204020204" pitchFamily="34" charset="-122"/>
              </a:rPr>
              <a:t>势能函数</a:t>
            </a:r>
            <a:endParaRPr lang="zh-CN" altLang="en-US" sz="2400" b="1" dirty="0">
              <a:solidFill>
                <a:srgbClr val="00B0F0"/>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1245347" y="4145905"/>
            <a:ext cx="1752600" cy="461665"/>
          </a:xfrm>
          <a:prstGeom prst="rect">
            <a:avLst/>
          </a:prstGeom>
          <a:noFill/>
        </p:spPr>
        <p:txBody>
          <a:bodyPr wrap="square">
            <a:spAutoFit/>
          </a:bodyPr>
          <a:lstStyle/>
          <a:p>
            <a:r>
              <a:rPr lang="en-US" altLang="zh-CN" sz="2400" b="1" dirty="0">
                <a:solidFill>
                  <a:srgbClr val="00B0F0"/>
                </a:solidFill>
                <a:latin typeface="微软雅黑" panose="020B0503020204020204" pitchFamily="34" charset="-122"/>
                <a:ea typeface="微软雅黑" panose="020B0503020204020204" pitchFamily="34" charset="-122"/>
              </a:rPr>
              <a:t>HC</a:t>
            </a:r>
            <a:r>
              <a:rPr lang="zh-CN" altLang="en-US" sz="2400" b="1" dirty="0">
                <a:solidFill>
                  <a:srgbClr val="00B0F0"/>
                </a:solidFill>
                <a:latin typeface="微软雅黑" panose="020B0503020204020204" pitchFamily="34" charset="-122"/>
                <a:ea typeface="微软雅黑" panose="020B0503020204020204" pitchFamily="34" charset="-122"/>
              </a:rPr>
              <a:t>定理</a:t>
            </a:r>
            <a:endParaRPr lang="zh-CN" altLang="en-US" sz="2400" b="1" dirty="0">
              <a:solidFill>
                <a:srgbClr val="00B0F0"/>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2588895" y="5899150"/>
            <a:ext cx="6783705" cy="1383665"/>
          </a:xfrm>
          <a:prstGeom prst="rect">
            <a:avLst/>
          </a:prstGeom>
          <a:noFill/>
        </p:spPr>
        <p:txBody>
          <a:bodyPr wrap="square" rtlCol="0">
            <a:spAutoFit/>
          </a:bodyPr>
          <a:p>
            <a:r>
              <a:rPr lang="zh-CN" altLang="en-US" sz="2800">
                <a:sym typeface="+mn-ea"/>
              </a:rPr>
              <a:t>如果只是简单的线型关系，去掉箭头，把概率变势函数，加个 </a:t>
            </a:r>
            <a:r>
              <a:rPr lang="en-US" altLang="zh-CN" sz="2800">
                <a:sym typeface="+mn-ea"/>
              </a:rPr>
              <a:t>Z</a:t>
            </a:r>
            <a:r>
              <a:rPr lang="zh-CN" altLang="en-US" sz="2800">
                <a:sym typeface="+mn-ea"/>
              </a:rPr>
              <a:t>归一化就行了</a:t>
            </a:r>
            <a:endParaRPr lang="zh-CN" altLang="en-US" sz="2800"/>
          </a:p>
          <a:p>
            <a:endParaRPr lang="zh-CN" altLang="en-US" sz="28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p:txBody>
          <a:bodyPr/>
          <a:lstStyle/>
          <a:p>
            <a:pPr eaLnBrk="1" hangingPunct="1"/>
            <a:r>
              <a:rPr lang="zh-CN" altLang="en-US" sz="3400" dirty="0"/>
              <a:t>有向图和无向图的转换</a:t>
            </a:r>
            <a:endParaRPr lang="en-GB" altLang="zh-CN" dirty="0"/>
          </a:p>
        </p:txBody>
      </p:sp>
      <p:grpSp>
        <p:nvGrpSpPr>
          <p:cNvPr id="3" name="组合 2"/>
          <p:cNvGrpSpPr/>
          <p:nvPr/>
        </p:nvGrpSpPr>
        <p:grpSpPr>
          <a:xfrm>
            <a:off x="3048000" y="3000316"/>
            <a:ext cx="5999162" cy="2202341"/>
            <a:chOff x="2535238" y="2590800"/>
            <a:chExt cx="7191374" cy="2640012"/>
          </a:xfrm>
        </p:grpSpPr>
        <p:pic>
          <p:nvPicPr>
            <p:cNvPr id="64516" name="Picture 2" descr="Figure8.33a.jpg"/>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535238" y="2590800"/>
              <a:ext cx="2944813" cy="2640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7" name="Picture 3" descr="Figure8.33b.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781800" y="2590800"/>
              <a:ext cx="2944812" cy="2640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Straight Arrow Connector 9"/>
            <p:cNvCxnSpPr/>
            <p:nvPr/>
          </p:nvCxnSpPr>
          <p:spPr>
            <a:xfrm>
              <a:off x="5853112" y="3944937"/>
              <a:ext cx="642938" cy="1588"/>
            </a:xfrm>
            <a:prstGeom prst="straightConnector1">
              <a:avLst/>
            </a:prstGeom>
            <a:ln w="635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sp>
        <p:nvSpPr>
          <p:cNvPr id="7"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
        <p:nvSpPr>
          <p:cNvPr id="8" name="内容占位符 2"/>
          <p:cNvSpPr>
            <a:spLocks noGrp="1"/>
          </p:cNvSpPr>
          <p:nvPr>
            <p:ph idx="1"/>
          </p:nvPr>
        </p:nvSpPr>
        <p:spPr>
          <a:xfrm>
            <a:off x="838200" y="1180418"/>
            <a:ext cx="10515600" cy="4996546"/>
          </a:xfrm>
        </p:spPr>
        <p:txBody>
          <a:bodyPr/>
          <a:lstStyle/>
          <a:p>
            <a:r>
              <a:rPr lang="zh-CN" altLang="en-US" dirty="0">
                <a:ea typeface="Segoe UI Web (West European)"/>
              </a:rPr>
              <a:t>基本转换规则：</a:t>
            </a:r>
            <a:r>
              <a:rPr lang="zh-CN" altLang="en-US" dirty="0">
                <a:latin typeface="微软雅黑" panose="020B0503020204020204" pitchFamily="34" charset="-122"/>
                <a:ea typeface="微软雅黑" panose="020B0503020204020204" pitchFamily="34" charset="-122"/>
              </a:rPr>
              <a:t>具有</a:t>
            </a:r>
            <a:r>
              <a:rPr lang="zh-CN" altLang="zh-CN" dirty="0">
                <a:effectLst/>
                <a:latin typeface="微软雅黑" panose="020B0503020204020204" pitchFamily="34" charset="-122"/>
                <a:ea typeface="微软雅黑" panose="020B0503020204020204" pitchFamily="34" charset="-122"/>
              </a:rPr>
              <a:t>共同孩子的节点需要</a:t>
            </a:r>
            <a:r>
              <a:rPr lang="zh-CN" altLang="en-US" dirty="0">
                <a:latin typeface="微软雅黑" panose="020B0503020204020204" pitchFamily="34" charset="-122"/>
                <a:ea typeface="微软雅黑" panose="020B0503020204020204" pitchFamily="34" charset="-122"/>
              </a:rPr>
              <a:t>连接起来</a:t>
            </a:r>
            <a:endParaRPr lang="en-US" altLang="zh-CN" dirty="0">
              <a:latin typeface="微软雅黑" panose="020B0503020204020204" pitchFamily="34" charset="-122"/>
              <a:ea typeface="微软雅黑" panose="020B0503020204020204" pitchFamily="34" charset="-122"/>
            </a:endParaRPr>
          </a:p>
          <a:p>
            <a:r>
              <a:rPr lang="zh-CN" altLang="en-US" dirty="0">
                <a:effectLst/>
              </a:rPr>
              <a:t>这个过程也称为道德化（</a:t>
            </a:r>
            <a:r>
              <a:rPr lang="en-US" altLang="zh-CN" dirty="0">
                <a:effectLst/>
              </a:rPr>
              <a:t>Moralization</a:t>
            </a:r>
            <a:r>
              <a:rPr lang="zh-CN" altLang="en-US" dirty="0">
                <a:effectLst/>
              </a:rPr>
              <a:t>），转换后的无向图称为道德图（</a:t>
            </a:r>
            <a:r>
              <a:rPr lang="en-US" altLang="zh-CN" dirty="0">
                <a:effectLst/>
              </a:rPr>
              <a:t>Moral Graph</a:t>
            </a:r>
            <a:r>
              <a:rPr lang="zh-CN" altLang="en-US" dirty="0">
                <a:effectLst/>
              </a:rPr>
              <a:t>）</a:t>
            </a:r>
            <a:endParaRPr lang="zh-CN" altLang="zh-CN" dirty="0">
              <a:effectLst/>
              <a:ea typeface="Segoe UI Web (West European)"/>
            </a:endParaRPr>
          </a:p>
        </p:txBody>
      </p:sp>
      <p:sp>
        <p:nvSpPr>
          <p:cNvPr id="9" name="文本框 8"/>
          <p:cNvSpPr txBox="1"/>
          <p:nvPr/>
        </p:nvSpPr>
        <p:spPr>
          <a:xfrm>
            <a:off x="5042634" y="6288766"/>
            <a:ext cx="1752600" cy="461665"/>
          </a:xfrm>
          <a:prstGeom prst="rect">
            <a:avLst/>
          </a:prstGeom>
          <a:noFill/>
        </p:spPr>
        <p:txBody>
          <a:bodyPr wrap="square">
            <a:spAutoFit/>
          </a:bodyPr>
          <a:lstStyle/>
          <a:p>
            <a:r>
              <a:rPr lang="zh-CN" altLang="en-US" sz="2400" b="1" dirty="0">
                <a:solidFill>
                  <a:srgbClr val="00B0F0"/>
                </a:solidFill>
                <a:latin typeface="微软雅黑" panose="020B0503020204020204" pitchFamily="34" charset="-122"/>
                <a:ea typeface="微软雅黑" panose="020B0503020204020204" pitchFamily="34" charset="-122"/>
              </a:rPr>
              <a:t>势能函数</a:t>
            </a:r>
            <a:endParaRPr lang="zh-CN" altLang="en-US" sz="2400" b="1" dirty="0">
              <a:solidFill>
                <a:srgbClr val="00B0F0"/>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3617525" y="5748916"/>
            <a:ext cx="1752600" cy="461665"/>
          </a:xfrm>
          <a:prstGeom prst="rect">
            <a:avLst/>
          </a:prstGeom>
          <a:noFill/>
        </p:spPr>
        <p:txBody>
          <a:bodyPr wrap="square">
            <a:spAutoFit/>
          </a:bodyPr>
          <a:lstStyle/>
          <a:p>
            <a:r>
              <a:rPr lang="en-US" altLang="zh-CN" sz="2400" b="1" dirty="0">
                <a:solidFill>
                  <a:srgbClr val="00B0F0"/>
                </a:solidFill>
                <a:latin typeface="微软雅黑" panose="020B0503020204020204" pitchFamily="34" charset="-122"/>
                <a:ea typeface="微软雅黑" panose="020B0503020204020204" pitchFamily="34" charset="-122"/>
              </a:rPr>
              <a:t>HC</a:t>
            </a:r>
            <a:r>
              <a:rPr lang="zh-CN" altLang="en-US" sz="2400" b="1" dirty="0">
                <a:solidFill>
                  <a:srgbClr val="00B0F0"/>
                </a:solidFill>
                <a:latin typeface="微软雅黑" panose="020B0503020204020204" pitchFamily="34" charset="-122"/>
                <a:ea typeface="微软雅黑" panose="020B0503020204020204" pitchFamily="34" charset="-122"/>
              </a:rPr>
              <a:t>定理</a:t>
            </a:r>
            <a:endParaRPr lang="zh-CN" altLang="en-US" sz="2400" b="1" dirty="0">
              <a:solidFill>
                <a:srgbClr val="00B0F0"/>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2" name="文本框 1"/>
              <p:cNvSpPr txBox="1"/>
              <p:nvPr/>
            </p:nvSpPr>
            <p:spPr>
              <a:xfrm>
                <a:off x="4305707" y="5359183"/>
                <a:ext cx="4380686" cy="88396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𝑝</m:t>
                      </m:r>
                      <m:d>
                        <m:dPr>
                          <m:ctrlPr>
                            <a:rPr lang="en-US" altLang="zh-CN" sz="2000" b="1" i="1" smtClean="0">
                              <a:latin typeface="Cambria Math" panose="02040503050406030204" pitchFamily="18" charset="0"/>
                            </a:rPr>
                          </m:ctrlPr>
                        </m:dPr>
                        <m:e>
                          <m:r>
                            <a:rPr lang="en-US" altLang="zh-CN" sz="2000" b="1" i="0" smtClean="0">
                              <a:latin typeface="Cambria Math" panose="02040503050406030204" pitchFamily="18" charset="0"/>
                            </a:rPr>
                            <m:t>𝐱</m:t>
                          </m:r>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𝑝</m:t>
                      </m:r>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1</m:t>
                              </m:r>
                            </m:sub>
                          </m:sSub>
                        </m:e>
                      </m:d>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b="0" i="1" smtClean="0">
                                  <a:latin typeface="Cambria Math" panose="02040503050406030204" pitchFamily="18" charset="0"/>
                                </a:rPr>
                                <m:t>2</m:t>
                              </m:r>
                            </m:sub>
                          </m:sSub>
                        </m:e>
                      </m:d>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b="0" i="1" smtClean="0">
                                  <a:latin typeface="Cambria Math" panose="02040503050406030204" pitchFamily="18" charset="0"/>
                                </a:rPr>
                                <m:t>3</m:t>
                              </m:r>
                            </m:sub>
                          </m:sSub>
                        </m:e>
                      </m:d>
                      <m:r>
                        <a:rPr lang="en-US" altLang="zh-CN" sz="2000" b="0" i="1" smtClean="0">
                          <a:latin typeface="Cambria Math" panose="02040503050406030204" pitchFamily="18" charset="0"/>
                        </a:rPr>
                        <m:t>𝑝</m:t>
                      </m:r>
                      <m:d>
                        <m:dPr>
                          <m:ctrlPr>
                            <a:rPr lang="en-US" altLang="zh-CN" sz="2000" b="0" i="1" smtClean="0">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b="0" i="1" smtClean="0">
                                  <a:latin typeface="Cambria Math" panose="02040503050406030204" pitchFamily="18" charset="0"/>
                                </a:rPr>
                                <m:t>4</m:t>
                              </m:r>
                            </m:sub>
                          </m:sSub>
                        </m:e>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3</m:t>
                              </m:r>
                            </m:sub>
                          </m:sSub>
                        </m:e>
                      </m:d>
                    </m:oMath>
                    <m:oMath xmlns:m="http://schemas.openxmlformats.org/officeDocument/2006/math">
                      <m:r>
                        <a:rPr lang="en-US" altLang="zh-CN" sz="2000" b="0" i="1" smtClean="0">
                          <a:latin typeface="Cambria Math" panose="02040503050406030204" pitchFamily="18" charset="0"/>
                        </a:rPr>
                        <m:t>	         = </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𝑍</m:t>
                          </m:r>
                        </m:den>
                      </m:f>
                      <m:r>
                        <a:rPr lang="zh-CN" altLang="en-US" sz="2000" b="0" i="1" smtClean="0">
                          <a:latin typeface="Cambria Math" panose="02040503050406030204" pitchFamily="18" charset="0"/>
                        </a:rPr>
                        <m:t>𝜓</m:t>
                      </m:r>
                      <m:r>
                        <a:rPr lang="en-US" altLang="zh-CN" sz="2000" b="0" i="1" smtClean="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3</m:t>
                          </m:r>
                        </m:sub>
                      </m:sSub>
                      <m:r>
                        <a:rPr lang="en-US" altLang="zh-CN" sz="2000" b="0" i="1" smtClean="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b="0" i="1" smtClean="0">
                              <a:latin typeface="Cambria Math" panose="02040503050406030204" pitchFamily="18" charset="0"/>
                            </a:rPr>
                            <m:t>4</m:t>
                          </m:r>
                        </m:sub>
                      </m:sSub>
                      <m:r>
                        <a:rPr lang="en-US" altLang="zh-CN" sz="2000" b="0" i="1" smtClean="0">
                          <a:latin typeface="Cambria Math" panose="02040503050406030204" pitchFamily="18" charset="0"/>
                        </a:rPr>
                        <m:t>)</m:t>
                      </m:r>
                    </m:oMath>
                  </m:oMathPara>
                </a14:m>
                <a:endParaRPr lang="en-US" altLang="zh-CN" sz="2000" dirty="0"/>
              </a:p>
            </p:txBody>
          </p:sp>
        </mc:Choice>
        <mc:Fallback>
          <p:sp>
            <p:nvSpPr>
              <p:cNvPr id="2" name="文本框 1"/>
              <p:cNvSpPr txBox="1">
                <a:spLocks noRot="1" noChangeAspect="1" noMove="1" noResize="1" noEditPoints="1" noAdjustHandles="1" noChangeArrowheads="1" noChangeShapeType="1" noTextEdit="1"/>
              </p:cNvSpPr>
              <p:nvPr/>
            </p:nvSpPr>
            <p:spPr>
              <a:xfrm>
                <a:off x="4305707" y="5359183"/>
                <a:ext cx="4380686" cy="883960"/>
              </a:xfrm>
              <a:prstGeom prst="rect">
                <a:avLst/>
              </a:prstGeom>
              <a:blipFill rotWithShape="1">
                <a:blip r:embed="rId3"/>
                <a:stretch>
                  <a:fillRect l="-9" t="-47" r="5" b="-4330"/>
                </a:stretch>
              </a:blipFill>
            </p:spPr>
            <p:txBody>
              <a:bodyPr/>
              <a:lstStyle/>
              <a:p>
                <a:r>
                  <a:rPr lang="zh-CN" altLang="en-US">
                    <a:noFill/>
                  </a:rPr>
                  <a:t> </a:t>
                </a:r>
              </a:p>
            </p:txBody>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p:txBody>
          <a:bodyPr/>
          <a:lstStyle/>
          <a:p>
            <a:pPr eaLnBrk="1" hangingPunct="1"/>
            <a:r>
              <a:rPr lang="zh-CN" altLang="en-US" dirty="0"/>
              <a:t>有向图和无向图总结</a:t>
            </a:r>
            <a:endParaRPr lang="en-GB" altLang="zh-CN" dirty="0"/>
          </a:p>
        </p:txBody>
      </p:sp>
      <p:pic>
        <p:nvPicPr>
          <p:cNvPr id="68611" name="Picture 2" descr="Figure8.35.jpg"/>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530475" y="1195394"/>
            <a:ext cx="3224212"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2" name="Picture 3" descr="Figure8.36.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04100" y="960443"/>
            <a:ext cx="2309812" cy="246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3" name="Picture 11" descr="TP_tmp.png"/>
          <p:cNvPicPr>
            <a:picLocks noChangeAspect="1"/>
          </p:cNvPicPr>
          <p:nvPr>
            <p:custDataLst>
              <p:tags r:id="rId3"/>
            </p:custDataLst>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500437" y="3523182"/>
            <a:ext cx="1193800"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4" name="Picture 14" descr="TP_tmp.png"/>
          <p:cNvPicPr>
            <a:picLocks noChangeAspect="1"/>
          </p:cNvPicPr>
          <p:nvPr>
            <p:custDataLst>
              <p:tags r:id="rId5"/>
            </p:custDataLst>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525837" y="4023243"/>
            <a:ext cx="1244600"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5" name="Picture 16" descr="TP_tmp.png"/>
          <p:cNvPicPr>
            <a:picLocks noChangeAspect="1"/>
          </p:cNvPicPr>
          <p:nvPr>
            <p:custDataLst>
              <p:tags r:id="rId7"/>
            </p:custDataLst>
          </p:nvPr>
        </p:nvPicPr>
        <p:blipFill>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001000" y="3523182"/>
            <a:ext cx="1143000"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6" name="Picture 9" descr="TP_tmp.png"/>
          <p:cNvPicPr>
            <a:picLocks noChangeAspect="1"/>
          </p:cNvPicPr>
          <p:nvPr>
            <p:custDataLst>
              <p:tags r:id="rId9"/>
            </p:custDataLst>
          </p:nvPr>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685087" y="4028007"/>
            <a:ext cx="1754188"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7" name="Picture 10" descr="TP_tmp.png"/>
          <p:cNvPicPr>
            <a:picLocks noChangeAspect="1"/>
          </p:cNvPicPr>
          <p:nvPr>
            <p:custDataLst>
              <p:tags r:id="rId11"/>
            </p:custDataLst>
          </p:nvPr>
        </p:nvPicPr>
        <p:blipFill>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669213" y="4523307"/>
            <a:ext cx="1757363"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
        <p:nvSpPr>
          <p:cNvPr id="12" name="内容占位符 2"/>
          <p:cNvSpPr>
            <a:spLocks noGrp="1"/>
          </p:cNvSpPr>
          <p:nvPr>
            <p:ph idx="1"/>
          </p:nvPr>
        </p:nvSpPr>
        <p:spPr>
          <a:xfrm>
            <a:off x="1295400" y="4876339"/>
            <a:ext cx="9717088" cy="1808716"/>
          </a:xfrm>
        </p:spPr>
        <p:txBody>
          <a:bodyPr>
            <a:normAutofit fontScale="85000" lnSpcReduction="20000"/>
          </a:bodyPr>
          <a:lstStyle/>
          <a:p>
            <a:r>
              <a:rPr lang="zh-CN" altLang="en-US" dirty="0">
                <a:ea typeface="Segoe UI Web (West European)"/>
              </a:rPr>
              <a:t>无向图可以表示有向图无法表示的一些依赖关系，比如</a:t>
            </a:r>
            <a:r>
              <a:rPr lang="zh-CN" altLang="en-US" dirty="0">
                <a:solidFill>
                  <a:srgbClr val="00B0F0"/>
                </a:solidFill>
                <a:ea typeface="Segoe UI Web (West European)"/>
              </a:rPr>
              <a:t>循环依赖</a:t>
            </a:r>
            <a:endParaRPr lang="en-US" altLang="zh-CN" dirty="0">
              <a:solidFill>
                <a:srgbClr val="00B0F0"/>
              </a:solidFill>
              <a:ea typeface="Segoe UI Web (West European)"/>
            </a:endParaRPr>
          </a:p>
          <a:p>
            <a:r>
              <a:rPr lang="zh-CN" altLang="en-US" dirty="0">
                <a:effectLst/>
                <a:ea typeface="Segoe UI Web (West European)"/>
              </a:rPr>
              <a:t>但无向图不能表示</a:t>
            </a:r>
            <a:r>
              <a:rPr lang="zh-CN" altLang="en-US" dirty="0">
                <a:solidFill>
                  <a:srgbClr val="00B0F0"/>
                </a:solidFill>
                <a:effectLst/>
                <a:ea typeface="Segoe UI Web (West European)"/>
              </a:rPr>
              <a:t>因果关系</a:t>
            </a:r>
            <a:endParaRPr lang="en-US" altLang="zh-CN" dirty="0">
              <a:solidFill>
                <a:srgbClr val="00B0F0"/>
              </a:solidFill>
              <a:effectLst/>
              <a:ea typeface="Segoe UI Web (West European)"/>
            </a:endParaRPr>
          </a:p>
          <a:p>
            <a:r>
              <a:rPr lang="zh-CN" altLang="en-US" dirty="0">
                <a:effectLst/>
                <a:ea typeface="Segoe UI Web (West European)"/>
              </a:rPr>
              <a:t>有向图转换成无向图较容易，反之较难；实际应用中，将有向图转为无向图更加重要</a:t>
            </a:r>
            <a:endParaRPr lang="zh-CN" altLang="zh-CN" dirty="0">
              <a:effectLst/>
              <a:ea typeface="Segoe UI Web (West Europe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学习</a:t>
            </a:r>
            <a:endParaRPr lang="zh-CN" altLang="en-US" dirty="0"/>
          </a:p>
        </p:txBody>
      </p:sp>
      <p:sp>
        <p:nvSpPr>
          <p:cNvPr id="3"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不含隐变量的</a:t>
            </a:r>
            <a:r>
              <a:rPr lang="zh-CN" altLang="en-US" dirty="0">
                <a:solidFill>
                  <a:srgbClr val="FF0000"/>
                </a:solidFill>
              </a:rPr>
              <a:t>参数估计</a:t>
            </a:r>
            <a:endParaRPr lang="zh-CN" altLang="en-US" dirty="0">
              <a:solidFill>
                <a:srgbClr val="FF0000"/>
              </a:solidFill>
            </a:endParaRPr>
          </a:p>
        </p:txBody>
      </p:sp>
      <p:sp>
        <p:nvSpPr>
          <p:cNvPr id="3"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有向图模型</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38200" y="1180418"/>
                <a:ext cx="10287000" cy="4996546"/>
              </a:xfrm>
            </p:spPr>
            <p:txBody>
              <a:bodyPr>
                <a:normAutofit/>
              </a:bodyPr>
              <a:lstStyle/>
              <a:p>
                <a:r>
                  <a:rPr lang="zh-CN" altLang="en-US" dirty="0"/>
                  <a:t>在贝叶斯网络中，所有变量</a:t>
                </a:r>
                <a14:m>
                  <m:oMath xmlns:m="http://schemas.openxmlformats.org/officeDocument/2006/math">
                    <m:r>
                      <a:rPr lang="en-US" altLang="zh-CN" i="1" dirty="0" smtClean="0">
                        <a:latin typeface="Cambria Math" panose="02040503050406030204" pitchFamily="18" charset="0"/>
                      </a:rPr>
                      <m:t>𝑥</m:t>
                    </m:r>
                  </m:oMath>
                </a14:m>
                <a:r>
                  <a:rPr lang="zh-CN" altLang="en-US" dirty="0"/>
                  <a:t>的联合概率分布可以分解为每个随机变量</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i="1" dirty="0" smtClean="0">
                            <a:latin typeface="Cambria Math" panose="02040503050406030204" pitchFamily="18" charset="0"/>
                          </a:rPr>
                          <m:t>𝑘</m:t>
                        </m:r>
                      </m:sub>
                    </m:sSub>
                  </m:oMath>
                </a14:m>
                <a:r>
                  <a:rPr lang="zh-CN" altLang="en-US" dirty="0"/>
                  <a:t>的局部条件概率的连乘形式。</a:t>
                </a:r>
                <a:endParaRPr lang="en-US" altLang="zh-CN" dirty="0"/>
              </a:p>
              <a:p>
                <a:r>
                  <a:rPr lang="zh-CN" altLang="en-US" dirty="0"/>
                  <a:t>假设每个局部条件概率</a:t>
                </a:r>
                <a14:m>
                  <m:oMath xmlns:m="http://schemas.openxmlformats.org/officeDocument/2006/math">
                    <m:r>
                      <a:rPr lang="en-US" altLang="zh-CN" dirty="0" smtClean="0">
                        <a:latin typeface="Cambria Math" panose="02040503050406030204" pitchFamily="18" charset="0"/>
                      </a:rPr>
                      <m:t>𝑝</m:t>
                    </m:r>
                    <m:r>
                      <a:rPr lang="en-US" altLang="zh-CN"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dirty="0" err="1" smtClean="0">
                            <a:latin typeface="Cambria Math" panose="02040503050406030204" pitchFamily="18" charset="0"/>
                          </a:rPr>
                          <m:t>𝑥</m:t>
                        </m:r>
                      </m:e>
                      <m:sub>
                        <m:r>
                          <a:rPr lang="en-US" altLang="zh-CN" dirty="0" err="1" smtClean="0">
                            <a:latin typeface="Cambria Math" panose="02040503050406030204" pitchFamily="18" charset="0"/>
                          </a:rPr>
                          <m:t>𝑘</m:t>
                        </m:r>
                      </m:sub>
                    </m:sSub>
                    <m:r>
                      <a:rPr lang="en-US" altLang="zh-CN" dirty="0" smtClean="0">
                        <a:latin typeface="Cambria Math" panose="02040503050406030204" pitchFamily="18" charset="0"/>
                      </a:rPr>
                      <m:t> |</m:t>
                    </m:r>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𝑥</m:t>
                        </m:r>
                      </m:e>
                      <m:sub>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𝜋</m:t>
                            </m:r>
                          </m:e>
                          <m:sub>
                            <m:r>
                              <a:rPr lang="en-US" altLang="zh-CN" dirty="0" smtClean="0">
                                <a:latin typeface="Cambria Math" panose="02040503050406030204" pitchFamily="18" charset="0"/>
                              </a:rPr>
                              <m:t>𝑘</m:t>
                            </m:r>
                          </m:sub>
                        </m:sSub>
                      </m:sub>
                    </m:sSub>
                    <m:r>
                      <a:rPr lang="en-US" altLang="zh-CN" dirty="0" smtClean="0">
                        <a:latin typeface="Cambria Math" panose="02040503050406030204" pitchFamily="18" charset="0"/>
                      </a:rPr>
                      <m:t>)</m:t>
                    </m:r>
                  </m:oMath>
                </a14:m>
                <a:r>
                  <a:rPr lang="zh-CN" altLang="en-US" dirty="0"/>
                  <a:t>的参数为</a:t>
                </a:r>
                <a14:m>
                  <m:oMath xmlns:m="http://schemas.openxmlformats.org/officeDocument/2006/math">
                    <m:sSub>
                      <m:sSubPr>
                        <m:ctrlPr>
                          <a:rPr lang="en-US" altLang="zh-CN" b="0" i="1" dirty="0" smtClean="0">
                            <a:latin typeface="Cambria Math" panose="02040503050406030204" pitchFamily="18" charset="0"/>
                          </a:rPr>
                        </m:ctrlPr>
                      </m:sSubPr>
                      <m:e>
                        <m:r>
                          <a:rPr lang="en-US" altLang="zh-CN" dirty="0" smtClean="0">
                            <a:latin typeface="Cambria Math" panose="02040503050406030204" pitchFamily="18" charset="0"/>
                          </a:rPr>
                          <m:t>𝜃</m:t>
                        </m:r>
                      </m:e>
                      <m:sub>
                        <m:r>
                          <a:rPr lang="en-US" altLang="zh-CN" dirty="0" err="1" smtClean="0">
                            <a:latin typeface="Cambria Math" panose="02040503050406030204" pitchFamily="18" charset="0"/>
                          </a:rPr>
                          <m:t>𝑘</m:t>
                        </m:r>
                      </m:sub>
                    </m:sSub>
                  </m:oMath>
                </a14:m>
                <a:r>
                  <a:rPr lang="zh-CN" altLang="en-US" dirty="0"/>
                  <a:t>，则对数似然函数为</a:t>
                </a:r>
                <a:r>
                  <a:rPr lang="en-US" altLang="zh-CN" dirty="0"/>
                  <a:t>:</a:t>
                </a:r>
                <a:endParaRPr lang="en-US" altLang="zh-CN" dirty="0"/>
              </a:p>
              <a:p>
                <a:endParaRPr lang="en-US" altLang="zh-CN" dirty="0"/>
              </a:p>
              <a:p>
                <a:pPr marL="0" indent="0">
                  <a:buNone/>
                </a:pPr>
                <a:endParaRPr lang="en-US" altLang="zh-CN" dirty="0"/>
              </a:p>
              <a:p>
                <a:r>
                  <a:rPr lang="zh-CN" altLang="en-US" dirty="0"/>
                  <a:t>分别最大化每个变量的</a:t>
                </a:r>
                <a:r>
                  <a:rPr lang="zh-CN" altLang="en-US" dirty="0">
                    <a:solidFill>
                      <a:srgbClr val="00B0F0"/>
                    </a:solidFill>
                  </a:rPr>
                  <a:t>条件似然</a:t>
                </a:r>
                <a:r>
                  <a:rPr lang="zh-CN" altLang="en-US" dirty="0"/>
                  <a:t>来估计其参数</a:t>
                </a:r>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838200" y="1180418"/>
                <a:ext cx="10287000" cy="4996546"/>
              </a:xfrm>
              <a:blipFill rotWithShape="1">
                <a:blip r:embed="rId1"/>
                <a:stretch>
                  <a:fillRect t="-12" b="6"/>
                </a:stretch>
              </a:blipFill>
            </p:spPr>
            <p:txBody>
              <a:bodyPr/>
              <a:lstStyle/>
              <a:p>
                <a:r>
                  <a:rPr lang="zh-CN" altLang="en-US">
                    <a:noFill/>
                  </a:rPr>
                  <a:t> </a:t>
                </a:r>
              </a:p>
            </p:txBody>
          </p:sp>
        </mc:Fallback>
      </mc:AlternateContent>
      <p:pic>
        <p:nvPicPr>
          <p:cNvPr id="6" name="图片 5"/>
          <p:cNvPicPr>
            <a:picLocks noChangeAspect="1"/>
          </p:cNvPicPr>
          <p:nvPr/>
        </p:nvPicPr>
        <p:blipFill>
          <a:blip r:embed="rId2"/>
          <a:stretch>
            <a:fillRect/>
          </a:stretch>
        </p:blipFill>
        <p:spPr>
          <a:xfrm>
            <a:off x="3352800" y="3248020"/>
            <a:ext cx="4865227" cy="1857380"/>
          </a:xfrm>
          <a:prstGeom prst="rect">
            <a:avLst/>
          </a:prstGeom>
        </p:spPr>
      </p:pic>
      <p:pic>
        <p:nvPicPr>
          <p:cNvPr id="8" name="图片 7"/>
          <p:cNvPicPr>
            <a:picLocks noChangeAspect="1"/>
          </p:cNvPicPr>
          <p:nvPr/>
        </p:nvPicPr>
        <p:blipFill>
          <a:blip r:embed="rId3"/>
          <a:stretch>
            <a:fillRect/>
          </a:stretch>
        </p:blipFill>
        <p:spPr>
          <a:xfrm>
            <a:off x="3505200" y="5597017"/>
            <a:ext cx="4258112" cy="956183"/>
          </a:xfrm>
          <a:prstGeom prst="rect">
            <a:avLst/>
          </a:prstGeom>
        </p:spPr>
      </p:pic>
      <p:sp>
        <p:nvSpPr>
          <p:cNvPr id="7"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
        <p:nvSpPr>
          <p:cNvPr id="9" name="文本框 8"/>
          <p:cNvSpPr txBox="1"/>
          <p:nvPr/>
        </p:nvSpPr>
        <p:spPr>
          <a:xfrm>
            <a:off x="8153400" y="4038600"/>
            <a:ext cx="3200400" cy="830997"/>
          </a:xfrm>
          <a:prstGeom prst="rect">
            <a:avLst/>
          </a:prstGeom>
          <a:noFill/>
        </p:spPr>
        <p:txBody>
          <a:bodyPr wrap="square">
            <a:spAutoFit/>
          </a:bodyPr>
          <a:lstStyle/>
          <a:p>
            <a:r>
              <a:rPr lang="zh-CN" altLang="en-US" sz="2400" b="1" dirty="0">
                <a:solidFill>
                  <a:srgbClr val="00B0F0"/>
                </a:solidFill>
                <a:latin typeface="微软雅黑" panose="020B0503020204020204" pitchFamily="34" charset="-122"/>
                <a:ea typeface="微软雅黑" panose="020B0503020204020204" pitchFamily="34" charset="-122"/>
              </a:rPr>
              <a:t>考虑所有条件下随机变量的条件概率</a:t>
            </a:r>
            <a:endParaRPr lang="zh-CN" altLang="en-US" sz="2400" b="1" dirty="0">
              <a:solidFill>
                <a:srgbClr val="00B0F0"/>
              </a:solidFill>
              <a:latin typeface="微软雅黑" panose="020B0503020204020204" pitchFamily="34" charset="-122"/>
              <a:ea typeface="微软雅黑" panose="020B0503020204020204" pitchFamily="34" charset="-122"/>
            </a:endParaRPr>
          </a:p>
        </p:txBody>
      </p:sp>
      <p:sp>
        <p:nvSpPr>
          <p:cNvPr id="4" name="矩形 3"/>
          <p:cNvSpPr/>
          <p:nvPr/>
        </p:nvSpPr>
        <p:spPr>
          <a:xfrm>
            <a:off x="3581400" y="5525370"/>
            <a:ext cx="381000" cy="642275"/>
          </a:xfrm>
          <a:prstGeom prst="rect">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无向图模型</a:t>
            </a:r>
            <a:endParaRPr lang="zh-CN" altLang="en-US" dirty="0"/>
          </a:p>
        </p:txBody>
      </p:sp>
      <p:sp>
        <p:nvSpPr>
          <p:cNvPr id="3" name="内容占位符 2"/>
          <p:cNvSpPr>
            <a:spLocks noGrp="1"/>
          </p:cNvSpPr>
          <p:nvPr>
            <p:ph idx="1"/>
          </p:nvPr>
        </p:nvSpPr>
        <p:spPr/>
        <p:txBody>
          <a:bodyPr>
            <a:normAutofit/>
          </a:bodyPr>
          <a:lstStyle/>
          <a:p>
            <a:r>
              <a:rPr lang="zh-CN" altLang="en-US" dirty="0"/>
              <a:t>以对数线性模型为例，</a:t>
            </a:r>
            <a:endParaRPr lang="en-US" altLang="zh-CN" dirty="0"/>
          </a:p>
          <a:p>
            <a:endParaRPr lang="en-US" altLang="zh-CN" dirty="0"/>
          </a:p>
          <a:p>
            <a:endParaRPr lang="en-US" altLang="zh-CN" dirty="0"/>
          </a:p>
          <a:p>
            <a:pPr marL="0" indent="0">
              <a:buNone/>
            </a:pPr>
            <a:endParaRPr lang="en-US" altLang="zh-CN" dirty="0"/>
          </a:p>
          <a:p>
            <a:endParaRPr lang="en-US" altLang="zh-CN" dirty="0"/>
          </a:p>
          <a:p>
            <a:r>
              <a:rPr lang="zh-CN" altLang="en-US" dirty="0"/>
              <a:t>最大化对数似然来估计参数：求偏导 </a:t>
            </a:r>
            <a:r>
              <a:rPr lang="en-US" altLang="zh-CN" dirty="0">
                <a:sym typeface="Wingdings" panose="05000000000000000000" pitchFamily="2" charset="2"/>
              </a:rPr>
              <a:t> </a:t>
            </a:r>
            <a:r>
              <a:rPr lang="zh-CN" altLang="en-US" dirty="0">
                <a:sym typeface="Wingdings" panose="05000000000000000000" pitchFamily="2" charset="2"/>
              </a:rPr>
              <a:t>梯度上升</a:t>
            </a:r>
            <a:endParaRPr lang="en-US" altLang="zh-CN" dirty="0"/>
          </a:p>
          <a:p>
            <a:r>
              <a:rPr lang="zh-CN" altLang="en-US" dirty="0"/>
              <a:t>偏导数</a:t>
            </a:r>
            <a:endParaRPr lang="zh-CN" altLang="en-US" dirty="0"/>
          </a:p>
        </p:txBody>
      </p:sp>
      <p:pic>
        <p:nvPicPr>
          <p:cNvPr id="11" name="图片 10"/>
          <p:cNvPicPr>
            <a:picLocks noChangeAspect="1"/>
          </p:cNvPicPr>
          <p:nvPr/>
        </p:nvPicPr>
        <p:blipFill>
          <a:blip r:embed="rId1"/>
          <a:stretch>
            <a:fillRect/>
          </a:stretch>
        </p:blipFill>
        <p:spPr>
          <a:xfrm>
            <a:off x="4495800" y="1676956"/>
            <a:ext cx="3288983" cy="772868"/>
          </a:xfrm>
          <a:prstGeom prst="rect">
            <a:avLst/>
          </a:prstGeom>
        </p:spPr>
      </p:pic>
      <p:pic>
        <p:nvPicPr>
          <p:cNvPr id="13" name="图片 12"/>
          <p:cNvPicPr>
            <a:picLocks noChangeAspect="1"/>
          </p:cNvPicPr>
          <p:nvPr/>
        </p:nvPicPr>
        <p:blipFill>
          <a:blip r:embed="rId2"/>
          <a:stretch>
            <a:fillRect/>
          </a:stretch>
        </p:blipFill>
        <p:spPr>
          <a:xfrm>
            <a:off x="3766324" y="2552651"/>
            <a:ext cx="5072876" cy="1866949"/>
          </a:xfrm>
          <a:prstGeom prst="rect">
            <a:avLst/>
          </a:prstGeom>
        </p:spPr>
      </p:pic>
      <p:pic>
        <p:nvPicPr>
          <p:cNvPr id="17" name="图片 16"/>
          <p:cNvPicPr>
            <a:picLocks noChangeAspect="1"/>
          </p:cNvPicPr>
          <p:nvPr/>
        </p:nvPicPr>
        <p:blipFill>
          <a:blip r:embed="rId3"/>
          <a:stretch>
            <a:fillRect/>
          </a:stretch>
        </p:blipFill>
        <p:spPr>
          <a:xfrm>
            <a:off x="2653284" y="5090344"/>
            <a:ext cx="4876800" cy="1545996"/>
          </a:xfrm>
          <a:prstGeom prst="rect">
            <a:avLst/>
          </a:prstGeom>
        </p:spPr>
      </p:pic>
      <p:sp>
        <p:nvSpPr>
          <p:cNvPr id="7"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pic>
        <p:nvPicPr>
          <p:cNvPr id="5" name="图片 4"/>
          <p:cNvPicPr>
            <a:picLocks noChangeAspect="1"/>
          </p:cNvPicPr>
          <p:nvPr/>
        </p:nvPicPr>
        <p:blipFill>
          <a:blip r:embed="rId4"/>
          <a:stretch>
            <a:fillRect/>
          </a:stretch>
        </p:blipFill>
        <p:spPr>
          <a:xfrm>
            <a:off x="8306987" y="5049373"/>
            <a:ext cx="3104309" cy="395530"/>
          </a:xfrm>
          <a:prstGeom prst="rect">
            <a:avLst/>
          </a:prstGeom>
        </p:spPr>
      </p:pic>
      <p:pic>
        <p:nvPicPr>
          <p:cNvPr id="8" name="图片 7"/>
          <p:cNvPicPr>
            <a:picLocks noChangeAspect="1"/>
          </p:cNvPicPr>
          <p:nvPr/>
        </p:nvPicPr>
        <p:blipFill>
          <a:blip r:embed="rId5"/>
          <a:stretch>
            <a:fillRect/>
          </a:stretch>
        </p:blipFill>
        <p:spPr>
          <a:xfrm>
            <a:off x="8058496" y="5704346"/>
            <a:ext cx="3733800" cy="1039735"/>
          </a:xfrm>
          <a:prstGeom prst="rect">
            <a:avLst/>
          </a:prstGeom>
        </p:spPr>
      </p:pic>
      <p:sp>
        <p:nvSpPr>
          <p:cNvPr id="9" name="箭头: 下 8"/>
          <p:cNvSpPr/>
          <p:nvPr/>
        </p:nvSpPr>
        <p:spPr>
          <a:xfrm>
            <a:off x="9658696" y="5481991"/>
            <a:ext cx="533400" cy="31788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屏幕剪辑"/>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839200" y="274223"/>
            <a:ext cx="1360534" cy="2278428"/>
          </a:xfrm>
          <a:prstGeom prst="rect">
            <a:avLst/>
          </a:prstGeom>
        </p:spPr>
      </p:pic>
      <p:sp>
        <p:nvSpPr>
          <p:cNvPr id="16" name="文本框 15"/>
          <p:cNvSpPr txBox="1"/>
          <p:nvPr/>
        </p:nvSpPr>
        <p:spPr>
          <a:xfrm>
            <a:off x="685800" y="5677582"/>
            <a:ext cx="2218528" cy="461665"/>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（自行了解）</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含隐变量的</a:t>
            </a:r>
            <a:r>
              <a:rPr lang="zh-CN" altLang="en-US" dirty="0">
                <a:solidFill>
                  <a:srgbClr val="FF0000"/>
                </a:solidFill>
              </a:rPr>
              <a:t>参数估计</a:t>
            </a:r>
            <a:endParaRPr lang="zh-CN" altLang="en-US" dirty="0">
              <a:solidFill>
                <a:srgbClr val="FF0000"/>
              </a:solidFill>
            </a:endParaRPr>
          </a:p>
        </p:txBody>
      </p:sp>
      <p:sp>
        <p:nvSpPr>
          <p:cNvPr id="3"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一个简单的隐变量估计情形：</a:t>
            </a:r>
            <a:r>
              <a:rPr lang="en-US" altLang="zh-CN" dirty="0"/>
              <a:t>K-means</a:t>
            </a:r>
            <a:r>
              <a:rPr lang="zh-CN" altLang="en-US" dirty="0"/>
              <a:t>聚类</a:t>
            </a:r>
            <a:endParaRPr lang="zh-CN" altLang="en-US" dirty="0"/>
          </a:p>
        </p:txBody>
      </p:sp>
      <p:pic>
        <p:nvPicPr>
          <p:cNvPr id="9" name="内容占位符 8"/>
          <p:cNvPicPr>
            <a:picLocks noGrp="1" noChangeAspect="1"/>
          </p:cNvPicPr>
          <p:nvPr>
            <p:ph idx="1"/>
          </p:nvPr>
        </p:nvPicPr>
        <p:blipFill rotWithShape="1">
          <a:blip r:embed="rId1" cstate="print">
            <a:extLst>
              <a:ext uri="{28A0092B-C50C-407E-A947-70E740481C1C}">
                <a14:useLocalDpi xmlns:a14="http://schemas.microsoft.com/office/drawing/2010/main" val="0"/>
              </a:ext>
            </a:extLst>
          </a:blip>
          <a:srcRect b="48740"/>
          <a:stretch>
            <a:fillRect/>
          </a:stretch>
        </p:blipFill>
        <p:spPr>
          <a:xfrm>
            <a:off x="838200" y="2438400"/>
            <a:ext cx="10515600" cy="2228414"/>
          </a:xfrm>
        </p:spPr>
      </p:pic>
      <p:sp>
        <p:nvSpPr>
          <p:cNvPr id="3" name="文本框 2"/>
          <p:cNvSpPr txBox="1"/>
          <p:nvPr/>
        </p:nvSpPr>
        <p:spPr>
          <a:xfrm>
            <a:off x="838200" y="4715056"/>
            <a:ext cx="2286000" cy="1477328"/>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在数据域中随机选取</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（在本例中，</a:t>
            </a:r>
            <a:r>
              <a:rPr lang="en-US" altLang="zh-CN" dirty="0">
                <a:latin typeface="微软雅黑" panose="020B0503020204020204" pitchFamily="34" charset="-122"/>
                <a:ea typeface="微软雅黑" panose="020B0503020204020204" pitchFamily="34" charset="-122"/>
              </a:rPr>
              <a:t>k=3</a:t>
            </a:r>
            <a:r>
              <a:rPr lang="zh-CN" altLang="en-US" dirty="0">
                <a:latin typeface="微软雅黑" panose="020B0503020204020204" pitchFamily="34" charset="-122"/>
                <a:ea typeface="微软雅黑" panose="020B0503020204020204" pitchFamily="34" charset="-122"/>
              </a:rPr>
              <a:t>）个点作为均值（</a:t>
            </a:r>
            <a:r>
              <a:rPr lang="en-US" altLang="zh-CN" dirty="0">
                <a:latin typeface="微软雅黑" panose="020B0503020204020204" pitchFamily="34" charset="-122"/>
                <a:ea typeface="微软雅黑" panose="020B0503020204020204" pitchFamily="34" charset="-122"/>
              </a:rPr>
              <a:t>means</a:t>
            </a:r>
            <a:r>
              <a:rPr lang="zh-CN" altLang="en-US" dirty="0">
                <a:latin typeface="微软雅黑" panose="020B0503020204020204" pitchFamily="34" charset="-122"/>
                <a:ea typeface="微软雅黑" panose="020B0503020204020204" pitchFamily="34" charset="-122"/>
              </a:rPr>
              <a:t>），即图中有颜色的点</a:t>
            </a:r>
            <a:endParaRPr lang="zh-CN" altLang="en-US" dirty="0">
              <a:latin typeface="微软雅黑" panose="020B0503020204020204" pitchFamily="34" charset="-122"/>
              <a:ea typeface="微软雅黑" panose="020B0503020204020204" pitchFamily="34" charset="-122"/>
            </a:endParaRPr>
          </a:p>
        </p:txBody>
      </p:sp>
      <p:sp>
        <p:nvSpPr>
          <p:cNvPr id="4" name="文本框 3"/>
          <p:cNvSpPr txBox="1"/>
          <p:nvPr/>
        </p:nvSpPr>
        <p:spPr>
          <a:xfrm>
            <a:off x="3555626" y="4715056"/>
            <a:ext cx="2476500" cy="1754326"/>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通过对每个数据查询其最近的均值来创建</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个簇（</a:t>
            </a:r>
            <a:r>
              <a:rPr lang="en-US" altLang="zh-CN" dirty="0">
                <a:latin typeface="微软雅黑" panose="020B0503020204020204" pitchFamily="34" charset="-122"/>
                <a:ea typeface="微软雅黑" panose="020B0503020204020204" pitchFamily="34" charset="-122"/>
              </a:rPr>
              <a:t>cluster</a:t>
            </a:r>
            <a:r>
              <a:rPr lang="zh-CN" altLang="en-US" dirty="0">
                <a:latin typeface="微软雅黑" panose="020B0503020204020204" pitchFamily="34" charset="-122"/>
                <a:ea typeface="微软雅黑" panose="020B0503020204020204" pitchFamily="34" charset="-122"/>
              </a:rPr>
              <a:t>）。图中不同区域代表由各均值生成的维诺图（</a:t>
            </a:r>
            <a:r>
              <a:rPr lang="en-US" altLang="zh-CN" dirty="0">
                <a:latin typeface="微软雅黑" panose="020B0503020204020204" pitchFamily="34" charset="-122"/>
                <a:ea typeface="微软雅黑" panose="020B0503020204020204" pitchFamily="34" charset="-122"/>
              </a:rPr>
              <a:t>Voronoi Diagram</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
        <p:nvSpPr>
          <p:cNvPr id="6" name="文本框 5"/>
          <p:cNvSpPr txBox="1"/>
          <p:nvPr/>
        </p:nvSpPr>
        <p:spPr>
          <a:xfrm>
            <a:off x="6400800" y="4715056"/>
            <a:ext cx="2286000" cy="646331"/>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每个簇的中心点作为新的均值</a:t>
            </a:r>
            <a:endParaRPr lang="zh-CN" altLang="en-US" dirty="0">
              <a:latin typeface="微软雅黑" panose="020B0503020204020204" pitchFamily="34" charset="-122"/>
              <a:ea typeface="微软雅黑" panose="020B0503020204020204" pitchFamily="34" charset="-122"/>
            </a:endParaRPr>
          </a:p>
        </p:txBody>
      </p:sp>
      <p:sp>
        <p:nvSpPr>
          <p:cNvPr id="7" name="文本框 6"/>
          <p:cNvSpPr txBox="1"/>
          <p:nvPr/>
        </p:nvSpPr>
        <p:spPr>
          <a:xfrm>
            <a:off x="8915400" y="4715056"/>
            <a:ext cx="2286000" cy="646331"/>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重复步骤</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直到收敛</a:t>
            </a:r>
            <a:endParaRPr lang="zh-CN" altLang="en-US" dirty="0">
              <a:latin typeface="微软雅黑" panose="020B0503020204020204" pitchFamily="34" charset="-122"/>
              <a:ea typeface="微软雅黑" panose="020B0503020204020204" pitchFamily="34" charset="-122"/>
            </a:endParaRPr>
          </a:p>
        </p:txBody>
      </p:sp>
      <p:sp>
        <p:nvSpPr>
          <p:cNvPr id="8"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
        <p:nvSpPr>
          <p:cNvPr id="10" name="文本框 9"/>
          <p:cNvSpPr txBox="1"/>
          <p:nvPr/>
        </p:nvSpPr>
        <p:spPr>
          <a:xfrm>
            <a:off x="838200" y="1181653"/>
            <a:ext cx="11201400" cy="1200329"/>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聚类：给定一组数据（观测变量），找到其满足的分布</a:t>
            </a:r>
            <a:endParaRPr lang="en-US" altLang="zh-CN" sz="2400" b="1" dirty="0">
              <a:latin typeface="微软雅黑" panose="020B0503020204020204" pitchFamily="34" charset="-122"/>
              <a:ea typeface="微软雅黑" panose="020B0503020204020204" pitchFamily="34" charset="-122"/>
            </a:endParaRPr>
          </a:p>
          <a:p>
            <a:r>
              <a:rPr lang="zh-CN" altLang="en-US" sz="2400" b="1" dirty="0">
                <a:latin typeface="微软雅黑" panose="020B0503020204020204" pitchFamily="34" charset="-122"/>
                <a:ea typeface="微软雅黑" panose="020B0503020204020204" pitchFamily="34" charset="-122"/>
              </a:rPr>
              <a:t>隐变量：给定一个样本，其属于的类别</a:t>
            </a:r>
            <a:endParaRPr lang="en-US" altLang="zh-CN" sz="2400" b="1" dirty="0">
              <a:latin typeface="微软雅黑" panose="020B0503020204020204" pitchFamily="34" charset="-122"/>
              <a:ea typeface="微软雅黑" panose="020B0503020204020204" pitchFamily="34" charset="-122"/>
            </a:endParaRPr>
          </a:p>
          <a:p>
            <a:r>
              <a:rPr lang="zh-CN" altLang="en-US" sz="2400" b="1" dirty="0">
                <a:latin typeface="微软雅黑" panose="020B0503020204020204" pitchFamily="34" charset="-122"/>
                <a:ea typeface="微软雅黑" panose="020B0503020204020204" pitchFamily="34" charset="-122"/>
              </a:rPr>
              <a:t>参数估计：通过对隐变量的优化，得到最优分布对应的参数（例如，分类边界）</a:t>
            </a:r>
            <a:endParaRPr lang="zh-CN" altLang="en-US" sz="2400" b="1"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K-means</a:t>
            </a:r>
            <a:r>
              <a:rPr lang="zh-CN" altLang="en-US" dirty="0"/>
              <a:t>算法</a:t>
            </a:r>
            <a:endParaRPr lang="zh-CN" altLang="en-US" dirty="0"/>
          </a:p>
        </p:txBody>
      </p:sp>
      <p:sp>
        <p:nvSpPr>
          <p:cNvPr id="4" name="内容占位符 3"/>
          <p:cNvSpPr>
            <a:spLocks noGrp="1"/>
          </p:cNvSpPr>
          <p:nvPr>
            <p:ph idx="1"/>
          </p:nvPr>
        </p:nvSpPr>
        <p:spPr/>
        <p:txBody>
          <a:bodyPr/>
          <a:lstStyle/>
          <a:p>
            <a:r>
              <a:rPr lang="zh-CN" altLang="en-US" dirty="0"/>
              <a:t>初始化中心点</a:t>
            </a:r>
            <a:r>
              <a:rPr lang="en-US" altLang="zh-CN" dirty="0"/>
              <a:t> </a:t>
            </a:r>
            <a:r>
              <a:rPr lang="en-US" altLang="zh-CN" i="1" dirty="0"/>
              <a:t>m</a:t>
            </a:r>
            <a:r>
              <a:rPr lang="en-US" altLang="zh-CN" baseline="-25000" dirty="0"/>
              <a:t>1</a:t>
            </a:r>
            <a:r>
              <a:rPr lang="en-US" altLang="zh-CN" baseline="30000" dirty="0"/>
              <a:t>(1)</a:t>
            </a:r>
            <a:r>
              <a:rPr lang="en-US" altLang="zh-CN" dirty="0"/>
              <a:t>,…,</a:t>
            </a:r>
            <a:r>
              <a:rPr lang="en-US" altLang="zh-CN" i="1" dirty="0" err="1"/>
              <a:t>m</a:t>
            </a:r>
            <a:r>
              <a:rPr lang="en-US" altLang="zh-CN" i="1" baseline="-25000" dirty="0" err="1"/>
              <a:t>k</a:t>
            </a:r>
            <a:r>
              <a:rPr lang="en-US" altLang="zh-CN" baseline="30000" dirty="0"/>
              <a:t>(1)</a:t>
            </a:r>
            <a:r>
              <a:rPr lang="en-US" altLang="zh-CN" dirty="0"/>
              <a:t> </a:t>
            </a:r>
            <a:endParaRPr lang="en-US" altLang="zh-CN" dirty="0"/>
          </a:p>
          <a:p>
            <a:r>
              <a:rPr lang="zh-CN" altLang="en-US" dirty="0"/>
              <a:t>迭代执行下面两步</a:t>
            </a:r>
            <a:endParaRPr lang="en-US" altLang="zh-CN" dirty="0"/>
          </a:p>
          <a:p>
            <a:pPr lvl="1"/>
            <a:r>
              <a:rPr lang="zh-CN" altLang="en-US" dirty="0"/>
              <a:t>分配步（</a:t>
            </a:r>
            <a:r>
              <a:rPr lang="en-US" altLang="zh-CN" b="1" dirty="0"/>
              <a:t> </a:t>
            </a:r>
            <a:r>
              <a:rPr lang="en-US" altLang="zh-CN" dirty="0"/>
              <a:t>Assignment step </a:t>
            </a:r>
            <a:r>
              <a:rPr lang="zh-CN" altLang="en-US" dirty="0"/>
              <a:t>）：</a:t>
            </a:r>
            <a:endParaRPr lang="en-US" altLang="zh-CN" dirty="0"/>
          </a:p>
          <a:p>
            <a:pPr marL="457200" lvl="1" indent="0">
              <a:buNone/>
            </a:pPr>
            <a:endParaRPr lang="en-US" altLang="zh-CN" dirty="0"/>
          </a:p>
          <a:p>
            <a:pPr lvl="1"/>
            <a:endParaRPr lang="en-US" altLang="zh-CN" b="1" dirty="0"/>
          </a:p>
          <a:p>
            <a:pPr lvl="1"/>
            <a:r>
              <a:rPr lang="zh-CN" altLang="en-US" dirty="0"/>
              <a:t>更新步（</a:t>
            </a:r>
            <a:r>
              <a:rPr lang="en-US" altLang="zh-CN" dirty="0"/>
              <a:t>Update step</a:t>
            </a:r>
            <a:r>
              <a:rPr lang="zh-CN" altLang="en-US" dirty="0"/>
              <a:t>）</a:t>
            </a:r>
            <a:endParaRPr lang="zh-CN" altLang="en-US" dirty="0"/>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490013" y="3113300"/>
            <a:ext cx="7211974" cy="544300"/>
          </a:xfrm>
          <a:prstGeom prst="rect">
            <a:avLst/>
          </a:prstGeom>
        </p:spPr>
      </p:pic>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7600" y="4767916"/>
            <a:ext cx="3222256" cy="1023284"/>
          </a:xfrm>
          <a:prstGeom prst="rect">
            <a:avLst/>
          </a:prstGeom>
        </p:spPr>
      </p:pic>
      <p:sp>
        <p:nvSpPr>
          <p:cNvPr id="7"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pic>
        <p:nvPicPr>
          <p:cNvPr id="9" name="内容占位符 8"/>
          <p:cNvPicPr>
            <a:picLocks noChangeAspect="1"/>
          </p:cNvPicPr>
          <p:nvPr/>
        </p:nvPicPr>
        <p:blipFill rotWithShape="1">
          <a:blip r:embed="rId3" cstate="screen"/>
          <a:srcRect/>
          <a:stretch>
            <a:fillRect/>
          </a:stretch>
        </p:blipFill>
        <p:spPr>
          <a:xfrm>
            <a:off x="6324600" y="761111"/>
            <a:ext cx="1890709" cy="1626248"/>
          </a:xfrm>
          <a:prstGeom prst="rect">
            <a:avLst/>
          </a:prstGeom>
        </p:spPr>
      </p:pic>
      <p:pic>
        <p:nvPicPr>
          <p:cNvPr id="10" name="内容占位符 8"/>
          <p:cNvPicPr>
            <a:picLocks noChangeAspect="1"/>
          </p:cNvPicPr>
          <p:nvPr/>
        </p:nvPicPr>
        <p:blipFill rotWithShape="1">
          <a:blip r:embed="rId4" cstate="screen"/>
          <a:srcRect/>
          <a:stretch>
            <a:fillRect/>
          </a:stretch>
        </p:blipFill>
        <p:spPr>
          <a:xfrm>
            <a:off x="9829800" y="2438400"/>
            <a:ext cx="2041646" cy="1705899"/>
          </a:xfrm>
          <a:prstGeom prst="rect">
            <a:avLst/>
          </a:prstGeom>
        </p:spPr>
      </p:pic>
      <p:pic>
        <p:nvPicPr>
          <p:cNvPr id="11" name="内容占位符 8"/>
          <p:cNvPicPr>
            <a:picLocks noChangeAspect="1"/>
          </p:cNvPicPr>
          <p:nvPr/>
        </p:nvPicPr>
        <p:blipFill rotWithShape="1">
          <a:blip r:embed="rId5" cstate="screen"/>
          <a:srcRect/>
          <a:stretch>
            <a:fillRect/>
          </a:stretch>
        </p:blipFill>
        <p:spPr>
          <a:xfrm>
            <a:off x="7467600" y="4343400"/>
            <a:ext cx="2023481" cy="1740448"/>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K-means</a:t>
            </a:r>
            <a:r>
              <a:rPr lang="zh-CN" altLang="en-US" dirty="0"/>
              <a:t>算法</a:t>
            </a:r>
            <a:endParaRPr lang="zh-CN" altLang="en-US" dirty="0"/>
          </a:p>
        </p:txBody>
      </p:sp>
      <p:pic>
        <p:nvPicPr>
          <p:cNvPr id="4098" name="Picture 2" descr="https://upload.wikimedia.org/wikipedia/commons/thumb/e/ea/K-means_convergence.gif/220px-K-means_convergence.gif"/>
          <p:cNvPicPr>
            <a:picLocks noChangeAspect="1" noChangeArrowheads="1" noCrop="1"/>
          </p:cNvPicPr>
          <p:nvPr/>
        </p:nvPicPr>
        <p:blipFill>
          <a:blip r:embed="rId1">
            <a:extLst>
              <a:ext uri="{28A0092B-C50C-407E-A947-70E740481C1C}">
                <a14:useLocalDpi xmlns:a14="http://schemas.microsoft.com/office/drawing/2010/main" val="0"/>
              </a:ext>
            </a:extLst>
          </a:blip>
          <a:srcRect/>
          <a:stretch>
            <a:fillRect/>
          </a:stretch>
        </p:blipFill>
        <p:spPr bwMode="auto">
          <a:xfrm>
            <a:off x="4038600" y="1600200"/>
            <a:ext cx="4419600" cy="4299065"/>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含隐变量的参数学习</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fontScale="92500" lnSpcReduction="10000"/>
              </a:bodyPr>
              <a:lstStyle/>
              <a:p>
                <a:r>
                  <a:rPr lang="zh-CN" altLang="en-US" dirty="0"/>
                  <a:t>隐变量即变量是不可观测的</a:t>
                </a:r>
                <a:endParaRPr lang="en-US" altLang="zh-CN" dirty="0"/>
              </a:p>
              <a:p>
                <a:pPr lvl="1"/>
                <a:r>
                  <a:rPr lang="zh-CN" altLang="en-US" dirty="0"/>
                  <a:t>图中</a:t>
                </a:r>
                <a14:m>
                  <m:oMath xmlns:m="http://schemas.openxmlformats.org/officeDocument/2006/math">
                    <m:r>
                      <a:rPr lang="en-US" altLang="zh-CN" b="1" i="1" smtClean="0">
                        <a:latin typeface="Cambria Math" panose="02040503050406030204" pitchFamily="18" charset="0"/>
                      </a:rPr>
                      <m:t>𝒙</m:t>
                    </m:r>
                  </m:oMath>
                </a14:m>
                <a:r>
                  <a:rPr lang="zh-CN" altLang="en-US" dirty="0"/>
                  <a:t>为可观测变量，</a:t>
                </a:r>
                <a14:m>
                  <m:oMath xmlns:m="http://schemas.openxmlformats.org/officeDocument/2006/math">
                    <m:r>
                      <a:rPr lang="en-US" altLang="zh-CN" b="1" i="1" smtClean="0">
                        <a:latin typeface="Cambria Math" panose="02040503050406030204" pitchFamily="18" charset="0"/>
                      </a:rPr>
                      <m:t>𝒛</m:t>
                    </m:r>
                  </m:oMath>
                </a14:m>
                <a:r>
                  <a:rPr lang="zh-CN" altLang="en-US" dirty="0"/>
                  <a:t>为隐变量，</a:t>
                </a:r>
                <a14:m>
                  <m:oMath xmlns:m="http://schemas.openxmlformats.org/officeDocument/2006/math">
                    <m:r>
                      <a:rPr lang="zh-CN" altLang="en-US" i="1" smtClean="0">
                        <a:latin typeface="Cambria Math" panose="02040503050406030204" pitchFamily="18" charset="0"/>
                      </a:rPr>
                      <m:t>𝜃</m:t>
                    </m:r>
                  </m:oMath>
                </a14:m>
                <a:r>
                  <a:rPr lang="zh-CN" altLang="en-US" dirty="0"/>
                  <a:t>为模型参数</a:t>
                </a:r>
                <a:endParaRPr lang="en-US" altLang="zh-CN" dirty="0"/>
              </a:p>
              <a:p>
                <a:pPr lvl="1"/>
                <a:endParaRPr lang="en-US" altLang="zh-CN" dirty="0"/>
              </a:p>
              <a:p>
                <a:endParaRPr lang="en-US" altLang="zh-CN" dirty="0"/>
              </a:p>
              <a:p>
                <a:endParaRPr lang="en-US" altLang="zh-CN" dirty="0"/>
              </a:p>
              <a:p>
                <a:r>
                  <a:rPr lang="zh-CN" altLang="en-US" dirty="0"/>
                  <a:t>边际似然函数（ </a:t>
                </a:r>
                <a:r>
                  <a:rPr lang="en-US" altLang="zh-CN" dirty="0"/>
                  <a:t>Marginal Likelihood </a:t>
                </a:r>
                <a:r>
                  <a:rPr lang="zh-CN" altLang="en-US" dirty="0"/>
                  <a:t>）</a:t>
                </a:r>
                <a:endParaRPr lang="en-US" altLang="zh-CN" dirty="0"/>
              </a:p>
              <a:p>
                <a:pPr lvl="1"/>
                <a:endParaRPr lang="en-US" altLang="zh-CN" dirty="0"/>
              </a:p>
              <a:p>
                <a:pPr lvl="1"/>
                <a:endParaRPr lang="en-US" altLang="zh-CN" dirty="0"/>
              </a:p>
              <a:p>
                <a:pPr lvl="1"/>
                <a:endParaRPr lang="en-US" altLang="zh-CN" dirty="0"/>
              </a:p>
              <a:p>
                <a:pPr lvl="1"/>
                <a:r>
                  <a:rPr lang="zh-CN" altLang="en-US" dirty="0"/>
                  <a:t>使用</a:t>
                </a:r>
                <a:r>
                  <a:rPr lang="en-US" altLang="zh-CN" dirty="0"/>
                  <a:t>EM</a:t>
                </a:r>
                <a:r>
                  <a:rPr lang="zh-CN" altLang="en-US" dirty="0"/>
                  <a:t>算法，通过</a:t>
                </a:r>
                <a:r>
                  <a:rPr lang="zh-CN" altLang="en-US" b="1" dirty="0">
                    <a:solidFill>
                      <a:srgbClr val="00B0F0"/>
                    </a:solidFill>
                  </a:rPr>
                  <a:t>最大边迹似然</a:t>
                </a:r>
                <a:r>
                  <a:rPr lang="zh-CN" altLang="en-US" dirty="0"/>
                  <a:t>进行参数估计</a:t>
                </a:r>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t="-12" b="6"/>
                </a:stretch>
              </a:blipFill>
            </p:spPr>
            <p:txBody>
              <a:bodyPr/>
              <a:lstStyle/>
              <a:p>
                <a:r>
                  <a:rPr lang="zh-CN" altLang="en-US">
                    <a:noFill/>
                  </a:rPr>
                  <a:t> </a:t>
                </a:r>
              </a:p>
            </p:txBody>
          </p:sp>
        </mc:Fallback>
      </mc:AlternateContent>
      <p:pic>
        <p:nvPicPr>
          <p:cNvPr id="6" name="图片 5"/>
          <p:cNvPicPr>
            <a:picLocks noChangeAspect="1"/>
          </p:cNvPicPr>
          <p:nvPr/>
        </p:nvPicPr>
        <p:blipFill>
          <a:blip r:embed="rId2"/>
          <a:stretch>
            <a:fillRect/>
          </a:stretch>
        </p:blipFill>
        <p:spPr>
          <a:xfrm>
            <a:off x="7696200" y="1143000"/>
            <a:ext cx="1595449" cy="1981214"/>
          </a:xfrm>
          <a:prstGeom prst="rect">
            <a:avLst/>
          </a:prstGeom>
        </p:spPr>
      </p:pic>
      <p:pic>
        <p:nvPicPr>
          <p:cNvPr id="8" name="图片 7"/>
          <p:cNvPicPr>
            <a:picLocks noChangeAspect="1"/>
          </p:cNvPicPr>
          <p:nvPr/>
        </p:nvPicPr>
        <p:blipFill>
          <a:blip r:embed="rId3"/>
          <a:stretch>
            <a:fillRect/>
          </a:stretch>
        </p:blipFill>
        <p:spPr>
          <a:xfrm>
            <a:off x="4876800" y="4343400"/>
            <a:ext cx="2753602" cy="973920"/>
          </a:xfrm>
          <a:prstGeom prst="rect">
            <a:avLst/>
          </a:prstGeom>
        </p:spPr>
      </p:pic>
      <p:sp>
        <p:nvSpPr>
          <p:cNvPr id="7"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
        <p:nvSpPr>
          <p:cNvPr id="10" name="文本框 9"/>
          <p:cNvSpPr txBox="1"/>
          <p:nvPr/>
        </p:nvSpPr>
        <p:spPr>
          <a:xfrm>
            <a:off x="6705600" y="5020162"/>
            <a:ext cx="5063836" cy="461665"/>
          </a:xfrm>
          <a:prstGeom prst="rect">
            <a:avLst/>
          </a:prstGeom>
          <a:noFill/>
        </p:spPr>
        <p:txBody>
          <a:bodyPr wrap="square">
            <a:spAutoFit/>
          </a:bodyPr>
          <a:lstStyle/>
          <a:p>
            <a:r>
              <a:rPr lang="zh-CN" altLang="en-US" sz="2400" b="1" dirty="0">
                <a:solidFill>
                  <a:srgbClr val="00B050"/>
                </a:solidFill>
                <a:latin typeface="微软雅黑" panose="020B0503020204020204" pitchFamily="34" charset="-122"/>
                <a:ea typeface="微软雅黑" panose="020B0503020204020204" pitchFamily="34" charset="-122"/>
              </a:rPr>
              <a:t>注：对隐变量的不同取值进行穷举</a:t>
            </a:r>
            <a:endParaRPr lang="zh-CN" altLang="en-US" sz="2400" b="1" dirty="0">
              <a:solidFill>
                <a:srgbClr val="00B05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200" dirty="0"/>
              <a:t>期望最大化算法（</a:t>
            </a:r>
            <a:r>
              <a:rPr lang="en-US" altLang="zh-CN" sz="3200" dirty="0"/>
              <a:t>Expectation-Maximum</a:t>
            </a:r>
            <a:r>
              <a:rPr lang="zh-CN" altLang="en-US" sz="3200" dirty="0"/>
              <a:t>，</a:t>
            </a:r>
            <a:r>
              <a:rPr lang="en-US" altLang="zh-CN" sz="3200" dirty="0"/>
              <a:t>EM </a:t>
            </a:r>
            <a:r>
              <a:rPr lang="zh-CN" altLang="en-US" sz="3200" dirty="0"/>
              <a:t>）</a:t>
            </a:r>
            <a:endParaRPr lang="zh-CN" altLang="en-US" sz="3200" dirty="0"/>
          </a:p>
        </p:txBody>
      </p:sp>
      <p:sp>
        <p:nvSpPr>
          <p:cNvPr id="3" name="内容占位符 2"/>
          <p:cNvSpPr>
            <a:spLocks noGrp="1"/>
          </p:cNvSpPr>
          <p:nvPr>
            <p:ph idx="1"/>
          </p:nvPr>
        </p:nvSpPr>
        <p:spPr/>
        <p:txBody>
          <a:bodyPr/>
          <a:lstStyle/>
          <a:p>
            <a:r>
              <a:rPr lang="zh-CN" altLang="en-US" dirty="0"/>
              <a:t>假设有一组变量，有部分变量是不可观测的，如何进行参数估计呢？</a:t>
            </a:r>
            <a:endParaRPr lang="en-US" altLang="zh-CN" dirty="0"/>
          </a:p>
          <a:p>
            <a:pPr lvl="1"/>
            <a:endParaRPr lang="zh-CN" altLang="en-US" dirty="0"/>
          </a:p>
        </p:txBody>
      </p:sp>
      <p:pic>
        <p:nvPicPr>
          <p:cNvPr id="7" name="图片 6" descr="屏幕剪辑"/>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107025" y="2514600"/>
            <a:ext cx="2584229" cy="2953405"/>
          </a:xfrm>
          <a:prstGeom prst="rect">
            <a:avLst/>
          </a:prstGeom>
        </p:spPr>
      </p:pic>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8736" y="2999750"/>
            <a:ext cx="4840733" cy="2535622"/>
          </a:xfrm>
          <a:prstGeom prst="rect">
            <a:avLst/>
          </a:prstGeom>
        </p:spPr>
      </p:pic>
      <p:sp>
        <p:nvSpPr>
          <p:cNvPr id="8" name="矩形 7"/>
          <p:cNvSpPr/>
          <p:nvPr/>
        </p:nvSpPr>
        <p:spPr>
          <a:xfrm>
            <a:off x="2057400" y="5528996"/>
            <a:ext cx="7316555" cy="461665"/>
          </a:xfrm>
          <a:prstGeom prst="rect">
            <a:avLst/>
          </a:prstGeom>
        </p:spPr>
        <p:txBody>
          <a:bodyPr wrap="none">
            <a:spAutoFit/>
          </a:bodyPr>
          <a:lstStyle/>
          <a:p>
            <a:r>
              <a:rPr lang="zh-CN" altLang="en-US" sz="2400" b="1" dirty="0">
                <a:solidFill>
                  <a:srgbClr val="00B0F0"/>
                </a:solidFill>
                <a:latin typeface="微软雅黑" panose="020B0503020204020204" pitchFamily="34" charset="-122"/>
                <a:ea typeface="微软雅黑" panose="020B0503020204020204" pitchFamily="34" charset="-122"/>
              </a:rPr>
              <a:t>证据下界（</a:t>
            </a:r>
            <a:r>
              <a:rPr lang="en-US" altLang="zh-CN" sz="2400" b="1" dirty="0">
                <a:solidFill>
                  <a:srgbClr val="00B0F0"/>
                </a:solidFill>
                <a:latin typeface="微软雅黑" panose="020B0503020204020204" pitchFamily="34" charset="-122"/>
                <a:ea typeface="微软雅黑" panose="020B0503020204020204" pitchFamily="34" charset="-122"/>
              </a:rPr>
              <a:t>Evidence Lower </a:t>
            </a:r>
            <a:r>
              <a:rPr lang="en-US" altLang="zh-CN" sz="2400" b="1" dirty="0" err="1">
                <a:solidFill>
                  <a:srgbClr val="00B0F0"/>
                </a:solidFill>
                <a:latin typeface="微软雅黑" panose="020B0503020204020204" pitchFamily="34" charset="-122"/>
                <a:ea typeface="微软雅黑" panose="020B0503020204020204" pitchFamily="34" charset="-122"/>
              </a:rPr>
              <a:t>BOund</a:t>
            </a:r>
            <a:r>
              <a:rPr lang="zh-CN" altLang="en-US" sz="2400" b="1" dirty="0">
                <a:solidFill>
                  <a:srgbClr val="00B0F0"/>
                </a:solidFill>
                <a:latin typeface="微软雅黑" panose="020B0503020204020204" pitchFamily="34" charset="-122"/>
                <a:ea typeface="微软雅黑" panose="020B0503020204020204" pitchFamily="34" charset="-122"/>
              </a:rPr>
              <a:t>），简称</a:t>
            </a:r>
            <a:r>
              <a:rPr lang="en-US" altLang="zh-CN" sz="2400" b="1" dirty="0">
                <a:solidFill>
                  <a:srgbClr val="00B0F0"/>
                </a:solidFill>
                <a:latin typeface="微软雅黑" panose="020B0503020204020204" pitchFamily="34" charset="-122"/>
                <a:ea typeface="微软雅黑" panose="020B0503020204020204" pitchFamily="34" charset="-122"/>
              </a:rPr>
              <a:t>ELBO</a:t>
            </a:r>
            <a:endParaRPr lang="zh-CN" altLang="en-US" sz="2400" b="1" dirty="0">
              <a:solidFill>
                <a:srgbClr val="00B0F0"/>
              </a:solidFill>
              <a:latin typeface="微软雅黑" panose="020B0503020204020204" pitchFamily="34" charset="-122"/>
              <a:ea typeface="微软雅黑" panose="020B0503020204020204" pitchFamily="34" charset="-122"/>
            </a:endParaRPr>
          </a:p>
        </p:txBody>
      </p:sp>
      <p:sp>
        <p:nvSpPr>
          <p:cNvPr id="9" name="矩形 8"/>
          <p:cNvSpPr/>
          <p:nvPr/>
        </p:nvSpPr>
        <p:spPr>
          <a:xfrm>
            <a:off x="1066800" y="2781778"/>
            <a:ext cx="2646878" cy="461665"/>
          </a:xfrm>
          <a:prstGeom prst="rect">
            <a:avLst/>
          </a:prstGeom>
        </p:spPr>
        <p:txBody>
          <a:bodyPr wrap="none">
            <a:spAutoFit/>
          </a:bodyPr>
          <a:lstStyle/>
          <a:p>
            <a:r>
              <a:rPr lang="zh-CN" altLang="en-US" sz="2400" b="1" dirty="0">
                <a:solidFill>
                  <a:srgbClr val="00B0F0"/>
                </a:solidFill>
                <a:latin typeface="微软雅黑" panose="020B0503020204020204" pitchFamily="34" charset="-122"/>
                <a:ea typeface="微软雅黑" panose="020B0503020204020204" pitchFamily="34" charset="-122"/>
              </a:rPr>
              <a:t>对数边际似然函数</a:t>
            </a:r>
            <a:endParaRPr lang="zh-CN" altLang="en-US" sz="2400" b="1" dirty="0">
              <a:solidFill>
                <a:srgbClr val="00B0F0"/>
              </a:solidFill>
              <a:latin typeface="微软雅黑" panose="020B0503020204020204" pitchFamily="34" charset="-122"/>
              <a:ea typeface="微软雅黑" panose="020B0503020204020204" pitchFamily="34" charset="-122"/>
            </a:endParaRPr>
          </a:p>
        </p:txBody>
      </p:sp>
      <p:sp>
        <p:nvSpPr>
          <p:cNvPr id="10" name="矩形 9"/>
          <p:cNvSpPr/>
          <p:nvPr/>
        </p:nvSpPr>
        <p:spPr>
          <a:xfrm>
            <a:off x="5927373" y="3678691"/>
            <a:ext cx="2776722" cy="461665"/>
          </a:xfrm>
          <a:prstGeom prst="rect">
            <a:avLst/>
          </a:prstGeom>
        </p:spPr>
        <p:txBody>
          <a:bodyPr wrap="none">
            <a:spAutoFit/>
          </a:bodyPr>
          <a:lstStyle/>
          <a:p>
            <a:r>
              <a:rPr lang="zh-CN" altLang="en-US" sz="2400" b="1" dirty="0">
                <a:solidFill>
                  <a:srgbClr val="00B0F0"/>
                </a:solidFill>
                <a:latin typeface="微软雅黑" panose="020B0503020204020204" pitchFamily="34" charset="-122"/>
                <a:ea typeface="微软雅黑" panose="020B0503020204020204" pitchFamily="34" charset="-122"/>
              </a:rPr>
              <a:t>利用Jensen不等式</a:t>
            </a:r>
            <a:endParaRPr lang="zh-CN" altLang="en-US" sz="2400" b="1" dirty="0">
              <a:solidFill>
                <a:srgbClr val="00B0F0"/>
              </a:solidFill>
              <a:latin typeface="微软雅黑" panose="020B0503020204020204" pitchFamily="34" charset="-122"/>
              <a:ea typeface="微软雅黑" panose="020B0503020204020204" pitchFamily="34" charset="-122"/>
            </a:endParaRPr>
          </a:p>
        </p:txBody>
      </p:sp>
      <p:sp>
        <p:nvSpPr>
          <p:cNvPr id="11"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grpSp>
        <p:nvGrpSpPr>
          <p:cNvPr id="15" name="组合 14"/>
          <p:cNvGrpSpPr/>
          <p:nvPr/>
        </p:nvGrpSpPr>
        <p:grpSpPr>
          <a:xfrm>
            <a:off x="6555546" y="4241446"/>
            <a:ext cx="2584229" cy="1047796"/>
            <a:chOff x="6591405" y="4069857"/>
            <a:chExt cx="2584229" cy="1047796"/>
          </a:xfrm>
        </p:grpSpPr>
        <p:pic>
          <p:nvPicPr>
            <p:cNvPr id="6" name="图片 5"/>
            <p:cNvPicPr>
              <a:picLocks noChangeAspect="1"/>
            </p:cNvPicPr>
            <p:nvPr/>
          </p:nvPicPr>
          <p:blipFill>
            <a:blip r:embed="rId3"/>
            <a:stretch>
              <a:fillRect/>
            </a:stretch>
          </p:blipFill>
          <p:spPr>
            <a:xfrm>
              <a:off x="6705600" y="4534150"/>
              <a:ext cx="2414722" cy="570293"/>
            </a:xfrm>
            <a:prstGeom prst="rect">
              <a:avLst/>
            </a:prstGeom>
          </p:spPr>
        </p:pic>
        <p:pic>
          <p:nvPicPr>
            <p:cNvPr id="13" name="图片 12"/>
            <p:cNvPicPr>
              <a:picLocks noChangeAspect="1"/>
            </p:cNvPicPr>
            <p:nvPr/>
          </p:nvPicPr>
          <p:blipFill>
            <a:blip r:embed="rId4"/>
            <a:stretch>
              <a:fillRect/>
            </a:stretch>
          </p:blipFill>
          <p:spPr>
            <a:xfrm>
              <a:off x="7057285" y="4091888"/>
              <a:ext cx="1689874" cy="530454"/>
            </a:xfrm>
            <a:prstGeom prst="rect">
              <a:avLst/>
            </a:prstGeom>
          </p:spPr>
        </p:pic>
        <p:sp>
          <p:nvSpPr>
            <p:cNvPr id="14" name="矩形: 圆角 13"/>
            <p:cNvSpPr/>
            <p:nvPr/>
          </p:nvSpPr>
          <p:spPr>
            <a:xfrm>
              <a:off x="6591405" y="4069857"/>
              <a:ext cx="2584229" cy="1047796"/>
            </a:xfrm>
            <a:prstGeom prst="roundRect">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15"/>
          <p:cNvSpPr/>
          <p:nvPr/>
        </p:nvSpPr>
        <p:spPr>
          <a:xfrm>
            <a:off x="4419600" y="2159750"/>
            <a:ext cx="3770584" cy="461665"/>
          </a:xfrm>
          <a:prstGeom prst="rect">
            <a:avLst/>
          </a:prstGeom>
        </p:spPr>
        <p:txBody>
          <a:bodyPr wrap="none">
            <a:spAutoFit/>
          </a:bodyPr>
          <a:lstStyle/>
          <a:p>
            <a:r>
              <a:rPr lang="zh-CN" altLang="en-US" sz="2400" b="1" dirty="0">
                <a:solidFill>
                  <a:srgbClr val="00B0F0"/>
                </a:solidFill>
                <a:latin typeface="微软雅黑" panose="020B0503020204020204" pitchFamily="34" charset="-122"/>
                <a:ea typeface="微软雅黑" panose="020B0503020204020204" pitchFamily="34" charset="-122"/>
              </a:rPr>
              <a:t>变分函数，隐变量</a:t>
            </a:r>
            <a:r>
              <a:rPr lang="en-US" altLang="zh-CN" sz="2400" b="1" dirty="0">
                <a:solidFill>
                  <a:srgbClr val="00B0F0"/>
                </a:solidFill>
                <a:latin typeface="微软雅黑" panose="020B0503020204020204" pitchFamily="34" charset="-122"/>
                <a:ea typeface="微软雅黑" panose="020B0503020204020204" pitchFamily="34" charset="-122"/>
              </a:rPr>
              <a:t>Z</a:t>
            </a:r>
            <a:r>
              <a:rPr lang="zh-CN" altLang="en-US" sz="2400" b="1" dirty="0">
                <a:solidFill>
                  <a:srgbClr val="00B0F0"/>
                </a:solidFill>
                <a:latin typeface="微软雅黑" panose="020B0503020204020204" pitchFamily="34" charset="-122"/>
                <a:ea typeface="微软雅黑" panose="020B0503020204020204" pitchFamily="34" charset="-122"/>
              </a:rPr>
              <a:t>的分布</a:t>
            </a:r>
            <a:endParaRPr lang="zh-CN" altLang="en-US" sz="2400" b="1" dirty="0">
              <a:solidFill>
                <a:srgbClr val="00B0F0"/>
              </a:solidFill>
              <a:latin typeface="微软雅黑" panose="020B0503020204020204" pitchFamily="34" charset="-122"/>
              <a:ea typeface="微软雅黑" panose="020B0503020204020204" pitchFamily="34" charset="-122"/>
            </a:endParaRPr>
          </a:p>
        </p:txBody>
      </p:sp>
      <p:cxnSp>
        <p:nvCxnSpPr>
          <p:cNvPr id="17" name="直接箭头连接符 16"/>
          <p:cNvCxnSpPr/>
          <p:nvPr/>
        </p:nvCxnSpPr>
        <p:spPr>
          <a:xfrm flipH="1">
            <a:off x="4267200" y="2564443"/>
            <a:ext cx="533400" cy="788357"/>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另外一种推导</a:t>
            </a:r>
            <a:endParaRPr lang="zh-CN" altLang="en-US" dirty="0"/>
          </a:p>
        </p:txBody>
      </p:sp>
      <p:sp>
        <p:nvSpPr>
          <p:cNvPr id="4"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pic>
        <p:nvPicPr>
          <p:cNvPr id="5" name="图片 4"/>
          <p:cNvPicPr>
            <a:picLocks noChangeAspect="1"/>
          </p:cNvPicPr>
          <p:nvPr/>
        </p:nvPicPr>
        <p:blipFill>
          <a:blip r:embed="rId1"/>
          <a:stretch>
            <a:fillRect/>
          </a:stretch>
        </p:blipFill>
        <p:spPr>
          <a:xfrm>
            <a:off x="507627" y="2779315"/>
            <a:ext cx="6799618" cy="2819924"/>
          </a:xfrm>
          <a:prstGeom prst="rect">
            <a:avLst/>
          </a:prstGeom>
        </p:spPr>
      </p:pic>
      <p:sp>
        <p:nvSpPr>
          <p:cNvPr id="7" name="内容占位符 2"/>
          <p:cNvSpPr>
            <a:spLocks noGrp="1"/>
          </p:cNvSpPr>
          <p:nvPr>
            <p:ph idx="1"/>
          </p:nvPr>
        </p:nvSpPr>
        <p:spPr>
          <a:xfrm>
            <a:off x="838200" y="1180418"/>
            <a:ext cx="10515600" cy="4996546"/>
          </a:xfrm>
        </p:spPr>
        <p:txBody>
          <a:bodyPr/>
          <a:lstStyle/>
          <a:p>
            <a:r>
              <a:rPr lang="zh-CN" altLang="en-US" dirty="0">
                <a:effectLst/>
                <a:ea typeface="Segoe UI Web (West European)"/>
              </a:rPr>
              <a:t>信息论的视角</a:t>
            </a:r>
            <a:endParaRPr lang="zh-CN" altLang="zh-CN" dirty="0">
              <a:effectLst/>
              <a:ea typeface="Segoe UI Web (West European)"/>
            </a:endParaRPr>
          </a:p>
        </p:txBody>
      </p:sp>
      <p:pic>
        <p:nvPicPr>
          <p:cNvPr id="6" name="图片 5"/>
          <p:cNvPicPr>
            <a:picLocks noChangeAspect="1"/>
          </p:cNvPicPr>
          <p:nvPr/>
        </p:nvPicPr>
        <p:blipFill>
          <a:blip r:embed="rId2"/>
          <a:stretch>
            <a:fillRect/>
          </a:stretch>
        </p:blipFill>
        <p:spPr>
          <a:xfrm>
            <a:off x="3192445" y="1756578"/>
            <a:ext cx="8229600" cy="697692"/>
          </a:xfrm>
          <a:prstGeom prst="rect">
            <a:avLst/>
          </a:prstGeom>
        </p:spPr>
      </p:pic>
      <p:cxnSp>
        <p:nvCxnSpPr>
          <p:cNvPr id="9" name="直接箭头连接符 8"/>
          <p:cNvCxnSpPr/>
          <p:nvPr/>
        </p:nvCxnSpPr>
        <p:spPr>
          <a:xfrm flipH="1">
            <a:off x="3657600" y="2412839"/>
            <a:ext cx="1828800" cy="45150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p:nvPicPr>
        <p:blipFill>
          <a:blip r:embed="rId3"/>
          <a:stretch>
            <a:fillRect/>
          </a:stretch>
        </p:blipFill>
        <p:spPr>
          <a:xfrm>
            <a:off x="8808912" y="5325438"/>
            <a:ext cx="2407792" cy="961374"/>
          </a:xfrm>
          <a:prstGeom prst="rect">
            <a:avLst/>
          </a:prstGeom>
        </p:spPr>
      </p:pic>
      <p:sp>
        <p:nvSpPr>
          <p:cNvPr id="17" name="箭头: 下 16"/>
          <p:cNvSpPr/>
          <p:nvPr/>
        </p:nvSpPr>
        <p:spPr>
          <a:xfrm>
            <a:off x="4500380" y="3979144"/>
            <a:ext cx="545629" cy="31178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5010975" y="3852789"/>
            <a:ext cx="1763065" cy="472250"/>
          </a:xfrm>
          <a:prstGeom prst="rect">
            <a:avLst/>
          </a:prstGeom>
        </p:spPr>
        <p:txBody>
          <a:bodyPr wrap="square">
            <a:spAutoFit/>
          </a:bodyPr>
          <a:lstStyle/>
          <a:p>
            <a:r>
              <a:rPr lang="zh-CN" altLang="en-US" sz="2400" b="1" dirty="0">
                <a:solidFill>
                  <a:srgbClr val="00B0F0"/>
                </a:solidFill>
                <a:latin typeface="微软雅黑" panose="020B0503020204020204" pitchFamily="34" charset="-122"/>
                <a:ea typeface="微软雅黑" panose="020B0503020204020204" pitchFamily="34" charset="-122"/>
              </a:rPr>
              <a:t>请自行证明</a:t>
            </a:r>
            <a:endParaRPr lang="zh-CN" altLang="en-US" sz="2400" b="1" dirty="0">
              <a:solidFill>
                <a:srgbClr val="00B0F0"/>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7997023" y="3678708"/>
            <a:ext cx="3276600" cy="646331"/>
          </a:xfrm>
          <a:prstGeom prst="rect">
            <a:avLst/>
          </a:prstGeom>
          <a:noFill/>
        </p:spPr>
        <p:txBody>
          <a:bodyPr wrap="square">
            <a:spAutoFit/>
          </a:bodyPr>
          <a:lstStyle/>
          <a:p>
            <a:r>
              <a:rPr lang="zh-CN" altLang="en-US" b="1" dirty="0">
                <a:solidFill>
                  <a:srgbClr val="00B0F0"/>
                </a:solidFill>
                <a:latin typeface="微软雅黑" panose="020B0503020204020204" pitchFamily="34" charset="-122"/>
                <a:ea typeface="微软雅黑" panose="020B0503020204020204" pitchFamily="34" charset="-122"/>
              </a:rPr>
              <a:t>KL散度</a:t>
            </a:r>
            <a:r>
              <a:rPr lang="zh-CN" altLang="en-US" dirty="0">
                <a:latin typeface="微软雅黑" panose="020B0503020204020204" pitchFamily="34" charset="-122"/>
                <a:ea typeface="微软雅黑" panose="020B0503020204020204" pitchFamily="34" charset="-122"/>
              </a:rPr>
              <a:t>是用概率分布</a:t>
            </a:r>
            <a:r>
              <a:rPr lang="en-US" altLang="zh-CN" dirty="0">
                <a:latin typeface="微软雅黑" panose="020B0503020204020204" pitchFamily="34" charset="-122"/>
                <a:ea typeface="微软雅黑" panose="020B0503020204020204" pitchFamily="34" charset="-122"/>
              </a:rPr>
              <a:t>q</a:t>
            </a:r>
            <a:r>
              <a:rPr lang="zh-CN" altLang="en-US" dirty="0">
                <a:latin typeface="微软雅黑" panose="020B0503020204020204" pitchFamily="34" charset="-122"/>
                <a:ea typeface="微软雅黑" panose="020B0503020204020204" pitchFamily="34" charset="-122"/>
              </a:rPr>
              <a:t>来近似</a:t>
            </a:r>
            <a:r>
              <a:rPr lang="en-US" altLang="zh-CN" dirty="0">
                <a:latin typeface="微软雅黑" panose="020B0503020204020204" pitchFamily="34" charset="-122"/>
                <a:ea typeface="微软雅黑" panose="020B0503020204020204" pitchFamily="34" charset="-122"/>
              </a:rPr>
              <a:t>p</a:t>
            </a:r>
            <a:r>
              <a:rPr lang="zh-CN" altLang="en-US" dirty="0">
                <a:latin typeface="微软雅黑" panose="020B0503020204020204" pitchFamily="34" charset="-122"/>
                <a:ea typeface="微软雅黑" panose="020B0503020204020204" pitchFamily="34" charset="-122"/>
              </a:rPr>
              <a:t>时所造成的</a:t>
            </a:r>
            <a:r>
              <a:rPr lang="zh-CN" altLang="en-US" dirty="0">
                <a:solidFill>
                  <a:srgbClr val="00B0F0"/>
                </a:solidFill>
                <a:latin typeface="微软雅黑" panose="020B0503020204020204" pitchFamily="34" charset="-122"/>
                <a:ea typeface="微软雅黑" panose="020B0503020204020204" pitchFamily="34" charset="-122"/>
              </a:rPr>
              <a:t>信息损失量</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p:txBody>
      </p:sp>
      <p:pic>
        <p:nvPicPr>
          <p:cNvPr id="25" name="图片 24"/>
          <p:cNvPicPr>
            <a:picLocks noChangeAspect="1"/>
          </p:cNvPicPr>
          <p:nvPr/>
        </p:nvPicPr>
        <p:blipFill>
          <a:blip r:embed="rId4" cstate="print"/>
          <a:stretch>
            <a:fillRect/>
          </a:stretch>
        </p:blipFill>
        <p:spPr>
          <a:xfrm>
            <a:off x="8808911" y="4388397"/>
            <a:ext cx="2407793" cy="836000"/>
          </a:xfrm>
          <a:prstGeom prst="rect">
            <a:avLst/>
          </a:prstGeom>
        </p:spPr>
      </p:pic>
      <p:sp>
        <p:nvSpPr>
          <p:cNvPr id="31" name="矩形: 圆角 30"/>
          <p:cNvSpPr/>
          <p:nvPr/>
        </p:nvSpPr>
        <p:spPr>
          <a:xfrm>
            <a:off x="7865858" y="3505200"/>
            <a:ext cx="3505200" cy="2967145"/>
          </a:xfrm>
          <a:prstGeom prst="roundRect">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7918016" y="4338099"/>
            <a:ext cx="1223177" cy="369332"/>
          </a:xfrm>
          <a:prstGeom prst="rect">
            <a:avLst/>
          </a:prstGeom>
        </p:spPr>
        <p:txBody>
          <a:bodyPr wrap="square">
            <a:spAutoFit/>
          </a:bodyPr>
          <a:lstStyle/>
          <a:p>
            <a:r>
              <a:rPr lang="zh-CN" altLang="en-US" b="1" dirty="0">
                <a:latin typeface="微软雅黑" panose="020B0503020204020204" pitchFamily="34" charset="-122"/>
                <a:ea typeface="微软雅黑" panose="020B0503020204020204" pitchFamily="34" charset="-122"/>
              </a:rPr>
              <a:t>交叉熵</a:t>
            </a:r>
            <a:endParaRPr lang="zh-CN" altLang="en-US" b="1" dirty="0">
              <a:latin typeface="微软雅黑" panose="020B0503020204020204" pitchFamily="34" charset="-122"/>
              <a:ea typeface="微软雅黑" panose="020B0503020204020204" pitchFamily="34" charset="-122"/>
            </a:endParaRPr>
          </a:p>
        </p:txBody>
      </p:sp>
      <p:sp>
        <p:nvSpPr>
          <p:cNvPr id="8" name="矩形 7"/>
          <p:cNvSpPr/>
          <p:nvPr/>
        </p:nvSpPr>
        <p:spPr>
          <a:xfrm>
            <a:off x="7881098" y="5308250"/>
            <a:ext cx="1223177" cy="369332"/>
          </a:xfrm>
          <a:prstGeom prst="rect">
            <a:avLst/>
          </a:prstGeom>
        </p:spPr>
        <p:txBody>
          <a:bodyPr wrap="square">
            <a:spAutoFit/>
          </a:bodyPr>
          <a:lstStyle/>
          <a:p>
            <a:r>
              <a:rPr lang="en-US" altLang="zh-CN" b="1" dirty="0">
                <a:latin typeface="微软雅黑" panose="020B0503020204020204" pitchFamily="34" charset="-122"/>
                <a:ea typeface="微软雅黑" panose="020B0503020204020204" pitchFamily="34" charset="-122"/>
              </a:rPr>
              <a:t>KL</a:t>
            </a:r>
            <a:r>
              <a:rPr lang="zh-CN" altLang="en-US" b="1" dirty="0">
                <a:latin typeface="微软雅黑" panose="020B0503020204020204" pitchFamily="34" charset="-122"/>
                <a:ea typeface="微软雅黑" panose="020B0503020204020204" pitchFamily="34" charset="-122"/>
              </a:rPr>
              <a:t>散度</a:t>
            </a:r>
            <a:endParaRPr lang="zh-CN" altLang="en-US" b="1" dirty="0">
              <a:latin typeface="微软雅黑" panose="020B0503020204020204" pitchFamily="34" charset="-122"/>
              <a:ea typeface="微软雅黑" panose="020B0503020204020204" pitchFamily="34" charset="-122"/>
            </a:endParaRPr>
          </a:p>
        </p:txBody>
      </p:sp>
      <p:sp>
        <p:nvSpPr>
          <p:cNvPr id="10" name="矩形 9"/>
          <p:cNvSpPr/>
          <p:nvPr/>
        </p:nvSpPr>
        <p:spPr>
          <a:xfrm>
            <a:off x="3810000" y="5143436"/>
            <a:ext cx="245464" cy="534146"/>
          </a:xfrm>
          <a:prstGeom prst="rect">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572000" y="4419600"/>
            <a:ext cx="304800" cy="534146"/>
          </a:xfrm>
          <a:prstGeom prst="rect">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0802840" y="4349441"/>
            <a:ext cx="1763065" cy="400110"/>
          </a:xfrm>
          <a:prstGeom prst="rect">
            <a:avLst/>
          </a:prstGeom>
        </p:spPr>
        <p:txBody>
          <a:bodyPr wrap="square">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第</a:t>
            </a:r>
            <a:r>
              <a:rPr lang="en-US" altLang="zh-CN" sz="2000" b="1" dirty="0">
                <a:solidFill>
                  <a:srgbClr val="FF0000"/>
                </a:solidFill>
                <a:latin typeface="微软雅黑" panose="020B0503020204020204" pitchFamily="34" charset="-122"/>
                <a:ea typeface="微软雅黑" panose="020B0503020204020204" pitchFamily="34" charset="-122"/>
              </a:rPr>
              <a:t>3</a:t>
            </a:r>
            <a:r>
              <a:rPr lang="zh-CN" altLang="en-US" sz="2000" b="1" dirty="0">
                <a:solidFill>
                  <a:srgbClr val="FF0000"/>
                </a:solidFill>
                <a:latin typeface="微软雅黑" panose="020B0503020204020204" pitchFamily="34" charset="-122"/>
                <a:ea typeface="微软雅黑" panose="020B0503020204020204" pitchFamily="34" charset="-122"/>
              </a:rPr>
              <a:t>章 </a:t>
            </a:r>
            <a:r>
              <a:rPr lang="en-US" altLang="zh-CN" sz="2000" b="1" dirty="0">
                <a:solidFill>
                  <a:srgbClr val="FF0000"/>
                </a:solidFill>
                <a:latin typeface="微软雅黑" panose="020B0503020204020204" pitchFamily="34" charset="-122"/>
                <a:ea typeface="微软雅黑" panose="020B0503020204020204" pitchFamily="34" charset="-122"/>
              </a:rPr>
              <a:t>P22</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EM</a:t>
            </a:r>
            <a:r>
              <a:rPr lang="zh-CN" altLang="en-US" dirty="0"/>
              <a:t>算法</a:t>
            </a:r>
            <a:endParaRPr lang="zh-CN" altLang="en-US" dirty="0"/>
          </a:p>
        </p:txBody>
      </p:sp>
      <mc:AlternateContent xmlns:mc="http://schemas.openxmlformats.org/markup-compatibility/2006">
        <mc:Choice xmlns:a14="http://schemas.microsoft.com/office/drawing/2010/main" Requires="a14">
          <p:sp>
            <p:nvSpPr>
              <p:cNvPr id="10" name="内容占位符 9"/>
              <p:cNvSpPr>
                <a:spLocks noGrp="1"/>
              </p:cNvSpPr>
              <p:nvPr>
                <p:ph idx="1"/>
              </p:nvPr>
            </p:nvSpPr>
            <p:spPr>
              <a:xfrm>
                <a:off x="838199" y="1180418"/>
                <a:ext cx="10862937" cy="4996546"/>
              </a:xfrm>
            </p:spPr>
            <p:txBody>
              <a:bodyPr>
                <a:normAutofit/>
              </a:bodyPr>
              <a:lstStyle/>
              <a:p>
                <a:endParaRPr lang="en-US" altLang="zh-CN" dirty="0"/>
              </a:p>
              <a:p>
                <a:pPr marL="0" indent="0">
                  <a:buNone/>
                </a:pPr>
                <a:endParaRPr lang="en-US" altLang="zh-CN" dirty="0"/>
              </a:p>
              <a:p>
                <a:r>
                  <a:rPr lang="en-US" altLang="zh-CN" dirty="0"/>
                  <a:t>E</a:t>
                </a:r>
                <a:r>
                  <a:rPr lang="zh-CN" altLang="en-US" dirty="0"/>
                  <a:t>步（</a:t>
                </a:r>
                <a:r>
                  <a:rPr lang="en-US" altLang="zh-CN" dirty="0"/>
                  <a:t>Expectation step</a:t>
                </a:r>
                <a:r>
                  <a:rPr lang="zh-CN" altLang="en-US" dirty="0"/>
                  <a:t>）：固定参数</a:t>
                </a:r>
                <a14:m>
                  <m:oMath xmlns:m="http://schemas.openxmlformats.org/officeDocument/2006/math">
                    <m:r>
                      <a:rPr lang="zh-CN" altLang="en-US" i="1" smtClean="0">
                        <a:latin typeface="Cambria Math" panose="02040503050406030204" pitchFamily="18" charset="0"/>
                      </a:rPr>
                      <m:t>𝜃</m:t>
                    </m:r>
                  </m:oMath>
                </a14:m>
                <a:r>
                  <a:rPr lang="zh-CN" altLang="en-US" dirty="0"/>
                  <a:t>，找到最优变分分布</a:t>
                </a:r>
                <a14:m>
                  <m:oMath xmlns:m="http://schemas.openxmlformats.org/officeDocument/2006/math">
                    <m:r>
                      <a:rPr lang="en-US" altLang="zh-CN" b="1" i="1" smtClean="0">
                        <a:latin typeface="Cambria Math" panose="02040503050406030204" pitchFamily="18" charset="0"/>
                      </a:rPr>
                      <m:t>𝒒</m:t>
                    </m:r>
                  </m:oMath>
                </a14:m>
                <a:endParaRPr lang="en-US" altLang="zh-CN" dirty="0"/>
              </a:p>
              <a:p>
                <a:endParaRPr lang="en-US" altLang="zh-CN" dirty="0"/>
              </a:p>
              <a:p>
                <a:endParaRPr lang="en-US" altLang="zh-CN" dirty="0"/>
              </a:p>
              <a:p>
                <a:r>
                  <a:rPr lang="en-US" altLang="zh-CN" dirty="0"/>
                  <a:t>M</a:t>
                </a:r>
                <a:r>
                  <a:rPr lang="zh-CN" altLang="en-US" dirty="0"/>
                  <a:t>步（</a:t>
                </a:r>
                <a:r>
                  <a:rPr lang="en-US" altLang="zh-CN" dirty="0"/>
                  <a:t>Maximization step</a:t>
                </a:r>
                <a:r>
                  <a:rPr lang="zh-CN" altLang="en-US" dirty="0"/>
                  <a:t>）：固定变分分布</a:t>
                </a:r>
                <a14:m>
                  <m:oMath xmlns:m="http://schemas.openxmlformats.org/officeDocument/2006/math">
                    <m:r>
                      <a:rPr lang="en-US" altLang="zh-CN" b="1" i="1" smtClean="0">
                        <a:latin typeface="Cambria Math" panose="02040503050406030204" pitchFamily="18" charset="0"/>
                      </a:rPr>
                      <m:t>𝒒</m:t>
                    </m:r>
                  </m:oMath>
                </a14:m>
                <a:r>
                  <a:rPr lang="zh-CN" altLang="en-US" dirty="0"/>
                  <a:t>，找到最优参数</a:t>
                </a:r>
                <a14:m>
                  <m:oMath xmlns:m="http://schemas.openxmlformats.org/officeDocument/2006/math">
                    <m:r>
                      <a:rPr lang="zh-CN" altLang="en-US" i="1">
                        <a:latin typeface="Cambria Math" panose="02040503050406030204" pitchFamily="18" charset="0"/>
                      </a:rPr>
                      <m:t>𝜃</m:t>
                    </m:r>
                  </m:oMath>
                </a14:m>
                <a:endParaRPr lang="en-US" altLang="zh-CN" dirty="0"/>
              </a:p>
            </p:txBody>
          </p:sp>
        </mc:Choice>
        <mc:Fallback>
          <p:sp>
            <p:nvSpPr>
              <p:cNvPr id="10" name="内容占位符 9"/>
              <p:cNvSpPr>
                <a:spLocks noRot="1" noChangeAspect="1" noMove="1" noResize="1" noEditPoints="1" noAdjustHandles="1" noChangeArrowheads="1" noChangeShapeType="1" noTextEdit="1"/>
              </p:cNvSpPr>
              <p:nvPr>
                <p:ph idx="1"/>
              </p:nvPr>
            </p:nvSpPr>
            <p:spPr>
              <a:xfrm>
                <a:off x="838199" y="1180418"/>
                <a:ext cx="10862937" cy="4996546"/>
              </a:xfrm>
              <a:blipFill rotWithShape="1">
                <a:blip r:embed="rId1"/>
                <a:stretch>
                  <a:fillRect l="-6" t="-12" r="6" b="6"/>
                </a:stretch>
              </a:blipFill>
            </p:spPr>
            <p:txBody>
              <a:bodyPr/>
              <a:lstStyle/>
              <a:p>
                <a:r>
                  <a:rPr lang="zh-CN" altLang="en-US">
                    <a:noFill/>
                  </a:rPr>
                  <a:t> </a:t>
                </a:r>
              </a:p>
            </p:txBody>
          </p:sp>
        </mc:Fallback>
      </mc:AlternateContent>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0400" y="3249181"/>
            <a:ext cx="5628847" cy="934149"/>
          </a:xfrm>
          <a:prstGeom prst="rect">
            <a:avLst/>
          </a:prstGeom>
        </p:spPr>
      </p:pic>
      <p:sp>
        <p:nvSpPr>
          <p:cNvPr id="9"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pic>
        <p:nvPicPr>
          <p:cNvPr id="11" name="图片 10"/>
          <p:cNvPicPr>
            <a:picLocks noChangeAspect="1"/>
          </p:cNvPicPr>
          <p:nvPr/>
        </p:nvPicPr>
        <p:blipFill rotWithShape="1">
          <a:blip r:embed="rId3"/>
          <a:srcRect l="24073" t="84614" r="15171" b="1000"/>
          <a:stretch>
            <a:fillRect/>
          </a:stretch>
        </p:blipFill>
        <p:spPr>
          <a:xfrm>
            <a:off x="3448681" y="1447800"/>
            <a:ext cx="6568996" cy="645073"/>
          </a:xfrm>
          <a:prstGeom prst="rect">
            <a:avLst/>
          </a:prstGeom>
        </p:spPr>
      </p:pic>
      <p:pic>
        <p:nvPicPr>
          <p:cNvPr id="13" name="图片 12"/>
          <p:cNvPicPr>
            <a:picLocks noChangeAspect="1"/>
          </p:cNvPicPr>
          <p:nvPr/>
        </p:nvPicPr>
        <p:blipFill>
          <a:blip r:embed="rId4"/>
          <a:stretch>
            <a:fillRect/>
          </a:stretch>
        </p:blipFill>
        <p:spPr>
          <a:xfrm>
            <a:off x="685800" y="1418338"/>
            <a:ext cx="2665855" cy="814567"/>
          </a:xfrm>
          <a:prstGeom prst="rect">
            <a:avLst/>
          </a:prstGeom>
        </p:spPr>
      </p:pic>
      <p:grpSp>
        <p:nvGrpSpPr>
          <p:cNvPr id="17" name="组合 16"/>
          <p:cNvGrpSpPr/>
          <p:nvPr/>
        </p:nvGrpSpPr>
        <p:grpSpPr>
          <a:xfrm>
            <a:off x="6203576" y="991681"/>
            <a:ext cx="6019800" cy="461665"/>
            <a:chOff x="6019800" y="2129422"/>
            <a:chExt cx="6019800" cy="461665"/>
          </a:xfrm>
        </p:grpSpPr>
        <p:sp>
          <p:nvSpPr>
            <p:cNvPr id="14" name="矩形 13"/>
            <p:cNvSpPr/>
            <p:nvPr/>
          </p:nvSpPr>
          <p:spPr>
            <a:xfrm>
              <a:off x="6019800" y="2129422"/>
              <a:ext cx="6019800" cy="461665"/>
            </a:xfrm>
            <a:prstGeom prst="rect">
              <a:avLst/>
            </a:prstGeom>
          </p:spPr>
          <p:txBody>
            <a:bodyPr wrap="square">
              <a:spAutoFit/>
            </a:bodyPr>
            <a:lstStyle/>
            <a:p>
              <a:r>
                <a:rPr lang="zh-CN" altLang="en-US" sz="2400" b="1" dirty="0">
                  <a:solidFill>
                    <a:srgbClr val="00B0F0"/>
                  </a:solidFill>
                  <a:latin typeface="微软雅黑" panose="020B0503020204020204" pitchFamily="34" charset="-122"/>
                  <a:ea typeface="微软雅黑" panose="020B0503020204020204" pitchFamily="34" charset="-122"/>
                </a:rPr>
                <a:t>当且仅当                        时，</a:t>
              </a:r>
              <a:r>
                <a:rPr lang="en-US" altLang="zh-CN" sz="2400" b="1" dirty="0">
                  <a:solidFill>
                    <a:srgbClr val="00B0F0"/>
                  </a:solidFill>
                  <a:latin typeface="微软雅黑" panose="020B0503020204020204" pitchFamily="34" charset="-122"/>
                  <a:ea typeface="微软雅黑" panose="020B0503020204020204" pitchFamily="34" charset="-122"/>
                </a:rPr>
                <a:t>KL</a:t>
              </a:r>
              <a:r>
                <a:rPr lang="zh-CN" altLang="en-US" sz="2400" b="1" dirty="0">
                  <a:solidFill>
                    <a:srgbClr val="00B0F0"/>
                  </a:solidFill>
                  <a:latin typeface="微软雅黑" panose="020B0503020204020204" pitchFamily="34" charset="-122"/>
                  <a:ea typeface="微软雅黑" panose="020B0503020204020204" pitchFamily="34" charset="-122"/>
                </a:rPr>
                <a:t>散度为</a:t>
              </a:r>
              <a:r>
                <a:rPr lang="en-US" altLang="zh-CN" sz="2400" b="1" dirty="0">
                  <a:solidFill>
                    <a:srgbClr val="00B0F0"/>
                  </a:solidFill>
                  <a:latin typeface="微软雅黑" panose="020B0503020204020204" pitchFamily="34" charset="-122"/>
                  <a:ea typeface="微软雅黑" panose="020B0503020204020204" pitchFamily="34" charset="-122"/>
                </a:rPr>
                <a:t>0</a:t>
              </a:r>
              <a:endParaRPr lang="zh-CN" altLang="en-US" sz="2400" b="1" dirty="0">
                <a:solidFill>
                  <a:srgbClr val="00B0F0"/>
                </a:solidFill>
                <a:latin typeface="微软雅黑" panose="020B0503020204020204" pitchFamily="34" charset="-122"/>
                <a:ea typeface="微软雅黑" panose="020B0503020204020204" pitchFamily="34" charset="-122"/>
              </a:endParaRPr>
            </a:p>
          </p:txBody>
        </p:sp>
        <p:pic>
          <p:nvPicPr>
            <p:cNvPr id="16" name="图片 15"/>
            <p:cNvPicPr>
              <a:picLocks noChangeAspect="1"/>
            </p:cNvPicPr>
            <p:nvPr/>
          </p:nvPicPr>
          <p:blipFill>
            <a:blip r:embed="rId5"/>
            <a:stretch>
              <a:fillRect/>
            </a:stretch>
          </p:blipFill>
          <p:spPr>
            <a:xfrm>
              <a:off x="7467600" y="2191333"/>
              <a:ext cx="1989563" cy="395091"/>
            </a:xfrm>
            <a:prstGeom prst="rect">
              <a:avLst/>
            </a:prstGeom>
          </p:spPr>
        </p:pic>
      </p:grpSp>
      <p:sp>
        <p:nvSpPr>
          <p:cNvPr id="18" name="矩形 17"/>
          <p:cNvSpPr/>
          <p:nvPr/>
        </p:nvSpPr>
        <p:spPr>
          <a:xfrm>
            <a:off x="5848253" y="3910402"/>
            <a:ext cx="5852884" cy="461665"/>
          </a:xfrm>
          <a:prstGeom prst="rect">
            <a:avLst/>
          </a:prstGeom>
        </p:spPr>
        <p:txBody>
          <a:bodyPr wrap="none">
            <a:spAutoFit/>
          </a:bodyPr>
          <a:lstStyle/>
          <a:p>
            <a:r>
              <a:rPr lang="zh-CN" altLang="en-US" sz="2400" b="1" dirty="0">
                <a:solidFill>
                  <a:srgbClr val="00B0F0"/>
                </a:solidFill>
                <a:latin typeface="微软雅黑" panose="020B0503020204020204" pitchFamily="34" charset="-122"/>
                <a:ea typeface="微软雅黑" panose="020B0503020204020204" pitchFamily="34" charset="-122"/>
              </a:rPr>
              <a:t>类比于</a:t>
            </a:r>
            <a:r>
              <a:rPr lang="en-US" altLang="zh-CN" sz="2400" b="1" dirty="0">
                <a:solidFill>
                  <a:srgbClr val="00B0F0"/>
                </a:solidFill>
                <a:latin typeface="微软雅黑" panose="020B0503020204020204" pitchFamily="34" charset="-122"/>
                <a:ea typeface="微软雅黑" panose="020B0503020204020204" pitchFamily="34" charset="-122"/>
              </a:rPr>
              <a:t>K-means</a:t>
            </a:r>
            <a:r>
              <a:rPr lang="zh-CN" altLang="en-US" sz="2400" b="1" dirty="0">
                <a:solidFill>
                  <a:srgbClr val="00B0F0"/>
                </a:solidFill>
                <a:latin typeface="微软雅黑" panose="020B0503020204020204" pitchFamily="34" charset="-122"/>
                <a:ea typeface="微软雅黑" panose="020B0503020204020204" pitchFamily="34" charset="-122"/>
              </a:rPr>
              <a:t>里的分配步（分布估计）</a:t>
            </a:r>
            <a:endParaRPr lang="zh-CN" altLang="en-US" sz="2400" b="1" dirty="0">
              <a:solidFill>
                <a:srgbClr val="00B0F0"/>
              </a:solidFill>
              <a:latin typeface="微软雅黑" panose="020B0503020204020204" pitchFamily="34" charset="-122"/>
              <a:ea typeface="微软雅黑" panose="020B0503020204020204" pitchFamily="34" charset="-122"/>
            </a:endParaRPr>
          </a:p>
        </p:txBody>
      </p:sp>
      <p:sp>
        <p:nvSpPr>
          <p:cNvPr id="19" name="矩形 18"/>
          <p:cNvSpPr/>
          <p:nvPr/>
        </p:nvSpPr>
        <p:spPr>
          <a:xfrm>
            <a:off x="5848253" y="5715299"/>
            <a:ext cx="5852884" cy="461665"/>
          </a:xfrm>
          <a:prstGeom prst="rect">
            <a:avLst/>
          </a:prstGeom>
        </p:spPr>
        <p:txBody>
          <a:bodyPr wrap="none">
            <a:spAutoFit/>
          </a:bodyPr>
          <a:lstStyle/>
          <a:p>
            <a:r>
              <a:rPr lang="zh-CN" altLang="en-US" sz="2400" b="1" dirty="0">
                <a:solidFill>
                  <a:srgbClr val="00B0F0"/>
                </a:solidFill>
                <a:latin typeface="微软雅黑" panose="020B0503020204020204" pitchFamily="34" charset="-122"/>
                <a:ea typeface="微软雅黑" panose="020B0503020204020204" pitchFamily="34" charset="-122"/>
              </a:rPr>
              <a:t>类比于</a:t>
            </a:r>
            <a:r>
              <a:rPr lang="en-US" altLang="zh-CN" sz="2400" b="1" dirty="0">
                <a:solidFill>
                  <a:srgbClr val="00B0F0"/>
                </a:solidFill>
                <a:latin typeface="微软雅黑" panose="020B0503020204020204" pitchFamily="34" charset="-122"/>
                <a:ea typeface="微软雅黑" panose="020B0503020204020204" pitchFamily="34" charset="-122"/>
              </a:rPr>
              <a:t>K-means</a:t>
            </a:r>
            <a:r>
              <a:rPr lang="zh-CN" altLang="en-US" sz="2400" b="1" dirty="0">
                <a:solidFill>
                  <a:srgbClr val="00B0F0"/>
                </a:solidFill>
                <a:latin typeface="微软雅黑" panose="020B0503020204020204" pitchFamily="34" charset="-122"/>
                <a:ea typeface="微软雅黑" panose="020B0503020204020204" pitchFamily="34" charset="-122"/>
              </a:rPr>
              <a:t>里的更新步（参数估计）</a:t>
            </a:r>
            <a:endParaRPr lang="zh-CN" altLang="en-US" sz="2400" b="1" dirty="0">
              <a:solidFill>
                <a:srgbClr val="00B0F0"/>
              </a:solidFill>
              <a:latin typeface="微软雅黑" panose="020B0503020204020204" pitchFamily="34" charset="-122"/>
              <a:ea typeface="微软雅黑" panose="020B0503020204020204" pitchFamily="34" charset="-122"/>
            </a:endParaRPr>
          </a:p>
        </p:txBody>
      </p:sp>
      <p:grpSp>
        <p:nvGrpSpPr>
          <p:cNvPr id="22" name="组合 21"/>
          <p:cNvGrpSpPr/>
          <p:nvPr/>
        </p:nvGrpSpPr>
        <p:grpSpPr>
          <a:xfrm>
            <a:off x="3417305" y="4953000"/>
            <a:ext cx="5357390" cy="880138"/>
            <a:chOff x="3417305" y="4953000"/>
            <a:chExt cx="5357390" cy="880138"/>
          </a:xfrm>
        </p:grpSpPr>
        <p:pic>
          <p:nvPicPr>
            <p:cNvPr id="6" name="图片 5"/>
            <p:cNvPicPr>
              <a:picLocks noChangeAspect="1"/>
            </p:cNvPicPr>
            <p:nvPr/>
          </p:nvPicPr>
          <p:blipFill rotWithShape="1">
            <a:blip r:embed="rId6">
              <a:extLst>
                <a:ext uri="{28A0092B-C50C-407E-A947-70E740481C1C}">
                  <a14:useLocalDpi xmlns:a14="http://schemas.microsoft.com/office/drawing/2010/main" val="0"/>
                </a:ext>
              </a:extLst>
            </a:blip>
            <a:srcRect b="-10001"/>
            <a:stretch>
              <a:fillRect/>
            </a:stretch>
          </p:blipFill>
          <p:spPr>
            <a:xfrm>
              <a:off x="3417305" y="4953000"/>
              <a:ext cx="5357390" cy="838199"/>
            </a:xfrm>
            <a:prstGeom prst="rect">
              <a:avLst/>
            </a:prstGeom>
          </p:spPr>
        </p:pic>
        <p:pic>
          <p:nvPicPr>
            <p:cNvPr id="21" name="图片 20"/>
            <p:cNvPicPr>
              <a:picLocks noChangeAspect="1"/>
            </p:cNvPicPr>
            <p:nvPr/>
          </p:nvPicPr>
          <p:blipFill>
            <a:blip r:embed="rId7"/>
            <a:stretch>
              <a:fillRect/>
            </a:stretch>
          </p:blipFill>
          <p:spPr>
            <a:xfrm>
              <a:off x="5237694" y="5531252"/>
              <a:ext cx="172506" cy="301886"/>
            </a:xfrm>
            <a:prstGeom prst="rect">
              <a:avLst/>
            </a:prstGeom>
          </p:spPr>
        </p:pic>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914400" y="1566072"/>
            <a:ext cx="9753600" cy="604449"/>
          </a:xfrm>
          <a:prstGeom prst="rect">
            <a:avLst/>
          </a:prstGeom>
        </p:spPr>
      </p:pic>
      <p:sp>
        <p:nvSpPr>
          <p:cNvPr id="2" name="标题 1"/>
          <p:cNvSpPr>
            <a:spLocks noGrp="1"/>
          </p:cNvSpPr>
          <p:nvPr>
            <p:ph type="title"/>
          </p:nvPr>
        </p:nvSpPr>
        <p:spPr/>
        <p:txBody>
          <a:bodyPr/>
          <a:lstStyle/>
          <a:p>
            <a:r>
              <a:rPr lang="zh-CN" altLang="en-US" dirty="0"/>
              <a:t>收敛性</a:t>
            </a:r>
            <a:endParaRPr lang="zh-CN" altLang="en-US" dirty="0"/>
          </a:p>
        </p:txBody>
      </p:sp>
      <p:sp>
        <p:nvSpPr>
          <p:cNvPr id="7" name="文本框 6"/>
          <p:cNvSpPr txBox="1"/>
          <p:nvPr/>
        </p:nvSpPr>
        <p:spPr>
          <a:xfrm>
            <a:off x="8382000" y="2217055"/>
            <a:ext cx="748923" cy="523220"/>
          </a:xfrm>
          <a:prstGeom prst="rect">
            <a:avLst/>
          </a:prstGeom>
          <a:noFill/>
        </p:spPr>
        <p:txBody>
          <a:bodyPr wrap="none" rtlCol="0">
            <a:spAutoFit/>
          </a:bodyPr>
          <a:lstStyle/>
          <a:p>
            <a:r>
              <a:rPr lang="en-US" altLang="zh-CN" sz="2800" b="1" dirty="0">
                <a:solidFill>
                  <a:srgbClr val="00B0F0"/>
                </a:solidFill>
                <a:latin typeface="微软雅黑" panose="020B0503020204020204" pitchFamily="34" charset="-122"/>
                <a:ea typeface="微软雅黑" panose="020B0503020204020204" pitchFamily="34" charset="-122"/>
              </a:rPr>
              <a:t>E</a:t>
            </a:r>
            <a:r>
              <a:rPr lang="zh-CN" altLang="en-US" sz="2800" b="1" dirty="0">
                <a:solidFill>
                  <a:srgbClr val="00B0F0"/>
                </a:solidFill>
                <a:latin typeface="微软雅黑" panose="020B0503020204020204" pitchFamily="34" charset="-122"/>
                <a:ea typeface="微软雅黑" panose="020B0503020204020204" pitchFamily="34" charset="-122"/>
              </a:rPr>
              <a:t>步</a:t>
            </a:r>
            <a:endParaRPr lang="zh-CN" altLang="en-US" sz="2800" b="1" dirty="0">
              <a:solidFill>
                <a:srgbClr val="00B0F0"/>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4114800" y="2217055"/>
            <a:ext cx="912429" cy="523220"/>
          </a:xfrm>
          <a:prstGeom prst="rect">
            <a:avLst/>
          </a:prstGeom>
          <a:noFill/>
        </p:spPr>
        <p:txBody>
          <a:bodyPr wrap="none" rtlCol="0">
            <a:spAutoFit/>
          </a:bodyPr>
          <a:lstStyle/>
          <a:p>
            <a:r>
              <a:rPr lang="en-US" altLang="zh-CN" sz="2800" b="1" dirty="0">
                <a:solidFill>
                  <a:srgbClr val="00B0F0"/>
                </a:solidFill>
                <a:latin typeface="微软雅黑" panose="020B0503020204020204" pitchFamily="34" charset="-122"/>
                <a:ea typeface="微软雅黑" panose="020B0503020204020204" pitchFamily="34" charset="-122"/>
              </a:rPr>
              <a:t>M</a:t>
            </a:r>
            <a:r>
              <a:rPr lang="zh-CN" altLang="en-US" sz="2800" b="1" dirty="0">
                <a:solidFill>
                  <a:srgbClr val="00B0F0"/>
                </a:solidFill>
                <a:latin typeface="微软雅黑" panose="020B0503020204020204" pitchFamily="34" charset="-122"/>
                <a:ea typeface="微软雅黑" panose="020B0503020204020204" pitchFamily="34" charset="-122"/>
              </a:rPr>
              <a:t>步</a:t>
            </a:r>
            <a:endParaRPr lang="zh-CN" altLang="en-US" sz="2800" b="1" dirty="0">
              <a:solidFill>
                <a:srgbClr val="00B0F0"/>
              </a:solidFill>
              <a:latin typeface="微软雅黑" panose="020B0503020204020204" pitchFamily="34" charset="-122"/>
              <a:ea typeface="微软雅黑" panose="020B0503020204020204" pitchFamily="34" charset="-122"/>
            </a:endParaRPr>
          </a:p>
        </p:txBody>
      </p:sp>
      <p:sp>
        <p:nvSpPr>
          <p:cNvPr id="11" name="矩形: 圆角 10"/>
          <p:cNvSpPr/>
          <p:nvPr/>
        </p:nvSpPr>
        <p:spPr>
          <a:xfrm>
            <a:off x="3200401" y="1584471"/>
            <a:ext cx="2743199" cy="628704"/>
          </a:xfrm>
          <a:prstGeom prst="roundRect">
            <a:avLst/>
          </a:prstGeom>
          <a:noFill/>
        </p:spPr>
        <p:style>
          <a:lnRef idx="2">
            <a:schemeClr val="accent2"/>
          </a:lnRef>
          <a:fillRef idx="1">
            <a:schemeClr val="lt1"/>
          </a:fillRef>
          <a:effectRef idx="0">
            <a:schemeClr val="accent2"/>
          </a:effectRef>
          <a:fontRef idx="minor">
            <a:schemeClr val="dk1"/>
          </a:fontRef>
        </p:style>
        <p:txBody>
          <a:bodyPr wrap="square" rtlCol="0" anchor="ctr">
            <a:spAutoFit/>
          </a:bodyPr>
          <a:lstStyle/>
          <a:p>
            <a:pPr algn="ctr"/>
            <a:endParaRPr lang="zh-CN" altLang="en-US" sz="2400" dirty="0"/>
          </a:p>
        </p:txBody>
      </p:sp>
      <p:sp>
        <p:nvSpPr>
          <p:cNvPr id="12" name="矩形: 圆角 11"/>
          <p:cNvSpPr/>
          <p:nvPr/>
        </p:nvSpPr>
        <p:spPr>
          <a:xfrm>
            <a:off x="6248402" y="1565490"/>
            <a:ext cx="4495798" cy="644310"/>
          </a:xfrm>
          <a:prstGeom prst="roundRect">
            <a:avLst/>
          </a:prstGeom>
          <a:noFill/>
          <a:ln>
            <a:solidFill>
              <a:srgbClr val="00B0F0"/>
            </a:solidFill>
          </a:ln>
        </p:spPr>
        <p:style>
          <a:lnRef idx="2">
            <a:schemeClr val="accent2"/>
          </a:lnRef>
          <a:fillRef idx="1">
            <a:schemeClr val="lt1"/>
          </a:fillRef>
          <a:effectRef idx="0">
            <a:schemeClr val="accent2"/>
          </a:effectRef>
          <a:fontRef idx="minor">
            <a:schemeClr val="dk1"/>
          </a:fontRef>
        </p:style>
        <p:txBody>
          <a:bodyPr wrap="square" rtlCol="0" anchor="ctr">
            <a:spAutoFit/>
          </a:bodyPr>
          <a:lstStyle/>
          <a:p>
            <a:pPr algn="ctr"/>
            <a:endParaRPr lang="zh-CN" altLang="en-US" sz="2400" dirty="0"/>
          </a:p>
        </p:txBody>
      </p:sp>
      <p:sp>
        <p:nvSpPr>
          <p:cNvPr id="13"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pic>
        <p:nvPicPr>
          <p:cNvPr id="4" name="图片 3"/>
          <p:cNvPicPr>
            <a:picLocks noChangeAspect="1"/>
          </p:cNvPicPr>
          <p:nvPr/>
        </p:nvPicPr>
        <p:blipFill>
          <a:blip r:embed="rId2"/>
          <a:stretch>
            <a:fillRect/>
          </a:stretch>
        </p:blipFill>
        <p:spPr>
          <a:xfrm>
            <a:off x="436011" y="2780632"/>
            <a:ext cx="11420025" cy="3460750"/>
          </a:xfrm>
          <a:prstGeom prst="rect">
            <a:avLst/>
          </a:prstGeom>
        </p:spPr>
      </p:pic>
      <p:sp>
        <p:nvSpPr>
          <p:cNvPr id="3" name="文本框 2"/>
          <p:cNvSpPr txBox="1"/>
          <p:nvPr/>
        </p:nvSpPr>
        <p:spPr>
          <a:xfrm>
            <a:off x="4308376" y="6188095"/>
            <a:ext cx="3270447" cy="523220"/>
          </a:xfrm>
          <a:prstGeom prst="rect">
            <a:avLst/>
          </a:prstGeom>
          <a:noFill/>
        </p:spPr>
        <p:txBody>
          <a:bodyPr wrap="none" rtlCol="0">
            <a:spAutoFit/>
          </a:bodyPr>
          <a:lstStyle/>
          <a:p>
            <a:r>
              <a:rPr lang="zh-CN" altLang="en-US" sz="2800" b="1" dirty="0">
                <a:solidFill>
                  <a:srgbClr val="00B0F0"/>
                </a:solidFill>
                <a:latin typeface="微软雅黑" panose="020B0503020204020204" pitchFamily="34" charset="-122"/>
                <a:ea typeface="微软雅黑" panose="020B0503020204020204" pitchFamily="34" charset="-122"/>
              </a:rPr>
              <a:t>找到最优变分分布𝒒</a:t>
            </a:r>
            <a:endParaRPr lang="zh-CN" altLang="en-US" sz="2800" b="1" dirty="0">
              <a:solidFill>
                <a:srgbClr val="00B0F0"/>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8693548" y="6188095"/>
            <a:ext cx="2552302" cy="523220"/>
          </a:xfrm>
          <a:prstGeom prst="rect">
            <a:avLst/>
          </a:prstGeom>
          <a:noFill/>
        </p:spPr>
        <p:txBody>
          <a:bodyPr wrap="none" rtlCol="0">
            <a:spAutoFit/>
          </a:bodyPr>
          <a:lstStyle/>
          <a:p>
            <a:r>
              <a:rPr lang="zh-CN" altLang="en-US" sz="2800" b="1" dirty="0">
                <a:solidFill>
                  <a:srgbClr val="00B0F0"/>
                </a:solidFill>
                <a:latin typeface="微软雅黑" panose="020B0503020204020204" pitchFamily="34" charset="-122"/>
                <a:ea typeface="微软雅黑" panose="020B0503020204020204" pitchFamily="34" charset="-122"/>
              </a:rPr>
              <a:t>找到最优参数𝜃</a:t>
            </a:r>
            <a:endParaRPr lang="zh-CN" altLang="en-US" sz="2800" b="1" dirty="0">
              <a:solidFill>
                <a:srgbClr val="00B0F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4" descr="Image result for gmm model"/>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765791" y="3962400"/>
            <a:ext cx="3826009" cy="2845594"/>
          </a:xfrm>
          <a:prstGeom prst="rect">
            <a:avLst/>
          </a:prstGeom>
          <a:noFill/>
          <a:extLst>
            <a:ext uri="{909E8E84-426E-40DD-AFC4-6F175D3DCCD1}">
              <a14:hiddenFill xmlns:a14="http://schemas.microsoft.com/office/drawing/2010/main">
                <a:solidFill>
                  <a:srgbClr val="FFFFFF"/>
                </a:solidFill>
              </a14:hiddenFill>
            </a:ext>
          </a:extLst>
        </p:spPr>
      </p:pic>
      <p:sp>
        <p:nvSpPr>
          <p:cNvPr id="4" name="标题 3"/>
          <p:cNvSpPr>
            <a:spLocks noGrp="1"/>
          </p:cNvSpPr>
          <p:nvPr>
            <p:ph type="title"/>
          </p:nvPr>
        </p:nvSpPr>
        <p:spPr>
          <a:xfrm>
            <a:off x="457200" y="286853"/>
            <a:ext cx="10515600" cy="632400"/>
          </a:xfrm>
        </p:spPr>
        <p:txBody>
          <a:bodyPr/>
          <a:lstStyle/>
          <a:p>
            <a:r>
              <a:rPr lang="zh-CN" altLang="en-US" sz="3200" dirty="0"/>
              <a:t>高斯混合模型（</a:t>
            </a:r>
            <a:r>
              <a:rPr lang="en-US" altLang="zh-CN" sz="3200" dirty="0"/>
              <a:t>Gaussian Mixture Model, GMM</a:t>
            </a:r>
            <a:r>
              <a:rPr lang="zh-CN" altLang="en-US" sz="3200" dirty="0"/>
              <a:t>）</a:t>
            </a:r>
            <a:endParaRPr lang="zh-CN" altLang="en-US" sz="3200" dirty="0"/>
          </a:p>
        </p:txBody>
      </p:sp>
      <p:sp>
        <p:nvSpPr>
          <p:cNvPr id="2" name="内容占位符 1"/>
          <p:cNvSpPr>
            <a:spLocks noGrp="1"/>
          </p:cNvSpPr>
          <p:nvPr>
            <p:ph idx="1"/>
          </p:nvPr>
        </p:nvSpPr>
        <p:spPr/>
        <p:txBody>
          <a:bodyPr/>
          <a:lstStyle/>
          <a:p>
            <a:r>
              <a:rPr lang="zh-CN" altLang="en-US" dirty="0"/>
              <a:t>图模型表示</a:t>
            </a:r>
            <a:endParaRPr lang="zh-CN" altLang="en-US" dirty="0"/>
          </a:p>
        </p:txBody>
      </p:sp>
      <p:pic>
        <p:nvPicPr>
          <p:cNvPr id="7" name="图片 6"/>
          <p:cNvPicPr>
            <a:picLocks noChangeAspect="1"/>
          </p:cNvPicPr>
          <p:nvPr/>
        </p:nvPicPr>
        <p:blipFill>
          <a:blip r:embed="rId2"/>
          <a:stretch>
            <a:fillRect/>
          </a:stretch>
        </p:blipFill>
        <p:spPr>
          <a:xfrm>
            <a:off x="4733400" y="1029803"/>
            <a:ext cx="5715000" cy="1793986"/>
          </a:xfrm>
          <a:prstGeom prst="rect">
            <a:avLst/>
          </a:prstGeom>
        </p:spPr>
      </p:pic>
      <p:pic>
        <p:nvPicPr>
          <p:cNvPr id="8" name="图片 7"/>
          <p:cNvPicPr>
            <a:picLocks noChangeAspect="1"/>
          </p:cNvPicPr>
          <p:nvPr/>
        </p:nvPicPr>
        <p:blipFill>
          <a:blip r:embed="rId3"/>
          <a:stretch>
            <a:fillRect/>
          </a:stretch>
        </p:blipFill>
        <p:spPr>
          <a:xfrm>
            <a:off x="6629400" y="3001152"/>
            <a:ext cx="3200400" cy="1012739"/>
          </a:xfrm>
          <a:prstGeom prst="rect">
            <a:avLst/>
          </a:prstGeom>
        </p:spPr>
      </p:pic>
      <p:sp>
        <p:nvSpPr>
          <p:cNvPr id="9" name="箭头: 下 8"/>
          <p:cNvSpPr/>
          <p:nvPr/>
        </p:nvSpPr>
        <p:spPr>
          <a:xfrm>
            <a:off x="7561731" y="2767549"/>
            <a:ext cx="366523" cy="28509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
        <p:nvSpPr>
          <p:cNvPr id="11" name="矩形 10"/>
          <p:cNvSpPr/>
          <p:nvPr/>
        </p:nvSpPr>
        <p:spPr>
          <a:xfrm>
            <a:off x="1066800" y="5463369"/>
            <a:ext cx="4793300" cy="830997"/>
          </a:xfrm>
          <a:prstGeom prst="rect">
            <a:avLst/>
          </a:prstGeom>
        </p:spPr>
        <p:txBody>
          <a:bodyPr wrap="none">
            <a:spAutoFit/>
          </a:bodyPr>
          <a:lstStyle/>
          <a:p>
            <a:r>
              <a:rPr lang="zh-CN" altLang="en-US" sz="2400" b="1" dirty="0">
                <a:solidFill>
                  <a:srgbClr val="00B0F0"/>
                </a:solidFill>
                <a:latin typeface="微软雅黑" panose="020B0503020204020204" pitchFamily="34" charset="-122"/>
                <a:ea typeface="微软雅黑" panose="020B0503020204020204" pitchFamily="34" charset="-122"/>
              </a:rPr>
              <a:t>盘子表示法（</a:t>
            </a:r>
            <a:r>
              <a:rPr lang="en-US" altLang="zh-CN" sz="2400" b="1" dirty="0">
                <a:solidFill>
                  <a:srgbClr val="00B0F0"/>
                </a:solidFill>
                <a:latin typeface="微软雅黑" panose="020B0503020204020204" pitchFamily="34" charset="-122"/>
                <a:ea typeface="微软雅黑" panose="020B0503020204020204" pitchFamily="34" charset="-122"/>
              </a:rPr>
              <a:t>Plate Notation</a:t>
            </a:r>
            <a:r>
              <a:rPr lang="zh-CN" altLang="en-US" sz="2400" b="1" dirty="0">
                <a:solidFill>
                  <a:srgbClr val="00B0F0"/>
                </a:solidFill>
                <a:latin typeface="微软雅黑" panose="020B0503020204020204" pitchFamily="34" charset="-122"/>
                <a:ea typeface="微软雅黑" panose="020B0503020204020204" pitchFamily="34" charset="-122"/>
              </a:rPr>
              <a:t>）</a:t>
            </a:r>
            <a:endParaRPr lang="en-US" altLang="zh-CN" sz="2400" b="1" dirty="0">
              <a:solidFill>
                <a:srgbClr val="00B0F0"/>
              </a:solidFill>
              <a:latin typeface="微软雅黑" panose="020B0503020204020204" pitchFamily="34" charset="-122"/>
              <a:ea typeface="微软雅黑" panose="020B0503020204020204" pitchFamily="34" charset="-122"/>
            </a:endParaRPr>
          </a:p>
          <a:p>
            <a:pPr marL="342900" indent="-342900">
              <a:buFont typeface="Arial" panose="020B0604020202090204" pitchFamily="34" charset="0"/>
              <a:buChar char="•"/>
            </a:pPr>
            <a:r>
              <a:rPr lang="zh-CN" altLang="en-US" sz="2400" b="1" dirty="0">
                <a:solidFill>
                  <a:srgbClr val="00B0F0"/>
                </a:solidFill>
                <a:latin typeface="微软雅黑" panose="020B0503020204020204" pitchFamily="34" charset="-122"/>
                <a:ea typeface="微软雅黑" panose="020B0503020204020204" pitchFamily="34" charset="-122"/>
              </a:rPr>
              <a:t>表示矩形框内的变量重复了</a:t>
            </a:r>
            <a:r>
              <a:rPr lang="en-US" altLang="zh-CN" sz="2400" b="1" dirty="0">
                <a:solidFill>
                  <a:srgbClr val="00B0F0"/>
                </a:solidFill>
                <a:latin typeface="微软雅黑" panose="020B0503020204020204" pitchFamily="34" charset="-122"/>
                <a:ea typeface="微软雅黑" panose="020B0503020204020204" pitchFamily="34" charset="-122"/>
              </a:rPr>
              <a:t>N</a:t>
            </a:r>
            <a:r>
              <a:rPr lang="zh-CN" altLang="en-US" sz="2400" b="1" dirty="0">
                <a:solidFill>
                  <a:srgbClr val="00B0F0"/>
                </a:solidFill>
                <a:latin typeface="微软雅黑" panose="020B0503020204020204" pitchFamily="34" charset="-122"/>
                <a:ea typeface="微软雅黑" panose="020B0503020204020204" pitchFamily="34" charset="-122"/>
              </a:rPr>
              <a:t>次</a:t>
            </a:r>
            <a:endParaRPr lang="zh-CN" altLang="en-US" sz="2400" b="1" dirty="0">
              <a:solidFill>
                <a:srgbClr val="00B0F0"/>
              </a:solidFill>
              <a:latin typeface="微软雅黑" panose="020B0503020204020204" pitchFamily="34" charset="-122"/>
              <a:ea typeface="微软雅黑" panose="020B0503020204020204" pitchFamily="34" charset="-122"/>
            </a:endParaRPr>
          </a:p>
        </p:txBody>
      </p:sp>
      <p:pic>
        <p:nvPicPr>
          <p:cNvPr id="14" name="图片 13"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47800" y="1981200"/>
            <a:ext cx="3200400" cy="3127456"/>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GMM Revisit</a:t>
            </a:r>
            <a:endParaRPr lang="zh-CN" altLang="en-US" dirty="0"/>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09284" y="3035781"/>
            <a:ext cx="4134231" cy="2666999"/>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1714324"/>
            <a:ext cx="2093604" cy="1169056"/>
          </a:xfrm>
          <a:prstGeom prst="rect">
            <a:avLst/>
          </a:prstGeom>
        </p:spPr>
      </p:pic>
      <p:cxnSp>
        <p:nvCxnSpPr>
          <p:cNvPr id="7" name="直接连接符 6"/>
          <p:cNvCxnSpPr/>
          <p:nvPr/>
        </p:nvCxnSpPr>
        <p:spPr>
          <a:xfrm>
            <a:off x="6629400" y="1066800"/>
            <a:ext cx="0" cy="5029200"/>
          </a:xfrm>
          <a:prstGeom prst="line">
            <a:avLst/>
          </a:prstGeom>
        </p:spPr>
        <p:style>
          <a:lnRef idx="1">
            <a:schemeClr val="accent1"/>
          </a:lnRef>
          <a:fillRef idx="0">
            <a:schemeClr val="accent1"/>
          </a:fillRef>
          <a:effectRef idx="0">
            <a:schemeClr val="accent1"/>
          </a:effectRef>
          <a:fontRef idx="minor">
            <a:schemeClr val="tx1"/>
          </a:fontRef>
        </p:style>
      </p:cxnSp>
      <p:sp>
        <p:nvSpPr>
          <p:cNvPr id="10"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
        <p:nvSpPr>
          <p:cNvPr id="11" name="矩形 10"/>
          <p:cNvSpPr/>
          <p:nvPr/>
        </p:nvSpPr>
        <p:spPr>
          <a:xfrm>
            <a:off x="3203652" y="3198167"/>
            <a:ext cx="3349547" cy="461665"/>
          </a:xfrm>
          <a:prstGeom prst="rect">
            <a:avLst/>
          </a:prstGeom>
        </p:spPr>
        <p:txBody>
          <a:bodyPr wrap="square">
            <a:spAutoFit/>
          </a:bodyPr>
          <a:lstStyle/>
          <a:p>
            <a:r>
              <a:rPr lang="zh-CN" altLang="en-US" sz="2400" b="1" dirty="0">
                <a:solidFill>
                  <a:srgbClr val="00B0F0"/>
                </a:solidFill>
                <a:latin typeface="微软雅黑" panose="020B0503020204020204" pitchFamily="34" charset="-122"/>
                <a:ea typeface="微软雅黑" panose="020B0503020204020204" pitchFamily="34" charset="-122"/>
              </a:rPr>
              <a:t>当前簇占总数据的比例</a:t>
            </a:r>
            <a:endParaRPr lang="zh-CN" altLang="en-US" sz="2400" b="1" dirty="0">
              <a:solidFill>
                <a:srgbClr val="00B0F0"/>
              </a:solidFill>
              <a:latin typeface="微软雅黑" panose="020B0503020204020204" pitchFamily="34" charset="-122"/>
              <a:ea typeface="微软雅黑" panose="020B0503020204020204" pitchFamily="34" charset="-122"/>
            </a:endParaRPr>
          </a:p>
        </p:txBody>
      </p:sp>
      <p:sp>
        <p:nvSpPr>
          <p:cNvPr id="14" name="矩形 13"/>
          <p:cNvSpPr/>
          <p:nvPr/>
        </p:nvSpPr>
        <p:spPr>
          <a:xfrm>
            <a:off x="3203652" y="1982208"/>
            <a:ext cx="3016331" cy="461665"/>
          </a:xfrm>
          <a:prstGeom prst="rect">
            <a:avLst/>
          </a:prstGeom>
        </p:spPr>
        <p:txBody>
          <a:bodyPr wrap="square">
            <a:spAutoFit/>
          </a:bodyPr>
          <a:lstStyle/>
          <a:p>
            <a:r>
              <a:rPr lang="zh-CN" altLang="en-US" sz="2400" b="1" dirty="0">
                <a:solidFill>
                  <a:srgbClr val="00B0F0"/>
                </a:solidFill>
                <a:latin typeface="微软雅黑" panose="020B0503020204020204" pitchFamily="34" charset="-122"/>
                <a:ea typeface="微软雅黑" panose="020B0503020204020204" pitchFamily="34" charset="-122"/>
              </a:rPr>
              <a:t>当前簇中数据的个数</a:t>
            </a:r>
            <a:endParaRPr lang="zh-CN" altLang="en-US" sz="2400" b="1" dirty="0">
              <a:solidFill>
                <a:srgbClr val="00B0F0"/>
              </a:solidFill>
              <a:latin typeface="微软雅黑" panose="020B0503020204020204" pitchFamily="34" charset="-122"/>
              <a:ea typeface="微软雅黑" panose="020B0503020204020204" pitchFamily="34" charset="-122"/>
            </a:endParaRPr>
          </a:p>
        </p:txBody>
      </p:sp>
      <p:sp>
        <p:nvSpPr>
          <p:cNvPr id="15" name="矩形 14"/>
          <p:cNvSpPr/>
          <p:nvPr/>
        </p:nvSpPr>
        <p:spPr>
          <a:xfrm>
            <a:off x="3686214" y="3953781"/>
            <a:ext cx="2971800" cy="830997"/>
          </a:xfrm>
          <a:prstGeom prst="rect">
            <a:avLst/>
          </a:prstGeom>
        </p:spPr>
        <p:txBody>
          <a:bodyPr wrap="square">
            <a:spAutoFit/>
          </a:bodyPr>
          <a:lstStyle/>
          <a:p>
            <a:r>
              <a:rPr lang="zh-CN" altLang="en-US" sz="2400" b="1" dirty="0">
                <a:solidFill>
                  <a:srgbClr val="00B0F0"/>
                </a:solidFill>
                <a:latin typeface="微软雅黑" panose="020B0503020204020204" pitchFamily="34" charset="-122"/>
                <a:ea typeface="微软雅黑" panose="020B0503020204020204" pitchFamily="34" charset="-122"/>
              </a:rPr>
              <a:t>当前簇的数据的加权均值（期望）</a:t>
            </a:r>
            <a:endParaRPr lang="zh-CN" altLang="en-US" sz="2400" b="1" dirty="0">
              <a:solidFill>
                <a:srgbClr val="00B0F0"/>
              </a:solidFill>
              <a:latin typeface="微软雅黑" panose="020B0503020204020204" pitchFamily="34" charset="-122"/>
              <a:ea typeface="微软雅黑" panose="020B0503020204020204" pitchFamily="34" charset="-122"/>
            </a:endParaRPr>
          </a:p>
        </p:txBody>
      </p:sp>
      <p:sp>
        <p:nvSpPr>
          <p:cNvPr id="16" name="矩形 15"/>
          <p:cNvSpPr/>
          <p:nvPr/>
        </p:nvSpPr>
        <p:spPr>
          <a:xfrm>
            <a:off x="3629183" y="5439682"/>
            <a:ext cx="2971800" cy="830997"/>
          </a:xfrm>
          <a:prstGeom prst="rect">
            <a:avLst/>
          </a:prstGeom>
        </p:spPr>
        <p:txBody>
          <a:bodyPr wrap="square">
            <a:spAutoFit/>
          </a:bodyPr>
          <a:lstStyle/>
          <a:p>
            <a:r>
              <a:rPr lang="zh-CN" altLang="en-US" sz="2400" b="1" dirty="0">
                <a:solidFill>
                  <a:srgbClr val="00B0F0"/>
                </a:solidFill>
                <a:latin typeface="微软雅黑" panose="020B0503020204020204" pitchFamily="34" charset="-122"/>
                <a:ea typeface="微软雅黑" panose="020B0503020204020204" pitchFamily="34" charset="-122"/>
              </a:rPr>
              <a:t>当前簇的数据的加权方差</a:t>
            </a:r>
            <a:endParaRPr lang="zh-CN" altLang="en-US" sz="2400" b="1" dirty="0">
              <a:solidFill>
                <a:srgbClr val="00B0F0"/>
              </a:solidFill>
              <a:latin typeface="微软雅黑" panose="020B0503020204020204" pitchFamily="34" charset="-122"/>
              <a:ea typeface="微软雅黑" panose="020B0503020204020204" pitchFamily="34" charset="-122"/>
            </a:endParaRPr>
          </a:p>
        </p:txBody>
      </p:sp>
      <p:pic>
        <p:nvPicPr>
          <p:cNvPr id="17" name="Picture 4" descr="Image result for gmm mode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70194" y="1295400"/>
            <a:ext cx="4815328" cy="3581400"/>
          </a:xfrm>
          <a:prstGeom prst="rect">
            <a:avLst/>
          </a:prstGeom>
          <a:noFill/>
          <a:extLst>
            <a:ext uri="{909E8E84-426E-40DD-AFC4-6F175D3DCCD1}">
              <a14:hiddenFill xmlns:a14="http://schemas.microsoft.com/office/drawing/2010/main">
                <a:solidFill>
                  <a:srgbClr val="FFFFFF"/>
                </a:solidFill>
              </a14:hiddenFill>
            </a:ext>
          </a:extLst>
        </p:spPr>
      </p:pic>
      <p:sp>
        <p:nvSpPr>
          <p:cNvPr id="18" name="内容占位符 1"/>
          <p:cNvSpPr txBox="1"/>
          <p:nvPr/>
        </p:nvSpPr>
        <p:spPr>
          <a:xfrm>
            <a:off x="6934200" y="4785576"/>
            <a:ext cx="4800600" cy="1767624"/>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120000"/>
              </a:lnSpc>
              <a:spcBef>
                <a:spcPts val="1000"/>
              </a:spcBef>
              <a:buFont typeface="Arial" panose="020B0604020202090204" pitchFamily="34" charset="0"/>
              <a:buChar char="•"/>
              <a:defRPr sz="2800" b="1"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9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90204" pitchFamily="34" charset="0"/>
              <a:buChar char="•"/>
              <a:defRPr sz="22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fontAlgn="auto">
              <a:spcAft>
                <a:spcPts val="0"/>
              </a:spcAft>
            </a:pPr>
            <a:r>
              <a:rPr lang="zh-CN" altLang="en-US" dirty="0"/>
              <a:t>假设数据分布可以用</a:t>
            </a:r>
            <a:r>
              <a:rPr lang="en-US" altLang="zh-CN" dirty="0"/>
              <a:t>GMM</a:t>
            </a:r>
            <a:r>
              <a:rPr lang="zh-CN" altLang="en-US" dirty="0"/>
              <a:t>表示，利用</a:t>
            </a:r>
            <a:r>
              <a:rPr lang="en-US" altLang="zh-CN" dirty="0"/>
              <a:t>EM</a:t>
            </a:r>
            <a:r>
              <a:rPr lang="zh-CN" altLang="en-US" dirty="0"/>
              <a:t>算法对</a:t>
            </a:r>
            <a:r>
              <a:rPr lang="en-US" altLang="zh-CN" dirty="0"/>
              <a:t>GMM</a:t>
            </a:r>
            <a:r>
              <a:rPr lang="zh-CN" altLang="en-US" dirty="0"/>
              <a:t>进行参数估计</a:t>
            </a:r>
            <a:endParaRPr lang="en-US" altLang="zh-CN" dirty="0"/>
          </a:p>
          <a:p>
            <a:pPr fontAlgn="auto">
              <a:spcAft>
                <a:spcPts val="0"/>
              </a:spcAft>
            </a:pPr>
            <a:r>
              <a:rPr lang="en-US" altLang="zh-CN" dirty="0"/>
              <a:t>EM</a:t>
            </a:r>
            <a:r>
              <a:rPr lang="zh-CN" altLang="en-US" dirty="0"/>
              <a:t>算法可以理解为考虑概率分布的</a:t>
            </a:r>
            <a:r>
              <a:rPr lang="en-US" altLang="zh-CN" dirty="0"/>
              <a:t>K-means</a:t>
            </a:r>
            <a:r>
              <a:rPr lang="zh-CN" altLang="en-US" dirty="0"/>
              <a:t>算法</a:t>
            </a: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GMM</a:t>
            </a:r>
            <a:r>
              <a:rPr lang="zh-CN" altLang="en-US" dirty="0"/>
              <a:t>的参数学习</a:t>
            </a:r>
            <a:endParaRPr lang="zh-CN" altLang="en-US" dirty="0"/>
          </a:p>
        </p:txBody>
      </p:sp>
      <p:pic>
        <p:nvPicPr>
          <p:cNvPr id="5122" name="Picture 2" descr="https://upload.wikimedia.org/wikipedia/commons/6/69/EM_Clustering_of_Old_Faithful_data.gif"/>
          <p:cNvPicPr>
            <a:picLocks noChangeAspect="1" noChangeArrowheads="1" noCrop="1"/>
          </p:cNvPicPr>
          <p:nvPr/>
        </p:nvPicPr>
        <p:blipFill>
          <a:blip r:embed="rId1">
            <a:extLst>
              <a:ext uri="{28A0092B-C50C-407E-A947-70E740481C1C}">
                <a14:useLocalDpi xmlns:a14="http://schemas.microsoft.com/office/drawing/2010/main" val="0"/>
              </a:ext>
            </a:extLst>
          </a:blip>
          <a:srcRect/>
          <a:stretch>
            <a:fillRect/>
          </a:stretch>
        </p:blipFill>
        <p:spPr bwMode="auto">
          <a:xfrm>
            <a:off x="1219200" y="2074985"/>
            <a:ext cx="4495800" cy="385889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ttps://upload.wikimedia.org/wikipedia/commons/thumb/a/a7/Em_old_faithful.gif/240px-Em_old_faithful.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652846" y="1742880"/>
            <a:ext cx="4191000" cy="4191000"/>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200" i="1" dirty="0">
                <a:solidFill>
                  <a:schemeClr val="tx1"/>
                </a:solidFill>
              </a:rPr>
              <a:t>k</a:t>
            </a:r>
            <a:r>
              <a:rPr lang="en-US" altLang="zh-CN" sz="3200" dirty="0">
                <a:solidFill>
                  <a:schemeClr val="tx1"/>
                </a:solidFill>
              </a:rPr>
              <a:t>-means clustering vs. EM clustering </a:t>
            </a:r>
            <a:endParaRPr lang="zh-CN" altLang="en-US" sz="3200" dirty="0"/>
          </a:p>
        </p:txBody>
      </p:sp>
      <p:pic>
        <p:nvPicPr>
          <p:cNvPr id="2050" name="Picture 2" descr="https://upload.wikimedia.org/wikipedia/commons/thumb/0/09/ClusterAnalysis_Mouse.svg/450px-ClusterAnalysis_Mouse.svg.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52600" y="2362200"/>
            <a:ext cx="8294391" cy="335462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5"/>
          <p:cNvSpPr>
            <a:spLocks noGrp="1"/>
          </p:cNvSpPr>
          <p:nvPr>
            <p:ph type="sldNum" sz="quarter" idx="12"/>
          </p:nvPr>
        </p:nvSpPr>
        <p:spPr>
          <a:xfrm>
            <a:off x="11220450" y="6356350"/>
            <a:ext cx="548986" cy="365125"/>
          </a:xfrm>
        </p:spPr>
        <p:txBody>
          <a:bodyPr/>
          <a:lstStyle>
            <a:lvl1pPr>
              <a:defRPr sz="1800" b="1">
                <a:solidFill>
                  <a:srgbClr val="002E72"/>
                </a:solidFill>
              </a:defRPr>
            </a:lvl1pPr>
          </a:lstStyle>
          <a:p>
            <a:fld id="{9F58998E-2429-314E-B86C-A079AABAA7E0}" type="slidenum">
              <a:rPr lang="en-US" smtClean="0"/>
            </a:fld>
            <a:endParaRPr lang="en-CA"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a:spLocks noGrp="1"/>
          </p:cNvSpPr>
          <p:nvPr>
            <p:ph type="title"/>
          </p:nvPr>
        </p:nvSpPr>
        <p:spPr>
          <a:xfrm>
            <a:off x="838200" y="323561"/>
            <a:ext cx="10515600" cy="632400"/>
          </a:xfrm>
        </p:spPr>
        <p:txBody>
          <a:bodyPr/>
          <a:lstStyle/>
          <a:p>
            <a:r>
              <a:rPr lang="zh-CN" altLang="en-US" dirty="0"/>
              <a:t>课后作业</a:t>
            </a:r>
            <a:endParaRPr lang="en-CA" dirty="0"/>
          </a:p>
        </p:txBody>
      </p:sp>
      <p:sp>
        <p:nvSpPr>
          <p:cNvPr id="20" name="Slide Number Placeholder 3"/>
          <p:cNvSpPr>
            <a:spLocks noGrp="1"/>
          </p:cNvSpPr>
          <p:nvPr>
            <p:ph type="sldNum" sz="quarter" idx="12"/>
          </p:nvPr>
        </p:nvSpPr>
        <p:spPr>
          <a:xfrm>
            <a:off x="11220450" y="6356350"/>
            <a:ext cx="548986" cy="365125"/>
          </a:xfrm>
        </p:spPr>
        <p:txBody>
          <a:bodyPr/>
          <a:lstStyle/>
          <a:p>
            <a:fld id="{9F58998E-2429-314E-B86C-A079AABAA7E0}" type="slidenum">
              <a:rPr lang="en-US" smtClean="0"/>
            </a:fld>
            <a:endParaRPr lang="en-CA" dirty="0"/>
          </a:p>
        </p:txBody>
      </p:sp>
      <p:sp>
        <p:nvSpPr>
          <p:cNvPr id="21" name="内容占位符 4"/>
          <p:cNvSpPr>
            <a:spLocks noGrp="1"/>
          </p:cNvSpPr>
          <p:nvPr>
            <p:ph idx="1"/>
          </p:nvPr>
        </p:nvSpPr>
        <p:spPr>
          <a:xfrm>
            <a:off x="838200" y="1181100"/>
            <a:ext cx="10515600" cy="5353050"/>
          </a:xfrm>
        </p:spPr>
        <p:txBody>
          <a:bodyPr/>
          <a:lstStyle/>
          <a:p>
            <a:pPr lvl="1"/>
            <a:endParaRPr lang="zh-CN" altLang="en-US" dirty="0"/>
          </a:p>
          <a:p>
            <a:endParaRPr lang="zh-CN" altLang="en-US" dirty="0"/>
          </a:p>
        </p:txBody>
      </p:sp>
      <p:pic>
        <p:nvPicPr>
          <p:cNvPr id="3" name="图片 2"/>
          <p:cNvPicPr>
            <a:picLocks noChangeAspect="1"/>
          </p:cNvPicPr>
          <p:nvPr/>
        </p:nvPicPr>
        <p:blipFill>
          <a:blip r:embed="rId1"/>
          <a:stretch>
            <a:fillRect/>
          </a:stretch>
        </p:blipFill>
        <p:spPr>
          <a:xfrm>
            <a:off x="945227" y="2755830"/>
            <a:ext cx="6957619" cy="463140"/>
          </a:xfrm>
          <a:prstGeom prst="rect">
            <a:avLst/>
          </a:prstGeom>
        </p:spPr>
      </p:pic>
      <p:sp>
        <p:nvSpPr>
          <p:cNvPr id="8" name="文本框 3"/>
          <p:cNvSpPr txBox="1"/>
          <p:nvPr/>
        </p:nvSpPr>
        <p:spPr>
          <a:xfrm>
            <a:off x="624746" y="955925"/>
            <a:ext cx="11427160" cy="1753235"/>
          </a:xfrm>
          <a:prstGeom prst="rect">
            <a:avLst/>
          </a:prstGeom>
          <a:noFill/>
        </p:spPr>
        <p:txBody>
          <a:bodyPr wrap="square" rtlCol="0" anchor="t">
            <a:spAutoFit/>
          </a:bodyPr>
          <a:lstStyle>
            <a:defPPr>
              <a:defRPr lang="en-US"/>
            </a:defPPr>
            <a:lvl1pPr marL="0" lvl="0" indent="0" algn="l" defTabSz="457200" rtl="0" eaLnBrk="1" fontAlgn="base" latinLnBrk="0" hangingPunct="1">
              <a:lnSpc>
                <a:spcPct val="100000"/>
              </a:lnSpc>
              <a:spcBef>
                <a:spcPct val="0"/>
              </a:spcBef>
              <a:spcAft>
                <a:spcPct val="0"/>
              </a:spcAft>
              <a:buNone/>
              <a:defRPr kern="1200">
                <a:solidFill>
                  <a:schemeClr val="tx1"/>
                </a:solidFill>
                <a:latin typeface="等线" panose="02010600030101010101" charset="-122"/>
                <a:ea typeface="+mn-ea"/>
                <a:cs typeface="+mn-cs"/>
              </a:defRPr>
            </a:lvl1pPr>
            <a:lvl2pPr marL="457200" lvl="1" indent="0" algn="l" defTabSz="457200" rtl="0" eaLnBrk="1" fontAlgn="base" latinLnBrk="0" hangingPunct="1">
              <a:lnSpc>
                <a:spcPct val="100000"/>
              </a:lnSpc>
              <a:spcBef>
                <a:spcPct val="0"/>
              </a:spcBef>
              <a:spcAft>
                <a:spcPct val="0"/>
              </a:spcAft>
              <a:buNone/>
              <a:defRPr kern="1200">
                <a:solidFill>
                  <a:schemeClr val="tx1"/>
                </a:solidFill>
                <a:latin typeface="等线" panose="02010600030101010101" charset="-122"/>
                <a:ea typeface="+mn-ea"/>
                <a:cs typeface="+mn-cs"/>
              </a:defRPr>
            </a:lvl2pPr>
            <a:lvl3pPr marL="914400" lvl="2" indent="0" algn="l" defTabSz="457200" rtl="0" eaLnBrk="1" fontAlgn="base" latinLnBrk="0" hangingPunct="1">
              <a:lnSpc>
                <a:spcPct val="100000"/>
              </a:lnSpc>
              <a:spcBef>
                <a:spcPct val="0"/>
              </a:spcBef>
              <a:spcAft>
                <a:spcPct val="0"/>
              </a:spcAft>
              <a:buNone/>
              <a:defRPr kern="1200">
                <a:solidFill>
                  <a:schemeClr val="tx1"/>
                </a:solidFill>
                <a:latin typeface="等线" panose="02010600030101010101" charset="-122"/>
                <a:ea typeface="+mn-ea"/>
                <a:cs typeface="+mn-cs"/>
              </a:defRPr>
            </a:lvl3pPr>
            <a:lvl4pPr marL="1371600" lvl="3" indent="0" algn="l" defTabSz="457200" rtl="0" eaLnBrk="1" fontAlgn="base" latinLnBrk="0" hangingPunct="1">
              <a:lnSpc>
                <a:spcPct val="100000"/>
              </a:lnSpc>
              <a:spcBef>
                <a:spcPct val="0"/>
              </a:spcBef>
              <a:spcAft>
                <a:spcPct val="0"/>
              </a:spcAft>
              <a:buNone/>
              <a:defRPr kern="1200">
                <a:solidFill>
                  <a:schemeClr val="tx1"/>
                </a:solidFill>
                <a:latin typeface="等线" panose="02010600030101010101" charset="-122"/>
                <a:ea typeface="+mn-ea"/>
                <a:cs typeface="+mn-cs"/>
              </a:defRPr>
            </a:lvl4pPr>
            <a:lvl5pPr marL="1828800" lvl="4" indent="0" algn="l" defTabSz="457200" rtl="0" eaLnBrk="1" fontAlgn="base" latinLnBrk="0" hangingPunct="1">
              <a:lnSpc>
                <a:spcPct val="100000"/>
              </a:lnSpc>
              <a:spcBef>
                <a:spcPct val="0"/>
              </a:spcBef>
              <a:spcAft>
                <a:spcPct val="0"/>
              </a:spcAft>
              <a:buNone/>
              <a:defRPr kern="1200">
                <a:solidFill>
                  <a:schemeClr val="tx1"/>
                </a:solidFill>
                <a:latin typeface="等线" panose="02010600030101010101" charset="-122"/>
                <a:ea typeface="+mn-ea"/>
                <a:cs typeface="+mn-cs"/>
              </a:defRPr>
            </a:lvl5pPr>
            <a:lvl6pPr marL="2286000" lvl="5" indent="0" algn="l" defTabSz="457200" rtl="0" eaLnBrk="1" fontAlgn="base" latinLnBrk="0" hangingPunct="1">
              <a:lnSpc>
                <a:spcPct val="100000"/>
              </a:lnSpc>
              <a:spcBef>
                <a:spcPct val="0"/>
              </a:spcBef>
              <a:spcAft>
                <a:spcPct val="0"/>
              </a:spcAft>
              <a:buNone/>
              <a:defRPr kern="1200">
                <a:solidFill>
                  <a:schemeClr val="tx1"/>
                </a:solidFill>
                <a:latin typeface="等线" panose="02010600030101010101" charset="-122"/>
                <a:ea typeface="+mn-ea"/>
                <a:cs typeface="+mn-cs"/>
              </a:defRPr>
            </a:lvl6pPr>
            <a:lvl7pPr marL="2743200" lvl="6" indent="0" algn="l" defTabSz="457200" rtl="0" eaLnBrk="1" fontAlgn="base" latinLnBrk="0" hangingPunct="1">
              <a:lnSpc>
                <a:spcPct val="100000"/>
              </a:lnSpc>
              <a:spcBef>
                <a:spcPct val="0"/>
              </a:spcBef>
              <a:spcAft>
                <a:spcPct val="0"/>
              </a:spcAft>
              <a:buNone/>
              <a:defRPr kern="1200">
                <a:solidFill>
                  <a:schemeClr val="tx1"/>
                </a:solidFill>
                <a:latin typeface="等线" panose="02010600030101010101" charset="-122"/>
                <a:ea typeface="+mn-ea"/>
                <a:cs typeface="+mn-cs"/>
              </a:defRPr>
            </a:lvl7pPr>
            <a:lvl8pPr marL="3200400" lvl="7" indent="0" algn="l" defTabSz="457200" rtl="0" eaLnBrk="1" fontAlgn="base" latinLnBrk="0" hangingPunct="1">
              <a:lnSpc>
                <a:spcPct val="100000"/>
              </a:lnSpc>
              <a:spcBef>
                <a:spcPct val="0"/>
              </a:spcBef>
              <a:spcAft>
                <a:spcPct val="0"/>
              </a:spcAft>
              <a:buNone/>
              <a:defRPr kern="1200">
                <a:solidFill>
                  <a:schemeClr val="tx1"/>
                </a:solidFill>
                <a:latin typeface="等线" panose="02010600030101010101" charset="-122"/>
                <a:ea typeface="+mn-ea"/>
                <a:cs typeface="+mn-cs"/>
              </a:defRPr>
            </a:lvl8pPr>
            <a:lvl9pPr marL="3657600" lvl="8" indent="0" algn="l" defTabSz="457200" rtl="0" eaLnBrk="1" fontAlgn="base" latinLnBrk="0" hangingPunct="1">
              <a:lnSpc>
                <a:spcPct val="100000"/>
              </a:lnSpc>
              <a:spcBef>
                <a:spcPct val="0"/>
              </a:spcBef>
              <a:spcAft>
                <a:spcPct val="0"/>
              </a:spcAft>
              <a:buNone/>
              <a:defRPr kern="1200">
                <a:solidFill>
                  <a:schemeClr val="tx1"/>
                </a:solidFill>
                <a:latin typeface="等线" panose="02010600030101010101" charset="-122"/>
                <a:ea typeface="+mn-ea"/>
                <a:cs typeface="+mn-cs"/>
              </a:defRPr>
            </a:lvl9pPr>
          </a:lstStyle>
          <a:p>
            <a:pPr lvl="0" defTabSz="914400">
              <a:lnSpc>
                <a:spcPct val="150000"/>
              </a:lnSpc>
              <a:buFont typeface="Wingdings" panose="05000000000000000000" pitchFamily="2" charset="2"/>
            </a:pPr>
            <a:r>
              <a:rPr lang="zh-CN" altLang="en-US" sz="1800" b="1" dirty="0">
                <a:latin typeface="微软雅黑" panose="020B0503020204020204" pitchFamily="34" charset="-122"/>
                <a:ea typeface="微软雅黑" panose="020B0503020204020204" pitchFamily="34" charset="-122"/>
                <a:sym typeface="+mn-ea"/>
              </a:rPr>
              <a:t>截止时间：</a:t>
            </a:r>
            <a:r>
              <a:rPr lang="zh-CN" altLang="en-US" sz="1800" dirty="0">
                <a:latin typeface="微软雅黑" panose="020B0503020204020204" pitchFamily="34" charset="-122"/>
                <a:ea typeface="微软雅黑" panose="020B0503020204020204" pitchFamily="34" charset="-122"/>
                <a:sym typeface="+mn-ea"/>
              </a:rPr>
              <a:t>下周</a:t>
            </a:r>
            <a:r>
              <a:rPr lang="zh-CN" altLang="en-US" sz="1800" dirty="0">
                <a:latin typeface="微软雅黑" panose="020B0503020204020204" pitchFamily="34" charset="-122"/>
                <a:ea typeface="微软雅黑" panose="020B0503020204020204" pitchFamily="34" charset="-122"/>
                <a:sym typeface="+mn-ea"/>
              </a:rPr>
              <a:t>日晚上</a:t>
            </a:r>
            <a:r>
              <a:rPr lang="en-US" altLang="zh-CN" sz="1800" dirty="0">
                <a:latin typeface="微软雅黑" panose="020B0503020204020204" pitchFamily="34" charset="-122"/>
                <a:ea typeface="微软雅黑" panose="020B0503020204020204" pitchFamily="34" charset="-122"/>
                <a:sym typeface="+mn-ea"/>
              </a:rPr>
              <a:t>12</a:t>
            </a:r>
            <a:r>
              <a:rPr lang="zh-CN" altLang="en-US" sz="1800" dirty="0">
                <a:latin typeface="微软雅黑" panose="020B0503020204020204" pitchFamily="34" charset="-122"/>
                <a:ea typeface="微软雅黑" panose="020B0503020204020204" pitchFamily="34" charset="-122"/>
                <a:sym typeface="+mn-ea"/>
              </a:rPr>
              <a:t>点</a:t>
            </a:r>
            <a:endParaRPr lang="zh-CN" altLang="en-US" sz="1800" dirty="0">
              <a:latin typeface="微软雅黑" panose="020B0503020204020204" pitchFamily="34" charset="-122"/>
              <a:ea typeface="微软雅黑" panose="020B0503020204020204" pitchFamily="34" charset="-122"/>
              <a:sym typeface="+mn-ea"/>
            </a:endParaRPr>
          </a:p>
          <a:p>
            <a:pPr lvl="0" defTabSz="914400">
              <a:lnSpc>
                <a:spcPct val="150000"/>
              </a:lnSpc>
              <a:buFont typeface="Wingdings" panose="05000000000000000000" pitchFamily="2" charset="2"/>
            </a:pPr>
            <a:r>
              <a:rPr lang="zh-CN" altLang="en-US" sz="1800" b="1" dirty="0">
                <a:latin typeface="微软雅黑" panose="020B0503020204020204" pitchFamily="34" charset="-122"/>
                <a:ea typeface="微软雅黑" panose="020B0503020204020204" pitchFamily="34" charset="-122"/>
                <a:sym typeface="+mn-ea"/>
              </a:rPr>
              <a:t>提交方式：</a:t>
            </a:r>
            <a:r>
              <a:rPr lang="zh-CN" altLang="en-US" sz="1800" dirty="0">
                <a:latin typeface="微软雅黑" panose="020B0503020204020204" pitchFamily="34" charset="-122"/>
                <a:ea typeface="微软雅黑" panose="020B0503020204020204" pitchFamily="34" charset="-122"/>
                <a:sym typeface="+mn-ea"/>
              </a:rPr>
              <a:t>每人作业的</a:t>
            </a:r>
            <a:r>
              <a:rPr lang="en-US" altLang="zh-CN" sz="1800" dirty="0">
                <a:latin typeface="微软雅黑" panose="020B0503020204020204" pitchFamily="34" charset="-122"/>
                <a:ea typeface="微软雅黑" panose="020B0503020204020204" pitchFamily="34" charset="-122"/>
                <a:sym typeface="+mn-ea"/>
              </a:rPr>
              <a:t>latex</a:t>
            </a:r>
            <a:r>
              <a:rPr lang="zh-CN" altLang="en-US" sz="1800" dirty="0">
                <a:latin typeface="微软雅黑" panose="020B0503020204020204" pitchFamily="34" charset="-122"/>
                <a:ea typeface="微软雅黑" panose="020B0503020204020204" pitchFamily="34" charset="-122"/>
                <a:sym typeface="+mn-ea"/>
              </a:rPr>
              <a:t>文档以“学号</a:t>
            </a:r>
            <a:r>
              <a:rPr lang="en-US" altLang="zh-CN" sz="1800" dirty="0">
                <a:latin typeface="微软雅黑" panose="020B0503020204020204" pitchFamily="34" charset="-122"/>
                <a:ea typeface="微软雅黑" panose="020B0503020204020204" pitchFamily="34" charset="-122"/>
                <a:sym typeface="+mn-ea"/>
              </a:rPr>
              <a:t>+</a:t>
            </a:r>
            <a:r>
              <a:rPr lang="zh-CN" altLang="en-US" sz="1800" dirty="0">
                <a:latin typeface="微软雅黑" panose="020B0503020204020204" pitchFamily="34" charset="-122"/>
                <a:ea typeface="微软雅黑" panose="020B0503020204020204" pitchFamily="34" charset="-122"/>
                <a:sym typeface="+mn-ea"/>
              </a:rPr>
              <a:t>姓名”命名，各班班长收齐压缩后，发到邮箱 </a:t>
            </a:r>
            <a:endParaRPr lang="zh-CN" altLang="en-US" sz="1800" dirty="0">
              <a:latin typeface="微软雅黑" panose="020B0503020204020204" pitchFamily="34" charset="-122"/>
              <a:ea typeface="微软雅黑" panose="020B0503020204020204" pitchFamily="34" charset="-122"/>
              <a:sym typeface="+mn-ea"/>
            </a:endParaRPr>
          </a:p>
          <a:p>
            <a:pPr lvl="0" defTabSz="914400">
              <a:lnSpc>
                <a:spcPct val="150000"/>
              </a:lnSpc>
              <a:buFont typeface="Wingdings" panose="05000000000000000000" pitchFamily="2" charset="2"/>
            </a:pPr>
            <a:r>
              <a:rPr lang="en-US" altLang="zh-CN" sz="1800" dirty="0">
                <a:sym typeface="+mn-ea"/>
              </a:rPr>
              <a:t>514034538@qq.com</a:t>
            </a:r>
            <a:endParaRPr lang="en-US" altLang="zh-CN" sz="1800" dirty="0">
              <a:sym typeface="+mn-ea"/>
            </a:endParaRPr>
          </a:p>
          <a:p>
            <a:pPr lvl="0" defTabSz="914400">
              <a:lnSpc>
                <a:spcPct val="150000"/>
              </a:lnSpc>
              <a:buFont typeface="Wingdings" panose="05000000000000000000" pitchFamily="2" charset="2"/>
            </a:pPr>
            <a:r>
              <a:rPr lang="zh-CN" altLang="en-US" b="1" dirty="0">
                <a:latin typeface="微软雅黑" panose="020B0503020204020204" pitchFamily="34" charset="-122"/>
                <a:ea typeface="微软雅黑" panose="020B0503020204020204" pitchFamily="34" charset="-122"/>
                <a:sym typeface="+mn-ea"/>
              </a:rPr>
              <a:t>作业晚交政策：</a:t>
            </a:r>
            <a:r>
              <a:rPr lang="zh-CN" altLang="en-US" dirty="0">
                <a:latin typeface="微软雅黑" panose="020B0503020204020204" pitchFamily="34" charset="-122"/>
                <a:ea typeface="微软雅黑" panose="020B0503020204020204" pitchFamily="34" charset="-122"/>
                <a:sym typeface="+mn-ea"/>
              </a:rPr>
              <a:t>作业超过截止时间但在</a:t>
            </a:r>
            <a:r>
              <a:rPr lang="en-US" altLang="zh-CN" dirty="0">
                <a:latin typeface="微软雅黑" panose="020B0503020204020204" pitchFamily="34" charset="-122"/>
                <a:ea typeface="微软雅黑" panose="020B0503020204020204" pitchFamily="34" charset="-122"/>
                <a:sym typeface="+mn-ea"/>
              </a:rPr>
              <a:t>24</a:t>
            </a:r>
            <a:r>
              <a:rPr lang="zh-CN" altLang="en-US" dirty="0">
                <a:latin typeface="微软雅黑" panose="020B0503020204020204" pitchFamily="34" charset="-122"/>
                <a:ea typeface="微软雅黑" panose="020B0503020204020204" pitchFamily="34" charset="-122"/>
                <a:sym typeface="+mn-ea"/>
              </a:rPr>
              <a:t>小时以内，该次作业按</a:t>
            </a:r>
            <a:r>
              <a:rPr lang="en-US" altLang="zh-CN" dirty="0">
                <a:latin typeface="微软雅黑" panose="020B0503020204020204" pitchFamily="34" charset="-122"/>
                <a:ea typeface="微软雅黑" panose="020B0503020204020204" pitchFamily="34" charset="-122"/>
                <a:sym typeface="+mn-ea"/>
              </a:rPr>
              <a:t>60%</a:t>
            </a:r>
            <a:r>
              <a:rPr lang="zh-CN" altLang="en-US" dirty="0">
                <a:latin typeface="微软雅黑" panose="020B0503020204020204" pitchFamily="34" charset="-122"/>
                <a:ea typeface="微软雅黑" panose="020B0503020204020204" pitchFamily="34" charset="-122"/>
                <a:sym typeface="+mn-ea"/>
              </a:rPr>
              <a:t>分数计算，超过</a:t>
            </a:r>
            <a:r>
              <a:rPr lang="en-US" altLang="zh-CN" dirty="0">
                <a:latin typeface="微软雅黑" panose="020B0503020204020204" pitchFamily="34" charset="-122"/>
                <a:ea typeface="微软雅黑" panose="020B0503020204020204" pitchFamily="34" charset="-122"/>
                <a:sym typeface="+mn-ea"/>
              </a:rPr>
              <a:t>24</a:t>
            </a:r>
            <a:r>
              <a:rPr lang="zh-CN" altLang="en-US" dirty="0">
                <a:latin typeface="微软雅黑" panose="020B0503020204020204" pitchFamily="34" charset="-122"/>
                <a:ea typeface="微软雅黑" panose="020B0503020204020204" pitchFamily="34" charset="-122"/>
                <a:sym typeface="+mn-ea"/>
              </a:rPr>
              <a:t>小时则不记分</a:t>
            </a:r>
            <a:r>
              <a:rPr lang="en-US" altLang="zh-CN" dirty="0">
                <a:latin typeface="微软雅黑" panose="020B0503020204020204" pitchFamily="34" charset="-122"/>
                <a:ea typeface="微软雅黑" panose="020B0503020204020204" pitchFamily="34" charset="-122"/>
                <a:sym typeface="+mn-ea"/>
              </a:rPr>
              <a:t> </a:t>
            </a:r>
            <a:endParaRPr lang="en-US" altLang="zh-CN" sz="1800" dirty="0">
              <a:latin typeface="微软雅黑" panose="020B0503020204020204" pitchFamily="34" charset="-122"/>
              <a:ea typeface="微软雅黑" panose="020B0503020204020204" pitchFamily="34" charset="-122"/>
              <a:sym typeface="+mn-ea"/>
            </a:endParaRPr>
          </a:p>
        </p:txBody>
      </p:sp>
      <p:pic>
        <p:nvPicPr>
          <p:cNvPr id="4" name="图片 3"/>
          <p:cNvPicPr>
            <a:picLocks noChangeAspect="1"/>
          </p:cNvPicPr>
          <p:nvPr/>
        </p:nvPicPr>
        <p:blipFill>
          <a:blip r:embed="rId2"/>
          <a:stretch>
            <a:fillRect/>
          </a:stretch>
        </p:blipFill>
        <p:spPr>
          <a:xfrm>
            <a:off x="838200" y="3459480"/>
            <a:ext cx="9296400" cy="924123"/>
          </a:xfrm>
          <a:prstGeom prst="rect">
            <a:avLst/>
          </a:prstGeom>
        </p:spPr>
      </p:pic>
    </p:spTree>
  </p:cSld>
  <p:clrMapOvr>
    <a:masterClrMapping/>
  </p:clrMapOvr>
</p:sld>
</file>

<file path=ppt/tags/tag1.xml><?xml version="1.0" encoding="utf-8"?>
<p:tagLst xmlns:p="http://schemas.openxmlformats.org/presentationml/2006/main">
  <p:tag name="TEXPOINT" val="latex"/>
  <p:tag name="SOURCE" val="\documentclass{book}&#10;\pagestyle{empty}&#10;\input{C:/Users/markussv/depots/CMBBOOK/latex/prml-utils}&#10;\begin{document}&#10;\begin{eqnarray*}&#10;    p( x_{1}, \ldots, x_{7} ) &amp;= &amp; p(x_1) p(x_2) p(x_3) p(x_4|x_1, x_2, x_3) \\&#10;    &amp; &amp; p(x_5|x_1, x_3) p(x_6|x_4) p(x_7|x_4, x_5)&#10;\end{eqnarray*}&#10;\end{document}&#10;"/>
  <p:tag name="FILENAME" val="TP_tmp"/>
  <p:tag name="FORMAT" val="png256"/>
  <p:tag name="RES" val="600"/>
  <p:tag name="BLEND" val="0"/>
  <p:tag name="TRANSPARENT" val="1"/>
  <p:tag name="TBUG" val="0"/>
  <p:tag name="ALLOWFS" val="0"/>
  <p:tag name="ORIGWIDTH" val="220"/>
  <p:tag name="PICTUREFILESIZE" val="8262"/>
</p:tagLst>
</file>

<file path=ppt/tags/tag2.xml><?xml version="1.0" encoding="utf-8"?>
<p:tagLst xmlns:p="http://schemas.openxmlformats.org/presentationml/2006/main">
  <p:tag name="TEXPOINT" val="latex"/>
  <p:tag name="SOURCE" val="\documentclass{book}&#10;\pagestyle{empty}&#10;\input{C:/Users/markussv/depots/CMBBOOK/latex/prml-utils}&#10;\begin{document}&#10;\[&#10;p(a,b,c) = p(c|a,b) p(a,b) = p(c|a,b)p(b|a)p(a)&#10;\]&#10;\end{document}&#10;"/>
  <p:tag name="FILENAME" val="TP_tmp"/>
  <p:tag name="FORMAT" val="png256"/>
  <p:tag name="RES" val="600"/>
  <p:tag name="BLEND" val="0"/>
  <p:tag name="TRANSPARENT" val="1"/>
  <p:tag name="TBUG" val="0"/>
  <p:tag name="ALLOWFS" val="0"/>
  <p:tag name="ORIGWIDTH" val="200"/>
  <p:tag name="PICTUREFILESIZE" val="4642"/>
</p:tagLst>
</file>

<file path=ppt/tags/tag3.xml><?xml version="1.0" encoding="utf-8"?>
<p:tagLst xmlns:p="http://schemas.openxmlformats.org/presentationml/2006/main">
  <p:tag name="TIMING" val="|126.5"/>
</p:tagLst>
</file>

<file path=ppt/tags/tag4.xml><?xml version="1.0" encoding="utf-8"?>
<p:tagLst xmlns:p="http://schemas.openxmlformats.org/presentationml/2006/main">
  <p:tag name="TEXPOINT" val="latex"/>
  <p:tag name="SOURCE" val="\documentclass{book}&#10;\pagestyle{empty}&#10;\input{C:/Users/markussv/depots/CMBBOOK/latex/prml-utils}&#10;\begin{document}&#10;\[&#10;p(\bfx) = p(x_1) p(x_2|x_1) \thickspace p(x_3|x_2) \cdots p(x_N|x_{N-1})&#10;\]&#10;\end{document}&#10;"/>
  <p:tag name="FILENAME" val="TP_tmp"/>
  <p:tag name="FORMAT" val="png256"/>
  <p:tag name="RES" val="600"/>
  <p:tag name="BLEND" val="0"/>
  <p:tag name="TRANSPARENT" val="1"/>
  <p:tag name="TBUG" val="0"/>
  <p:tag name="ALLOWFS" val="0"/>
  <p:tag name="ORIGWIDTH" val="197"/>
  <p:tag name="PICTUREFILESIZE" val="5073"/>
</p:tagLst>
</file>

<file path=ppt/tags/tag5.xml><?xml version="1.0" encoding="utf-8"?>
<p:tagLst xmlns:p="http://schemas.openxmlformats.org/presentationml/2006/main">
  <p:tag name="TEXPOINT" val="latex"/>
  <p:tag name="SOURCE" val="\documentclass{book}&#10;\pagestyle{empty}&#10;\usepackage{color}&#10;\input{C:/Users/markussv/depots/CMBBOOK/latex/prml-utils}&#10;\begin{document}&#10;\[&#10;p(\bfx) = \color{red} \frac{1}{Z} \color{black} \thickspace \psi_{1,2} (x_1, x_2)&#10;  \thickspace  \psi_{2,3} (x_2, x_3) \cdots \psi_{N-1,N} (x_{N-1}, x_N)&#10;\]&#10;\end{document}&#10;"/>
  <p:tag name="FILENAME" val="TP_tmp"/>
  <p:tag name="FORMAT" val="png256"/>
  <p:tag name="RES" val="600"/>
  <p:tag name="BLEND" val="0"/>
  <p:tag name="TRANSPARENT" val="1"/>
  <p:tag name="TBUG" val="0"/>
  <p:tag name="ALLOWFS" val="0"/>
  <p:tag name="ORIGWIDTH" val="245"/>
  <p:tag name="PICTUREFILESIZE" val="6866"/>
</p:tagLst>
</file>

<file path=ppt/tags/tag6.xml><?xml version="1.0" encoding="utf-8"?>
<p:tagLst xmlns:p="http://schemas.openxmlformats.org/presentationml/2006/main">
  <p:tag name="TEXPOINT" val="latex"/>
  <p:tag name="SOURCE" val="\documentclass{book}&#10;\pagestyle{empty}&#10;\input{C:/Users/markussv/depots/CMBBOOK/latex/prml-utils}&#10;\begin{document}&#10;\[&#10;\condindep{A}{B}{\emptyset}&#10;\]&#10;\end{document}&#10;"/>
  <p:tag name="FILENAME" val="TP_tmp"/>
  <p:tag name="FORMAT" val="png256"/>
  <p:tag name="RES" val="600"/>
  <p:tag name="BLEND" val="0"/>
  <p:tag name="TRANSPARENT" val="1"/>
  <p:tag name="TBUG" val="0"/>
  <p:tag name="ALLOWFS" val="0"/>
  <p:tag name="ORIGWIDTH" val="47"/>
  <p:tag name="PICTUREFILESIZE" val="1872"/>
</p:tagLst>
</file>

<file path=ppt/tags/tag7.xml><?xml version="1.0" encoding="utf-8"?>
<p:tagLst xmlns:p="http://schemas.openxmlformats.org/presentationml/2006/main">
  <p:tag name="TEXPOINT" val="latex"/>
  <p:tag name="SOURCE" val="\documentclass{book}&#10;\pagestyle{empty}&#10;\input{C:/Users/markussv/depots/CMBBOOK/latex/prml-utils}&#10;\begin{document}&#10;\[&#10;\nocondindep{A}{B}{C}&#10;\]&#10;\end{document}&#10;"/>
  <p:tag name="FILENAME" val="TP_tmp"/>
  <p:tag name="FORMAT" val="png256"/>
  <p:tag name="RES" val="600"/>
  <p:tag name="BLEND" val="0"/>
  <p:tag name="TRANSPARENT" val="1"/>
  <p:tag name="TBUG" val="0"/>
  <p:tag name="ALLOWFS" val="0"/>
  <p:tag name="ORIGWIDTH" val="49"/>
  <p:tag name="PICTUREFILESIZE" val="2065"/>
</p:tagLst>
</file>

<file path=ppt/tags/tag8.xml><?xml version="1.0" encoding="utf-8"?>
<p:tagLst xmlns:p="http://schemas.openxmlformats.org/presentationml/2006/main">
  <p:tag name="TEXPOINT" val="latex"/>
  <p:tag name="SOURCE" val="\documentclass{book}&#10;\pagestyle{empty}&#10;\input{C:/Users/markussv/depots/CMBBOOK/latex/prml-utils}&#10;\begin{document}&#10;\[&#10;\nocondindep{A}{B}{\emptyset}&#10;\]&#10;\end{document}&#10;"/>
  <p:tag name="FILENAME" val="TP_tmp"/>
  <p:tag name="FORMAT" val="png256"/>
  <p:tag name="RES" val="600"/>
  <p:tag name="BLEND" val="0"/>
  <p:tag name="TRANSPARENT" val="1"/>
  <p:tag name="TBUG" val="0"/>
  <p:tag name="ALLOWFS" val="0"/>
  <p:tag name="ORIGWIDTH" val="45"/>
  <p:tag name="PICTUREFILESIZE" val="2023"/>
</p:tagLst>
</file>

<file path=ppt/tags/tag9.xml><?xml version="1.0" encoding="utf-8"?>
<p:tagLst xmlns:p="http://schemas.openxmlformats.org/presentationml/2006/main">
  <p:tag name="TEXPOINT" val="latex"/>
  <p:tag name="SOURCE" val="\documentclass{book}&#10;\pagestyle{empty}&#10;\input{C:/Users/markussv/depots/CMBBOOK/latex/prml-utils}&#10;\begin{document}&#10;\[&#10;\condindep{A}{B}{C \cup D}&#10;\]&#10;\end{document}&#10;"/>
  <p:tag name="FILENAME" val="TP_tmp"/>
  <p:tag name="FORMAT" val="png256"/>
  <p:tag name="RES" val="600"/>
  <p:tag name="BLEND" val="0"/>
  <p:tag name="TRANSPARENT" val="1"/>
  <p:tag name="TBUG" val="0"/>
  <p:tag name="ALLOWFS" val="0"/>
  <p:tag name="ORIGWIDTH" val="69"/>
  <p:tag name="PICTUREFILESIZE" val="2246"/>
</p:tagLst>
</file>

<file path=ppt/tags/tag10.xml><?xml version="1.0" encoding="utf-8"?>
<p:tagLst xmlns:p="http://schemas.openxmlformats.org/presentationml/2006/main">
  <p:tag name="TEXPOINT" val="latex"/>
  <p:tag name="SOURCE" val="\documentclass{book}&#10;\pagestyle{empty}&#10;\input{C:/Users/markussv/depots/CMBBOOK/latex/prml-utils}&#10;\begin{document}&#10;\[&#10;\condindep{C}{D}{A \cup B}&#10;\]&#10;\end{document}&#10;"/>
  <p:tag name="FILENAME" val="TP_tmp"/>
  <p:tag name="FORMAT" val="png256"/>
  <p:tag name="RES" val="600"/>
  <p:tag name="BLEND" val="0"/>
  <p:tag name="TRANSPARENT" val="1"/>
  <p:tag name="TBUG" val="0"/>
  <p:tag name="ALLOWFS" val="0"/>
  <p:tag name="ORIGWIDTH" val="69"/>
  <p:tag name="PICTUREFILESIZE" val="2278"/>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3615</Words>
  <Application>WPS 演示</Application>
  <PresentationFormat>宽屏</PresentationFormat>
  <Paragraphs>454</Paragraphs>
  <Slides>45</Slides>
  <Notes>11</Notes>
  <HiddenSlides>0</HiddenSlides>
  <MMClips>0</MMClips>
  <ScaleCrop>false</ScaleCrop>
  <HeadingPairs>
    <vt:vector size="6" baseType="variant">
      <vt:variant>
        <vt:lpstr>已用的字体</vt:lpstr>
      </vt:variant>
      <vt:variant>
        <vt:i4>34</vt:i4>
      </vt:variant>
      <vt:variant>
        <vt:lpstr>主题</vt:lpstr>
      </vt:variant>
      <vt:variant>
        <vt:i4>1</vt:i4>
      </vt:variant>
      <vt:variant>
        <vt:lpstr>幻灯片标题</vt:lpstr>
      </vt:variant>
      <vt:variant>
        <vt:i4>45</vt:i4>
      </vt:variant>
    </vt:vector>
  </HeadingPairs>
  <TitlesOfParts>
    <vt:vector size="80" baseType="lpstr">
      <vt:lpstr>Arial</vt:lpstr>
      <vt:lpstr>宋体</vt:lpstr>
      <vt:lpstr>Wingdings</vt:lpstr>
      <vt:lpstr>黑体</vt:lpstr>
      <vt:lpstr>汉仪中黑KW</vt:lpstr>
      <vt:lpstr>微软雅黑</vt:lpstr>
      <vt:lpstr>汉仪旗黑</vt:lpstr>
      <vt:lpstr>Cambria</vt:lpstr>
      <vt:lpstr>苹方-简</vt:lpstr>
      <vt:lpstr>华文楷体</vt:lpstr>
      <vt:lpstr>汉仪楷体简</vt:lpstr>
      <vt:lpstr>Calibri</vt:lpstr>
      <vt:lpstr>Helvetica Neue</vt:lpstr>
      <vt:lpstr>Cambria Math</vt:lpstr>
      <vt:lpstr>Kingsoft Math</vt:lpstr>
      <vt:lpstr>DeepSeek-CJK-patch</vt:lpstr>
      <vt:lpstr>宋体</vt:lpstr>
      <vt:lpstr>Arial Unicode MS</vt:lpstr>
      <vt:lpstr>Calibri Light</vt:lpstr>
      <vt:lpstr>等线</vt:lpstr>
      <vt:lpstr>汉仪中等线KW</vt:lpstr>
      <vt:lpstr>汉仪书宋二KW</vt:lpstr>
      <vt:lpstr>Segoe UI Web (West European)</vt:lpstr>
      <vt:lpstr>Thonburi</vt:lpstr>
      <vt:lpstr>等线</vt:lpstr>
      <vt:lpstr>等线 Light</vt:lpstr>
      <vt:lpstr>DeepSeek-CJK-patch</vt:lpstr>
      <vt:lpstr>Segoe UI Web (West European)</vt:lpstr>
      <vt:lpstr>Wingdings</vt:lpstr>
      <vt:lpstr>微软雅黑</vt:lpstr>
      <vt:lpstr>DejaVu Math TeX Gyre</vt:lpstr>
      <vt:lpstr>BatangChe</vt:lpstr>
      <vt:lpstr>Apple SD Gothic Neo</vt:lpstr>
      <vt:lpstr>DejaVuMathTeXGyre</vt:lpstr>
      <vt:lpstr>Office Theme</vt:lpstr>
      <vt:lpstr>深度学习 第11章：概率图模型</vt:lpstr>
      <vt:lpstr>课程概括</vt:lpstr>
      <vt:lpstr>如何表示高维随机向量的概率密度？</vt:lpstr>
      <vt:lpstr>概率图模型</vt:lpstr>
      <vt:lpstr>概率图模型</vt:lpstr>
      <vt:lpstr>概率图模型</vt:lpstr>
      <vt:lpstr>概率图有什么用？</vt:lpstr>
      <vt:lpstr>概率图有什么用？</vt:lpstr>
      <vt:lpstr>模型表示</vt:lpstr>
      <vt:lpstr>贝叶斯网络</vt:lpstr>
      <vt:lpstr>练习</vt:lpstr>
      <vt:lpstr>局部马尔可夫性质</vt:lpstr>
      <vt:lpstr>条件独立性</vt:lpstr>
      <vt:lpstr>隐马尔可夫模型（Hidden Markov Model，HMM）</vt:lpstr>
      <vt:lpstr>高斯混合模型</vt:lpstr>
      <vt:lpstr>高斯混合模型（Gaussian Mixture Model, GMM）</vt:lpstr>
      <vt:lpstr>概率主题模型（Probabilistic topic model）</vt:lpstr>
      <vt:lpstr>有向图模型</vt:lpstr>
      <vt:lpstr>马尔可夫随机场（Markov Random Field）</vt:lpstr>
      <vt:lpstr>无向图的马尔可夫性</vt:lpstr>
      <vt:lpstr>团（Clique）</vt:lpstr>
      <vt:lpstr>Hammersley-Clifford定理（HC定理）</vt:lpstr>
      <vt:lpstr>无向图模型</vt:lpstr>
      <vt:lpstr>常见的无向图模型</vt:lpstr>
      <vt:lpstr>有向图和无向图的转换</vt:lpstr>
      <vt:lpstr>有向图和无向图的转换</vt:lpstr>
      <vt:lpstr>有向图和无向图总结</vt:lpstr>
      <vt:lpstr>学习</vt:lpstr>
      <vt:lpstr>不含隐变量的参数估计</vt:lpstr>
      <vt:lpstr>有向图模型</vt:lpstr>
      <vt:lpstr>无向图模型</vt:lpstr>
      <vt:lpstr>含隐变量的参数估计</vt:lpstr>
      <vt:lpstr>一个简单的隐变量估计情形：K-means聚类</vt:lpstr>
      <vt:lpstr>K-means算法</vt:lpstr>
      <vt:lpstr>K-means算法</vt:lpstr>
      <vt:lpstr>含隐变量的参数学习</vt:lpstr>
      <vt:lpstr>期望最大化算法（Expectation-Maximum，EM ）</vt:lpstr>
      <vt:lpstr>另外一种推导</vt:lpstr>
      <vt:lpstr>EM算法</vt:lpstr>
      <vt:lpstr>收敛性</vt:lpstr>
      <vt:lpstr>高斯混合模型（Gaussian Mixture Model, GMM）</vt:lpstr>
      <vt:lpstr>GMM Revisit</vt:lpstr>
      <vt:lpstr>GMM的参数学习</vt:lpstr>
      <vt:lpstr>k-means clustering vs. EM clustering </vt:lpstr>
      <vt:lpstr>课后作业</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 Branding Roadmap Template</dc:title>
  <dc:creator>Xipeng Qiu</dc:creator>
  <cp:lastModifiedBy>王亚星</cp:lastModifiedBy>
  <cp:revision>2184</cp:revision>
  <dcterms:created xsi:type="dcterms:W3CDTF">2026-05-18T07:09:52Z</dcterms:created>
  <dcterms:modified xsi:type="dcterms:W3CDTF">2026-05-18T07:09:52Z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2052-12.1.25869.25869</vt:lpwstr>
  </property>
  <property fmtid="{D5CDD505-2E9C-101B-9397-08002B2CF9AE}" pid="3" name="ICV">
    <vt:lpwstr>944284DD7B0085D440AE0A6A15197B73_42</vt:lpwstr>
  </property>
</Properties>
</file>
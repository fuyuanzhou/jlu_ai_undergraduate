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141" r:id="rId3"/>
    <p:sldId id="1123" r:id="rId5"/>
    <p:sldId id="1119" r:id="rId6"/>
    <p:sldId id="1120" r:id="rId7"/>
    <p:sldId id="1121" r:id="rId8"/>
    <p:sldId id="926" r:id="rId9"/>
    <p:sldId id="1110" r:id="rId10"/>
    <p:sldId id="1143" r:id="rId11"/>
    <p:sldId id="1144" r:id="rId12"/>
    <p:sldId id="1145" r:id="rId13"/>
    <p:sldId id="1146" r:id="rId14"/>
    <p:sldId id="924" r:id="rId15"/>
    <p:sldId id="1099" r:id="rId16"/>
    <p:sldId id="939" r:id="rId17"/>
    <p:sldId id="954" r:id="rId18"/>
    <p:sldId id="1112" r:id="rId19"/>
    <p:sldId id="1113" r:id="rId20"/>
    <p:sldId id="1109" r:id="rId21"/>
    <p:sldId id="1111" r:id="rId22"/>
    <p:sldId id="1098" r:id="rId23"/>
    <p:sldId id="1097" r:id="rId24"/>
    <p:sldId id="1094" r:id="rId25"/>
    <p:sldId id="955" r:id="rId26"/>
    <p:sldId id="1095" r:id="rId27"/>
    <p:sldId id="1126" r:id="rId28"/>
    <p:sldId id="1114" r:id="rId29"/>
    <p:sldId id="1096" r:id="rId30"/>
    <p:sldId id="367" r:id="rId31"/>
    <p:sldId id="1101" r:id="rId32"/>
    <p:sldId id="1100" r:id="rId33"/>
    <p:sldId id="284" r:id="rId34"/>
    <p:sldId id="286" r:id="rId35"/>
    <p:sldId id="288" r:id="rId36"/>
    <p:sldId id="1093" r:id="rId37"/>
    <p:sldId id="1117" r:id="rId38"/>
    <p:sldId id="1127" r:id="rId39"/>
    <p:sldId id="1128" r:id="rId40"/>
    <p:sldId id="1103" r:id="rId41"/>
    <p:sldId id="1131" r:id="rId42"/>
    <p:sldId id="441" r:id="rId43"/>
    <p:sldId id="1115" r:id="rId44"/>
    <p:sldId id="1102" r:id="rId45"/>
    <p:sldId id="1132" r:id="rId46"/>
    <p:sldId id="1105" r:id="rId47"/>
    <p:sldId id="1106" r:id="rId48"/>
    <p:sldId id="1107" r:id="rId49"/>
    <p:sldId id="445" r:id="rId50"/>
    <p:sldId id="446" r:id="rId51"/>
    <p:sldId id="1133" r:id="rId52"/>
    <p:sldId id="468" r:id="rId53"/>
    <p:sldId id="1134" r:id="rId54"/>
    <p:sldId id="1135" r:id="rId55"/>
    <p:sldId id="1142" r:id="rId5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+mn-ea"/>
        <a:cs typeface="Arial" panose="020B060402020209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9" autoAdjust="0"/>
    <p:restoredTop sz="84585" autoAdjust="0"/>
  </p:normalViewPr>
  <p:slideViewPr>
    <p:cSldViewPr showGuides="1">
      <p:cViewPr varScale="1">
        <p:scale>
          <a:sx n="88" d="100"/>
          <a:sy n="88" d="100"/>
        </p:scale>
        <p:origin x="579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88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683E5292-C197-4B29-8ABD-C7AEB5E0B154}" type="datetimeFigureOut">
              <a:rPr lang="en-US" altLang="zh-CN"/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4C119E0-CEE4-4FF8-83B2-DC856A2C17CC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879432/what-is-the-difference-between-a-generative-and-a-discriminative-algorithm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30mins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4047-4078-4824-BA43-550E26D73261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hlinkClick r:id="rId3"/>
              </a:rPr>
              <a:t>https://stackoverflow.com/questions/879432/what-is-the-difference-between-a-generative-and-a-discriminative-algorithm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一般为了简化模型，假设隐变量先验分布</a:t>
            </a:r>
            <a:r>
              <a:rPr lang="en-US" altLang="zh-CN" dirty="0"/>
              <a:t>p(</a:t>
            </a:r>
            <a:r>
              <a:rPr lang="en-US" altLang="zh-CN" dirty="0" err="1"/>
              <a:t>z;θ</a:t>
            </a:r>
            <a:r>
              <a:rPr lang="en-US" altLang="zh-CN" dirty="0"/>
              <a:t>)</a:t>
            </a:r>
            <a:r>
              <a:rPr lang="zh-CN" altLang="en-US" dirty="0"/>
              <a:t>为标准高斯分布</a:t>
            </a:r>
            <a:r>
              <a:rPr lang="en-US" altLang="zh-CN" dirty="0"/>
              <a:t>N(z;0,I)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隐变量</a:t>
            </a:r>
            <a:r>
              <a:rPr lang="en-US" altLang="zh-CN" dirty="0"/>
              <a:t>z</a:t>
            </a:r>
            <a:r>
              <a:rPr lang="zh-CN" altLang="en-US" dirty="0"/>
              <a:t>的每一维之间都是独立的。在这个假设下，先验分布</a:t>
            </a:r>
            <a:r>
              <a:rPr lang="en-US" altLang="zh-CN" dirty="0"/>
              <a:t>p(</a:t>
            </a:r>
            <a:r>
              <a:rPr lang="en-US" altLang="zh-CN" dirty="0" err="1"/>
              <a:t>z;θ</a:t>
            </a:r>
            <a:r>
              <a:rPr lang="en-US" altLang="zh-CN" dirty="0"/>
              <a:t>)</a:t>
            </a:r>
            <a:r>
              <a:rPr lang="zh-CN" altLang="en-US" dirty="0"/>
              <a:t>中没有参</a:t>
            </a:r>
            <a:endParaRPr lang="zh-CN" altLang="en-US" dirty="0"/>
          </a:p>
          <a:p>
            <a:r>
              <a:rPr lang="zh-CN" altLang="en-US" dirty="0"/>
              <a:t>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一般为了简化模型，假设隐变量先验分布</a:t>
            </a:r>
            <a:r>
              <a:rPr lang="en-US" altLang="zh-CN" dirty="0"/>
              <a:t>p(</a:t>
            </a:r>
            <a:r>
              <a:rPr lang="en-US" altLang="zh-CN" dirty="0" err="1"/>
              <a:t>z;θ</a:t>
            </a:r>
            <a:r>
              <a:rPr lang="en-US" altLang="zh-CN" dirty="0"/>
              <a:t>)</a:t>
            </a:r>
            <a:r>
              <a:rPr lang="zh-CN" altLang="en-US" dirty="0"/>
              <a:t>为标准高斯分布</a:t>
            </a:r>
            <a:r>
              <a:rPr lang="en-US" altLang="zh-CN" dirty="0"/>
              <a:t>N(z;0,I)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隐变量</a:t>
            </a:r>
            <a:r>
              <a:rPr lang="en-US" altLang="zh-CN" dirty="0"/>
              <a:t>z</a:t>
            </a:r>
            <a:r>
              <a:rPr lang="zh-CN" altLang="en-US" dirty="0"/>
              <a:t>的每一维之间都是独立的。在这个假设下，先验分布</a:t>
            </a:r>
            <a:r>
              <a:rPr lang="en-US" altLang="zh-CN" dirty="0"/>
              <a:t>p(</a:t>
            </a:r>
            <a:r>
              <a:rPr lang="en-US" altLang="zh-CN" dirty="0" err="1"/>
              <a:t>z;θ</a:t>
            </a:r>
            <a:r>
              <a:rPr lang="en-US" altLang="zh-CN" dirty="0"/>
              <a:t>)</a:t>
            </a:r>
            <a:r>
              <a:rPr lang="zh-CN" altLang="en-US" dirty="0"/>
              <a:t>中没有参</a:t>
            </a:r>
            <a:endParaRPr lang="zh-CN" altLang="en-US" dirty="0"/>
          </a:p>
          <a:p>
            <a:r>
              <a:rPr lang="zh-CN" altLang="en-US" dirty="0"/>
              <a:t>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一般为了简化模型，假设隐变量先验分布</a:t>
            </a:r>
            <a:r>
              <a:rPr lang="en-US" altLang="zh-CN" dirty="0"/>
              <a:t>p(</a:t>
            </a:r>
            <a:r>
              <a:rPr lang="en-US" altLang="zh-CN" dirty="0" err="1"/>
              <a:t>z;θ</a:t>
            </a:r>
            <a:r>
              <a:rPr lang="en-US" altLang="zh-CN" dirty="0"/>
              <a:t>)</a:t>
            </a:r>
            <a:r>
              <a:rPr lang="zh-CN" altLang="en-US" dirty="0"/>
              <a:t>为标准高斯分布</a:t>
            </a:r>
            <a:r>
              <a:rPr lang="en-US" altLang="zh-CN" dirty="0"/>
              <a:t>N(z;0,I)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隐变量</a:t>
            </a:r>
            <a:r>
              <a:rPr lang="en-US" altLang="zh-CN" dirty="0"/>
              <a:t>z</a:t>
            </a:r>
            <a:r>
              <a:rPr lang="zh-CN" altLang="en-US" dirty="0"/>
              <a:t>的每一维之间都是独立的。在这个假设下，先验分布</a:t>
            </a:r>
            <a:r>
              <a:rPr lang="en-US" altLang="zh-CN" dirty="0"/>
              <a:t>p(</a:t>
            </a:r>
            <a:r>
              <a:rPr lang="en-US" altLang="zh-CN" dirty="0" err="1"/>
              <a:t>z;θ</a:t>
            </a:r>
            <a:r>
              <a:rPr lang="en-US" altLang="zh-CN" dirty="0"/>
              <a:t>)</a:t>
            </a:r>
            <a:r>
              <a:rPr lang="zh-CN" altLang="en-US" dirty="0"/>
              <a:t>中没有参</a:t>
            </a:r>
            <a:endParaRPr lang="zh-CN" altLang="en-US" dirty="0"/>
          </a:p>
          <a:p>
            <a:r>
              <a:rPr lang="zh-CN" altLang="en-US" dirty="0"/>
              <a:t>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一般为了简化模型，假设隐变量先验分布</a:t>
            </a:r>
            <a:r>
              <a:rPr lang="en-US" altLang="zh-CN" dirty="0"/>
              <a:t>p(</a:t>
            </a:r>
            <a:r>
              <a:rPr lang="en-US" altLang="zh-CN" dirty="0" err="1"/>
              <a:t>z;θ</a:t>
            </a:r>
            <a:r>
              <a:rPr lang="en-US" altLang="zh-CN" dirty="0"/>
              <a:t>)</a:t>
            </a:r>
            <a:r>
              <a:rPr lang="zh-CN" altLang="en-US" dirty="0"/>
              <a:t>为标准高斯分布</a:t>
            </a:r>
            <a:r>
              <a:rPr lang="en-US" altLang="zh-CN" dirty="0"/>
              <a:t>N(z;0,I)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隐变量</a:t>
            </a:r>
            <a:r>
              <a:rPr lang="en-US" altLang="zh-CN" dirty="0"/>
              <a:t>z</a:t>
            </a:r>
            <a:r>
              <a:rPr lang="zh-CN" altLang="en-US" dirty="0"/>
              <a:t>的每一维之间都是独立的。在这个假设下，先验分布</a:t>
            </a:r>
            <a:r>
              <a:rPr lang="en-US" altLang="zh-CN" dirty="0"/>
              <a:t>p(</a:t>
            </a:r>
            <a:r>
              <a:rPr lang="en-US" altLang="zh-CN" dirty="0" err="1"/>
              <a:t>z;θ</a:t>
            </a:r>
            <a:r>
              <a:rPr lang="en-US" altLang="zh-CN" dirty="0"/>
              <a:t>)</a:t>
            </a:r>
            <a:r>
              <a:rPr lang="zh-CN" altLang="en-US" dirty="0"/>
              <a:t>中没有参</a:t>
            </a:r>
            <a:endParaRPr lang="zh-CN" altLang="en-US" dirty="0"/>
          </a:p>
          <a:p>
            <a:r>
              <a:rPr lang="zh-CN" altLang="en-US" dirty="0"/>
              <a:t>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一般为了简化模型，假设隐变量先验分布</a:t>
            </a:r>
            <a:r>
              <a:rPr lang="en-US" altLang="zh-CN" dirty="0"/>
              <a:t>p(</a:t>
            </a:r>
            <a:r>
              <a:rPr lang="en-US" altLang="zh-CN" dirty="0" err="1"/>
              <a:t>z;θ</a:t>
            </a:r>
            <a:r>
              <a:rPr lang="en-US" altLang="zh-CN" dirty="0"/>
              <a:t>)</a:t>
            </a:r>
            <a:r>
              <a:rPr lang="zh-CN" altLang="en-US" dirty="0"/>
              <a:t>为标准高斯分布</a:t>
            </a:r>
            <a:r>
              <a:rPr lang="en-US" altLang="zh-CN" dirty="0"/>
              <a:t>N(z;0,I)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zh-CN" altLang="en-US" dirty="0"/>
              <a:t>隐变量</a:t>
            </a:r>
            <a:r>
              <a:rPr lang="en-US" altLang="zh-CN" dirty="0"/>
              <a:t>z</a:t>
            </a:r>
            <a:r>
              <a:rPr lang="zh-CN" altLang="en-US" dirty="0"/>
              <a:t>的每一维之间都是独立的。在这个假设下，先验分布</a:t>
            </a:r>
            <a:r>
              <a:rPr lang="en-US" altLang="zh-CN" dirty="0"/>
              <a:t>p(</a:t>
            </a:r>
            <a:r>
              <a:rPr lang="en-US" altLang="zh-CN" dirty="0" err="1"/>
              <a:t>z;θ</a:t>
            </a:r>
            <a:r>
              <a:rPr lang="en-US" altLang="zh-CN" dirty="0"/>
              <a:t>)</a:t>
            </a:r>
            <a:r>
              <a:rPr lang="zh-CN" altLang="en-US" dirty="0"/>
              <a:t>中没有参</a:t>
            </a:r>
            <a:endParaRPr lang="zh-CN" altLang="en-US" dirty="0"/>
          </a:p>
          <a:p>
            <a:r>
              <a:rPr lang="zh-CN" altLang="en-US" dirty="0"/>
              <a:t>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手里有一堆观察到的数据 </a:t>
            </a:r>
            <a:r>
              <a:rPr lang="en-US" altLang="zh-CN"/>
              <a:t>x</a:t>
            </a:r>
            <a:r>
              <a:rPr lang="zh-CN" altLang="en-US"/>
              <a:t>，想找到最合适的模型参数 </a:t>
            </a:r>
            <a:r>
              <a:rPr lang="en-US" altLang="zh-CN"/>
              <a:t>θ</a:t>
            </a:r>
            <a:r>
              <a:rPr lang="zh-CN" altLang="en-US"/>
              <a:t>。但麻烦的是，数据里有“看不见的变量”（隐变量 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在深度生成模型中，</a:t>
            </a:r>
            <a:r>
              <a:rPr lang="en-US" altLang="zh-CN" dirty="0"/>
              <a:t>p(</a:t>
            </a:r>
            <a:r>
              <a:rPr lang="en-US" altLang="zh-CN" dirty="0" err="1"/>
              <a:t>z|x;θ</a:t>
            </a:r>
            <a:r>
              <a:rPr lang="en-US" altLang="zh-CN" dirty="0"/>
              <a:t>)</a:t>
            </a:r>
            <a:r>
              <a:rPr lang="zh-CN" altLang="en-US" dirty="0"/>
              <a:t>是非常复杂的分布，很难用简单的分布去近似。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DCGANs</a:t>
            </a:r>
            <a:r>
              <a:rPr lang="zh-CN" altLang="en-US" dirty="0"/>
              <a:t>的主要优点是通过一些经验性的网络结构设计使得对抗训练更</a:t>
            </a:r>
            <a:endParaRPr lang="zh-CN" altLang="en-US" dirty="0"/>
          </a:p>
          <a:p>
            <a:r>
              <a:rPr lang="zh-CN" altLang="en-US" dirty="0"/>
              <a:t>加稳定。比如，（</a:t>
            </a:r>
            <a:r>
              <a:rPr lang="en-US" altLang="zh-CN" dirty="0"/>
              <a:t>1</a:t>
            </a:r>
            <a:r>
              <a:rPr lang="zh-CN" altLang="en-US" dirty="0"/>
              <a:t>）使用带步长的卷积（在判别网络中）和微步卷积（在生成</a:t>
            </a:r>
            <a:endParaRPr lang="zh-CN" altLang="en-US" dirty="0"/>
          </a:p>
          <a:p>
            <a:r>
              <a:rPr lang="zh-CN" altLang="en-US" dirty="0"/>
              <a:t>网络中）来代替汇聚操作，以免损失信息；（</a:t>
            </a:r>
            <a:r>
              <a:rPr lang="en-US" altLang="zh-CN" dirty="0"/>
              <a:t>2</a:t>
            </a:r>
            <a:r>
              <a:rPr lang="zh-CN" altLang="en-US" dirty="0"/>
              <a:t>）使用批量归一化；（</a:t>
            </a:r>
            <a:r>
              <a:rPr lang="en-US" altLang="zh-CN" dirty="0"/>
              <a:t>3</a:t>
            </a:r>
            <a:r>
              <a:rPr lang="zh-CN" altLang="en-US" dirty="0"/>
              <a:t>）去除卷积</a:t>
            </a:r>
            <a:endParaRPr lang="zh-CN" altLang="en-US" dirty="0"/>
          </a:p>
          <a:p>
            <a:r>
              <a:rPr lang="zh-CN" altLang="en-US" dirty="0"/>
              <a:t>层之后的全连接层；（</a:t>
            </a:r>
            <a:r>
              <a:rPr lang="en-US" altLang="zh-CN" dirty="0"/>
              <a:t>4</a:t>
            </a:r>
            <a:r>
              <a:rPr lang="zh-CN" altLang="en-US" dirty="0"/>
              <a:t>）在生成网络中，除了最后一层使用</a:t>
            </a:r>
            <a:r>
              <a:rPr lang="en-US" altLang="zh-CN" dirty="0" err="1"/>
              <a:t>Tanh</a:t>
            </a:r>
            <a:r>
              <a:rPr lang="zh-CN" altLang="en-US" dirty="0"/>
              <a:t>激活函数外，</a:t>
            </a:r>
            <a:endParaRPr lang="zh-CN" altLang="en-US" dirty="0"/>
          </a:p>
          <a:p>
            <a:r>
              <a:rPr lang="zh-CN" altLang="en-US" dirty="0"/>
              <a:t>其余层都使用</a:t>
            </a:r>
            <a:r>
              <a:rPr lang="en-US" altLang="zh-CN" dirty="0" err="1"/>
              <a:t>ReLU</a:t>
            </a:r>
            <a:r>
              <a:rPr lang="zh-CN" altLang="en-US" dirty="0"/>
              <a:t>函数；（</a:t>
            </a:r>
            <a:r>
              <a:rPr lang="en-US" altLang="zh-CN" dirty="0"/>
              <a:t>5</a:t>
            </a:r>
            <a:r>
              <a:rPr lang="zh-CN" altLang="en-US" dirty="0"/>
              <a:t>）在判别网络中，都使用</a:t>
            </a:r>
            <a:r>
              <a:rPr lang="en-US" altLang="zh-CN" dirty="0" err="1"/>
              <a:t>LeakyReLU</a:t>
            </a:r>
            <a:r>
              <a:rPr lang="zh-CN" altLang="en-US" dirty="0"/>
              <a:t>激活函数。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TW" sz="1200" dirty="0">
                <a:solidFill>
                  <a:srgbClr val="00B050"/>
                </a:solidFill>
              </a:rPr>
              <a:t>Move towards value 1</a:t>
            </a:r>
            <a:endParaRPr lang="zh-TW" altLang="en-US" sz="1200" dirty="0">
              <a:solidFill>
                <a:srgbClr val="00B050"/>
              </a:solidFill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DEF51-542F-46EE-BED1-D95B1201EC9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/>
              <a:t>Ribbon</a:t>
            </a:r>
            <a:r>
              <a:rPr lang="zh-CN" altLang="en-US" dirty="0">
                <a:effectLst/>
              </a:rPr>
              <a:t>丝带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4C119E0-CEE4-4FF8-83B2-DC856A2C17C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>
                <a:solidFill>
                  <a:srgbClr val="002E7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rgbClr val="002E7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70221-8FD4-4927-B794-23EFC9EBADF4}" type="datetime1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95AB2-2ADF-47D4-9F9F-591B17A5773C}" type="slidenum">
              <a:rPr lang="en-CA" smtClean="0"/>
            </a:fld>
            <a:endParaRPr lang="en-CA"/>
          </a:p>
        </p:txBody>
      </p:sp>
      <p:pic>
        <p:nvPicPr>
          <p:cNvPr id="8" name="Picture 7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168" y="42507"/>
            <a:ext cx="1750431" cy="9585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3561"/>
            <a:ext cx="10515600" cy="632400"/>
          </a:xfrm>
        </p:spPr>
        <p:txBody>
          <a:bodyPr>
            <a:noAutofit/>
          </a:bodyPr>
          <a:lstStyle>
            <a:lvl1pPr>
              <a:defRPr sz="3600" b="1">
                <a:solidFill>
                  <a:srgbClr val="002E7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0418"/>
            <a:ext cx="10515600" cy="4996546"/>
          </a:xfrm>
        </p:spPr>
        <p:txBody>
          <a:bodyPr/>
          <a:lstStyle>
            <a:lvl1pPr>
              <a:lnSpc>
                <a:spcPct val="120000"/>
              </a:lnSpc>
              <a:defRPr sz="2800" b="1" baseline="0">
                <a:latin typeface="Times New Roman" panose="02020503050405090304" pitchFamily="18" charset="0"/>
                <a:ea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1E6D-CF9D-41F2-8342-7C6B0EFD9380}" type="datetime1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9" name="Picture 8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168" y="42507"/>
            <a:ext cx="1750431" cy="958525"/>
          </a:xfrm>
          <a:prstGeom prst="rect">
            <a:avLst/>
          </a:prstGeom>
        </p:spPr>
      </p:pic>
      <p:sp>
        <p:nvSpPr>
          <p:cNvPr id="8" name="Slide Number Placeholder 5"/>
          <p:cNvSpPr txBox="1"/>
          <p:nvPr userDrawn="1"/>
        </p:nvSpPr>
        <p:spPr>
          <a:xfrm>
            <a:off x="11220450" y="6264275"/>
            <a:ext cx="5489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rgbClr val="002E72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9pPr>
          </a:lstStyle>
          <a:p>
            <a:fld id="{9F58998E-2429-314E-B86C-A079AABAA7E0}" type="slidenum">
              <a:rPr lang="en-US" smtClean="0"/>
            </a:fld>
            <a:endParaRPr lang="en-C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112800"/>
            <a:ext cx="10515600" cy="632400"/>
          </a:xfrm>
        </p:spPr>
        <p:txBody>
          <a:bodyPr>
            <a:noAutofit/>
          </a:bodyPr>
          <a:lstStyle>
            <a:lvl1pPr algn="ctr">
              <a:defRPr sz="6000" b="1">
                <a:solidFill>
                  <a:srgbClr val="002E7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Title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1E6D-CF9D-41F2-8342-7C6B0EFD9380}" type="datetime1">
              <a:rPr lang="en-CA" smtClean="0"/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9" name="Picture 8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168" y="42507"/>
            <a:ext cx="1750431" cy="958525"/>
          </a:xfrm>
          <a:prstGeom prst="rect">
            <a:avLst/>
          </a:prstGeom>
        </p:spPr>
      </p:pic>
      <p:sp>
        <p:nvSpPr>
          <p:cNvPr id="7" name="Slide Number Placeholder 5"/>
          <p:cNvSpPr txBox="1"/>
          <p:nvPr userDrawn="1"/>
        </p:nvSpPr>
        <p:spPr>
          <a:xfrm>
            <a:off x="11220450" y="6264275"/>
            <a:ext cx="5489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800" b="1" kern="1200">
                <a:solidFill>
                  <a:srgbClr val="002E72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9pPr>
          </a:lstStyle>
          <a:p>
            <a:fld id="{9F58998E-2429-314E-B86C-A079AABAA7E0}" type="slidenum">
              <a:rPr lang="en-US" smtClean="0"/>
            </a:fld>
            <a:endParaRPr lang="en-CA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3576A-670D-4011-9344-F3848FCF93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58E36-5E87-49D3-895F-79B0D2ECC7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.xml"/><Relationship Id="rId4" Type="http://schemas.openxmlformats.org/officeDocument/2006/relationships/image" Target="../media/image11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.xml"/><Relationship Id="rId5" Type="http://schemas.openxmlformats.org/officeDocument/2006/relationships/image" Target="../media/image39.png"/><Relationship Id="rId4" Type="http://schemas.openxmlformats.org/officeDocument/2006/relationships/image" Target="../media/image38.jpeg"/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.xml"/><Relationship Id="rId7" Type="http://schemas.openxmlformats.org/officeDocument/2006/relationships/image" Target="../media/image44.jpeg"/><Relationship Id="rId6" Type="http://schemas.openxmlformats.org/officeDocument/2006/relationships/image" Target="../media/image43.jpeg"/><Relationship Id="rId5" Type="http://schemas.openxmlformats.org/officeDocument/2006/relationships/image" Target="../media/image37.jpeg"/><Relationship Id="rId4" Type="http://schemas.openxmlformats.org/officeDocument/2006/relationships/image" Target="../media/image38.jpe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hyperlink" Target="https://blog.csdn.net/Invokar/article/details/88917214" TargetMode="External"/><Relationship Id="rId1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.xml"/><Relationship Id="rId2" Type="http://schemas.openxmlformats.org/officeDocument/2006/relationships/image" Target="../media/image39.png"/><Relationship Id="rId1" Type="http://schemas.openxmlformats.org/officeDocument/2006/relationships/image" Target="../media/image38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1" Type="http://schemas.openxmlformats.org/officeDocument/2006/relationships/image" Target="../media/image7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image" Target="../media/image87.png"/><Relationship Id="rId7" Type="http://schemas.openxmlformats.org/officeDocument/2006/relationships/image" Target="../media/image43.jpeg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44.jpeg"/><Relationship Id="rId3" Type="http://schemas.openxmlformats.org/officeDocument/2006/relationships/image" Target="../media/image37.jpeg"/><Relationship Id="rId2" Type="http://schemas.openxmlformats.org/officeDocument/2006/relationships/image" Target="../media/image84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8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.xml"/><Relationship Id="rId1" Type="http://schemas.openxmlformats.org/officeDocument/2006/relationships/image" Target="../media/image8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0.jpeg"/><Relationship Id="rId1" Type="http://schemas.openxmlformats.org/officeDocument/2006/relationships/image" Target="../media/image8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8286" y="2575748"/>
            <a:ext cx="8075428" cy="123039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深度学习</a:t>
            </a:r>
            <a:br>
              <a:rPr lang="en-US" altLang="zh-CN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章：深度生成模型</a:t>
            </a:r>
            <a:endParaRPr lang="en-CA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4346406"/>
            <a:ext cx="6858000" cy="2190750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王亚星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人工智能学院</a:t>
            </a:r>
            <a:endParaRPr lang="en-CA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CA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</a:t>
            </a:r>
            <a:r>
              <a:rPr lang="en-US" altLang="en-CA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r>
              <a:rPr lang="en-CA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.5</a:t>
            </a:r>
            <a:endParaRPr lang="en-CA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909"/>
    </mc:Choice>
    <mc:Fallback>
      <p:transition advTm="390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生成模型</a:t>
            </a:r>
            <a:br>
              <a:rPr lang="en-US" altLang="zh-CN" dirty="0"/>
            </a:br>
            <a:r>
              <a:rPr lang="en-US" altLang="zh-CN" sz="4800" dirty="0"/>
              <a:t>Generative Models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机器学习的两种范式</a:t>
            </a:r>
            <a:endParaRPr lang="zh-CN" altLang="en-US" dirty="0"/>
          </a:p>
        </p:txBody>
      </p:sp>
      <p:pic>
        <p:nvPicPr>
          <p:cNvPr id="3074" name="Picture 2" descr="https://i.stack.imgur.com/Xrmqg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286" y="1601153"/>
            <a:ext cx="10557129" cy="4379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生成模型：一系列用于随机生成可观测数据的模型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生成模型包含两个步骤：</a:t>
            </a:r>
            <a:endParaRPr lang="en-US" altLang="zh-CN" dirty="0"/>
          </a:p>
          <a:p>
            <a:pPr lvl="1"/>
            <a:r>
              <a:rPr lang="zh-CN" altLang="en-US" dirty="0"/>
              <a:t>密度估计（</a:t>
            </a:r>
            <a:r>
              <a:rPr lang="en-US" altLang="zh-CN" dirty="0"/>
              <a:t>density estimation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采样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469" y="2993136"/>
            <a:ext cx="8300931" cy="2950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生成数据的另一种思路</a:t>
            </a:r>
            <a:endParaRPr lang="zh-CN" altLang="en-US" dirty="0"/>
          </a:p>
        </p:txBody>
      </p:sp>
      <p:pic>
        <p:nvPicPr>
          <p:cNvPr id="5122" name="Picture 2" descr="http://www.lherranz.org/wp-content/uploads/2018/07/blog_generativesampling2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308" y="1485900"/>
            <a:ext cx="8459534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深度生成模型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深度生成模型就是利用神经网络构建生成模型。</a:t>
            </a:r>
            <a:endParaRPr lang="zh-CN" altLang="en-US" dirty="0"/>
          </a:p>
          <a:p>
            <a:pPr lvl="1"/>
            <a:r>
              <a:rPr lang="zh-CN" altLang="en-US" dirty="0"/>
              <a:t>变分自编码器（</a:t>
            </a:r>
            <a:r>
              <a:rPr lang="en-US" altLang="zh-CN" dirty="0"/>
              <a:t>Variational Autoencoder</a:t>
            </a:r>
            <a:r>
              <a:rPr lang="zh-CN" altLang="en-US" dirty="0"/>
              <a:t>，</a:t>
            </a:r>
            <a:r>
              <a:rPr lang="en-US" altLang="zh-CN" dirty="0"/>
              <a:t>VAE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en-US" altLang="zh-CN" dirty="0"/>
              <a:t>[</a:t>
            </a:r>
            <a:r>
              <a:rPr lang="en-US" altLang="zh-CN" dirty="0" err="1"/>
              <a:t>Kingma</a:t>
            </a:r>
            <a:r>
              <a:rPr lang="en-US" altLang="zh-CN" dirty="0"/>
              <a:t> and Welling, 2013, Rezende et al., 2014]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生成对抗网络（</a:t>
            </a:r>
            <a:r>
              <a:rPr lang="en-US" altLang="zh-CN" dirty="0"/>
              <a:t>Generative Adversarial Network</a:t>
            </a:r>
            <a:r>
              <a:rPr lang="zh-CN" altLang="en-US" dirty="0"/>
              <a:t>，</a:t>
            </a:r>
            <a:r>
              <a:rPr lang="en-US" altLang="zh-CN" dirty="0"/>
              <a:t>GAN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en-US" altLang="zh-CN" dirty="0"/>
              <a:t>[Goodfellow et al., 2014]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变分自编码器</a:t>
            </a:r>
            <a:br>
              <a:rPr lang="en-US" altLang="zh-CN" dirty="0"/>
            </a:br>
            <a:r>
              <a:rPr lang="en-US" altLang="zh-CN" sz="4800" dirty="0"/>
              <a:t>Variational Autoencoder</a:t>
            </a:r>
            <a:r>
              <a:rPr lang="zh-CN" altLang="en-US" sz="4800" dirty="0"/>
              <a:t>，</a:t>
            </a:r>
            <a:r>
              <a:rPr lang="en-US" altLang="zh-CN" sz="4800" dirty="0"/>
              <a:t>VAE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81"/>
          <a:stretch>
            <a:fillRect/>
          </a:stretch>
        </p:blipFill>
        <p:spPr bwMode="auto">
          <a:xfrm>
            <a:off x="838200" y="2895600"/>
            <a:ext cx="10306050" cy="392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自编码器（</a:t>
            </a:r>
            <a:r>
              <a:rPr lang="en-US" altLang="zh-CN" dirty="0"/>
              <a:t>Autoencoder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一种无监督式学习模型，利用输入数据 </a:t>
            </a:r>
            <a:r>
              <a:rPr lang="en-US" altLang="zh-CN" dirty="0">
                <a:latin typeface="+mn-ea"/>
                <a:ea typeface="+mn-ea"/>
              </a:rPr>
              <a:t>X</a:t>
            </a:r>
            <a:r>
              <a:rPr lang="zh-CN" altLang="en-US" dirty="0">
                <a:latin typeface="+mn-ea"/>
                <a:ea typeface="+mn-ea"/>
              </a:rPr>
              <a:t>本身作为监督，来指导神经网络尝试学习一个映射关系，从而得到一个重构输出 </a:t>
            </a:r>
            <a:r>
              <a:rPr lang="en-US" altLang="zh-CN" dirty="0">
                <a:latin typeface="+mn-ea"/>
                <a:ea typeface="+mn-ea"/>
              </a:rPr>
              <a:t>X’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 </a:t>
            </a:r>
            <a:r>
              <a:rPr lang="zh-CN" altLang="en-US" dirty="0">
                <a:latin typeface="+mn-ea"/>
                <a:ea typeface="+mn-ea"/>
              </a:rPr>
              <a:t>编码器将输入压缩为潜在空间表征（</a:t>
            </a:r>
            <a:r>
              <a:rPr lang="en-US" altLang="zh-CN" dirty="0">
                <a:latin typeface="+mn-ea"/>
                <a:ea typeface="+mn-ea"/>
              </a:rPr>
              <a:t>latent</a:t>
            </a:r>
            <a:r>
              <a:rPr lang="zh-CN" altLang="en-US" dirty="0">
                <a:latin typeface="+mn-ea"/>
                <a:ea typeface="+mn-ea"/>
              </a:rPr>
              <a:t>）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解码器将潜在空间标准重构为输出</a:t>
            </a:r>
            <a:endParaRPr lang="en-US" altLang="zh-CN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363" y="2025186"/>
            <a:ext cx="8560117" cy="450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基于概率分布的潜在特征表示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将某个维度的特征从特定的单值改为使用概率分布进行表示</a:t>
            </a:r>
            <a:endParaRPr lang="en-US" altLang="zh-CN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77"/>
          <a:stretch>
            <a:fillRect/>
          </a:stretch>
        </p:blipFill>
        <p:spPr bwMode="auto">
          <a:xfrm>
            <a:off x="1092490" y="2667000"/>
            <a:ext cx="10007019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变分自编码器（</a:t>
            </a:r>
            <a:r>
              <a:rPr lang="en-US" altLang="zh-CN" dirty="0"/>
              <a:t>Variational Autoencoder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编码器：从输入中学习潜在特征的概率分布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解码器：根据学习到的潜在特征分布进行随机采样，生成一个向量作为解码器的输入</a:t>
            </a:r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23669" y="2133600"/>
            <a:ext cx="11144661" cy="4465880"/>
            <a:chOff x="1003385" y="1935541"/>
            <a:chExt cx="10494348" cy="4205287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1976" y="1935541"/>
              <a:ext cx="9365757" cy="42052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3385" y="3276600"/>
              <a:ext cx="1123502" cy="1116814"/>
            </a:xfrm>
            <a:prstGeom prst="rect">
              <a:avLst/>
            </a:prstGeom>
          </p:spPr>
        </p:pic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变分自编码器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额外约束：在潜在空间中彼此相邻的值应该与非常类似的重构相对应</a:t>
            </a:r>
            <a:endParaRPr lang="en-US" altLang="zh-CN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概率生成模型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含隐变量的概率图模型</a:t>
            </a:r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生成数据</a:t>
            </a:r>
            <a:r>
              <a:rPr lang="en-US" altLang="zh-CN" dirty="0">
                <a:latin typeface="+mn-ea"/>
                <a:ea typeface="+mn-ea"/>
              </a:rPr>
              <a:t>x</a:t>
            </a:r>
            <a:r>
              <a:rPr lang="zh-CN" altLang="en-US" dirty="0">
                <a:latin typeface="+mn-ea"/>
                <a:ea typeface="+mn-ea"/>
              </a:rPr>
              <a:t>的过程可以分为两步进行：</a:t>
            </a:r>
            <a:endParaRPr lang="en-US" altLang="zh-CN" dirty="0">
              <a:latin typeface="+mn-ea"/>
              <a:ea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根据隐变量的先验分布</a:t>
            </a:r>
            <a:r>
              <a:rPr lang="en-US" altLang="zh-CN" dirty="0">
                <a:latin typeface="+mn-ea"/>
                <a:ea typeface="+mn-ea"/>
              </a:rPr>
              <a:t>p(</a:t>
            </a:r>
            <a:r>
              <a:rPr lang="en-US" altLang="zh-CN" dirty="0" err="1">
                <a:latin typeface="+mn-ea"/>
                <a:ea typeface="+mn-ea"/>
              </a:rPr>
              <a:t>z;θ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采样得到样本</a:t>
            </a:r>
            <a:r>
              <a:rPr lang="en-US" altLang="zh-CN" dirty="0">
                <a:latin typeface="+mn-ea"/>
                <a:ea typeface="+mn-ea"/>
              </a:rPr>
              <a:t>z</a:t>
            </a:r>
            <a:r>
              <a:rPr lang="zh-CN" altLang="en-US" dirty="0">
                <a:latin typeface="+mn-ea"/>
                <a:ea typeface="+mn-ea"/>
              </a:rPr>
              <a:t>；</a:t>
            </a:r>
            <a:endParaRPr lang="zh-CN" altLang="en-US" dirty="0">
              <a:latin typeface="+mn-ea"/>
              <a:ea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根据条件分布</a:t>
            </a:r>
            <a:r>
              <a:rPr lang="en-US" altLang="zh-CN" dirty="0">
                <a:latin typeface="+mn-ea"/>
                <a:ea typeface="+mn-ea"/>
              </a:rPr>
              <a:t>p(</a:t>
            </a:r>
            <a:r>
              <a:rPr lang="en-US" altLang="zh-CN" dirty="0" err="1">
                <a:latin typeface="+mn-ea"/>
                <a:ea typeface="+mn-ea"/>
              </a:rPr>
              <a:t>x|z;θ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采样得到</a:t>
            </a:r>
            <a:r>
              <a:rPr lang="en-US" altLang="zh-CN" dirty="0">
                <a:latin typeface="+mn-ea"/>
                <a:ea typeface="+mn-ea"/>
              </a:rPr>
              <a:t>x</a:t>
            </a:r>
            <a:r>
              <a:rPr lang="zh-CN" altLang="en-US" dirty="0">
                <a:latin typeface="+mn-ea"/>
                <a:ea typeface="+mn-ea"/>
              </a:rPr>
              <a:t>。</a:t>
            </a:r>
            <a:endParaRPr lang="zh-CN" altLang="en-US" dirty="0">
              <a:latin typeface="+mn-ea"/>
              <a:ea typeface="+mn-ea"/>
            </a:endParaRPr>
          </a:p>
        </p:txBody>
      </p:sp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1874122"/>
            <a:ext cx="2493993" cy="28502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给定一个样本</a:t>
            </a:r>
            <a:r>
              <a:rPr lang="en-US" altLang="zh-CN" dirty="0">
                <a:latin typeface="+mn-ea"/>
                <a:ea typeface="+mn-ea"/>
              </a:rPr>
              <a:t>x</a:t>
            </a:r>
            <a:r>
              <a:rPr lang="zh-CN" altLang="en-US" dirty="0">
                <a:latin typeface="+mn-ea"/>
                <a:ea typeface="+mn-ea"/>
              </a:rPr>
              <a:t>，其对数边际似然</a:t>
            </a:r>
            <a:r>
              <a:rPr lang="en-US" altLang="zh-CN" dirty="0">
                <a:latin typeface="+mn-ea"/>
                <a:ea typeface="+mn-ea"/>
              </a:rPr>
              <a:t>log p(</a:t>
            </a:r>
            <a:r>
              <a:rPr lang="en-US" altLang="zh-CN" dirty="0" err="1">
                <a:latin typeface="+mn-ea"/>
                <a:ea typeface="+mn-ea"/>
              </a:rPr>
              <a:t>x|θ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可以分解为</a:t>
            </a:r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86000" y="1797160"/>
            <a:ext cx="7337125" cy="2942761"/>
            <a:chOff x="2286000" y="1797160"/>
            <a:chExt cx="7337125" cy="2942761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6000" y="3330765"/>
              <a:ext cx="7277562" cy="605915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7413389" y="4278256"/>
              <a:ext cx="105670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B0F0"/>
                  </a:solidFill>
                </a:rPr>
                <a:t>E step</a:t>
              </a:r>
              <a:endParaRPr lang="zh-CN" altLang="en-US" sz="2400" dirty="0">
                <a:solidFill>
                  <a:srgbClr val="00B0F0"/>
                </a:solidFill>
              </a:endParaRPr>
            </a:p>
          </p:txBody>
        </p:sp>
        <p:cxnSp>
          <p:nvCxnSpPr>
            <p:cNvPr id="10" name="直接箭头连接符 9"/>
            <p:cNvCxnSpPr>
              <a:endCxn id="11" idx="2"/>
            </p:cNvCxnSpPr>
            <p:nvPr/>
          </p:nvCxnSpPr>
          <p:spPr>
            <a:xfrm flipV="1">
              <a:off x="7929533" y="3861828"/>
              <a:ext cx="207692" cy="502515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6651324" y="3400163"/>
              <a:ext cx="2971801" cy="461665"/>
            </a:xfrm>
            <a:prstGeom prst="rect">
              <a:avLst/>
            </a:prstGeom>
            <a:ln w="28575">
              <a:solidFill>
                <a:srgbClr val="00B0F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2400" dirty="0">
                <a:solidFill>
                  <a:srgbClr val="00B0F0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780002" y="4278256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solidFill>
                    <a:srgbClr val="00B0F0"/>
                  </a:solidFill>
                </a:rPr>
                <a:t>M step</a:t>
              </a:r>
              <a:endParaRPr lang="zh-CN" altLang="en-US" sz="2400" dirty="0">
                <a:solidFill>
                  <a:srgbClr val="00B0F0"/>
                </a:solidFill>
              </a:endParaRPr>
            </a:p>
          </p:txBody>
        </p:sp>
        <p:cxnSp>
          <p:nvCxnSpPr>
            <p:cNvPr id="21" name="直接箭头连接符 20"/>
            <p:cNvCxnSpPr>
              <a:endCxn id="22" idx="2"/>
            </p:cNvCxnSpPr>
            <p:nvPr/>
          </p:nvCxnSpPr>
          <p:spPr>
            <a:xfrm flipH="1" flipV="1">
              <a:off x="5199999" y="3861828"/>
              <a:ext cx="57801" cy="502515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4060524" y="3400163"/>
              <a:ext cx="2278950" cy="461665"/>
            </a:xfrm>
            <a:prstGeom prst="rect">
              <a:avLst/>
            </a:prstGeom>
            <a:ln w="28575">
              <a:solidFill>
                <a:srgbClr val="00B0F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2400" dirty="0">
                <a:solidFill>
                  <a:srgbClr val="00B0F0"/>
                </a:solidFill>
              </a:endParaRPr>
            </a:p>
          </p:txBody>
        </p: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6380" y="1797160"/>
              <a:ext cx="3220569" cy="1251346"/>
            </a:xfrm>
            <a:prstGeom prst="rect">
              <a:avLst/>
            </a:prstGeom>
          </p:spPr>
        </p:pic>
        <p:cxnSp>
          <p:nvCxnSpPr>
            <p:cNvPr id="24" name="直接箭头连接符 23"/>
            <p:cNvCxnSpPr>
              <a:stCxn id="22" idx="0"/>
              <a:endCxn id="17" idx="2"/>
            </p:cNvCxnSpPr>
            <p:nvPr/>
          </p:nvCxnSpPr>
          <p:spPr>
            <a:xfrm flipV="1">
              <a:off x="5199999" y="3048506"/>
              <a:ext cx="1216666" cy="351657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</a:t>
            </a:r>
            <a:r>
              <a:rPr lang="zh-CN" altLang="en-US" dirty="0"/>
              <a:t>算法回顾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4782828"/>
            <a:ext cx="4897817" cy="2031213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变分自编码器</a:t>
            </a:r>
            <a:r>
              <a:rPr lang="en-US" altLang="zh-CN" dirty="0"/>
              <a:t>(VAE)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180418"/>
            <a:ext cx="7543800" cy="4996546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变分自编码器的模型结构可以分为两个部分：</a:t>
            </a:r>
            <a:endParaRPr lang="en-US" altLang="zh-CN" dirty="0">
              <a:latin typeface="+mn-ea"/>
              <a:ea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寻找后验分布</a:t>
            </a:r>
            <a:r>
              <a:rPr lang="en-US" altLang="zh-CN" dirty="0">
                <a:latin typeface="+mn-ea"/>
                <a:ea typeface="+mn-ea"/>
              </a:rPr>
              <a:t>p(</a:t>
            </a:r>
            <a:r>
              <a:rPr lang="en-US" altLang="zh-CN" dirty="0" err="1">
                <a:latin typeface="+mn-ea"/>
                <a:ea typeface="+mn-ea"/>
              </a:rPr>
              <a:t>z|x;θ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的变分近似</a:t>
            </a:r>
            <a:r>
              <a:rPr lang="en-US" altLang="zh-CN" dirty="0">
                <a:latin typeface="+mn-ea"/>
                <a:ea typeface="+mn-ea"/>
              </a:rPr>
              <a:t>q(</a:t>
            </a:r>
            <a:r>
              <a:rPr lang="en-US" altLang="zh-CN" dirty="0" err="1">
                <a:latin typeface="+mn-ea"/>
                <a:ea typeface="+mn-ea"/>
              </a:rPr>
              <a:t>z|x;ϕ</a:t>
            </a:r>
            <a:r>
              <a:rPr lang="en-US" altLang="zh-CN" dirty="0">
                <a:latin typeface="+mn-ea"/>
                <a:ea typeface="+mn-ea"/>
              </a:rPr>
              <a:t>∗)</a:t>
            </a:r>
            <a:r>
              <a:rPr lang="zh-CN" altLang="en-US" dirty="0">
                <a:latin typeface="+mn-ea"/>
                <a:ea typeface="+mn-ea"/>
              </a:rPr>
              <a:t>；</a:t>
            </a:r>
            <a:endParaRPr lang="en-US" altLang="zh-CN" dirty="0">
              <a:latin typeface="+mn-ea"/>
              <a:ea typeface="+mn-ea"/>
            </a:endParaRPr>
          </a:p>
          <a:p>
            <a:pPr lvl="2"/>
            <a:r>
              <a:rPr lang="zh-CN" altLang="en-US" dirty="0">
                <a:latin typeface="+mn-ea"/>
                <a:ea typeface="+mn-ea"/>
              </a:rPr>
              <a:t>变分推断：用简单的分布</a:t>
            </a:r>
            <a:r>
              <a:rPr lang="en-US" altLang="zh-CN" dirty="0">
                <a:latin typeface="+mn-ea"/>
                <a:ea typeface="+mn-ea"/>
              </a:rPr>
              <a:t>q</a:t>
            </a:r>
            <a:r>
              <a:rPr lang="zh-CN" altLang="en-US" dirty="0">
                <a:latin typeface="+mn-ea"/>
                <a:ea typeface="+mn-ea"/>
              </a:rPr>
              <a:t>去近似复杂的分布</a:t>
            </a:r>
            <a:r>
              <a:rPr lang="en-US" altLang="zh-CN" dirty="0">
                <a:latin typeface="+mn-ea"/>
                <a:ea typeface="+mn-ea"/>
              </a:rPr>
              <a:t>p(</a:t>
            </a:r>
            <a:r>
              <a:rPr lang="en-US" altLang="zh-CN" dirty="0" err="1">
                <a:latin typeface="+mn-ea"/>
                <a:ea typeface="+mn-ea"/>
              </a:rPr>
              <a:t>z|x;θ</a:t>
            </a:r>
            <a:r>
              <a:rPr lang="en-US" altLang="zh-CN" dirty="0">
                <a:latin typeface="+mn-ea"/>
                <a:ea typeface="+mn-ea"/>
              </a:rPr>
              <a:t>)</a:t>
            </a:r>
            <a:endParaRPr lang="en-US" altLang="zh-CN" dirty="0">
              <a:latin typeface="+mn-ea"/>
              <a:ea typeface="+mn-ea"/>
            </a:endParaRPr>
          </a:p>
          <a:p>
            <a:pPr lvl="1"/>
            <a:endParaRPr lang="en-US" altLang="zh-CN" dirty="0">
              <a:latin typeface="+mn-ea"/>
              <a:ea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在已知</a:t>
            </a:r>
            <a:r>
              <a:rPr lang="en-US" altLang="zh-CN" dirty="0">
                <a:latin typeface="+mn-ea"/>
                <a:ea typeface="+mn-ea"/>
              </a:rPr>
              <a:t>q(</a:t>
            </a:r>
            <a:r>
              <a:rPr lang="en-US" altLang="zh-CN" dirty="0" err="1">
                <a:latin typeface="+mn-ea"/>
                <a:ea typeface="+mn-ea"/>
              </a:rPr>
              <a:t>z|x;ϕ</a:t>
            </a:r>
            <a:r>
              <a:rPr lang="en-US" altLang="zh-CN" dirty="0">
                <a:latin typeface="+mn-ea"/>
                <a:ea typeface="+mn-ea"/>
              </a:rPr>
              <a:t>∗)</a:t>
            </a:r>
            <a:r>
              <a:rPr lang="zh-CN" altLang="en-US" dirty="0">
                <a:latin typeface="+mn-ea"/>
                <a:ea typeface="+mn-ea"/>
              </a:rPr>
              <a:t>的情况下，估计更好的分布</a:t>
            </a:r>
            <a:r>
              <a:rPr lang="en-US" altLang="zh-CN" dirty="0">
                <a:latin typeface="+mn-ea"/>
                <a:ea typeface="+mn-ea"/>
              </a:rPr>
              <a:t>p(</a:t>
            </a:r>
            <a:r>
              <a:rPr lang="en-US" altLang="zh-CN" dirty="0" err="1">
                <a:latin typeface="+mn-ea"/>
                <a:ea typeface="+mn-ea"/>
              </a:rPr>
              <a:t>x|z;θ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。</a:t>
            </a:r>
            <a:endParaRPr lang="zh-CN" altLang="en-US" dirty="0">
              <a:latin typeface="+mn-ea"/>
              <a:ea typeface="+mn-ea"/>
            </a:endParaRP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424" y="3029262"/>
            <a:ext cx="2695951" cy="26483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41648" y="2738735"/>
            <a:ext cx="3669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用神经网络</a:t>
            </a:r>
            <a:r>
              <a:rPr lang="en-US" altLang="zh-CN" sz="2400" dirty="0">
                <a:solidFill>
                  <a:srgbClr val="00B0F0"/>
                </a:solidFill>
              </a:rPr>
              <a:t>q(</a:t>
            </a:r>
            <a:r>
              <a:rPr lang="en-US" altLang="zh-CN" sz="2400" dirty="0" err="1">
                <a:solidFill>
                  <a:srgbClr val="00B0F0"/>
                </a:solidFill>
              </a:rPr>
              <a:t>z|x</a:t>
            </a:r>
            <a:r>
              <a:rPr lang="en-US" altLang="zh-CN" sz="2400" dirty="0">
                <a:solidFill>
                  <a:srgbClr val="00B0F0"/>
                </a:solidFill>
              </a:rPr>
              <a:t>;</a:t>
            </a:r>
            <a:r>
              <a:rPr lang="el-GR" altLang="zh-CN" sz="2400" dirty="0">
                <a:solidFill>
                  <a:srgbClr val="00B0F0"/>
                </a:solidFill>
              </a:rPr>
              <a:t>ϕ)</a:t>
            </a:r>
            <a:r>
              <a:rPr lang="zh-CN" altLang="en-US" sz="2400" dirty="0">
                <a:solidFill>
                  <a:srgbClr val="00B0F0"/>
                </a:solidFill>
              </a:rPr>
              <a:t>来近似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57400" y="2743200"/>
            <a:ext cx="990600" cy="457200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  <p:cxnSp>
        <p:nvCxnSpPr>
          <p:cNvPr id="10" name="直接箭头连接符 9"/>
          <p:cNvCxnSpPr>
            <a:stCxn id="9" idx="3"/>
          </p:cNvCxnSpPr>
          <p:nvPr/>
        </p:nvCxnSpPr>
        <p:spPr>
          <a:xfrm>
            <a:off x="3048000" y="2971800"/>
            <a:ext cx="990600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019800" y="1828800"/>
            <a:ext cx="1219200" cy="457200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8229600" y="1481366"/>
            <a:ext cx="36405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</a:rPr>
              <a:t>理论上变分分布</a:t>
            </a:r>
            <a:r>
              <a:rPr lang="en-US" altLang="zh-CN" sz="2000" dirty="0">
                <a:solidFill>
                  <a:srgbClr val="00B0F0"/>
                </a:solidFill>
              </a:rPr>
              <a:t>q(z;</a:t>
            </a:r>
            <a:r>
              <a:rPr lang="el-GR" altLang="zh-CN" sz="2000" dirty="0">
                <a:solidFill>
                  <a:srgbClr val="00B0F0"/>
                </a:solidFill>
              </a:rPr>
              <a:t>ϕ)</a:t>
            </a:r>
            <a:r>
              <a:rPr lang="zh-CN" altLang="en-US" sz="2000" dirty="0">
                <a:solidFill>
                  <a:srgbClr val="00B0F0"/>
                </a:solidFill>
              </a:rPr>
              <a:t>可以不依赖</a:t>
            </a:r>
            <a:r>
              <a:rPr lang="en-US" altLang="zh-CN" sz="2000" dirty="0">
                <a:solidFill>
                  <a:srgbClr val="00B0F0"/>
                </a:solidFill>
              </a:rPr>
              <a:t>x</a:t>
            </a:r>
            <a:r>
              <a:rPr lang="zh-CN" altLang="en-US" sz="2000" dirty="0">
                <a:solidFill>
                  <a:srgbClr val="00B0F0"/>
                </a:solidFill>
              </a:rPr>
              <a:t>，但由于该分布是用于近似</a:t>
            </a:r>
            <a:r>
              <a:rPr lang="en-US" altLang="zh-CN" sz="2000" dirty="0">
                <a:solidFill>
                  <a:srgbClr val="00B0F0"/>
                </a:solidFill>
              </a:rPr>
              <a:t>p(</a:t>
            </a:r>
            <a:r>
              <a:rPr lang="en-US" altLang="zh-CN" sz="2000" dirty="0" err="1">
                <a:solidFill>
                  <a:srgbClr val="00B0F0"/>
                </a:solidFill>
              </a:rPr>
              <a:t>z|x</a:t>
            </a:r>
            <a:r>
              <a:rPr lang="en-US" altLang="zh-CN" sz="2000" dirty="0">
                <a:solidFill>
                  <a:srgbClr val="00B0F0"/>
                </a:solidFill>
              </a:rPr>
              <a:t>;</a:t>
            </a:r>
            <a:r>
              <a:rPr lang="el-GR" altLang="zh-CN" sz="2000" dirty="0">
                <a:solidFill>
                  <a:srgbClr val="00B0F0"/>
                </a:solidFill>
              </a:rPr>
              <a:t>θ)</a:t>
            </a:r>
            <a:r>
              <a:rPr lang="zh-CN" altLang="en-US" sz="2000" dirty="0">
                <a:solidFill>
                  <a:srgbClr val="00B0F0"/>
                </a:solidFill>
              </a:rPr>
              <a:t>，在</a:t>
            </a:r>
            <a:r>
              <a:rPr lang="en-US" altLang="zh-CN" sz="2000" dirty="0">
                <a:solidFill>
                  <a:srgbClr val="00B0F0"/>
                </a:solidFill>
              </a:rPr>
              <a:t>VAE</a:t>
            </a:r>
            <a:r>
              <a:rPr lang="zh-CN" altLang="en-US" sz="2000" dirty="0">
                <a:solidFill>
                  <a:srgbClr val="00B0F0"/>
                </a:solidFill>
              </a:rPr>
              <a:t>中，变分分布一般写为</a:t>
            </a:r>
            <a:r>
              <a:rPr lang="en-US" altLang="zh-CN" sz="2000" dirty="0">
                <a:solidFill>
                  <a:srgbClr val="00B0F0"/>
                </a:solidFill>
              </a:rPr>
              <a:t>q(</a:t>
            </a:r>
            <a:r>
              <a:rPr lang="en-US" altLang="zh-CN" sz="2000" dirty="0" err="1">
                <a:solidFill>
                  <a:srgbClr val="00B0F0"/>
                </a:solidFill>
              </a:rPr>
              <a:t>z|x</a:t>
            </a:r>
            <a:r>
              <a:rPr lang="en-US" altLang="zh-CN" sz="2000" dirty="0">
                <a:solidFill>
                  <a:srgbClr val="00B0F0"/>
                </a:solidFill>
              </a:rPr>
              <a:t>;</a:t>
            </a:r>
            <a:r>
              <a:rPr lang="el-GR" altLang="zh-CN" sz="2000" dirty="0">
                <a:solidFill>
                  <a:srgbClr val="00B0F0"/>
                </a:solidFill>
              </a:rPr>
              <a:t>ϕ)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7239000" y="1831032"/>
            <a:ext cx="987552" cy="22636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变分自编码器</a:t>
            </a:r>
            <a:endParaRPr lang="zh-CN" altLang="en-US" dirty="0"/>
          </a:p>
        </p:txBody>
      </p:sp>
      <p:grpSp>
        <p:nvGrpSpPr>
          <p:cNvPr id="12" name="组合 11"/>
          <p:cNvGrpSpPr/>
          <p:nvPr/>
        </p:nvGrpSpPr>
        <p:grpSpPr>
          <a:xfrm>
            <a:off x="957824" y="987748"/>
            <a:ext cx="10276351" cy="4074991"/>
            <a:chOff x="957824" y="1143000"/>
            <a:chExt cx="10276351" cy="4074991"/>
          </a:xfrm>
        </p:grpSpPr>
        <p:pic>
          <p:nvPicPr>
            <p:cNvPr id="4" name="图片 3" descr="屏幕剪辑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7824" y="1143000"/>
              <a:ext cx="10276351" cy="4074991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4648199" y="2868214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00B0F0"/>
                  </a:solidFill>
                </a:rPr>
                <a:t>采样</a:t>
              </a:r>
              <a:endParaRPr lang="zh-CN" altLang="en-US" sz="2400" dirty="0">
                <a:solidFill>
                  <a:srgbClr val="00B0F0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9524999" y="2764061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00B0F0"/>
                  </a:solidFill>
                </a:rPr>
                <a:t>采样</a:t>
              </a:r>
              <a:endParaRPr lang="zh-CN" altLang="en-US" sz="2400" dirty="0">
                <a:solidFill>
                  <a:srgbClr val="00B0F0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343399" y="1812875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00B0F0"/>
                  </a:solidFill>
                </a:rPr>
                <a:t>变分分布</a:t>
              </a:r>
              <a:endParaRPr lang="zh-CN" altLang="en-US" sz="2400" dirty="0">
                <a:solidFill>
                  <a:srgbClr val="00B0F0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524999" y="1261033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00B0F0"/>
                  </a:solidFill>
                </a:rPr>
                <a:t>数据分布</a:t>
              </a:r>
              <a:endParaRPr lang="zh-CN" altLang="en-US" sz="2400" dirty="0">
                <a:solidFill>
                  <a:srgbClr val="00B0F0"/>
                </a:solidFill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143000" y="5094526"/>
            <a:ext cx="10363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rgbClr val="231F20"/>
                </a:solidFill>
                <a:effectLst/>
                <a:latin typeface="SourceHanSerifCN-Light"/>
              </a:rPr>
              <a:t>变分自编码器的名称来自于其整个网络结构和自编码器比较类似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FZSSJW--GB1-0"/>
              </a:rPr>
              <a:t>。</a:t>
            </a:r>
            <a:endParaRPr lang="en-US" altLang="zh-CN" sz="1800" dirty="0">
              <a:solidFill>
                <a:srgbClr val="231F20"/>
              </a:solidFill>
              <a:effectLst/>
              <a:latin typeface="FZSSJW--GB1-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rgbClr val="231F20"/>
                </a:solidFill>
                <a:effectLst/>
                <a:latin typeface="SourceHanSerifCN-Light"/>
              </a:rPr>
              <a:t>我们可以把推断网络看作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FZSSJW--GB1-0"/>
              </a:rPr>
              <a:t>“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SourceHanSerifCN-Light"/>
              </a:rPr>
              <a:t>编码器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FZSSJW--GB1-0"/>
              </a:rPr>
              <a:t>”，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SourceHanSerifCN-Light"/>
              </a:rPr>
              <a:t>将可观测变量映射为隐变量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FZSSJW--GB1-0"/>
              </a:rPr>
              <a:t>；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SourceHanSerifCN-Light"/>
              </a:rPr>
              <a:t>把生成网络看作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FZSSJW--GB1-0"/>
              </a:rPr>
              <a:t>“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SourceHanSerifCN-Light"/>
              </a:rPr>
              <a:t>解码器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FZSSJW--GB1-0"/>
              </a:rPr>
              <a:t>”，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SourceHanSerifCN-Light"/>
              </a:rPr>
              <a:t>将隐变量映射为可观测变量。</a:t>
            </a:r>
            <a:endParaRPr lang="en-US" altLang="zh-CN" dirty="0">
              <a:solidFill>
                <a:srgbClr val="231F20"/>
              </a:solidFill>
              <a:latin typeface="FZSSJW--GB1-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800" dirty="0">
                <a:solidFill>
                  <a:srgbClr val="231F20"/>
                </a:solidFill>
                <a:effectLst/>
                <a:latin typeface="SourceHanSerifCN-Light"/>
              </a:rPr>
              <a:t>然而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FZSSJW--GB1-0"/>
              </a:rPr>
              <a:t>，</a:t>
            </a:r>
            <a:r>
              <a:rPr lang="zh-CN" altLang="en-US" sz="1800" b="1" dirty="0">
                <a:solidFill>
                  <a:srgbClr val="FF0000"/>
                </a:solidFill>
                <a:effectLst/>
                <a:latin typeface="SourceHanSerifCN-Light"/>
              </a:rPr>
              <a:t>变分自编码器背后的原理和自编码器完全不同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FZSSJW--GB1-0"/>
              </a:rPr>
              <a:t>。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SourceHanSerifCN-Light"/>
              </a:rPr>
              <a:t>变分自编码器中的编码器和解码器的</a:t>
            </a:r>
            <a:br>
              <a:rPr lang="en-US" altLang="zh-CN" sz="1800" dirty="0">
                <a:solidFill>
                  <a:srgbClr val="231F20"/>
                </a:solidFill>
                <a:effectLst/>
                <a:latin typeface="SourceHanSerifCN-Light"/>
              </a:rPr>
            </a:br>
            <a:r>
              <a:rPr lang="zh-CN" altLang="en-US" sz="1800" b="1" dirty="0">
                <a:solidFill>
                  <a:srgbClr val="00B0F0"/>
                </a:solidFill>
                <a:effectLst/>
                <a:latin typeface="SourceHanSerifCN-Light"/>
              </a:rPr>
              <a:t>输出为分布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FZSSJW--GB1-0"/>
              </a:rPr>
              <a:t>（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SourceHanSerifCN-Light"/>
              </a:rPr>
              <a:t>或分布的参数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FZSSJW--GB1-0"/>
              </a:rPr>
              <a:t>），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SourceHanSerifCN-Light"/>
              </a:rPr>
              <a:t>而不是确定的编码</a:t>
            </a:r>
            <a:r>
              <a:rPr lang="zh-CN" altLang="en-US" sz="1800" dirty="0">
                <a:solidFill>
                  <a:srgbClr val="231F20"/>
                </a:solidFill>
                <a:effectLst/>
                <a:latin typeface="FZSSJW--GB1-0"/>
              </a:rPr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推断网络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推断网络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目标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003" y="1834626"/>
            <a:ext cx="2548794" cy="50712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1400833"/>
            <a:ext cx="1778228" cy="123158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144" y="4010974"/>
            <a:ext cx="5197880" cy="2074592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6248400" y="3420443"/>
            <a:ext cx="5092553" cy="457200"/>
            <a:chOff x="6629400" y="3408863"/>
            <a:chExt cx="5092553" cy="4572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0703" y="3408863"/>
              <a:ext cx="4949945" cy="412122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6629400" y="3408863"/>
              <a:ext cx="5092553" cy="457200"/>
            </a:xfrm>
            <a:prstGeom prst="rect">
              <a:avLst/>
            </a:prstGeom>
            <a:ln w="19050">
              <a:solidFill>
                <a:srgbClr val="00B0F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2400" dirty="0"/>
            </a:p>
          </p:txBody>
        </p:sp>
      </p:grpSp>
      <p:cxnSp>
        <p:nvCxnSpPr>
          <p:cNvPr id="10" name="直接箭头连接符 9"/>
          <p:cNvCxnSpPr>
            <a:stCxn id="9" idx="2"/>
          </p:cNvCxnSpPr>
          <p:nvPr/>
        </p:nvCxnSpPr>
        <p:spPr>
          <a:xfrm flipH="1">
            <a:off x="8077200" y="3877643"/>
            <a:ext cx="717477" cy="46575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4944470" y="5970642"/>
            <a:ext cx="10567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E step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848600" y="2913190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M step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829800" y="2913190"/>
            <a:ext cx="10567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E step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667000" y="1941640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为简单起见，假设</a:t>
            </a:r>
            <a:endParaRPr lang="zh-CN" altLang="en-US" sz="2000" b="1" dirty="0"/>
          </a:p>
        </p:txBody>
      </p:sp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生成网络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先验分布</a:t>
            </a:r>
            <a:r>
              <a:rPr lang="en-US" altLang="zh-CN" dirty="0">
                <a:latin typeface="+mn-ea"/>
                <a:ea typeface="+mn-ea"/>
              </a:rPr>
              <a:t>p(z|</a:t>
            </a:r>
            <a:r>
              <a:rPr lang="el-GR" altLang="zh-CN" dirty="0">
                <a:latin typeface="+mn-ea"/>
                <a:ea typeface="+mn-ea"/>
              </a:rPr>
              <a:t>θ)</a:t>
            </a:r>
            <a:endParaRPr lang="en-US" altLang="zh-CN" dirty="0">
              <a:latin typeface="+mn-ea"/>
              <a:ea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一般假设隐变量</a:t>
            </a:r>
            <a:r>
              <a:rPr lang="en-US" altLang="zh-CN" dirty="0">
                <a:latin typeface="+mn-ea"/>
                <a:ea typeface="+mn-ea"/>
              </a:rPr>
              <a:t>z</a:t>
            </a:r>
            <a:r>
              <a:rPr lang="zh-CN" altLang="en-US" dirty="0">
                <a:latin typeface="+mn-ea"/>
                <a:ea typeface="+mn-ea"/>
              </a:rPr>
              <a:t>的先验分布为各向同性的标准高斯分布</a:t>
            </a:r>
            <a:r>
              <a:rPr lang="en-US" altLang="zh-CN" dirty="0">
                <a:latin typeface="+mn-ea"/>
                <a:ea typeface="+mn-ea"/>
                <a:cs typeface="Times New Roman" panose="02020503050405090304" pitchFamily="18" charset="0"/>
              </a:rPr>
              <a:t>N(z|0,I)</a:t>
            </a:r>
            <a:endParaRPr lang="en-US" altLang="zh-CN" dirty="0">
              <a:latin typeface="+mn-ea"/>
              <a:ea typeface="+mn-ea"/>
              <a:cs typeface="Times New Roman" panose="02020503050405090304" pitchFamily="18" charset="0"/>
            </a:endParaRPr>
          </a:p>
          <a:p>
            <a:r>
              <a:rPr lang="zh-CN" altLang="en-US" dirty="0">
                <a:latin typeface="+mn-ea"/>
                <a:ea typeface="+mn-ea"/>
              </a:rPr>
              <a:t>条件概率分布</a:t>
            </a:r>
            <a:r>
              <a:rPr lang="en-US" altLang="zh-CN" dirty="0">
                <a:latin typeface="+mn-ea"/>
                <a:ea typeface="+mn-ea"/>
              </a:rPr>
              <a:t>p(</a:t>
            </a:r>
            <a:r>
              <a:rPr lang="en-US" altLang="zh-CN" dirty="0" err="1">
                <a:latin typeface="+mn-ea"/>
                <a:ea typeface="+mn-ea"/>
              </a:rPr>
              <a:t>x|z,θ</a:t>
            </a:r>
            <a:r>
              <a:rPr lang="en-US" altLang="zh-CN" dirty="0">
                <a:latin typeface="+mn-ea"/>
                <a:ea typeface="+mn-ea"/>
              </a:rPr>
              <a:t>)</a:t>
            </a:r>
            <a:endParaRPr lang="en-US" altLang="zh-CN" dirty="0">
              <a:latin typeface="+mn-ea"/>
              <a:ea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为简单起见，假设</a:t>
            </a:r>
            <a:r>
              <a:rPr lang="en-US" altLang="zh-CN" dirty="0">
                <a:latin typeface="+mn-ea"/>
                <a:ea typeface="+mn-ea"/>
              </a:rPr>
              <a:t>p(</a:t>
            </a:r>
            <a:r>
              <a:rPr lang="en-US" altLang="zh-CN" dirty="0" err="1">
                <a:latin typeface="+mn-ea"/>
                <a:ea typeface="+mn-ea"/>
              </a:rPr>
              <a:t>x|z,θ</a:t>
            </a:r>
            <a:r>
              <a:rPr lang="en-US" altLang="zh-CN" dirty="0">
                <a:latin typeface="+mn-ea"/>
                <a:ea typeface="+mn-ea"/>
              </a:rPr>
              <a:t>)</a:t>
            </a:r>
            <a:r>
              <a:rPr lang="zh-CN" altLang="en-US" dirty="0">
                <a:latin typeface="+mn-ea"/>
                <a:ea typeface="+mn-ea"/>
              </a:rPr>
              <a:t>服从对角化协方差的高斯分布</a:t>
            </a:r>
            <a:endParaRPr lang="en-US" altLang="zh-CN" dirty="0">
              <a:latin typeface="+mn-ea"/>
              <a:ea typeface="+mn-ea"/>
            </a:endParaRPr>
          </a:p>
          <a:p>
            <a:pPr lvl="1"/>
            <a:endParaRPr lang="en-US" altLang="zh-CN" dirty="0">
              <a:latin typeface="+mn-ea"/>
              <a:ea typeface="+mn-ea"/>
            </a:endParaRPr>
          </a:p>
          <a:p>
            <a:pPr lvl="1"/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目标</a:t>
            </a:r>
            <a:endParaRPr lang="en-US" altLang="zh-CN" dirty="0">
              <a:latin typeface="+mn-ea"/>
              <a:ea typeface="+mn-ea"/>
            </a:endParaRPr>
          </a:p>
          <a:p>
            <a:pPr lvl="1"/>
            <a:endParaRPr lang="zh-CN" altLang="en-US" dirty="0">
              <a:latin typeface="+mn-ea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3556877"/>
            <a:ext cx="2890021" cy="64541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5029184"/>
            <a:ext cx="3407318" cy="60961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944470" y="5970642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M step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015979" y="4417748"/>
            <a:ext cx="5092553" cy="457200"/>
            <a:chOff x="6629400" y="3408863"/>
            <a:chExt cx="5092553" cy="45720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00703" y="3408863"/>
              <a:ext cx="4949945" cy="412122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6629400" y="3408863"/>
              <a:ext cx="5092553" cy="457200"/>
            </a:xfrm>
            <a:prstGeom prst="rect">
              <a:avLst/>
            </a:prstGeom>
            <a:ln w="19050">
              <a:solidFill>
                <a:srgbClr val="00B0F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2400" dirty="0"/>
            </a:p>
          </p:txBody>
        </p:sp>
      </p:grpSp>
      <p:sp>
        <p:nvSpPr>
          <p:cNvPr id="11" name="矩形 10"/>
          <p:cNvSpPr/>
          <p:nvPr/>
        </p:nvSpPr>
        <p:spPr>
          <a:xfrm>
            <a:off x="8616179" y="3910495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M step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597379" y="3910495"/>
            <a:ext cx="10567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E step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7467601" y="4874948"/>
            <a:ext cx="1066799" cy="425352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模型汇总</a:t>
            </a:r>
            <a:endParaRPr lang="zh-CN" altLang="en-US" dirty="0"/>
          </a:p>
        </p:txBody>
      </p:sp>
      <p:pic>
        <p:nvPicPr>
          <p:cNvPr id="4" name="内容占位符 3" descr="屏幕剪辑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362200"/>
            <a:ext cx="8052740" cy="852323"/>
          </a:xfrm>
        </p:spPr>
      </p:pic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435" y="4103918"/>
            <a:ext cx="7239000" cy="616656"/>
          </a:xfrm>
          <a:prstGeom prst="rect">
            <a:avLst/>
          </a:prstGeom>
        </p:spPr>
      </p:pic>
      <p:sp>
        <p:nvSpPr>
          <p:cNvPr id="6" name="下箭头 5"/>
          <p:cNvSpPr/>
          <p:nvPr/>
        </p:nvSpPr>
        <p:spPr>
          <a:xfrm>
            <a:off x="5499479" y="3413162"/>
            <a:ext cx="366960" cy="550962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endParaRPr lang="zh-CN" alt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66800" y="1371600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变分自编码器的总目标函数</a:t>
            </a:r>
            <a:endParaRPr lang="zh-CN" altLang="en-US" sz="2400" b="1" dirty="0"/>
          </a:p>
        </p:txBody>
      </p:sp>
      <p:sp>
        <p:nvSpPr>
          <p:cNvPr id="11" name="矩形 10"/>
          <p:cNvSpPr/>
          <p:nvPr/>
        </p:nvSpPr>
        <p:spPr>
          <a:xfrm>
            <a:off x="6477000" y="2757323"/>
            <a:ext cx="685800" cy="290677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8229600" y="2839532"/>
            <a:ext cx="1066800" cy="402938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7022592" y="3048000"/>
            <a:ext cx="521208" cy="458062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874764" y="3509408"/>
            <a:ext cx="2209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</a:rPr>
              <a:t>一般写为</a:t>
            </a:r>
            <a:r>
              <a:rPr lang="en-US" altLang="zh-CN" sz="2000" dirty="0">
                <a:solidFill>
                  <a:srgbClr val="00B0F0"/>
                </a:solidFill>
              </a:rPr>
              <a:t>q(</a:t>
            </a:r>
            <a:r>
              <a:rPr lang="en-US" altLang="zh-CN" sz="2000" dirty="0" err="1">
                <a:solidFill>
                  <a:srgbClr val="00B0F0"/>
                </a:solidFill>
              </a:rPr>
              <a:t>z|x</a:t>
            </a:r>
            <a:r>
              <a:rPr lang="en-US" altLang="zh-CN" sz="2000" dirty="0">
                <a:solidFill>
                  <a:srgbClr val="00B0F0"/>
                </a:solidFill>
              </a:rPr>
              <a:t>;</a:t>
            </a:r>
            <a:r>
              <a:rPr lang="el-GR" altLang="zh-CN" sz="2000" dirty="0">
                <a:solidFill>
                  <a:srgbClr val="00B0F0"/>
                </a:solidFill>
              </a:rPr>
              <a:t>ϕ)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7979664" y="3249046"/>
            <a:ext cx="249936" cy="299613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再参数化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j-ea"/>
                <a:ea typeface="+mj-ea"/>
              </a:rPr>
              <a:t>分布</a:t>
            </a:r>
            <a:r>
              <a:rPr lang="en-US" altLang="zh-CN" dirty="0">
                <a:latin typeface="+mj-ea"/>
                <a:ea typeface="+mj-ea"/>
              </a:rPr>
              <a:t>q(</a:t>
            </a:r>
            <a:r>
              <a:rPr lang="en-US" altLang="zh-CN" dirty="0" err="1">
                <a:latin typeface="+mj-ea"/>
                <a:ea typeface="+mj-ea"/>
              </a:rPr>
              <a:t>z|x,ϕ</a:t>
            </a:r>
            <a:r>
              <a:rPr lang="en-US" altLang="zh-CN" dirty="0">
                <a:latin typeface="+mj-ea"/>
                <a:ea typeface="+mj-ea"/>
              </a:rPr>
              <a:t>)</a:t>
            </a:r>
            <a:r>
              <a:rPr lang="zh-CN" altLang="en-US" dirty="0">
                <a:latin typeface="+mj-ea"/>
                <a:ea typeface="+mj-ea"/>
              </a:rPr>
              <a:t>依赖于参数</a:t>
            </a:r>
            <a:r>
              <a:rPr lang="en-US" altLang="zh-CN" dirty="0">
                <a:latin typeface="+mj-ea"/>
                <a:ea typeface="+mj-ea"/>
              </a:rPr>
              <a:t>ϕ</a:t>
            </a:r>
            <a:r>
              <a:rPr lang="zh-CN" altLang="en-US" dirty="0">
                <a:latin typeface="+mj-ea"/>
                <a:ea typeface="+mj-ea"/>
              </a:rPr>
              <a:t>，然而使用对</a:t>
            </a:r>
            <a:r>
              <a:rPr lang="en-US" altLang="zh-CN" dirty="0">
                <a:latin typeface="+mj-ea"/>
                <a:ea typeface="+mj-ea"/>
              </a:rPr>
              <a:t>z</a:t>
            </a:r>
            <a:r>
              <a:rPr lang="zh-CN" altLang="en-US" dirty="0">
                <a:latin typeface="+mj-ea"/>
                <a:ea typeface="+mj-ea"/>
              </a:rPr>
              <a:t>进行采样的方式计算上述期望时，其结果变得与参数</a:t>
            </a:r>
            <a:r>
              <a:rPr lang="en-US" altLang="zh-CN" dirty="0">
                <a:latin typeface="+mj-ea"/>
                <a:ea typeface="+mj-ea"/>
              </a:rPr>
              <a:t>ϕ</a:t>
            </a:r>
            <a:r>
              <a:rPr lang="zh-CN" altLang="en-US" dirty="0">
                <a:latin typeface="+mj-ea"/>
                <a:ea typeface="+mj-ea"/>
              </a:rPr>
              <a:t>无关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再参数化（</a:t>
            </a:r>
            <a:r>
              <a:rPr lang="en-US" altLang="zh-CN" dirty="0">
                <a:latin typeface="+mj-ea"/>
                <a:ea typeface="+mj-ea"/>
              </a:rPr>
              <a:t>reparameterization</a:t>
            </a:r>
            <a:r>
              <a:rPr lang="zh-CN" altLang="en-US" dirty="0">
                <a:latin typeface="+mj-ea"/>
                <a:ea typeface="+mj-ea"/>
              </a:rPr>
              <a:t>）是将一个函数</a:t>
            </a:r>
            <a:r>
              <a:rPr lang="en-US" altLang="zh-CN" dirty="0">
                <a:latin typeface="+mj-ea"/>
                <a:ea typeface="+mj-ea"/>
              </a:rPr>
              <a:t>f(</a:t>
            </a:r>
            <a:r>
              <a:rPr lang="en-US" altLang="zh-CN" dirty="0">
                <a:latin typeface="+mn-ea"/>
                <a:ea typeface="+mn-ea"/>
              </a:rPr>
              <a:t>θ</a:t>
            </a:r>
            <a:r>
              <a:rPr lang="en-US" altLang="zh-CN" dirty="0">
                <a:latin typeface="+mj-ea"/>
                <a:ea typeface="+mj-ea"/>
              </a:rPr>
              <a:t>)</a:t>
            </a:r>
            <a:r>
              <a:rPr lang="zh-CN" altLang="en-US" dirty="0">
                <a:latin typeface="+mj-ea"/>
                <a:ea typeface="+mj-ea"/>
              </a:rPr>
              <a:t>的参数</a:t>
            </a:r>
            <a:r>
              <a:rPr lang="en-US" altLang="zh-CN" dirty="0">
                <a:latin typeface="+mn-ea"/>
                <a:ea typeface="+mn-ea"/>
              </a:rPr>
              <a:t>θ </a:t>
            </a:r>
            <a:r>
              <a:rPr lang="zh-CN" altLang="en-US" dirty="0">
                <a:latin typeface="+mn-ea"/>
                <a:ea typeface="+mn-ea"/>
              </a:rPr>
              <a:t>用另外一组参数表示，可以实现减少参数量的效果，并</a:t>
            </a:r>
            <a:r>
              <a:rPr lang="zh-CN" altLang="en-US" dirty="0">
                <a:latin typeface="+mj-ea"/>
                <a:ea typeface="+mj-ea"/>
              </a:rPr>
              <a:t>是实现</a:t>
            </a:r>
            <a:r>
              <a:rPr lang="zh-CN" altLang="en-US" dirty="0">
                <a:solidFill>
                  <a:srgbClr val="00B0F0"/>
                </a:solidFill>
                <a:latin typeface="+mj-ea"/>
                <a:ea typeface="+mj-ea"/>
              </a:rPr>
              <a:t>通过随机变量</a:t>
            </a:r>
            <a:r>
              <a:rPr lang="zh-CN" altLang="en-US" dirty="0">
                <a:latin typeface="+mj-ea"/>
                <a:ea typeface="+mj-ea"/>
              </a:rPr>
              <a:t>实现</a:t>
            </a:r>
            <a:r>
              <a:rPr lang="zh-CN" altLang="en-US" dirty="0">
                <a:solidFill>
                  <a:srgbClr val="00B0F0"/>
                </a:solidFill>
                <a:latin typeface="+mj-ea"/>
                <a:ea typeface="+mj-ea"/>
              </a:rPr>
              <a:t>反向传播</a:t>
            </a:r>
            <a:r>
              <a:rPr lang="zh-CN" altLang="en-US" dirty="0">
                <a:latin typeface="+mj-ea"/>
                <a:ea typeface="+mj-ea"/>
              </a:rPr>
              <a:t>的一种重要手段</a:t>
            </a:r>
            <a:endParaRPr lang="zh-CN" altLang="en-US" dirty="0">
              <a:latin typeface="+mj-ea"/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2255520" y="4754792"/>
                <a:ext cx="297262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altLang="zh-CN" sz="2800" i="1" dirty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</a:rPr>
                        <m:t>(µ</m:t>
                      </m:r>
                      <m:r>
                        <a:rPr lang="zh-CN" altLang="en-US" sz="2800" i="1" baseline="-25000" dirty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800" i="1" baseline="-25000" dirty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1" baseline="30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520" y="4754792"/>
                <a:ext cx="2972629" cy="523220"/>
              </a:xfrm>
              <a:prstGeom prst="rect">
                <a:avLst/>
              </a:prstGeom>
              <a:blipFill rotWithShape="1">
                <a:blip r:embed="rId1"/>
                <a:stretch>
                  <a:fillRect t="-8236" r="7" b="-7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右箭头 5"/>
          <p:cNvSpPr/>
          <p:nvPr/>
        </p:nvSpPr>
        <p:spPr>
          <a:xfrm>
            <a:off x="5867406" y="4706273"/>
            <a:ext cx="457188" cy="72400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  <p:pic>
        <p:nvPicPr>
          <p:cNvPr id="7" name="图片 6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23587"/>
            <a:ext cx="7239000" cy="61665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020624" y="634471"/>
            <a:ext cx="1142999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 sz="2400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2286414" y="5478776"/>
                <a:ext cx="2819400" cy="120032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rgbClr val="00B0F0"/>
                    </a:solidFill>
                  </a:rPr>
                  <a:t>z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与</a:t>
                </a:r>
                <a:r>
                  <a:rPr lang="el-GR" altLang="zh-CN" sz="2400" dirty="0">
                    <a:solidFill>
                      <a:srgbClr val="00B0F0"/>
                    </a:solidFill>
                  </a:rPr>
                  <a:t>ϕ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（即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µ</m:t>
                    </m:r>
                    <m:r>
                      <a:rPr lang="zh-CN" altLang="en-US" sz="2400" i="1" baseline="-25000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zh-CN" altLang="en-US" sz="24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rgbClr val="00B0F0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400" i="1" baseline="-25000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zh-CN" altLang="en-US" sz="2400" i="1" baseline="30000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 baseline="30000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rgbClr val="00B0F0"/>
                    </a:solidFill>
                  </a:rPr>
                  <a:t>）之间是采样关系，具有不确定性</a:t>
                </a:r>
                <a:endParaRPr lang="zh-CN" alt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414" y="5478776"/>
                <a:ext cx="2819400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15" t="-2539" r="15" b="1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7543386" y="5478776"/>
                <a:ext cx="2819400" cy="120032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rgbClr val="00B0F0"/>
                    </a:solidFill>
                  </a:rPr>
                  <a:t>z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与</a:t>
                </a:r>
                <a:r>
                  <a:rPr lang="el-GR" altLang="zh-CN" sz="2400" dirty="0">
                    <a:solidFill>
                      <a:srgbClr val="00B0F0"/>
                    </a:solidFill>
                  </a:rPr>
                  <a:t>ϕ</a:t>
                </a:r>
                <a:r>
                  <a:rPr lang="zh-CN" altLang="en-US" sz="2400" dirty="0">
                    <a:solidFill>
                      <a:srgbClr val="00B0F0"/>
                    </a:solidFill>
                  </a:rPr>
                  <a:t>（即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µ</m:t>
                    </m:r>
                    <m:r>
                      <a:rPr lang="zh-CN" altLang="en-US" sz="2400" i="1" baseline="-25000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zh-CN" altLang="en-US" sz="24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rgbClr val="00B0F0"/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400" i="1" baseline="-25000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zh-CN" altLang="en-US" sz="2400" i="1" baseline="30000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 baseline="30000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rgbClr val="00B0F0"/>
                    </a:solidFill>
                  </a:rPr>
                  <a:t>）之间通过新的参数𝜖建立了确定性关系</a:t>
                </a:r>
                <a:endParaRPr lang="zh-CN" altLang="en-US" sz="24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386" y="5478776"/>
                <a:ext cx="2819400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8" t="-2539" r="8" b="1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869989"/>
            <a:ext cx="7391400" cy="83628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6827521" y="4526193"/>
                <a:ext cx="3428999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800" i="1" dirty="0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l-GR" altLang="zh-CN" sz="2800" i="1" dirty="0" smtClean="0">
                          <a:latin typeface="Cambria Math" panose="02040503050406030204" pitchFamily="18" charset="0"/>
                        </a:rPr>
                        <m:t> ∼ 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altLang="zh-CN" sz="280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l-PL" altLang="zh-CN" sz="2800" i="1" dirty="0" smtClean="0">
                          <a:latin typeface="Cambria Math" panose="02040503050406030204" pitchFamily="18" charset="0"/>
                        </a:rPr>
                        <m:t> = µ</m:t>
                      </m:r>
                      <m:r>
                        <a:rPr lang="pl-PL" altLang="zh-CN" sz="2800" i="1" baseline="-25000" dirty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l-PL" altLang="zh-CN" sz="2800" i="1" dirty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pl-PL" altLang="zh-CN" sz="2800" i="1" dirty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pl-PL" altLang="zh-CN" sz="2800" i="1" baseline="-25000" dirty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l-PL" altLang="zh-CN" sz="2800" i="1" dirty="0">
                          <a:latin typeface="Cambria Math" panose="02040503050406030204" pitchFamily="18" charset="0"/>
                        </a:rPr>
                        <m:t>⊙</m:t>
                      </m:r>
                      <m:r>
                        <a:rPr lang="pl-PL" altLang="zh-CN" sz="2800" i="1" dirty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pl-PL" altLang="zh-CN" sz="2800" i="1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521" y="4526193"/>
                <a:ext cx="3428999" cy="954107"/>
              </a:xfrm>
              <a:prstGeom prst="rect">
                <a:avLst/>
              </a:prstGeom>
              <a:blipFill rotWithShape="1">
                <a:blip r:embed="rId6"/>
                <a:stretch>
                  <a:fillRect t="-57" b="-16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7887121" y="5031600"/>
            <a:ext cx="418680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771311" y="5047179"/>
            <a:ext cx="418680" cy="46166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 sz="24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变分自编码器的训练过程</a:t>
            </a:r>
            <a:endParaRPr lang="zh-CN" altLang="en-US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458" y="1752600"/>
            <a:ext cx="5972589" cy="507949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21" y="2443306"/>
            <a:ext cx="6553200" cy="80740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0028" y="1059075"/>
            <a:ext cx="64427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变分自编码器目标函数</a:t>
            </a:r>
            <a:endParaRPr lang="zh-CN" altLang="en-US" sz="2400" dirty="0"/>
          </a:p>
        </p:txBody>
      </p:sp>
      <p:sp>
        <p:nvSpPr>
          <p:cNvPr id="8" name="下箭头 5"/>
          <p:cNvSpPr/>
          <p:nvPr/>
        </p:nvSpPr>
        <p:spPr>
          <a:xfrm>
            <a:off x="3532221" y="3112971"/>
            <a:ext cx="609600" cy="275481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21" y="3429000"/>
            <a:ext cx="5410200" cy="566754"/>
          </a:xfrm>
          <a:prstGeom prst="rect">
            <a:avLst/>
          </a:prstGeom>
        </p:spPr>
      </p:pic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89" y="1532003"/>
            <a:ext cx="7239000" cy="616656"/>
          </a:xfrm>
          <a:prstGeom prst="rect">
            <a:avLst/>
          </a:prstGeom>
        </p:spPr>
      </p:pic>
      <p:sp>
        <p:nvSpPr>
          <p:cNvPr id="6" name="下箭头 5"/>
          <p:cNvSpPr/>
          <p:nvPr/>
        </p:nvSpPr>
        <p:spPr>
          <a:xfrm>
            <a:off x="3532221" y="2216422"/>
            <a:ext cx="609600" cy="275481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44768" y="2700053"/>
            <a:ext cx="865632" cy="290677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2552894" y="3442408"/>
            <a:ext cx="1257105" cy="593894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  <p:cxnSp>
        <p:nvCxnSpPr>
          <p:cNvPr id="13" name="直接箭头连接符 12"/>
          <p:cNvCxnSpPr/>
          <p:nvPr/>
        </p:nvCxnSpPr>
        <p:spPr>
          <a:xfrm flipV="1">
            <a:off x="7037421" y="2491903"/>
            <a:ext cx="303409" cy="20815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331686" y="2291848"/>
            <a:ext cx="220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</a:rPr>
              <a:t>假设</a:t>
            </a:r>
            <a:r>
              <a:rPr lang="en-US" altLang="zh-CN" sz="2000" dirty="0">
                <a:solidFill>
                  <a:srgbClr val="00B0F0"/>
                </a:solidFill>
              </a:rPr>
              <a:t>z</a:t>
            </a:r>
            <a:r>
              <a:rPr lang="zh-CN" altLang="en-US" sz="2000" dirty="0">
                <a:solidFill>
                  <a:srgbClr val="00B0F0"/>
                </a:solidFill>
              </a:rPr>
              <a:t>的先验分布是标准高斯分布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  <p:cxnSp>
        <p:nvCxnSpPr>
          <p:cNvPr id="15" name="直接箭头连接符 14"/>
          <p:cNvCxnSpPr>
            <a:stCxn id="12" idx="2"/>
          </p:cNvCxnSpPr>
          <p:nvPr/>
        </p:nvCxnSpPr>
        <p:spPr>
          <a:xfrm flipH="1">
            <a:off x="2895600" y="4036302"/>
            <a:ext cx="285847" cy="23089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4004979" y="3450327"/>
            <a:ext cx="2614832" cy="593894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  <p:cxnSp>
        <p:nvCxnSpPr>
          <p:cNvPr id="25" name="直接箭头连接符 24"/>
          <p:cNvCxnSpPr>
            <a:stCxn id="24" idx="2"/>
          </p:cNvCxnSpPr>
          <p:nvPr/>
        </p:nvCxnSpPr>
        <p:spPr>
          <a:xfrm>
            <a:off x="5312395" y="4044221"/>
            <a:ext cx="97805" cy="23089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371601" y="4278929"/>
            <a:ext cx="26333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B0F0"/>
                </a:solidFill>
              </a:rPr>
              <a:t>数据重构项</a:t>
            </a:r>
            <a:endParaRPr lang="en-US" altLang="zh-CN" sz="2000" dirty="0">
              <a:solidFill>
                <a:srgbClr val="00B0F0"/>
              </a:solidFill>
            </a:endParaRPr>
          </a:p>
          <a:p>
            <a:pPr algn="ctr"/>
            <a:r>
              <a:rPr lang="en-US" altLang="zh-CN" sz="2000" dirty="0">
                <a:solidFill>
                  <a:srgbClr val="00B0F0"/>
                </a:solidFill>
              </a:rPr>
              <a:t>Reconstruction term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535794" y="4275119"/>
            <a:ext cx="2550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</a:rPr>
              <a:t>正则化项</a:t>
            </a:r>
            <a:endParaRPr lang="en-US" altLang="zh-CN" sz="2000" dirty="0">
              <a:solidFill>
                <a:srgbClr val="00B0F0"/>
              </a:solidFill>
            </a:endParaRPr>
          </a:p>
          <a:p>
            <a:r>
              <a:rPr lang="en-US" altLang="zh-CN" sz="2000" dirty="0">
                <a:solidFill>
                  <a:srgbClr val="00B0F0"/>
                </a:solidFill>
              </a:rPr>
              <a:t>KL divergence term</a:t>
            </a:r>
            <a:endParaRPr lang="zh-CN" altLang="en-US" sz="2000" dirty="0">
              <a:solidFill>
                <a:srgbClr val="00B0F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919410" y="1551881"/>
            <a:ext cx="852990" cy="593894"/>
          </a:xfrm>
          <a:prstGeom prst="rect">
            <a:avLst/>
          </a:prstGeom>
          <a:ln w="19050">
            <a:solidFill>
              <a:srgbClr val="00B0F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  <p:cxnSp>
        <p:nvCxnSpPr>
          <p:cNvPr id="31" name="直接箭头连接符 30"/>
          <p:cNvCxnSpPr/>
          <p:nvPr/>
        </p:nvCxnSpPr>
        <p:spPr>
          <a:xfrm>
            <a:off x="7696200" y="2168523"/>
            <a:ext cx="381000" cy="19367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7467600" y="4876800"/>
            <a:ext cx="1524000" cy="449197"/>
          </a:xfrm>
          <a:prstGeom prst="rect">
            <a:avLst/>
          </a:prstGeom>
          <a:ln w="19050">
            <a:solidFill>
              <a:srgbClr val="00B050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  <p:sp>
        <p:nvSpPr>
          <p:cNvPr id="36" name="矩形 35"/>
          <p:cNvSpPr/>
          <p:nvPr/>
        </p:nvSpPr>
        <p:spPr>
          <a:xfrm>
            <a:off x="10353743" y="2766131"/>
            <a:ext cx="619057" cy="449197"/>
          </a:xfrm>
          <a:prstGeom prst="rect">
            <a:avLst/>
          </a:prstGeom>
          <a:ln w="19050">
            <a:solidFill>
              <a:srgbClr val="00B050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变分自编码器学习到的隐变量流形</a:t>
            </a:r>
            <a:endParaRPr lang="zh-CN" altLang="en-US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590598"/>
            <a:ext cx="8721114" cy="4501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14600" y="5946043"/>
            <a:ext cx="281940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特征嵌入： </a:t>
            </a:r>
            <a:r>
              <a:rPr lang="en-US" altLang="zh-CN" sz="2400" dirty="0">
                <a:solidFill>
                  <a:srgbClr val="00B0F0"/>
                </a:solidFill>
              </a:rPr>
              <a:t>x </a:t>
            </a:r>
            <a:r>
              <a:rPr lang="en-US" altLang="zh-CN" sz="2400" dirty="0">
                <a:solidFill>
                  <a:srgbClr val="00B0F0"/>
                </a:solidFill>
                <a:sym typeface="Wingdings" panose="05000000000000000000" pitchFamily="2" charset="2"/>
              </a:rPr>
              <a:t> z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39000" y="5946042"/>
            <a:ext cx="2819400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采样生成：</a:t>
            </a:r>
            <a:r>
              <a:rPr lang="en-US" altLang="zh-CN" sz="2400" dirty="0">
                <a:solidFill>
                  <a:srgbClr val="00B0F0"/>
                </a:solidFill>
              </a:rPr>
              <a:t>z </a:t>
            </a:r>
            <a:r>
              <a:rPr lang="en-US" altLang="zh-CN" sz="2400" dirty="0">
                <a:solidFill>
                  <a:srgbClr val="00B0F0"/>
                </a:solidFill>
                <a:sym typeface="Wingdings" panose="05000000000000000000" pitchFamily="2" charset="2"/>
              </a:rPr>
              <a:t> </a:t>
            </a:r>
            <a:r>
              <a:rPr lang="en-US" altLang="zh-CN" sz="2400" dirty="0">
                <a:solidFill>
                  <a:srgbClr val="00B0F0"/>
                </a:solidFill>
              </a:rPr>
              <a:t>x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生成对抗网络</a:t>
            </a:r>
            <a:br>
              <a:rPr lang="en-US" altLang="zh-CN" dirty="0"/>
            </a:br>
            <a:r>
              <a:rPr lang="en-US" altLang="zh-CN" sz="3200" dirty="0"/>
              <a:t>Generative Adversarial Network</a:t>
            </a:r>
            <a:r>
              <a:rPr lang="zh-CN" altLang="en-US" sz="3200" dirty="0"/>
              <a:t>（</a:t>
            </a:r>
            <a:r>
              <a:rPr lang="en-US" altLang="zh-CN" sz="3200" dirty="0"/>
              <a:t>GAN</a:t>
            </a:r>
            <a:r>
              <a:rPr lang="zh-CN" altLang="en-US" sz="3200" dirty="0"/>
              <a:t>）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显式密度模型和隐式密度模型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显式密度模型</a:t>
            </a:r>
            <a:endParaRPr lang="en-US" altLang="zh-CN" dirty="0"/>
          </a:p>
          <a:p>
            <a:pPr lvl="1"/>
            <a:r>
              <a:rPr lang="zh-CN" altLang="en-US" dirty="0"/>
              <a:t>显式地构建出样本的密度函数</a:t>
            </a:r>
            <a:r>
              <a:rPr lang="en-US" altLang="zh-CN" dirty="0"/>
              <a:t>p(</a:t>
            </a:r>
            <a:r>
              <a:rPr lang="en-US" altLang="zh-CN" dirty="0" err="1"/>
              <a:t>x|θ</a:t>
            </a:r>
            <a:r>
              <a:rPr lang="en-US" altLang="zh-CN" dirty="0"/>
              <a:t>)</a:t>
            </a:r>
            <a:r>
              <a:rPr lang="zh-CN" altLang="en-US" dirty="0"/>
              <a:t>，并通过最大似然估计来求解参数；</a:t>
            </a:r>
            <a:endParaRPr lang="en-US" altLang="zh-CN" dirty="0"/>
          </a:p>
          <a:p>
            <a:pPr lvl="2"/>
            <a:r>
              <a:rPr lang="zh-CN" altLang="en-US" dirty="0"/>
              <a:t>假设模型满足一个参数分布族（例如高斯分布），使用神经网络预测模型的参数，某种程度上限制了网络的能力</a:t>
            </a:r>
            <a:endParaRPr lang="en-US" altLang="zh-CN" dirty="0"/>
          </a:p>
          <a:p>
            <a:pPr lvl="1"/>
            <a:r>
              <a:rPr lang="zh-CN" altLang="en-US" dirty="0"/>
              <a:t>变分自编码器、深度信念网络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隐式密度模型</a:t>
            </a:r>
            <a:endParaRPr lang="en-US" altLang="zh-CN" dirty="0"/>
          </a:p>
          <a:p>
            <a:pPr lvl="1"/>
            <a:r>
              <a:rPr lang="zh-CN" altLang="en-US" dirty="0"/>
              <a:t>不显式地估计出数据分布的密度函数</a:t>
            </a:r>
            <a:endParaRPr lang="en-US" altLang="zh-CN" dirty="0"/>
          </a:p>
          <a:p>
            <a:pPr lvl="1"/>
            <a:r>
              <a:rPr lang="zh-CN" altLang="en-US" dirty="0"/>
              <a:t>但能生成符合数据分布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data</a:t>
            </a:r>
            <a:r>
              <a:rPr lang="en-US" altLang="zh-CN" dirty="0"/>
              <a:t> (x)</a:t>
            </a:r>
            <a:r>
              <a:rPr lang="zh-CN" altLang="en-US" dirty="0"/>
              <a:t>的样本</a:t>
            </a:r>
            <a:endParaRPr lang="en-US" altLang="zh-CN" dirty="0"/>
          </a:p>
          <a:p>
            <a:pPr lvl="1"/>
            <a:r>
              <a:rPr lang="zh-CN" altLang="en-US" dirty="0"/>
              <a:t>无法用最大似然估计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生成网络（</a:t>
            </a:r>
            <a:r>
              <a:rPr lang="en-US" altLang="zh-CN" dirty="0">
                <a:latin typeface="+mn-ea"/>
                <a:ea typeface="+mn-ea"/>
              </a:rPr>
              <a:t>Generator</a:t>
            </a:r>
            <a:r>
              <a:rPr lang="zh-CN" altLang="en-US" dirty="0">
                <a:latin typeface="+mn-ea"/>
                <a:ea typeface="+mn-ea"/>
              </a:rPr>
              <a:t>）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生成网络从隐空间（</a:t>
            </a:r>
            <a:r>
              <a:rPr lang="en-US" altLang="zh-CN" dirty="0">
                <a:latin typeface="+mn-ea"/>
                <a:ea typeface="+mn-ea"/>
              </a:rPr>
              <a:t>latent space</a:t>
            </a:r>
            <a:r>
              <a:rPr lang="zh-CN" altLang="en-US" dirty="0">
                <a:latin typeface="+mn-ea"/>
                <a:ea typeface="+mn-ea"/>
              </a:rPr>
              <a:t>）中随机采样作为输入，其输出结果需要尽量模仿训练集中的真实样本。</a:t>
            </a:r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1" y="3048000"/>
            <a:ext cx="7116001" cy="1524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00073" y="502920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B0F0"/>
                </a:solidFill>
                <a:latin typeface="+mn-ea"/>
              </a:rPr>
              <a:t>如何学习生成网络？</a:t>
            </a:r>
            <a:endParaRPr lang="zh-CN" altLang="en-US" sz="2400" b="1" dirty="0">
              <a:solidFill>
                <a:srgbClr val="00B0F0"/>
              </a:solidFill>
              <a:latin typeface="+mn-ea"/>
            </a:endParaRPr>
          </a:p>
        </p:txBody>
      </p:sp>
      <p:pic>
        <p:nvPicPr>
          <p:cNvPr id="6" name="圖片 5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201" y="2933700"/>
            <a:ext cx="1752600" cy="17526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生成网络示例</a:t>
            </a:r>
            <a:endParaRPr lang="zh-CN" altLang="en-US" dirty="0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1371600"/>
            <a:ext cx="11353800" cy="46661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判别网络（</a:t>
            </a:r>
            <a:r>
              <a:rPr lang="en-US" altLang="zh-CN" dirty="0"/>
              <a:t>Discriminator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判别网络的输入则为</a:t>
            </a:r>
            <a:r>
              <a:rPr lang="zh-CN" altLang="en-US" dirty="0">
                <a:solidFill>
                  <a:srgbClr val="00B0F0"/>
                </a:solidFill>
              </a:rPr>
              <a:t>真实样本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B0F0"/>
                </a:solidFill>
              </a:rPr>
              <a:t>生成网络的输出</a:t>
            </a:r>
            <a:r>
              <a:rPr lang="zh-CN" altLang="en-US" dirty="0"/>
              <a:t>，其目的是将生成网络的输出从真实样本中尽可能</a:t>
            </a:r>
            <a:r>
              <a:rPr lang="zh-CN" altLang="en-US" dirty="0">
                <a:solidFill>
                  <a:srgbClr val="00B0F0"/>
                </a:solidFill>
              </a:rPr>
              <a:t>分辨</a:t>
            </a:r>
            <a:r>
              <a:rPr lang="zh-CN" altLang="en-US" dirty="0"/>
              <a:t>出来。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818" y="2378831"/>
            <a:ext cx="6727332" cy="1507369"/>
          </a:xfrm>
          <a:prstGeom prst="rect">
            <a:avLst/>
          </a:prstGeom>
        </p:spPr>
      </p:pic>
      <p:pic>
        <p:nvPicPr>
          <p:cNvPr id="5" name="圖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009" y="5225857"/>
            <a:ext cx="851310" cy="828908"/>
          </a:xfrm>
          <a:prstGeom prst="rect">
            <a:avLst/>
          </a:prstGeom>
        </p:spPr>
      </p:pic>
      <p:pic>
        <p:nvPicPr>
          <p:cNvPr id="6" name="圖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251" y="4150773"/>
            <a:ext cx="848388" cy="848388"/>
          </a:xfrm>
          <a:prstGeom prst="rect">
            <a:avLst/>
          </a:prstGeom>
        </p:spPr>
      </p:pic>
      <p:pic>
        <p:nvPicPr>
          <p:cNvPr id="7" name="圖片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995" y="4126712"/>
            <a:ext cx="879920" cy="879920"/>
          </a:xfrm>
          <a:prstGeom prst="rect">
            <a:avLst/>
          </a:prstGeom>
        </p:spPr>
      </p:pic>
      <p:pic>
        <p:nvPicPr>
          <p:cNvPr id="8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9437" y="5202960"/>
            <a:ext cx="848388" cy="89304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720566" y="4140595"/>
            <a:ext cx="1355850" cy="8521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判别网络</a:t>
            </a:r>
            <a:endParaRPr lang="en-US" altLang="zh-TW" sz="2000" dirty="0"/>
          </a:p>
        </p:txBody>
      </p:sp>
      <p:sp>
        <p:nvSpPr>
          <p:cNvPr id="10" name="矩形 9"/>
          <p:cNvSpPr/>
          <p:nvPr/>
        </p:nvSpPr>
        <p:spPr>
          <a:xfrm>
            <a:off x="3695116" y="5202611"/>
            <a:ext cx="1355850" cy="8521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判别网络</a:t>
            </a:r>
            <a:endParaRPr lang="en-US" altLang="zh-TW" sz="2000" dirty="0"/>
          </a:p>
        </p:txBody>
      </p:sp>
      <p:sp>
        <p:nvSpPr>
          <p:cNvPr id="11" name="矩形 10"/>
          <p:cNvSpPr/>
          <p:nvPr/>
        </p:nvSpPr>
        <p:spPr>
          <a:xfrm>
            <a:off x="7694290" y="4110930"/>
            <a:ext cx="1355850" cy="8521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判别网络</a:t>
            </a:r>
            <a:endParaRPr lang="en-US" altLang="zh-TW" sz="2000" dirty="0"/>
          </a:p>
        </p:txBody>
      </p:sp>
      <p:sp>
        <p:nvSpPr>
          <p:cNvPr id="12" name="矩形 11"/>
          <p:cNvSpPr/>
          <p:nvPr/>
        </p:nvSpPr>
        <p:spPr>
          <a:xfrm>
            <a:off x="7682520" y="5202610"/>
            <a:ext cx="1355850" cy="8521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判别网络</a:t>
            </a:r>
            <a:endParaRPr lang="en-US" altLang="zh-TW" sz="2000" dirty="0"/>
          </a:p>
        </p:txBody>
      </p:sp>
      <p:sp>
        <p:nvSpPr>
          <p:cNvPr id="13" name="箭號: 向右 28"/>
          <p:cNvSpPr/>
          <p:nvPr/>
        </p:nvSpPr>
        <p:spPr>
          <a:xfrm>
            <a:off x="3285916" y="4331168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/>
          </a:p>
        </p:txBody>
      </p:sp>
      <p:sp>
        <p:nvSpPr>
          <p:cNvPr id="14" name="箭號: 向右 29"/>
          <p:cNvSpPr/>
          <p:nvPr/>
        </p:nvSpPr>
        <p:spPr>
          <a:xfrm>
            <a:off x="3282781" y="5379835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/>
          </a:p>
        </p:txBody>
      </p:sp>
      <p:sp>
        <p:nvSpPr>
          <p:cNvPr id="15" name="箭號: 向右 30"/>
          <p:cNvSpPr/>
          <p:nvPr/>
        </p:nvSpPr>
        <p:spPr>
          <a:xfrm>
            <a:off x="7273320" y="4276612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/>
          </a:p>
        </p:txBody>
      </p:sp>
      <p:sp>
        <p:nvSpPr>
          <p:cNvPr id="16" name="箭號: 向右 31"/>
          <p:cNvSpPr/>
          <p:nvPr/>
        </p:nvSpPr>
        <p:spPr>
          <a:xfrm>
            <a:off x="7275230" y="5379834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/>
          </a:p>
        </p:txBody>
      </p:sp>
      <p:sp>
        <p:nvSpPr>
          <p:cNvPr id="17" name="箭號: 向右 32"/>
          <p:cNvSpPr/>
          <p:nvPr/>
        </p:nvSpPr>
        <p:spPr>
          <a:xfrm>
            <a:off x="5091291" y="4331168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/>
          </a:p>
        </p:txBody>
      </p:sp>
      <p:sp>
        <p:nvSpPr>
          <p:cNvPr id="18" name="箭號: 向右 33"/>
          <p:cNvSpPr/>
          <p:nvPr/>
        </p:nvSpPr>
        <p:spPr>
          <a:xfrm>
            <a:off x="5088156" y="5379835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/>
          </a:p>
        </p:txBody>
      </p:sp>
      <p:sp>
        <p:nvSpPr>
          <p:cNvPr id="19" name="箭號: 向右 34"/>
          <p:cNvSpPr/>
          <p:nvPr/>
        </p:nvSpPr>
        <p:spPr>
          <a:xfrm>
            <a:off x="9065362" y="4317039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/>
          </a:p>
        </p:txBody>
      </p:sp>
      <p:sp>
        <p:nvSpPr>
          <p:cNvPr id="20" name="箭號: 向右 35"/>
          <p:cNvSpPr/>
          <p:nvPr/>
        </p:nvSpPr>
        <p:spPr>
          <a:xfrm>
            <a:off x="9038371" y="5379834"/>
            <a:ext cx="407291" cy="49770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600"/>
          </a:p>
        </p:txBody>
      </p:sp>
      <p:sp>
        <p:nvSpPr>
          <p:cNvPr id="21" name="文字方塊 3"/>
          <p:cNvSpPr txBox="1"/>
          <p:nvPr/>
        </p:nvSpPr>
        <p:spPr>
          <a:xfrm>
            <a:off x="5520634" y="4327896"/>
            <a:ext cx="873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1.0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2" name="文字方塊 36"/>
          <p:cNvSpPr txBox="1"/>
          <p:nvPr/>
        </p:nvSpPr>
        <p:spPr>
          <a:xfrm>
            <a:off x="9523840" y="4291522"/>
            <a:ext cx="873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1.0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3" name="文字方塊 37"/>
          <p:cNvSpPr txBox="1"/>
          <p:nvPr/>
        </p:nvSpPr>
        <p:spPr>
          <a:xfrm>
            <a:off x="5511962" y="5367076"/>
            <a:ext cx="873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0.1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24" name="文字方塊 38"/>
          <p:cNvSpPr txBox="1"/>
          <p:nvPr/>
        </p:nvSpPr>
        <p:spPr>
          <a:xfrm>
            <a:off x="9494135" y="5382143"/>
            <a:ext cx="873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?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MinMax</a:t>
            </a:r>
            <a:r>
              <a:rPr lang="en-US" altLang="zh-CN" dirty="0"/>
              <a:t> Game</a:t>
            </a:r>
            <a:r>
              <a:rPr lang="zh-CN" altLang="en-US" dirty="0"/>
              <a:t> （极小极大算法）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对抗</a:t>
            </a:r>
            <a:r>
              <a:rPr lang="zh-CN" altLang="en-US" dirty="0">
                <a:latin typeface="+mn-ea"/>
                <a:ea typeface="+mn-ea"/>
              </a:rPr>
              <a:t>训练 </a:t>
            </a:r>
            <a:r>
              <a:rPr lang="en-US" altLang="zh-CN" dirty="0">
                <a:latin typeface="+mn-ea"/>
                <a:ea typeface="+mn-ea"/>
              </a:rPr>
              <a:t>(Adversarial training)</a:t>
            </a:r>
            <a:endParaRPr lang="en-US" altLang="zh-CN" dirty="0">
              <a:latin typeface="+mn-ea"/>
              <a:ea typeface="+mn-ea"/>
            </a:endParaRPr>
          </a:p>
          <a:p>
            <a:pPr lvl="1"/>
            <a:r>
              <a:rPr lang="zh-CN" altLang="en-US" dirty="0"/>
              <a:t>生成网络要尽可能地欺骗判别网络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生成趋近于真实的样本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判别网络将生成网络生成的样本与真实样本中尽可能区分出来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通过对抗的方式提升生成网络的生成能力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两个网络相互对抗、不断调整参数，最终目的是使判别网络无法判断生成网络的输出结果是否真实。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2817183" y="4981237"/>
            <a:ext cx="1517650" cy="861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生成网络</a:t>
            </a:r>
            <a:endParaRPr lang="en-US" altLang="zh-TW" sz="2400" dirty="0"/>
          </a:p>
          <a:p>
            <a:pPr algn="ctr"/>
            <a:r>
              <a:rPr lang="en-US" altLang="zh-TW" sz="2400" dirty="0"/>
              <a:t>v3</a:t>
            </a:r>
            <a:endParaRPr lang="zh-TW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2817183" y="3319115"/>
            <a:ext cx="1517650" cy="861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生成网络</a:t>
            </a:r>
            <a:endParaRPr lang="en-US" altLang="zh-TW" sz="2400" dirty="0"/>
          </a:p>
          <a:p>
            <a:pPr algn="ctr"/>
            <a:r>
              <a:rPr lang="en-US" altLang="zh-TW" sz="2400" dirty="0"/>
              <a:t>v2</a:t>
            </a:r>
            <a:endParaRPr lang="zh-TW" altLang="en-US" sz="2400" dirty="0"/>
          </a:p>
        </p:txBody>
      </p:sp>
      <p:sp>
        <p:nvSpPr>
          <p:cNvPr id="28" name="語音泡泡: 圓角矩形 27"/>
          <p:cNvSpPr/>
          <p:nvPr/>
        </p:nvSpPr>
        <p:spPr>
          <a:xfrm>
            <a:off x="4815114" y="5465281"/>
            <a:ext cx="2302299" cy="700745"/>
          </a:xfrm>
          <a:prstGeom prst="wedgeRoundRectCallout">
            <a:avLst>
              <a:gd name="adj1" fmla="val -76075"/>
              <a:gd name="adj2" fmla="val -41061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27" name="語音泡泡: 圓角矩形 26"/>
          <p:cNvSpPr/>
          <p:nvPr/>
        </p:nvSpPr>
        <p:spPr>
          <a:xfrm>
            <a:off x="4800601" y="3799136"/>
            <a:ext cx="2302299" cy="700745"/>
          </a:xfrm>
          <a:prstGeom prst="wedgeRoundRectCallout">
            <a:avLst>
              <a:gd name="adj1" fmla="val -76075"/>
              <a:gd name="adj2" fmla="val -41061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对抗过程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611462" y="261987"/>
            <a:ext cx="1517650" cy="861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生成网络</a:t>
            </a:r>
            <a:endParaRPr lang="en-US" altLang="zh-TW" sz="2400" dirty="0"/>
          </a:p>
          <a:p>
            <a:pPr algn="ctr"/>
            <a:r>
              <a:rPr lang="en-US" altLang="zh-TW" sz="2400" dirty="0"/>
              <a:t>(student)</a:t>
            </a:r>
            <a:endParaRPr lang="zh-TW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8244114" y="269231"/>
            <a:ext cx="1939676" cy="8613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判别网络</a:t>
            </a:r>
            <a:endParaRPr lang="en-US" altLang="zh-TW" sz="2400" dirty="0"/>
          </a:p>
          <a:p>
            <a:pPr algn="ctr"/>
            <a:r>
              <a:rPr lang="en-US" altLang="zh-TW" sz="2400" dirty="0"/>
              <a:t>(teacher)</a:t>
            </a:r>
            <a:endParaRPr lang="zh-TW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2817183" y="1838313"/>
            <a:ext cx="1517650" cy="861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生成网络</a:t>
            </a:r>
            <a:endParaRPr lang="en-US" altLang="zh-TW" sz="2400" dirty="0"/>
          </a:p>
          <a:p>
            <a:pPr algn="ctr"/>
            <a:r>
              <a:rPr lang="en-US" altLang="zh-TW" sz="2400" dirty="0"/>
              <a:t>v1</a:t>
            </a:r>
            <a:endParaRPr lang="zh-TW" altLang="en-US" sz="2400" dirty="0"/>
          </a:p>
        </p:txBody>
      </p:sp>
      <p:grpSp>
        <p:nvGrpSpPr>
          <p:cNvPr id="29" name="群組 28"/>
          <p:cNvGrpSpPr/>
          <p:nvPr/>
        </p:nvGrpSpPr>
        <p:grpSpPr>
          <a:xfrm>
            <a:off x="4800601" y="2135577"/>
            <a:ext cx="2302299" cy="700745"/>
            <a:chOff x="2926927" y="2258346"/>
            <a:chExt cx="2302299" cy="700745"/>
          </a:xfrm>
        </p:grpSpPr>
        <p:sp>
          <p:nvSpPr>
            <p:cNvPr id="25" name="語音泡泡: 圓角矩形 24"/>
            <p:cNvSpPr/>
            <p:nvPr/>
          </p:nvSpPr>
          <p:spPr>
            <a:xfrm>
              <a:off x="2926927" y="2258346"/>
              <a:ext cx="2302299" cy="700745"/>
            </a:xfrm>
            <a:prstGeom prst="wedgeRoundRectCallout">
              <a:avLst>
                <a:gd name="adj1" fmla="val -76075"/>
                <a:gd name="adj2" fmla="val -41061"/>
                <a:gd name="adj3" fmla="val 16667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2400" dirty="0"/>
            </a:p>
          </p:txBody>
        </p:sp>
        <p:pic>
          <p:nvPicPr>
            <p:cNvPr id="10" name="圖片 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66173" y="2336909"/>
              <a:ext cx="2081864" cy="549612"/>
            </a:xfrm>
            <a:prstGeom prst="rect">
              <a:avLst/>
            </a:prstGeom>
          </p:spPr>
        </p:pic>
      </p:grpSp>
      <p:sp>
        <p:nvSpPr>
          <p:cNvPr id="11" name="矩形 10"/>
          <p:cNvSpPr/>
          <p:nvPr/>
        </p:nvSpPr>
        <p:spPr>
          <a:xfrm>
            <a:off x="7876931" y="2268972"/>
            <a:ext cx="1939676" cy="8613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判别网络</a:t>
            </a:r>
            <a:endParaRPr lang="en-US" altLang="zh-TW" sz="2400" dirty="0"/>
          </a:p>
          <a:p>
            <a:pPr algn="ctr"/>
            <a:r>
              <a:rPr lang="en-US" altLang="zh-TW" sz="2400" dirty="0"/>
              <a:t>v1</a:t>
            </a:r>
            <a:endParaRPr lang="zh-TW" altLang="en-US" sz="2400" dirty="0"/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133" y="3888554"/>
            <a:ext cx="2071064" cy="521908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133" y="5567885"/>
            <a:ext cx="2106868" cy="524567"/>
          </a:xfrm>
          <a:prstGeom prst="rect">
            <a:avLst/>
          </a:prstGeom>
        </p:spPr>
      </p:pic>
      <p:grpSp>
        <p:nvGrpSpPr>
          <p:cNvPr id="21" name="群組 20"/>
          <p:cNvGrpSpPr/>
          <p:nvPr/>
        </p:nvGrpSpPr>
        <p:grpSpPr>
          <a:xfrm>
            <a:off x="8099408" y="1276357"/>
            <a:ext cx="2162335" cy="554490"/>
            <a:chOff x="3798412" y="6111526"/>
            <a:chExt cx="2162335" cy="554490"/>
          </a:xfrm>
        </p:grpSpPr>
        <p:pic>
          <p:nvPicPr>
            <p:cNvPr id="17" name="圖片 1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0747" y="6126016"/>
              <a:ext cx="540000" cy="540000"/>
            </a:xfrm>
            <a:prstGeom prst="rect">
              <a:avLst/>
            </a:prstGeom>
          </p:spPr>
        </p:pic>
        <p:pic>
          <p:nvPicPr>
            <p:cNvPr id="18" name="圖片 1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8412" y="6111526"/>
              <a:ext cx="540000" cy="540000"/>
            </a:xfrm>
            <a:prstGeom prst="rect">
              <a:avLst/>
            </a:prstGeom>
          </p:spPr>
        </p:pic>
        <p:pic>
          <p:nvPicPr>
            <p:cNvPr id="19" name="圖片 18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0747" y="6126016"/>
              <a:ext cx="540000" cy="540000"/>
            </a:xfrm>
            <a:prstGeom prst="rect">
              <a:avLst/>
            </a:prstGeom>
          </p:spPr>
        </p:pic>
        <p:pic>
          <p:nvPicPr>
            <p:cNvPr id="20" name="圖片 19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0747" y="6111526"/>
              <a:ext cx="540000" cy="540000"/>
            </a:xfrm>
            <a:prstGeom prst="rect">
              <a:avLst/>
            </a:prstGeom>
          </p:spPr>
        </p:pic>
      </p:grpSp>
      <p:sp>
        <p:nvSpPr>
          <p:cNvPr id="22" name="矩形 21"/>
          <p:cNvSpPr/>
          <p:nvPr/>
        </p:nvSpPr>
        <p:spPr>
          <a:xfrm>
            <a:off x="7876931" y="4149507"/>
            <a:ext cx="1939676" cy="86131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判别网络</a:t>
            </a:r>
            <a:endParaRPr lang="en-US" altLang="zh-TW" sz="2400" dirty="0"/>
          </a:p>
          <a:p>
            <a:pPr algn="ctr"/>
            <a:r>
              <a:rPr lang="en-US" altLang="zh-TW" sz="2400" dirty="0"/>
              <a:t>v2</a:t>
            </a:r>
            <a:endParaRPr lang="zh-TW" altLang="en-US" sz="2400" dirty="0"/>
          </a:p>
        </p:txBody>
      </p:sp>
      <p:sp>
        <p:nvSpPr>
          <p:cNvPr id="23" name="語音泡泡: 圓角矩形 22"/>
          <p:cNvSpPr/>
          <p:nvPr/>
        </p:nvSpPr>
        <p:spPr>
          <a:xfrm>
            <a:off x="5357103" y="3024878"/>
            <a:ext cx="2348344" cy="553683"/>
          </a:xfrm>
          <a:prstGeom prst="wedgeRoundRectCallout">
            <a:avLst>
              <a:gd name="adj1" fmla="val 61988"/>
              <a:gd name="adj2" fmla="val -102649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No eyes </a:t>
            </a:r>
            <a:endParaRPr lang="zh-TW" altLang="en-US" sz="2400" dirty="0"/>
          </a:p>
        </p:txBody>
      </p:sp>
      <p:sp>
        <p:nvSpPr>
          <p:cNvPr id="24" name="語音泡泡: 圓角矩形 23"/>
          <p:cNvSpPr/>
          <p:nvPr/>
        </p:nvSpPr>
        <p:spPr>
          <a:xfrm>
            <a:off x="5357103" y="4686059"/>
            <a:ext cx="2348344" cy="553683"/>
          </a:xfrm>
          <a:prstGeom prst="wedgeRoundRectCallout">
            <a:avLst>
              <a:gd name="adj1" fmla="val 61988"/>
              <a:gd name="adj2" fmla="val -102649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No mouth</a:t>
            </a:r>
            <a:endParaRPr lang="zh-TW" altLang="en-US" sz="2400" dirty="0"/>
          </a:p>
        </p:txBody>
      </p:sp>
    </p:spTree>
    <p:custDataLst>
      <p:tags r:id="rId8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MinMax</a:t>
            </a:r>
            <a:r>
              <a:rPr lang="en-US" altLang="zh-CN" dirty="0"/>
              <a:t> Game </a:t>
            </a:r>
            <a:r>
              <a:rPr lang="zh-CN" altLang="en-US" dirty="0"/>
              <a:t>（极小极大算法）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判别网络</a:t>
            </a:r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生成网络</a:t>
            </a:r>
            <a:endParaRPr lang="en-US" altLang="zh-CN" dirty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dirty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 err="1">
                <a:latin typeface="+mn-ea"/>
                <a:ea typeface="+mn-ea"/>
              </a:rPr>
              <a:t>MinMax</a:t>
            </a:r>
            <a:r>
              <a:rPr lang="en-US" altLang="zh-CN" dirty="0">
                <a:latin typeface="+mn-ea"/>
                <a:ea typeface="+mn-ea"/>
              </a:rPr>
              <a:t> Game</a:t>
            </a:r>
            <a:endParaRPr lang="en-US" altLang="zh-CN" dirty="0">
              <a:latin typeface="+mn-ea"/>
              <a:ea typeface="+mn-ea"/>
            </a:endParaRPr>
          </a:p>
          <a:p>
            <a:pPr marL="0" indent="0">
              <a:buNone/>
            </a:pPr>
            <a:endParaRPr lang="en-US" altLang="zh-CN" dirty="0">
              <a:latin typeface="+mn-ea"/>
              <a:ea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981200"/>
            <a:ext cx="9640975" cy="82981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659" y="3921410"/>
            <a:ext cx="5331341" cy="90178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548" y="5743613"/>
            <a:ext cx="9486452" cy="80958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267200" y="5136544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+mn-ea"/>
              </a:rPr>
              <a:t>注：一般用来理论分析，不是实际训练时的目标函数</a:t>
            </a:r>
            <a:endParaRPr lang="zh-CN" altLang="en-US" sz="2400" dirty="0">
              <a:solidFill>
                <a:srgbClr val="00B0F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训练过程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59912"/>
            <a:ext cx="6477000" cy="6538175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229600" y="4953000"/>
            <a:ext cx="3245658" cy="1295400"/>
            <a:chOff x="8305800" y="4800600"/>
            <a:chExt cx="3245658" cy="129540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05800" y="4876800"/>
              <a:ext cx="3169458" cy="897102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8382000" y="4800600"/>
              <a:ext cx="3169458" cy="1295400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zh-CN" altLang="en-US" sz="2400" dirty="0">
                <a:solidFill>
                  <a:srgbClr val="00B0F0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8915400" y="5716498"/>
              <a:ext cx="25451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800" dirty="0">
                  <a:solidFill>
                    <a:srgbClr val="00B0F0"/>
                  </a:solidFill>
                  <a:latin typeface="+mn-ea"/>
                </a:rPr>
                <a:t>相当于最小化上式</a:t>
              </a:r>
              <a:endParaRPr lang="zh-CN" altLang="en-US" sz="1800" dirty="0">
                <a:solidFill>
                  <a:srgbClr val="00B0F0"/>
                </a:solidFill>
                <a:latin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435367" y="2057400"/>
            <a:ext cx="335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  <a:latin typeface="+mn-ea"/>
              </a:rPr>
              <a:t>先训练</a:t>
            </a:r>
            <a:r>
              <a:rPr lang="en-US" altLang="zh-CN" sz="2000" dirty="0">
                <a:solidFill>
                  <a:srgbClr val="00B0F0"/>
                </a:solidFill>
                <a:latin typeface="+mn-ea"/>
              </a:rPr>
              <a:t>K</a:t>
            </a:r>
            <a:r>
              <a:rPr lang="zh-CN" altLang="en-US" sz="2000" dirty="0">
                <a:solidFill>
                  <a:srgbClr val="00B0F0"/>
                </a:solidFill>
                <a:latin typeface="+mn-ea"/>
              </a:rPr>
              <a:t>次判别器，即先保证判别器足够强后才开始训练生成网络</a:t>
            </a:r>
            <a:endParaRPr lang="zh-CN" altLang="en-US" sz="2000" dirty="0">
              <a:solidFill>
                <a:srgbClr val="00B0F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Anime Face Generation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52" y="1363200"/>
            <a:ext cx="4320000" cy="4320000"/>
          </a:xfrm>
        </p:spPr>
      </p:pic>
      <p:sp>
        <p:nvSpPr>
          <p:cNvPr id="7" name="文字方塊 6"/>
          <p:cNvSpPr txBox="1"/>
          <p:nvPr/>
        </p:nvSpPr>
        <p:spPr>
          <a:xfrm>
            <a:off x="2288286" y="6029504"/>
            <a:ext cx="1674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100 updates</a:t>
            </a:r>
            <a:endParaRPr lang="zh-TW" altLang="en-US" sz="2000" dirty="0"/>
          </a:p>
        </p:txBody>
      </p:sp>
      <p:pic>
        <p:nvPicPr>
          <p:cNvPr id="5" name="內容版面配置區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0535" y="1363200"/>
            <a:ext cx="4320000" cy="43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7535547" y="6019800"/>
            <a:ext cx="17379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/>
              <a:t>1000 updates</a:t>
            </a:r>
            <a:endParaRPr lang="zh-TW" altLang="en-US" sz="2000" dirty="0"/>
          </a:p>
        </p:txBody>
      </p: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Anime Face Generation</a:t>
            </a:r>
            <a:endParaRPr lang="zh-TW" altLang="en-US" dirty="0"/>
          </a:p>
        </p:txBody>
      </p:sp>
      <p:pic>
        <p:nvPicPr>
          <p:cNvPr id="13" name="內容版面配置區 12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395000"/>
            <a:ext cx="4320000" cy="4320000"/>
          </a:xfrm>
        </p:spPr>
      </p:pic>
      <p:pic>
        <p:nvPicPr>
          <p:cNvPr id="5" name="內容版面配置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1199" y="1395000"/>
            <a:ext cx="4320000" cy="43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字方塊 6"/>
          <p:cNvSpPr txBox="1"/>
          <p:nvPr/>
        </p:nvSpPr>
        <p:spPr>
          <a:xfrm>
            <a:off x="2288286" y="6029504"/>
            <a:ext cx="1902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2,000 updates</a:t>
            </a:r>
            <a:endParaRPr lang="zh-TW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7500282" y="6019800"/>
            <a:ext cx="18085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/>
              <a:t>5,000 updates</a:t>
            </a:r>
            <a:endParaRPr lang="zh-TW" alt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Anime Face Generation</a:t>
            </a:r>
            <a:endParaRPr lang="zh-TW" altLang="en-US" dirty="0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371600"/>
            <a:ext cx="4320000" cy="4320000"/>
          </a:xfrm>
        </p:spPr>
      </p:pic>
      <p:pic>
        <p:nvPicPr>
          <p:cNvPr id="5" name="內容版面配置區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0000" y="1393170"/>
            <a:ext cx="4320000" cy="43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字方塊 6"/>
          <p:cNvSpPr txBox="1"/>
          <p:nvPr/>
        </p:nvSpPr>
        <p:spPr>
          <a:xfrm>
            <a:off x="2209800" y="6029504"/>
            <a:ext cx="2368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/>
              <a:t>10,000 updates</a:t>
            </a:r>
            <a:endParaRPr lang="zh-TW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7428948" y="6019800"/>
            <a:ext cx="19511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/>
              <a:t>50,000 updates</a:t>
            </a:r>
            <a:endParaRPr lang="zh-TW" alt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755251"/>
            <a:ext cx="8798367" cy="36461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一个具体的模型：</a:t>
            </a:r>
            <a:r>
              <a:rPr lang="en-US" altLang="zh-CN" dirty="0"/>
              <a:t>DCGANs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latin typeface="+mn-ea"/>
                <a:ea typeface="+mn-ea"/>
              </a:rPr>
              <a:t>深度卷积生成对抗网络</a:t>
            </a:r>
            <a:endParaRPr lang="en-US" altLang="zh-CN" sz="2400" dirty="0">
              <a:latin typeface="+mn-ea"/>
              <a:ea typeface="+mn-ea"/>
            </a:endParaRPr>
          </a:p>
          <a:p>
            <a:pPr lvl="1"/>
            <a:r>
              <a:rPr lang="zh-CN" altLang="en-US" sz="2000" dirty="0">
                <a:latin typeface="+mn-ea"/>
                <a:ea typeface="+mn-ea"/>
              </a:rPr>
              <a:t>判别网络是一个传统的深度</a:t>
            </a:r>
            <a:r>
              <a:rPr lang="zh-CN" altLang="en-US" sz="2000" dirty="0">
                <a:solidFill>
                  <a:srgbClr val="00B0F0"/>
                </a:solidFill>
                <a:latin typeface="+mn-ea"/>
                <a:ea typeface="+mn-ea"/>
              </a:rPr>
              <a:t>卷积</a:t>
            </a:r>
            <a:r>
              <a:rPr lang="zh-CN" altLang="en-US" sz="2000" dirty="0">
                <a:latin typeface="+mn-ea"/>
                <a:ea typeface="+mn-ea"/>
              </a:rPr>
              <a:t>网络，但使用了带步长的卷积来实现下采样操作，不用最大池化（</a:t>
            </a:r>
            <a:r>
              <a:rPr lang="en-US" altLang="zh-CN" sz="2000" dirty="0">
                <a:latin typeface="+mn-ea"/>
                <a:ea typeface="+mn-ea"/>
              </a:rPr>
              <a:t>pooling</a:t>
            </a:r>
            <a:r>
              <a:rPr lang="zh-CN" altLang="en-US" sz="2000" dirty="0">
                <a:latin typeface="+mn-ea"/>
                <a:ea typeface="+mn-ea"/>
              </a:rPr>
              <a:t>）操作。</a:t>
            </a:r>
            <a:endParaRPr lang="en-US" altLang="zh-CN" sz="2000" dirty="0">
              <a:latin typeface="+mn-ea"/>
              <a:ea typeface="+mn-ea"/>
            </a:endParaRPr>
          </a:p>
          <a:p>
            <a:pPr lvl="1"/>
            <a:r>
              <a:rPr lang="zh-CN" altLang="en-US" sz="2000" dirty="0">
                <a:latin typeface="+mn-ea"/>
                <a:ea typeface="+mn-ea"/>
              </a:rPr>
              <a:t>生成网络使用一个特殊的深度</a:t>
            </a:r>
            <a:r>
              <a:rPr lang="zh-CN" altLang="en-US" sz="2000" dirty="0">
                <a:solidFill>
                  <a:srgbClr val="00B0F0"/>
                </a:solidFill>
                <a:latin typeface="+mn-ea"/>
                <a:ea typeface="+mn-ea"/>
              </a:rPr>
              <a:t>卷积</a:t>
            </a:r>
            <a:r>
              <a:rPr lang="zh-CN" altLang="en-US" sz="2000" dirty="0">
                <a:latin typeface="+mn-ea"/>
                <a:ea typeface="+mn-ea"/>
              </a:rPr>
              <a:t>网络来实现使用</a:t>
            </a:r>
            <a:r>
              <a:rPr lang="zh-CN" altLang="en-US" sz="2000" dirty="0">
                <a:solidFill>
                  <a:srgbClr val="00B0F0"/>
                </a:solidFill>
                <a:latin typeface="+mn-ea"/>
                <a:ea typeface="+mn-ea"/>
              </a:rPr>
              <a:t>微步卷积</a:t>
            </a:r>
            <a:r>
              <a:rPr lang="zh-CN" altLang="en-US" sz="2000" dirty="0">
                <a:latin typeface="+mn-ea"/>
                <a:ea typeface="+mn-ea"/>
              </a:rPr>
              <a:t>来生成</a:t>
            </a:r>
            <a:r>
              <a:rPr lang="en-US" altLang="zh-CN" sz="2000" dirty="0">
                <a:latin typeface="+mn-ea"/>
                <a:ea typeface="+mn-ea"/>
              </a:rPr>
              <a:t>64×64</a:t>
            </a:r>
            <a:r>
              <a:rPr lang="zh-CN" altLang="en-US" sz="2000" dirty="0">
                <a:latin typeface="+mn-ea"/>
                <a:ea typeface="+mn-ea"/>
              </a:rPr>
              <a:t>大小的图像。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200" y="6398108"/>
            <a:ext cx="1158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Unsupervised Representation Learning with Deep Convolutional Generative Adversarial Networks</a:t>
            </a:r>
            <a:r>
              <a:rPr lang="en-US" altLang="zh-CN" sz="1600" dirty="0"/>
              <a:t>, Radford et al., ICLR, 2016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DCGANs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05" y="1480456"/>
            <a:ext cx="10153583" cy="489236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模型分析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模型分析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l-GR" altLang="zh-CN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l-GR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已知，则最优的判别器为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r>
                  <a:rPr lang="zh-CN" altLang="en-US" dirty="0"/>
                  <a:t>目标函数变为</a:t>
                </a:r>
                <a:endParaRPr lang="zh-CN" altLang="en-US" dirty="0"/>
              </a:p>
            </p:txBody>
          </p:sp>
        </mc:Choice>
        <mc:Fallback>
          <p:sp>
            <p:nvSpPr>
              <p:cNvPr id="4" name="内容占位符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2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981200"/>
            <a:ext cx="3187083" cy="914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3586583"/>
            <a:ext cx="7966545" cy="229703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447800" y="168798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+mn-ea"/>
              </a:rPr>
              <a:t>真实分布</a:t>
            </a:r>
            <a:endParaRPr lang="zh-CN" altLang="en-US" sz="2400" dirty="0">
              <a:solidFill>
                <a:srgbClr val="00B0F0"/>
              </a:solidFill>
              <a:latin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8000" y="168798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+mn-ea"/>
              </a:rPr>
              <a:t>模型分布</a:t>
            </a:r>
            <a:endParaRPr lang="zh-CN" altLang="en-US" sz="2400" dirty="0">
              <a:solidFill>
                <a:srgbClr val="00B0F0"/>
              </a:solidFill>
              <a:latin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78049" y="1803855"/>
            <a:ext cx="4425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+mn-ea"/>
              </a:rPr>
              <a:t>课后作业：请自行推导</a:t>
            </a:r>
            <a:endParaRPr lang="en-US" altLang="zh-CN" sz="2400" dirty="0">
              <a:solidFill>
                <a:srgbClr val="00B0F0"/>
              </a:solidFill>
              <a:latin typeface="+mn-ea"/>
            </a:endParaRPr>
          </a:p>
          <a:p>
            <a:r>
              <a:rPr lang="zh-CN" altLang="en-US" sz="2400" dirty="0">
                <a:solidFill>
                  <a:srgbClr val="00B0F0"/>
                </a:solidFill>
                <a:latin typeface="+mn-ea"/>
              </a:rPr>
              <a:t>（提示：计算损失函数的梯度为</a:t>
            </a:r>
            <a:r>
              <a:rPr lang="en-US" altLang="zh-CN" sz="2400" dirty="0">
                <a:solidFill>
                  <a:srgbClr val="00B0F0"/>
                </a:solidFill>
                <a:latin typeface="+mn-ea"/>
              </a:rPr>
              <a:t>0</a:t>
            </a:r>
            <a:r>
              <a:rPr lang="zh-CN" altLang="en-US" sz="2400" dirty="0">
                <a:solidFill>
                  <a:srgbClr val="00B0F0"/>
                </a:solidFill>
                <a:latin typeface="+mn-ea"/>
              </a:rPr>
              <a:t>时，</a:t>
            </a:r>
            <a:r>
              <a:rPr lang="en-US" altLang="zh-CN" sz="2400" dirty="0">
                <a:solidFill>
                  <a:srgbClr val="00B0F0"/>
                </a:solidFill>
                <a:latin typeface="+mn-ea"/>
              </a:rPr>
              <a:t>D</a:t>
            </a:r>
            <a:r>
              <a:rPr lang="zh-CN" altLang="en-US" sz="2400" dirty="0">
                <a:solidFill>
                  <a:srgbClr val="00B0F0"/>
                </a:solidFill>
                <a:latin typeface="+mn-ea"/>
              </a:rPr>
              <a:t>的表达形式）</a:t>
            </a:r>
            <a:endParaRPr lang="zh-CN" altLang="en-US" sz="2400" dirty="0">
              <a:solidFill>
                <a:srgbClr val="00B0F0"/>
              </a:solidFill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305800" y="4920045"/>
            <a:ext cx="3733801" cy="1064958"/>
            <a:chOff x="8077198" y="5139560"/>
            <a:chExt cx="3733801" cy="1064958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53400" y="5139560"/>
              <a:ext cx="3510765" cy="58307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53400" y="5774520"/>
              <a:ext cx="1556698" cy="429997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矩形 12"/>
            <p:cNvSpPr/>
            <p:nvPr/>
          </p:nvSpPr>
          <p:spPr>
            <a:xfrm>
              <a:off x="8077198" y="5153642"/>
              <a:ext cx="3733801" cy="1050876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zh-CN" altLang="en-US" sz="2400" dirty="0">
                <a:solidFill>
                  <a:srgbClr val="00B0F0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381705" y="5883614"/>
                <a:ext cx="7892099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90204" pitchFamily="34" charset="0"/>
                  <a:buChar char="•"/>
                </a:pPr>
                <a:r>
                  <a:rPr lang="zh-CN" altLang="en-US" dirty="0"/>
                  <a:t>在生成对抗网络中，当判别网络为最优时，生成网络的优化目标是最小化真实分布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和模型分布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之间的JS散度。</a:t>
                </a:r>
                <a:endParaRPr lang="en-US" altLang="zh-CN" dirty="0"/>
              </a:p>
              <a:p>
                <a:pPr marL="285750" indent="-285750">
                  <a:buFont typeface="Arial" panose="020B0604020202090204" pitchFamily="34" charset="0"/>
                  <a:buChar char="•"/>
                </a:pPr>
                <a:r>
                  <a:rPr lang="zh-CN" altLang="en-US" dirty="0"/>
                  <a:t>当两个</a:t>
                </a:r>
                <a:r>
                  <a:rPr lang="zh-CN" altLang="en-US" dirty="0">
                    <a:solidFill>
                      <a:srgbClr val="00B0F0"/>
                    </a:solidFill>
                  </a:rPr>
                  <a:t>分布相同</a:t>
                </a:r>
                <a:r>
                  <a:rPr lang="zh-CN" altLang="en-US" dirty="0"/>
                  <a:t>时，</a:t>
                </a:r>
                <a:r>
                  <a:rPr lang="zh-CN" altLang="en-US" dirty="0">
                    <a:solidFill>
                      <a:srgbClr val="00B0F0"/>
                    </a:solidFill>
                  </a:rPr>
                  <a:t>JS散度为0</a:t>
                </a:r>
                <a:r>
                  <a:rPr lang="zh-CN" altLang="en-US" dirty="0"/>
                  <a:t>，最优生成网络对应的损失为−2log2。</a:t>
                </a:r>
                <a:endParaRPr lang="zh-CN" altLang="en-US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05" y="5883614"/>
                <a:ext cx="7892099" cy="923330"/>
              </a:xfrm>
              <a:prstGeom prst="rect">
                <a:avLst/>
              </a:prstGeom>
              <a:blipFill rotWithShape="1">
                <a:blip r:embed="rId6"/>
                <a:stretch>
                  <a:fillRect l="-1" t="-37" r="5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不稳定性：生成网络的梯度消失</a:t>
            </a:r>
            <a:endParaRPr lang="zh-CN" altLang="en-US" dirty="0"/>
          </a:p>
        </p:txBody>
      </p:sp>
      <p:pic>
        <p:nvPicPr>
          <p:cNvPr id="4" name="内容占位符 4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09800" y="1002182"/>
            <a:ext cx="7565800" cy="77055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/>
          <p:cNvSpPr/>
          <p:nvPr/>
        </p:nvSpPr>
        <p:spPr>
          <a:xfrm>
            <a:off x="659969" y="2851921"/>
            <a:ext cx="596943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000" dirty="0"/>
              <a:t>使用JS散度来训练生成对抗网络的一个问题是当两个分布</a:t>
            </a:r>
            <a:r>
              <a:rPr lang="zh-CN" altLang="en-US" sz="2000" dirty="0">
                <a:solidFill>
                  <a:srgbClr val="00B0F0"/>
                </a:solidFill>
              </a:rPr>
              <a:t>没有重叠</a:t>
            </a:r>
            <a:r>
              <a:rPr lang="zh-CN" altLang="en-US" sz="2000" dirty="0"/>
              <a:t>时，它们之间的</a:t>
            </a:r>
            <a:r>
              <a:rPr lang="zh-CN" altLang="en-US" sz="2000" dirty="0">
                <a:solidFill>
                  <a:srgbClr val="00B0F0"/>
                </a:solidFill>
              </a:rPr>
              <a:t>JS散度恒等于常数log2</a:t>
            </a:r>
            <a:r>
              <a:rPr lang="zh-CN" altLang="en-US" sz="2000" dirty="0"/>
              <a:t>。（自行阅读</a:t>
            </a:r>
            <a:r>
              <a:rPr lang="zh-CN" altLang="en-US" sz="2000" dirty="0">
                <a:hlinkClick r:id="rId2"/>
              </a:rPr>
              <a:t>证明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2000" dirty="0"/>
              <a:t>对生成网络来说，目标函数关于参数的</a:t>
            </a:r>
            <a:r>
              <a:rPr lang="zh-CN" altLang="en-US" sz="2000" dirty="0">
                <a:solidFill>
                  <a:srgbClr val="00B0F0"/>
                </a:solidFill>
              </a:rPr>
              <a:t>梯度为0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950" y="2890677"/>
            <a:ext cx="1910493" cy="87632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850" y="4392215"/>
            <a:ext cx="6448699" cy="1731301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4038600" y="2002627"/>
            <a:ext cx="3429000" cy="412410"/>
            <a:chOff x="3505201" y="2124670"/>
            <a:chExt cx="4800599" cy="57737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05201" y="2124670"/>
              <a:ext cx="1524000" cy="577374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53000" y="2148732"/>
              <a:ext cx="3352800" cy="529389"/>
            </a:xfrm>
            <a:prstGeom prst="rect">
              <a:avLst/>
            </a:prstGeom>
          </p:spPr>
        </p:pic>
      </p:grpSp>
      <p:sp>
        <p:nvSpPr>
          <p:cNvPr id="13" name="下箭头 5"/>
          <p:cNvSpPr/>
          <p:nvPr/>
        </p:nvSpPr>
        <p:spPr>
          <a:xfrm>
            <a:off x="5562600" y="1720965"/>
            <a:ext cx="609600" cy="275481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991600" y="3124200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B0F0"/>
                </a:solidFill>
                <a:latin typeface="+mn-ea"/>
              </a:rPr>
              <a:t>无法优化生成网络</a:t>
            </a:r>
            <a:endParaRPr lang="zh-CN" altLang="en-US" sz="2400" b="1" dirty="0">
              <a:solidFill>
                <a:srgbClr val="00B0F0"/>
              </a:solidFill>
              <a:latin typeface="+mn-ea"/>
            </a:endParaRPr>
          </a:p>
        </p:txBody>
      </p:sp>
      <p:sp>
        <p:nvSpPr>
          <p:cNvPr id="15" name="下箭头 5"/>
          <p:cNvSpPr/>
          <p:nvPr/>
        </p:nvSpPr>
        <p:spPr>
          <a:xfrm rot="16200000">
            <a:off x="8420609" y="3218594"/>
            <a:ext cx="609600" cy="275481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471850" y="6049547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B050"/>
                </a:solidFill>
                <a:latin typeface="+mn-ea"/>
              </a:rPr>
              <a:t>判别网络很容易达到最优</a:t>
            </a:r>
            <a:endParaRPr lang="zh-CN" altLang="en-US" sz="2400" b="1" dirty="0">
              <a:solidFill>
                <a:srgbClr val="00B05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改进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弱化判别器</a:t>
            </a:r>
            <a:endParaRPr lang="en-US" altLang="zh-CN" dirty="0"/>
          </a:p>
          <a:p>
            <a:r>
              <a:rPr lang="zh-CN" altLang="en-US" dirty="0"/>
              <a:t>使用更好的损失函数</a:t>
            </a:r>
            <a:endParaRPr lang="zh-CN" altLang="en-US" dirty="0"/>
          </a:p>
        </p:txBody>
      </p:sp>
      <p:sp>
        <p:nvSpPr>
          <p:cNvPr id="4" name="橢圓 20"/>
          <p:cNvSpPr/>
          <p:nvPr/>
        </p:nvSpPr>
        <p:spPr>
          <a:xfrm>
            <a:off x="2732490" y="5038191"/>
            <a:ext cx="241666" cy="2416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21"/>
          <p:cNvSpPr/>
          <p:nvPr/>
        </p:nvSpPr>
        <p:spPr>
          <a:xfrm>
            <a:off x="3625188" y="5038191"/>
            <a:ext cx="241666" cy="2416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22"/>
          <p:cNvSpPr/>
          <p:nvPr/>
        </p:nvSpPr>
        <p:spPr>
          <a:xfrm>
            <a:off x="3169514" y="4348576"/>
            <a:ext cx="241666" cy="2416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23"/>
          <p:cNvSpPr/>
          <p:nvPr/>
        </p:nvSpPr>
        <p:spPr>
          <a:xfrm>
            <a:off x="4764693" y="4209100"/>
            <a:ext cx="241666" cy="2416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24"/>
          <p:cNvSpPr/>
          <p:nvPr/>
        </p:nvSpPr>
        <p:spPr>
          <a:xfrm>
            <a:off x="4013721" y="3483282"/>
            <a:ext cx="241666" cy="2416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25"/>
          <p:cNvSpPr/>
          <p:nvPr/>
        </p:nvSpPr>
        <p:spPr>
          <a:xfrm>
            <a:off x="4968092" y="3438650"/>
            <a:ext cx="241666" cy="2416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26"/>
          <p:cNvSpPr/>
          <p:nvPr/>
        </p:nvSpPr>
        <p:spPr>
          <a:xfrm>
            <a:off x="4240845" y="4057039"/>
            <a:ext cx="241666" cy="24166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27"/>
          <p:cNvSpPr/>
          <p:nvPr/>
        </p:nvSpPr>
        <p:spPr>
          <a:xfrm>
            <a:off x="4523027" y="3137974"/>
            <a:ext cx="241666" cy="24166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28"/>
          <p:cNvSpPr/>
          <p:nvPr/>
        </p:nvSpPr>
        <p:spPr>
          <a:xfrm>
            <a:off x="5467289" y="3680316"/>
            <a:ext cx="241666" cy="24166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29"/>
          <p:cNvSpPr/>
          <p:nvPr/>
        </p:nvSpPr>
        <p:spPr>
          <a:xfrm>
            <a:off x="5673130" y="4668123"/>
            <a:ext cx="241666" cy="24166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30"/>
          <p:cNvSpPr/>
          <p:nvPr/>
        </p:nvSpPr>
        <p:spPr>
          <a:xfrm>
            <a:off x="5402560" y="5038191"/>
            <a:ext cx="241666" cy="24166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31"/>
          <p:cNvSpPr/>
          <p:nvPr/>
        </p:nvSpPr>
        <p:spPr>
          <a:xfrm>
            <a:off x="6394707" y="5130942"/>
            <a:ext cx="241666" cy="24166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32"/>
          <p:cNvSpPr/>
          <p:nvPr/>
        </p:nvSpPr>
        <p:spPr>
          <a:xfrm>
            <a:off x="6614927" y="4422682"/>
            <a:ext cx="241666" cy="241666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33"/>
          <p:cNvSpPr/>
          <p:nvPr/>
        </p:nvSpPr>
        <p:spPr>
          <a:xfrm>
            <a:off x="3635775" y="4590243"/>
            <a:ext cx="241666" cy="2416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手繪多邊形: 圖案 34"/>
          <p:cNvSpPr/>
          <p:nvPr/>
        </p:nvSpPr>
        <p:spPr>
          <a:xfrm>
            <a:off x="4033974" y="2922508"/>
            <a:ext cx="1356849" cy="2944254"/>
          </a:xfrm>
          <a:custGeom>
            <a:avLst/>
            <a:gdLst>
              <a:gd name="connsiteX0" fmla="*/ 1041669 w 1041669"/>
              <a:gd name="connsiteY0" fmla="*/ 55779 h 2348405"/>
              <a:gd name="connsiteX1" fmla="*/ 1015165 w 1041669"/>
              <a:gd name="connsiteY1" fmla="*/ 532857 h 2348405"/>
              <a:gd name="connsiteX2" fmla="*/ 975408 w 1041669"/>
              <a:gd name="connsiteY2" fmla="*/ 797901 h 2348405"/>
              <a:gd name="connsiteX3" fmla="*/ 948904 w 1041669"/>
              <a:gd name="connsiteY3" fmla="*/ 1076197 h 2348405"/>
              <a:gd name="connsiteX4" fmla="*/ 909148 w 1041669"/>
              <a:gd name="connsiteY4" fmla="*/ 1261727 h 2348405"/>
              <a:gd name="connsiteX5" fmla="*/ 776626 w 1041669"/>
              <a:gd name="connsiteY5" fmla="*/ 1420753 h 2348405"/>
              <a:gd name="connsiteX6" fmla="*/ 564591 w 1041669"/>
              <a:gd name="connsiteY6" fmla="*/ 1420753 h 2348405"/>
              <a:gd name="connsiteX7" fmla="*/ 471826 w 1041669"/>
              <a:gd name="connsiteY7" fmla="*/ 1407501 h 2348405"/>
              <a:gd name="connsiteX8" fmla="*/ 432069 w 1041669"/>
              <a:gd name="connsiteY8" fmla="*/ 1248475 h 2348405"/>
              <a:gd name="connsiteX9" fmla="*/ 511582 w 1041669"/>
              <a:gd name="connsiteY9" fmla="*/ 930423 h 2348405"/>
              <a:gd name="connsiteX10" fmla="*/ 577843 w 1041669"/>
              <a:gd name="connsiteY10" fmla="*/ 572614 h 2348405"/>
              <a:gd name="connsiteX11" fmla="*/ 670608 w 1041669"/>
              <a:gd name="connsiteY11" fmla="*/ 440092 h 2348405"/>
              <a:gd name="connsiteX12" fmla="*/ 697113 w 1041669"/>
              <a:gd name="connsiteY12" fmla="*/ 161797 h 2348405"/>
              <a:gd name="connsiteX13" fmla="*/ 657356 w 1041669"/>
              <a:gd name="connsiteY13" fmla="*/ 2770 h 2348405"/>
              <a:gd name="connsiteX14" fmla="*/ 312800 w 1041669"/>
              <a:gd name="connsiteY14" fmla="*/ 69031 h 2348405"/>
              <a:gd name="connsiteX15" fmla="*/ 273043 w 1041669"/>
              <a:gd name="connsiteY15" fmla="*/ 175049 h 2348405"/>
              <a:gd name="connsiteX16" fmla="*/ 286295 w 1041669"/>
              <a:gd name="connsiteY16" fmla="*/ 453344 h 2348405"/>
              <a:gd name="connsiteX17" fmla="*/ 286295 w 1041669"/>
              <a:gd name="connsiteY17" fmla="*/ 665379 h 2348405"/>
              <a:gd name="connsiteX18" fmla="*/ 180278 w 1041669"/>
              <a:gd name="connsiteY18" fmla="*/ 837657 h 2348405"/>
              <a:gd name="connsiteX19" fmla="*/ 87513 w 1041669"/>
              <a:gd name="connsiteY19" fmla="*/ 970179 h 2348405"/>
              <a:gd name="connsiteX20" fmla="*/ 34504 w 1041669"/>
              <a:gd name="connsiteY20" fmla="*/ 1049692 h 2348405"/>
              <a:gd name="connsiteX21" fmla="*/ 8000 w 1041669"/>
              <a:gd name="connsiteY21" fmla="*/ 1274979 h 2348405"/>
              <a:gd name="connsiteX22" fmla="*/ 180278 w 1041669"/>
              <a:gd name="connsiteY22" fmla="*/ 1566527 h 2348405"/>
              <a:gd name="connsiteX23" fmla="*/ 538087 w 1041669"/>
              <a:gd name="connsiteY23" fmla="*/ 1911084 h 2348405"/>
              <a:gd name="connsiteX24" fmla="*/ 538087 w 1041669"/>
              <a:gd name="connsiteY24" fmla="*/ 2070110 h 2348405"/>
              <a:gd name="connsiteX25" fmla="*/ 591095 w 1041669"/>
              <a:gd name="connsiteY25" fmla="*/ 2348405 h 2348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41669" h="2348405">
                <a:moveTo>
                  <a:pt x="1041669" y="55779"/>
                </a:moveTo>
                <a:cubicBezTo>
                  <a:pt x="1033939" y="232474"/>
                  <a:pt x="1026209" y="409170"/>
                  <a:pt x="1015165" y="532857"/>
                </a:cubicBezTo>
                <a:cubicBezTo>
                  <a:pt x="1004121" y="656544"/>
                  <a:pt x="986451" y="707344"/>
                  <a:pt x="975408" y="797901"/>
                </a:cubicBezTo>
                <a:cubicBezTo>
                  <a:pt x="964365" y="888458"/>
                  <a:pt x="959947" y="998893"/>
                  <a:pt x="948904" y="1076197"/>
                </a:cubicBezTo>
                <a:cubicBezTo>
                  <a:pt x="937861" y="1153501"/>
                  <a:pt x="937861" y="1204301"/>
                  <a:pt x="909148" y="1261727"/>
                </a:cubicBezTo>
                <a:cubicBezTo>
                  <a:pt x="880435" y="1319153"/>
                  <a:pt x="834052" y="1394249"/>
                  <a:pt x="776626" y="1420753"/>
                </a:cubicBezTo>
                <a:cubicBezTo>
                  <a:pt x="719200" y="1447257"/>
                  <a:pt x="615391" y="1422962"/>
                  <a:pt x="564591" y="1420753"/>
                </a:cubicBezTo>
                <a:cubicBezTo>
                  <a:pt x="513791" y="1418544"/>
                  <a:pt x="493913" y="1436214"/>
                  <a:pt x="471826" y="1407501"/>
                </a:cubicBezTo>
                <a:cubicBezTo>
                  <a:pt x="449739" y="1378788"/>
                  <a:pt x="425443" y="1327988"/>
                  <a:pt x="432069" y="1248475"/>
                </a:cubicBezTo>
                <a:cubicBezTo>
                  <a:pt x="438695" y="1168962"/>
                  <a:pt x="487286" y="1043066"/>
                  <a:pt x="511582" y="930423"/>
                </a:cubicBezTo>
                <a:cubicBezTo>
                  <a:pt x="535878" y="817780"/>
                  <a:pt x="551339" y="654336"/>
                  <a:pt x="577843" y="572614"/>
                </a:cubicBezTo>
                <a:cubicBezTo>
                  <a:pt x="604347" y="490892"/>
                  <a:pt x="650730" y="508561"/>
                  <a:pt x="670608" y="440092"/>
                </a:cubicBezTo>
                <a:cubicBezTo>
                  <a:pt x="690486" y="371623"/>
                  <a:pt x="699322" y="234684"/>
                  <a:pt x="697113" y="161797"/>
                </a:cubicBezTo>
                <a:cubicBezTo>
                  <a:pt x="694904" y="88910"/>
                  <a:pt x="721408" y="18231"/>
                  <a:pt x="657356" y="2770"/>
                </a:cubicBezTo>
                <a:cubicBezTo>
                  <a:pt x="593304" y="-12691"/>
                  <a:pt x="376852" y="40318"/>
                  <a:pt x="312800" y="69031"/>
                </a:cubicBezTo>
                <a:cubicBezTo>
                  <a:pt x="248748" y="97744"/>
                  <a:pt x="277461" y="110997"/>
                  <a:pt x="273043" y="175049"/>
                </a:cubicBezTo>
                <a:cubicBezTo>
                  <a:pt x="268625" y="239101"/>
                  <a:pt x="284086" y="371622"/>
                  <a:pt x="286295" y="453344"/>
                </a:cubicBezTo>
                <a:cubicBezTo>
                  <a:pt x="288504" y="535066"/>
                  <a:pt x="303964" y="601327"/>
                  <a:pt x="286295" y="665379"/>
                </a:cubicBezTo>
                <a:cubicBezTo>
                  <a:pt x="268626" y="729431"/>
                  <a:pt x="213408" y="786857"/>
                  <a:pt x="180278" y="837657"/>
                </a:cubicBezTo>
                <a:cubicBezTo>
                  <a:pt x="147148" y="888457"/>
                  <a:pt x="111809" y="934840"/>
                  <a:pt x="87513" y="970179"/>
                </a:cubicBezTo>
                <a:cubicBezTo>
                  <a:pt x="63217" y="1005518"/>
                  <a:pt x="47756" y="998892"/>
                  <a:pt x="34504" y="1049692"/>
                </a:cubicBezTo>
                <a:cubicBezTo>
                  <a:pt x="21252" y="1100492"/>
                  <a:pt x="-16296" y="1188840"/>
                  <a:pt x="8000" y="1274979"/>
                </a:cubicBezTo>
                <a:cubicBezTo>
                  <a:pt x="32296" y="1361118"/>
                  <a:pt x="91930" y="1460510"/>
                  <a:pt x="180278" y="1566527"/>
                </a:cubicBezTo>
                <a:cubicBezTo>
                  <a:pt x="268626" y="1672544"/>
                  <a:pt x="478452" y="1827154"/>
                  <a:pt x="538087" y="1911084"/>
                </a:cubicBezTo>
                <a:cubicBezTo>
                  <a:pt x="597722" y="1995015"/>
                  <a:pt x="529252" y="1997223"/>
                  <a:pt x="538087" y="2070110"/>
                </a:cubicBezTo>
                <a:cubicBezTo>
                  <a:pt x="546922" y="2142997"/>
                  <a:pt x="569008" y="2245701"/>
                  <a:pt x="591095" y="2348405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9" name="群組 35"/>
          <p:cNvGrpSpPr/>
          <p:nvPr/>
        </p:nvGrpSpPr>
        <p:grpSpPr>
          <a:xfrm>
            <a:off x="7927941" y="2917417"/>
            <a:ext cx="2161035" cy="879657"/>
            <a:chOff x="935012" y="2092901"/>
            <a:chExt cx="2161035" cy="879657"/>
          </a:xfrm>
        </p:grpSpPr>
        <p:grpSp>
          <p:nvGrpSpPr>
            <p:cNvPr id="20" name="群組 36"/>
            <p:cNvGrpSpPr/>
            <p:nvPr/>
          </p:nvGrpSpPr>
          <p:grpSpPr>
            <a:xfrm>
              <a:off x="1110851" y="2134433"/>
              <a:ext cx="1985196" cy="785117"/>
              <a:chOff x="711939" y="2110962"/>
              <a:chExt cx="1985196" cy="785117"/>
            </a:xfrm>
          </p:grpSpPr>
          <p:sp>
            <p:nvSpPr>
              <p:cNvPr id="22" name="橢圓 38"/>
              <p:cNvSpPr/>
              <p:nvPr/>
            </p:nvSpPr>
            <p:spPr>
              <a:xfrm flipV="1">
                <a:off x="714412" y="2213381"/>
                <a:ext cx="241954" cy="241954"/>
              </a:xfrm>
              <a:prstGeom prst="ellipse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橢圓 39"/>
              <p:cNvSpPr/>
              <p:nvPr/>
            </p:nvSpPr>
            <p:spPr>
              <a:xfrm flipV="1">
                <a:off x="711939" y="2572160"/>
                <a:ext cx="241954" cy="241954"/>
              </a:xfrm>
              <a:prstGeom prst="ellipse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文字方塊 40"/>
              <p:cNvSpPr txBox="1"/>
              <p:nvPr/>
            </p:nvSpPr>
            <p:spPr>
              <a:xfrm>
                <a:off x="1013505" y="2110962"/>
                <a:ext cx="13247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real</a:t>
                </a:r>
                <a:endParaRPr lang="zh-TW" altLang="en-US" sz="2400" dirty="0"/>
              </a:p>
            </p:txBody>
          </p:sp>
          <p:sp>
            <p:nvSpPr>
              <p:cNvPr id="25" name="文字方塊 41"/>
              <p:cNvSpPr txBox="1"/>
              <p:nvPr/>
            </p:nvSpPr>
            <p:spPr>
              <a:xfrm>
                <a:off x="989843" y="2434414"/>
                <a:ext cx="170729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generated</a:t>
                </a:r>
                <a:endParaRPr lang="zh-TW" altLang="en-US" sz="2400" dirty="0"/>
              </a:p>
            </p:txBody>
          </p:sp>
        </p:grpSp>
        <p:sp>
          <p:nvSpPr>
            <p:cNvPr id="21" name="矩形 20"/>
            <p:cNvSpPr/>
            <p:nvPr/>
          </p:nvSpPr>
          <p:spPr>
            <a:xfrm>
              <a:off x="935012" y="2092901"/>
              <a:ext cx="1985196" cy="87965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26" name="直線接點 5"/>
          <p:cNvCxnSpPr/>
          <p:nvPr/>
        </p:nvCxnSpPr>
        <p:spPr>
          <a:xfrm>
            <a:off x="3206687" y="3350078"/>
            <a:ext cx="2278078" cy="23790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8"/>
          <p:cNvSpPr txBox="1"/>
          <p:nvPr/>
        </p:nvSpPr>
        <p:spPr>
          <a:xfrm>
            <a:off x="5484765" y="2849115"/>
            <a:ext cx="1395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strong</a:t>
            </a:r>
            <a:endParaRPr lang="zh-TW" altLang="en-US" sz="2400" dirty="0"/>
          </a:p>
        </p:txBody>
      </p:sp>
      <p:sp>
        <p:nvSpPr>
          <p:cNvPr id="28" name="文字方塊 42"/>
          <p:cNvSpPr txBox="1"/>
          <p:nvPr/>
        </p:nvSpPr>
        <p:spPr>
          <a:xfrm>
            <a:off x="2209800" y="3198167"/>
            <a:ext cx="1395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weak</a:t>
            </a:r>
            <a:endParaRPr lang="zh-TW" altLang="en-US" sz="2400" dirty="0"/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Least Square GAN (LSGAN)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n-ea"/>
                <a:ea typeface="+mn-ea"/>
              </a:rPr>
              <a:t>Replace sigmoid with linear (replace classification with regression)</a:t>
            </a:r>
            <a:endParaRPr lang="zh-TW" altLang="en-US" dirty="0">
              <a:latin typeface="+mn-ea"/>
              <a:ea typeface="+mn-ea"/>
            </a:endParaRPr>
          </a:p>
        </p:txBody>
      </p:sp>
      <p:cxnSp>
        <p:nvCxnSpPr>
          <p:cNvPr id="4" name="直線接點 3"/>
          <p:cNvCxnSpPr/>
          <p:nvPr/>
        </p:nvCxnSpPr>
        <p:spPr>
          <a:xfrm>
            <a:off x="6095715" y="6030935"/>
            <a:ext cx="360895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橢圓 5"/>
          <p:cNvSpPr/>
          <p:nvPr/>
        </p:nvSpPr>
        <p:spPr>
          <a:xfrm>
            <a:off x="8542098" y="5935622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/>
        </p:nvSpPr>
        <p:spPr>
          <a:xfrm>
            <a:off x="8356978" y="5935621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8706306" y="5935620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8093438" y="5933578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8981809" y="5945147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7025440" y="5924052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6840320" y="5924051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7189648" y="5924050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6576780" y="5922008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7465151" y="5933577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/>
          <p:nvPr/>
        </p:nvCxnSpPr>
        <p:spPr>
          <a:xfrm flipV="1">
            <a:off x="6581772" y="4695259"/>
            <a:ext cx="2731552" cy="175117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4917287" y="3739178"/>
            <a:ext cx="1108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0000FF"/>
                </a:solidFill>
              </a:rPr>
              <a:t>1 (Real)</a:t>
            </a:r>
            <a:endParaRPr lang="zh-TW" altLang="en-US" sz="2400" dirty="0">
              <a:solidFill>
                <a:srgbClr val="0000FF"/>
              </a:solidFill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9136568" y="3739178"/>
            <a:ext cx="1108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0 (Fake)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grpSp>
        <p:nvGrpSpPr>
          <p:cNvPr id="5" name="群組 4"/>
          <p:cNvGrpSpPr/>
          <p:nvPr/>
        </p:nvGrpSpPr>
        <p:grpSpPr>
          <a:xfrm>
            <a:off x="1940279" y="2847124"/>
            <a:ext cx="4003255" cy="1035101"/>
            <a:chOff x="875522" y="2833778"/>
            <a:chExt cx="4003255" cy="1035101"/>
          </a:xfrm>
        </p:grpSpPr>
        <p:pic>
          <p:nvPicPr>
            <p:cNvPr id="46" name="圖片 4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522" y="2833778"/>
              <a:ext cx="879920" cy="879920"/>
            </a:xfrm>
            <a:prstGeom prst="rect">
              <a:avLst/>
            </a:prstGeom>
          </p:spPr>
        </p:pic>
        <p:sp>
          <p:nvSpPr>
            <p:cNvPr id="47" name="矩形 46"/>
            <p:cNvSpPr/>
            <p:nvPr/>
          </p:nvSpPr>
          <p:spPr>
            <a:xfrm>
              <a:off x="2190093" y="2847660"/>
              <a:ext cx="1355850" cy="85215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/>
                <a:t>判别网络</a:t>
              </a:r>
              <a:endParaRPr lang="en-US" altLang="zh-TW" sz="2000" dirty="0"/>
            </a:p>
          </p:txBody>
        </p:sp>
        <p:sp>
          <p:nvSpPr>
            <p:cNvPr id="48" name="箭號: 向右 47"/>
            <p:cNvSpPr/>
            <p:nvPr/>
          </p:nvSpPr>
          <p:spPr>
            <a:xfrm>
              <a:off x="1755442" y="3038233"/>
              <a:ext cx="407291" cy="49770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箭號: 向右 48"/>
            <p:cNvSpPr/>
            <p:nvPr/>
          </p:nvSpPr>
          <p:spPr>
            <a:xfrm>
              <a:off x="3560817" y="3038233"/>
              <a:ext cx="407291" cy="49770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3935072" y="3037882"/>
              <a:ext cx="9437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scalar</a:t>
              </a:r>
              <a:endParaRPr lang="zh-TW" altLang="en-US" sz="2400" dirty="0"/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6186396" y="2841735"/>
            <a:ext cx="3976419" cy="1034333"/>
            <a:chOff x="4912391" y="2852915"/>
            <a:chExt cx="3976419" cy="1034333"/>
          </a:xfrm>
        </p:grpSpPr>
        <p:sp>
          <p:nvSpPr>
            <p:cNvPr id="51" name="矩形 50"/>
            <p:cNvSpPr/>
            <p:nvPr/>
          </p:nvSpPr>
          <p:spPr>
            <a:xfrm>
              <a:off x="6179053" y="2852915"/>
              <a:ext cx="1355850" cy="852155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/>
                <a:t>判别网络</a:t>
              </a:r>
              <a:endParaRPr lang="en-US" altLang="zh-TW" sz="2000" dirty="0"/>
            </a:p>
          </p:txBody>
        </p:sp>
        <p:sp>
          <p:nvSpPr>
            <p:cNvPr id="52" name="箭號: 向右 51"/>
            <p:cNvSpPr/>
            <p:nvPr/>
          </p:nvSpPr>
          <p:spPr>
            <a:xfrm>
              <a:off x="5744402" y="3043488"/>
              <a:ext cx="407291" cy="49770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箭號: 向右 52"/>
            <p:cNvSpPr/>
            <p:nvPr/>
          </p:nvSpPr>
          <p:spPr>
            <a:xfrm>
              <a:off x="7549777" y="3043488"/>
              <a:ext cx="407291" cy="497703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55" name="圖片 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12391" y="2874003"/>
              <a:ext cx="813045" cy="855836"/>
            </a:xfrm>
            <a:prstGeom prst="rect">
              <a:avLst/>
            </a:prstGeom>
          </p:spPr>
        </p:pic>
        <p:sp>
          <p:nvSpPr>
            <p:cNvPr id="57" name="文字方塊 56"/>
            <p:cNvSpPr txBox="1"/>
            <p:nvPr/>
          </p:nvSpPr>
          <p:spPr>
            <a:xfrm>
              <a:off x="7945105" y="3056251"/>
              <a:ext cx="9437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dirty="0"/>
                <a:t>scalar</a:t>
              </a:r>
              <a:endParaRPr lang="zh-TW" altLang="en-US" sz="2400" dirty="0"/>
            </a:p>
          </p:txBody>
        </p:sp>
      </p:grpSp>
      <p:cxnSp>
        <p:nvCxnSpPr>
          <p:cNvPr id="27" name="直線單箭頭接點 26"/>
          <p:cNvCxnSpPr/>
          <p:nvPr/>
        </p:nvCxnSpPr>
        <p:spPr>
          <a:xfrm>
            <a:off x="5471680" y="3435397"/>
            <a:ext cx="0" cy="410916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9690961" y="3421025"/>
            <a:ext cx="0" cy="410916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/>
          <p:nvPr/>
        </p:nvCxnSpPr>
        <p:spPr>
          <a:xfrm>
            <a:off x="2068597" y="6085977"/>
            <a:ext cx="360895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橢圓 60"/>
          <p:cNvSpPr/>
          <p:nvPr/>
        </p:nvSpPr>
        <p:spPr>
          <a:xfrm>
            <a:off x="4514980" y="5990664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4329860" y="5990663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橢圓 62"/>
          <p:cNvSpPr/>
          <p:nvPr/>
        </p:nvSpPr>
        <p:spPr>
          <a:xfrm>
            <a:off x="4679188" y="5990662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橢圓 63"/>
          <p:cNvSpPr/>
          <p:nvPr/>
        </p:nvSpPr>
        <p:spPr>
          <a:xfrm>
            <a:off x="4066320" y="5988620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橢圓 64"/>
          <p:cNvSpPr/>
          <p:nvPr/>
        </p:nvSpPr>
        <p:spPr>
          <a:xfrm>
            <a:off x="4954691" y="6000189"/>
            <a:ext cx="171577" cy="17157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橢圓 65"/>
          <p:cNvSpPr/>
          <p:nvPr/>
        </p:nvSpPr>
        <p:spPr>
          <a:xfrm>
            <a:off x="2998322" y="5979094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橢圓 66"/>
          <p:cNvSpPr/>
          <p:nvPr/>
        </p:nvSpPr>
        <p:spPr>
          <a:xfrm>
            <a:off x="2813202" y="5979093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橢圓 67"/>
          <p:cNvSpPr/>
          <p:nvPr/>
        </p:nvSpPr>
        <p:spPr>
          <a:xfrm>
            <a:off x="3162530" y="5979092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橢圓 68"/>
          <p:cNvSpPr/>
          <p:nvPr/>
        </p:nvSpPr>
        <p:spPr>
          <a:xfrm>
            <a:off x="2549662" y="5977050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橢圓 69"/>
          <p:cNvSpPr/>
          <p:nvPr/>
        </p:nvSpPr>
        <p:spPr>
          <a:xfrm>
            <a:off x="3438033" y="5988619"/>
            <a:ext cx="171577" cy="171577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手繪多邊形: 圖案 70"/>
          <p:cNvSpPr/>
          <p:nvPr/>
        </p:nvSpPr>
        <p:spPr>
          <a:xfrm rot="21343433">
            <a:off x="2537017" y="4859018"/>
            <a:ext cx="2532185" cy="1012995"/>
          </a:xfrm>
          <a:custGeom>
            <a:avLst/>
            <a:gdLst>
              <a:gd name="connsiteX0" fmla="*/ 0 w 2532185"/>
              <a:gd name="connsiteY0" fmla="*/ 897768 h 897768"/>
              <a:gd name="connsiteX1" fmla="*/ 1111348 w 2532185"/>
              <a:gd name="connsiteY1" fmla="*/ 714888 h 897768"/>
              <a:gd name="connsiteX2" fmla="*/ 1688124 w 2532185"/>
              <a:gd name="connsiteY2" fmla="*/ 95909 h 897768"/>
              <a:gd name="connsiteX3" fmla="*/ 2532185 w 2532185"/>
              <a:gd name="connsiteY3" fmla="*/ 11503 h 897768"/>
              <a:gd name="connsiteX0-1" fmla="*/ 0 w 2532185"/>
              <a:gd name="connsiteY0-2" fmla="*/ 897768 h 960905"/>
              <a:gd name="connsiteX1-3" fmla="*/ 1216231 w 2532185"/>
              <a:gd name="connsiteY1-4" fmla="*/ 908987 h 960905"/>
              <a:gd name="connsiteX2-5" fmla="*/ 1688124 w 2532185"/>
              <a:gd name="connsiteY2-6" fmla="*/ 95909 h 960905"/>
              <a:gd name="connsiteX3-7" fmla="*/ 2532185 w 2532185"/>
              <a:gd name="connsiteY3-8" fmla="*/ 11503 h 960905"/>
              <a:gd name="connsiteX0-9" fmla="*/ 0 w 2532185"/>
              <a:gd name="connsiteY0-10" fmla="*/ 897768 h 1010264"/>
              <a:gd name="connsiteX1-11" fmla="*/ 1216231 w 2532185"/>
              <a:gd name="connsiteY1-12" fmla="*/ 908987 h 1010264"/>
              <a:gd name="connsiteX2-13" fmla="*/ 1688124 w 2532185"/>
              <a:gd name="connsiteY2-14" fmla="*/ 95909 h 1010264"/>
              <a:gd name="connsiteX3-15" fmla="*/ 2532185 w 2532185"/>
              <a:gd name="connsiteY3-16" fmla="*/ 11503 h 1010264"/>
              <a:gd name="connsiteX0-17" fmla="*/ 0 w 2532185"/>
              <a:gd name="connsiteY0-18" fmla="*/ 889666 h 1002162"/>
              <a:gd name="connsiteX1-19" fmla="*/ 1216231 w 2532185"/>
              <a:gd name="connsiteY1-20" fmla="*/ 900885 h 1002162"/>
              <a:gd name="connsiteX2-21" fmla="*/ 1688124 w 2532185"/>
              <a:gd name="connsiteY2-22" fmla="*/ 87807 h 1002162"/>
              <a:gd name="connsiteX3-23" fmla="*/ 2532185 w 2532185"/>
              <a:gd name="connsiteY3-24" fmla="*/ 3401 h 1002162"/>
              <a:gd name="connsiteX0-25" fmla="*/ 0 w 2532185"/>
              <a:gd name="connsiteY0-26" fmla="*/ 941154 h 1012995"/>
              <a:gd name="connsiteX1-27" fmla="*/ 1216231 w 2532185"/>
              <a:gd name="connsiteY1-28" fmla="*/ 952373 h 1012995"/>
              <a:gd name="connsiteX2-29" fmla="*/ 1630158 w 2532185"/>
              <a:gd name="connsiteY2-30" fmla="*/ 20342 h 1012995"/>
              <a:gd name="connsiteX3-31" fmla="*/ 2532185 w 2532185"/>
              <a:gd name="connsiteY3-32" fmla="*/ 54889 h 10129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532185" h="1012995">
                <a:moveTo>
                  <a:pt x="0" y="941154"/>
                </a:moveTo>
                <a:cubicBezTo>
                  <a:pt x="414997" y="916535"/>
                  <a:pt x="944538" y="1105842"/>
                  <a:pt x="1216231" y="952373"/>
                </a:cubicBezTo>
                <a:cubicBezTo>
                  <a:pt x="1487924" y="798904"/>
                  <a:pt x="1393352" y="137573"/>
                  <a:pt x="1630158" y="20342"/>
                </a:cubicBezTo>
                <a:cubicBezTo>
                  <a:pt x="1991287" y="-35059"/>
                  <a:pt x="2228557" y="38476"/>
                  <a:pt x="2532185" y="54889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文字方塊 71"/>
          <p:cNvSpPr txBox="1"/>
          <p:nvPr/>
        </p:nvSpPr>
        <p:spPr>
          <a:xfrm>
            <a:off x="2025025" y="4981904"/>
            <a:ext cx="2041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They don’t move.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9725689" y="5813116"/>
            <a:ext cx="398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0</a:t>
            </a:r>
            <a:endParaRPr lang="zh-TW" altLang="en-US" sz="2400" dirty="0"/>
          </a:p>
        </p:txBody>
      </p:sp>
      <p:cxnSp>
        <p:nvCxnSpPr>
          <p:cNvPr id="73" name="直線接點 72"/>
          <p:cNvCxnSpPr/>
          <p:nvPr/>
        </p:nvCxnSpPr>
        <p:spPr>
          <a:xfrm>
            <a:off x="6143073" y="5083405"/>
            <a:ext cx="3608951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9716684" y="4848808"/>
            <a:ext cx="398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1</a:t>
            </a:r>
            <a:endParaRPr lang="zh-TW" altLang="en-US" sz="2400" dirty="0"/>
          </a:p>
        </p:txBody>
      </p:sp>
      <p:sp>
        <p:nvSpPr>
          <p:cNvPr id="75" name="箭號: 向右 74"/>
          <p:cNvSpPr/>
          <p:nvPr/>
        </p:nvSpPr>
        <p:spPr>
          <a:xfrm>
            <a:off x="6805583" y="5268314"/>
            <a:ext cx="611288" cy="551543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6" name="群組 75"/>
          <p:cNvGrpSpPr/>
          <p:nvPr/>
        </p:nvGrpSpPr>
        <p:grpSpPr>
          <a:xfrm>
            <a:off x="9403177" y="1973316"/>
            <a:ext cx="2523339" cy="1195981"/>
            <a:chOff x="935012" y="2092901"/>
            <a:chExt cx="1993712" cy="1195981"/>
          </a:xfrm>
        </p:grpSpPr>
        <p:grpSp>
          <p:nvGrpSpPr>
            <p:cNvPr id="77" name="群組 76"/>
            <p:cNvGrpSpPr/>
            <p:nvPr/>
          </p:nvGrpSpPr>
          <p:grpSpPr>
            <a:xfrm>
              <a:off x="1110851" y="2134433"/>
              <a:ext cx="1817873" cy="1154449"/>
              <a:chOff x="711939" y="2110962"/>
              <a:chExt cx="1817873" cy="1154449"/>
            </a:xfrm>
          </p:grpSpPr>
          <p:sp>
            <p:nvSpPr>
              <p:cNvPr id="79" name="橢圓 78"/>
              <p:cNvSpPr/>
              <p:nvPr/>
            </p:nvSpPr>
            <p:spPr>
              <a:xfrm flipV="1">
                <a:off x="714412" y="2213381"/>
                <a:ext cx="241954" cy="241954"/>
              </a:xfrm>
              <a:prstGeom prst="ellipse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0" name="橢圓 79"/>
              <p:cNvSpPr/>
              <p:nvPr/>
            </p:nvSpPr>
            <p:spPr>
              <a:xfrm flipV="1">
                <a:off x="711939" y="2572160"/>
                <a:ext cx="241954" cy="241954"/>
              </a:xfrm>
              <a:prstGeom prst="ellipse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1" name="文字方塊 80"/>
              <p:cNvSpPr txBox="1"/>
              <p:nvPr/>
            </p:nvSpPr>
            <p:spPr>
              <a:xfrm>
                <a:off x="1013505" y="2110962"/>
                <a:ext cx="13247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real</a:t>
                </a:r>
                <a:endParaRPr lang="zh-TW" altLang="en-US" sz="2400" dirty="0"/>
              </a:p>
            </p:txBody>
          </p:sp>
          <p:sp>
            <p:nvSpPr>
              <p:cNvPr id="82" name="文字方塊 81"/>
              <p:cNvSpPr txBox="1"/>
              <p:nvPr/>
            </p:nvSpPr>
            <p:spPr>
              <a:xfrm>
                <a:off x="989843" y="2434414"/>
                <a:ext cx="153996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/>
                  <a:t>generated</a:t>
                </a:r>
                <a:endParaRPr lang="zh-TW" altLang="en-US" sz="2400" dirty="0"/>
              </a:p>
            </p:txBody>
          </p:sp>
        </p:grpSp>
        <p:sp>
          <p:nvSpPr>
            <p:cNvPr id="78" name="矩形 77"/>
            <p:cNvSpPr/>
            <p:nvPr/>
          </p:nvSpPr>
          <p:spPr>
            <a:xfrm>
              <a:off x="935012" y="2092901"/>
              <a:ext cx="1985196" cy="87965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2380239" y="6437663"/>
            <a:ext cx="7598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Least Squares Generative Adversarial Network,</a:t>
            </a:r>
            <a:r>
              <a:rPr lang="zh-CN" altLang="en-US" dirty="0"/>
              <a:t> </a:t>
            </a:r>
            <a:r>
              <a:rPr lang="en-US" altLang="zh-CN" dirty="0"/>
              <a:t>Mao</a:t>
            </a:r>
            <a:r>
              <a:rPr lang="zh-CN" altLang="en-US" dirty="0"/>
              <a:t> </a:t>
            </a:r>
            <a:r>
              <a:rPr lang="en-US" altLang="zh-CN" dirty="0"/>
              <a:t>et</a:t>
            </a:r>
            <a:r>
              <a:rPr lang="zh-CN" altLang="en-US" dirty="0"/>
              <a:t> </a:t>
            </a:r>
            <a:r>
              <a:rPr lang="en-US" altLang="zh-CN" dirty="0"/>
              <a:t>al.,</a:t>
            </a:r>
            <a:r>
              <a:rPr lang="zh-CN" altLang="en-US" dirty="0"/>
              <a:t> </a:t>
            </a:r>
            <a:r>
              <a:rPr lang="en-US" altLang="zh-CN" dirty="0"/>
              <a:t>ICCV,</a:t>
            </a:r>
            <a:r>
              <a:rPr lang="zh-CN" altLang="en-US" dirty="0"/>
              <a:t> </a:t>
            </a:r>
            <a:r>
              <a:rPr lang="en-US" altLang="zh-CN" dirty="0"/>
              <a:t>2017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Wasserstein GAN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Wasserstein</a:t>
            </a:r>
            <a:r>
              <a:rPr lang="zh-CN" altLang="en-US" dirty="0"/>
              <a:t>距离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80418"/>
                <a:ext cx="10363200" cy="4996546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altLang="zh-CN" dirty="0">
                    <a:latin typeface="+mn-ea"/>
                    <a:ea typeface="+mn-ea"/>
                  </a:rPr>
                  <a:t>Wasserstein</a:t>
                </a:r>
                <a:r>
                  <a:rPr lang="zh-CN" altLang="en-US" dirty="0">
                    <a:latin typeface="+mn-ea"/>
                    <a:ea typeface="+mn-ea"/>
                  </a:rPr>
                  <a:t>距离用于衡量</a:t>
                </a:r>
                <a:r>
                  <a:rPr lang="zh-CN" altLang="en-US" dirty="0">
                    <a:solidFill>
                      <a:srgbClr val="00B0F0"/>
                    </a:solidFill>
                    <a:latin typeface="+mn-ea"/>
                    <a:ea typeface="+mn-ea"/>
                  </a:rPr>
                  <a:t>两个分布之间的距离</a:t>
                </a:r>
                <a:r>
                  <a:rPr lang="zh-CN" altLang="en-US" dirty="0">
                    <a:latin typeface="+mn-ea"/>
                    <a:ea typeface="+mn-ea"/>
                  </a:rPr>
                  <a:t>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endParaRPr lang="en-US" altLang="zh-CN" dirty="0">
                  <a:latin typeface="+mn-ea"/>
                  <a:ea typeface="+mn-ea"/>
                </a:endParaRPr>
              </a:p>
              <a:p>
                <a:endParaRPr lang="en-US" altLang="zh-CN" dirty="0">
                  <a:latin typeface="+mn-ea"/>
                  <a:ea typeface="+mn-ea"/>
                </a:endParaRPr>
              </a:p>
              <a:p>
                <a:pPr lvl="1"/>
                <a:endParaRPr lang="en-US" altLang="zh-CN" dirty="0">
                  <a:latin typeface="+mn-ea"/>
                  <a:ea typeface="+mn-ea"/>
                </a:endParaRPr>
              </a:p>
              <a:p>
                <a:pPr lvl="1"/>
                <a:r>
                  <a:rPr lang="zh-CN" altLang="en-US" dirty="0">
                    <a:latin typeface="+mn-ea"/>
                    <a:ea typeface="+mn-ea"/>
                  </a:rPr>
                  <a:t>其中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0" dirty="0" smtClean="0">
                        <a:latin typeface="Cambria Math" panose="02040503050406030204" pitchFamily="18" charset="0"/>
                        <a:ea typeface="+mn-ea"/>
                      </a:rPr>
                      <m:t>Γ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是边际分布为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+mn-ea"/>
                      </a:rPr>
                      <m:t> 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的所有可能的联合分布集合，</a:t>
                </a:r>
                <a:r>
                  <a:rPr lang="en-US" altLang="zh-CN" dirty="0">
                    <a:latin typeface="+mn-ea"/>
                    <a:ea typeface="+mn-ea"/>
                  </a:rPr>
                  <a:t>d(</a:t>
                </a:r>
                <a:r>
                  <a:rPr lang="en-US" altLang="zh-CN" dirty="0" err="1">
                    <a:latin typeface="+mn-ea"/>
                    <a:ea typeface="+mn-ea"/>
                  </a:rPr>
                  <a:t>x,y</a:t>
                </a:r>
                <a:r>
                  <a:rPr lang="en-US" altLang="zh-CN" dirty="0">
                    <a:latin typeface="+mn-ea"/>
                    <a:ea typeface="+mn-ea"/>
                  </a:rPr>
                  <a:t>)</a:t>
                </a:r>
                <a:r>
                  <a:rPr lang="zh-CN" altLang="en-US" dirty="0">
                    <a:latin typeface="+mn-ea"/>
                    <a:ea typeface="+mn-ea"/>
                  </a:rPr>
                  <a:t>为</a:t>
                </a:r>
                <a:r>
                  <a:rPr lang="en-US" altLang="zh-CN" dirty="0">
                    <a:latin typeface="+mn-ea"/>
                    <a:ea typeface="+mn-ea"/>
                  </a:rPr>
                  <a:t>x</a:t>
                </a:r>
                <a:r>
                  <a:rPr lang="zh-CN" altLang="en-US" dirty="0">
                    <a:latin typeface="+mn-ea"/>
                    <a:ea typeface="+mn-ea"/>
                  </a:rPr>
                  <a:t>和</a:t>
                </a:r>
                <a:r>
                  <a:rPr lang="en-US" altLang="zh-CN" dirty="0">
                    <a:latin typeface="+mn-ea"/>
                    <a:ea typeface="+mn-ea"/>
                  </a:rPr>
                  <a:t>y</a:t>
                </a:r>
                <a:r>
                  <a:rPr lang="zh-CN" altLang="en-US" dirty="0">
                    <a:latin typeface="+mn-ea"/>
                    <a:ea typeface="+mn-ea"/>
                  </a:rPr>
                  <a:t>的距离，比如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+mn-ea"/>
                          </a:rPr>
                          <m:t>ℓ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  <a:ea typeface="+mn-ea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dirty="0">
                    <a:latin typeface="+mn-ea"/>
                    <a:ea typeface="+mn-ea"/>
                  </a:rPr>
                  <a:t> </a:t>
                </a:r>
                <a:r>
                  <a:rPr lang="zh-CN" altLang="en-US" dirty="0">
                    <a:latin typeface="+mn-ea"/>
                    <a:ea typeface="+mn-ea"/>
                  </a:rPr>
                  <a:t>距离等。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endParaRPr lang="en-US" altLang="zh-CN" dirty="0">
                  <a:latin typeface="+mn-ea"/>
                  <a:ea typeface="+mn-ea"/>
                </a:endParaRPr>
              </a:p>
              <a:p>
                <a:r>
                  <a:rPr lang="en-US" altLang="zh-CN" dirty="0">
                    <a:latin typeface="+mn-ea"/>
                    <a:ea typeface="+mn-ea"/>
                  </a:rPr>
                  <a:t>Wasserstein</a:t>
                </a:r>
                <a:r>
                  <a:rPr lang="zh-CN" altLang="en-US" dirty="0">
                    <a:latin typeface="+mn-ea"/>
                    <a:ea typeface="+mn-ea"/>
                  </a:rPr>
                  <a:t>距离相比</a:t>
                </a:r>
                <a:r>
                  <a:rPr lang="en-US" altLang="zh-CN" dirty="0">
                    <a:latin typeface="+mn-ea"/>
                    <a:ea typeface="+mn-ea"/>
                  </a:rPr>
                  <a:t>KL</a:t>
                </a:r>
                <a:r>
                  <a:rPr lang="zh-CN" altLang="en-US" dirty="0">
                    <a:latin typeface="+mn-ea"/>
                    <a:ea typeface="+mn-ea"/>
                  </a:rPr>
                  <a:t>散度和</a:t>
                </a:r>
                <a:r>
                  <a:rPr lang="en-US" altLang="zh-CN" dirty="0">
                    <a:latin typeface="+mn-ea"/>
                    <a:ea typeface="+mn-ea"/>
                  </a:rPr>
                  <a:t>JS</a:t>
                </a:r>
                <a:r>
                  <a:rPr lang="zh-CN" altLang="en-US" dirty="0">
                    <a:latin typeface="+mn-ea"/>
                    <a:ea typeface="+mn-ea"/>
                  </a:rPr>
                  <a:t>散度的优势在于：即使两个分布</a:t>
                </a:r>
                <a:r>
                  <a:rPr lang="zh-CN" altLang="en-US" dirty="0">
                    <a:solidFill>
                      <a:srgbClr val="00B0F0"/>
                    </a:solidFill>
                    <a:latin typeface="+mn-ea"/>
                    <a:ea typeface="+mn-ea"/>
                  </a:rPr>
                  <a:t>没有重叠</a:t>
                </a:r>
                <a:r>
                  <a:rPr lang="zh-CN" altLang="en-US" dirty="0">
                    <a:latin typeface="+mn-ea"/>
                    <a:ea typeface="+mn-ea"/>
                  </a:rPr>
                  <a:t>或者</a:t>
                </a:r>
                <a:r>
                  <a:rPr lang="zh-CN" altLang="en-US" dirty="0">
                    <a:solidFill>
                      <a:srgbClr val="00B0F0"/>
                    </a:solidFill>
                    <a:latin typeface="+mn-ea"/>
                    <a:ea typeface="+mn-ea"/>
                  </a:rPr>
                  <a:t>重叠非常少</a:t>
                </a:r>
                <a:r>
                  <a:rPr lang="zh-CN" altLang="en-US" dirty="0">
                    <a:latin typeface="+mn-ea"/>
                    <a:ea typeface="+mn-ea"/>
                  </a:rPr>
                  <a:t>，</a:t>
                </a:r>
                <a:r>
                  <a:rPr lang="en-US" altLang="zh-CN" dirty="0">
                    <a:latin typeface="+mn-ea"/>
                    <a:ea typeface="+mn-ea"/>
                  </a:rPr>
                  <a:t>Wasserstein</a:t>
                </a:r>
                <a:r>
                  <a:rPr lang="zh-CN" altLang="en-US" dirty="0">
                    <a:latin typeface="+mn-ea"/>
                    <a:ea typeface="+mn-ea"/>
                  </a:rPr>
                  <a:t>距离仍然能反映两个分布的远近。</a:t>
                </a:r>
                <a:endParaRPr lang="en-US" altLang="zh-CN" dirty="0">
                  <a:latin typeface="+mn-ea"/>
                  <a:ea typeface="+mn-ea"/>
                </a:endParaRPr>
              </a:p>
              <a:p>
                <a:r>
                  <a:rPr lang="en-US" altLang="zh-CN" dirty="0">
                    <a:latin typeface="+mn-ea"/>
                    <a:ea typeface="+mn-ea"/>
                  </a:rPr>
                  <a:t>W-GAN</a:t>
                </a:r>
                <a:r>
                  <a:rPr lang="zh-CN" altLang="en-US" dirty="0">
                    <a:latin typeface="+mn-ea"/>
                    <a:ea typeface="+mn-ea"/>
                  </a:rPr>
                  <a:t>：使用</a:t>
                </a:r>
                <a:r>
                  <a:rPr lang="en-US" altLang="zh-CN" dirty="0">
                    <a:latin typeface="+mn-ea"/>
                    <a:ea typeface="+mn-ea"/>
                  </a:rPr>
                  <a:t>Wasserstein</a:t>
                </a:r>
                <a:r>
                  <a:rPr lang="zh-CN" altLang="en-US" dirty="0">
                    <a:latin typeface="+mn-ea"/>
                    <a:ea typeface="+mn-ea"/>
                  </a:rPr>
                  <a:t>距离替代原始</a:t>
                </a:r>
                <a:r>
                  <a:rPr lang="en-US" altLang="zh-CN" dirty="0">
                    <a:latin typeface="+mn-ea"/>
                    <a:ea typeface="+mn-ea"/>
                  </a:rPr>
                  <a:t>GAN</a:t>
                </a:r>
                <a:r>
                  <a:rPr lang="zh-CN" altLang="en-US" dirty="0">
                    <a:latin typeface="+mn-ea"/>
                    <a:ea typeface="+mn-ea"/>
                  </a:rPr>
                  <a:t>损失函数中的</a:t>
                </a:r>
                <a:r>
                  <a:rPr lang="en-US" altLang="zh-CN" dirty="0">
                    <a:latin typeface="+mn-ea"/>
                    <a:ea typeface="+mn-ea"/>
                  </a:rPr>
                  <a:t>JS</a:t>
                </a:r>
                <a:r>
                  <a:rPr lang="zh-CN" altLang="en-US" dirty="0">
                    <a:latin typeface="+mn-ea"/>
                    <a:ea typeface="+mn-ea"/>
                  </a:rPr>
                  <a:t>散度</a:t>
                </a:r>
                <a:endParaRPr lang="en-US" altLang="zh-CN" dirty="0"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4" name="内容占位符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80418"/>
                <a:ext cx="10363200" cy="4996546"/>
              </a:xfrm>
              <a:blipFill rotWithShape="1">
                <a:blip r:embed="rId1"/>
                <a:stretch>
                  <a:fillRect t="-12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926" y="1889760"/>
            <a:ext cx="7502274" cy="10058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810000" y="3694755"/>
            <a:ext cx="6340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00B050"/>
                </a:solidFill>
                <a:latin typeface="+mn-ea"/>
              </a:rPr>
              <a:t>注：可以理解为不同分布采样点之间距离期望的下确界</a:t>
            </a:r>
            <a:endParaRPr lang="zh-CN" altLang="en-US" sz="2000" b="1" dirty="0">
              <a:solidFill>
                <a:srgbClr val="00B05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Wasserstein</a:t>
            </a:r>
            <a:r>
              <a:rPr lang="zh-CN" altLang="en-US" dirty="0"/>
              <a:t>距离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+mn-ea"/>
                    <a:ea typeface="+mn-ea"/>
                  </a:rPr>
                  <a:t>如果将两个分布看作是两个土堆，联合分布</a:t>
                </a:r>
                <a:r>
                  <a:rPr lang="en-US" altLang="zh-CN" dirty="0">
                    <a:latin typeface="+mn-ea"/>
                    <a:ea typeface="+mn-ea"/>
                  </a:rPr>
                  <a:t>γ(</a:t>
                </a:r>
                <a:r>
                  <a:rPr lang="en-US" altLang="zh-CN" dirty="0" err="1">
                    <a:latin typeface="+mn-ea"/>
                    <a:ea typeface="+mn-ea"/>
                  </a:rPr>
                  <a:t>x,y</a:t>
                </a:r>
                <a:r>
                  <a:rPr lang="en-US" altLang="zh-CN" dirty="0">
                    <a:latin typeface="+mn-ea"/>
                    <a:ea typeface="+mn-ea"/>
                  </a:rPr>
                  <a:t>)</a:t>
                </a:r>
                <a:r>
                  <a:rPr lang="zh-CN" altLang="en-US" dirty="0">
                    <a:latin typeface="+mn-ea"/>
                    <a:ea typeface="+mn-ea"/>
                  </a:rPr>
                  <a:t>看作是从土堆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的位置</a:t>
                </a:r>
                <a:r>
                  <a:rPr lang="en-US" altLang="zh-CN" dirty="0">
                    <a:latin typeface="+mn-ea"/>
                    <a:ea typeface="+mn-ea"/>
                  </a:rPr>
                  <a:t>x</a:t>
                </a:r>
                <a:r>
                  <a:rPr lang="zh-CN" altLang="en-US" dirty="0">
                    <a:latin typeface="+mn-ea"/>
                    <a:ea typeface="+mn-ea"/>
                  </a:rPr>
                  <a:t>到土堆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+mn-ea"/>
                          </a:rPr>
                          <m:t>𝑞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  <a:ea typeface="+mn-ea"/>
                  </a:rPr>
                  <a:t>的位置</a:t>
                </a:r>
                <a:r>
                  <a:rPr lang="en-US" altLang="zh-CN" dirty="0">
                    <a:latin typeface="+mn-ea"/>
                    <a:ea typeface="+mn-ea"/>
                  </a:rPr>
                  <a:t>y</a:t>
                </a:r>
                <a:r>
                  <a:rPr lang="zh-CN" altLang="en-US" dirty="0">
                    <a:latin typeface="+mn-ea"/>
                    <a:ea typeface="+mn-ea"/>
                  </a:rPr>
                  <a:t>的搬运土的数量。</a:t>
                </a:r>
                <a:r>
                  <a:rPr lang="en-US" altLang="zh-CN" dirty="0">
                    <a:latin typeface="+mn-ea"/>
                    <a:ea typeface="+mn-ea"/>
                  </a:rPr>
                  <a:t>Wasserstein</a:t>
                </a:r>
                <a:r>
                  <a:rPr lang="zh-CN" altLang="en-US" dirty="0">
                    <a:latin typeface="+mn-ea"/>
                    <a:ea typeface="+mn-ea"/>
                  </a:rPr>
                  <a:t>距离可以理解为搬运土堆的最小工作量，也称为</a:t>
                </a:r>
                <a:r>
                  <a:rPr lang="zh-CN" altLang="en-US" dirty="0">
                    <a:solidFill>
                      <a:srgbClr val="00B0F0"/>
                    </a:solidFill>
                    <a:latin typeface="+mn-ea"/>
                    <a:ea typeface="+mn-ea"/>
                  </a:rPr>
                  <a:t>推土机距离</a:t>
                </a:r>
                <a:r>
                  <a:rPr lang="zh-CN" altLang="en-US" dirty="0">
                    <a:latin typeface="+mn-ea"/>
                    <a:ea typeface="+mn-ea"/>
                  </a:rPr>
                  <a:t>（</a:t>
                </a:r>
                <a:r>
                  <a:rPr lang="en-US" altLang="zh-CN" dirty="0">
                    <a:latin typeface="+mn-ea"/>
                    <a:ea typeface="+mn-ea"/>
                  </a:rPr>
                  <a:t>Earth-Mover’s Distance</a:t>
                </a:r>
                <a:r>
                  <a:rPr lang="zh-CN" altLang="en-US" dirty="0">
                    <a:latin typeface="+mn-ea"/>
                    <a:ea typeface="+mn-ea"/>
                  </a:rPr>
                  <a:t>，</a:t>
                </a:r>
                <a:r>
                  <a:rPr lang="en-US" altLang="zh-CN" dirty="0">
                    <a:solidFill>
                      <a:srgbClr val="00B0F0"/>
                    </a:solidFill>
                    <a:latin typeface="+mn-ea"/>
                    <a:ea typeface="+mn-ea"/>
                  </a:rPr>
                  <a:t>EMD</a:t>
                </a:r>
                <a:r>
                  <a:rPr lang="zh-CN" altLang="en-US" dirty="0">
                    <a:latin typeface="+mn-ea"/>
                    <a:ea typeface="+mn-ea"/>
                  </a:rPr>
                  <a:t>）。</a:t>
                </a:r>
                <a:endParaRPr lang="zh-CN" altLang="en-US" dirty="0">
                  <a:latin typeface="+mn-ea"/>
                  <a:ea typeface="+mn-ea"/>
                </a:endParaRPr>
              </a:p>
              <a:p>
                <a:endParaRPr lang="zh-CN" altLang="en-US" dirty="0"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2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721" y="3779629"/>
            <a:ext cx="8212778" cy="208777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Wasserstein GAN</a:t>
            </a:r>
            <a:r>
              <a:rPr lang="zh-CN" altLang="en-US" dirty="0"/>
              <a:t>（</a:t>
            </a:r>
            <a:r>
              <a:rPr lang="en-US" altLang="zh-CN" dirty="0"/>
              <a:t>W-GAN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pic>
        <p:nvPicPr>
          <p:cNvPr id="4" name="内容占位符 3" descr="屏幕剪辑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594" y="1458768"/>
            <a:ext cx="7432812" cy="4440527"/>
          </a:xfrm>
        </p:spPr>
      </p:pic>
      <p:sp>
        <p:nvSpPr>
          <p:cNvPr id="5" name="文本框 4"/>
          <p:cNvSpPr txBox="1"/>
          <p:nvPr/>
        </p:nvSpPr>
        <p:spPr>
          <a:xfrm>
            <a:off x="5257800" y="1131567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</a:rPr>
              <a:t>评价网络</a:t>
            </a:r>
            <a:endParaRPr lang="zh-CN" altLang="en-US" sz="2000" dirty="0">
              <a:solidFill>
                <a:srgbClr val="00B0F0"/>
              </a:solidFill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48600" y="1131567"/>
            <a:ext cx="1295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F0"/>
                </a:solidFill>
              </a:rPr>
              <a:t>生成网络</a:t>
            </a:r>
            <a:endParaRPr lang="zh-CN" altLang="en-US" sz="2000" dirty="0">
              <a:solidFill>
                <a:srgbClr val="00B0F0"/>
              </a:solidFill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24200" y="6247278"/>
            <a:ext cx="6095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Wasserstein GAN,</a:t>
            </a:r>
            <a:r>
              <a:rPr lang="zh-CN" altLang="en-US" dirty="0"/>
              <a:t> </a:t>
            </a:r>
            <a:r>
              <a:rPr lang="en-US" altLang="zh-CN" dirty="0" err="1"/>
              <a:t>Arjovsky</a:t>
            </a:r>
            <a:r>
              <a:rPr lang="zh-CN" altLang="en-US" dirty="0"/>
              <a:t> </a:t>
            </a:r>
            <a:r>
              <a:rPr lang="en-US" altLang="zh-CN" dirty="0"/>
              <a:t>et al., </a:t>
            </a:r>
            <a:r>
              <a:rPr lang="en-US" altLang="zh-CN" dirty="0" err="1"/>
              <a:t>arXiv</a:t>
            </a:r>
            <a:r>
              <a:rPr lang="en-US" altLang="zh-CN" dirty="0"/>
              <a:t>, 2017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477000" y="2105561"/>
            <a:ext cx="533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使用评价网络替换原始</a:t>
            </a:r>
            <a:r>
              <a:rPr lang="en-US" altLang="zh-CN" sz="2000" dirty="0">
                <a:solidFill>
                  <a:srgbClr val="00B050"/>
                </a:solidFill>
              </a:rPr>
              <a:t>GAN</a:t>
            </a:r>
            <a:r>
              <a:rPr lang="zh-CN" altLang="en-US" sz="2000" dirty="0">
                <a:solidFill>
                  <a:srgbClr val="00B050"/>
                </a:solidFill>
              </a:rPr>
              <a:t>中的判别网络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00B050"/>
                </a:solidFill>
                <a:latin typeface="+mn-ea"/>
              </a:rPr>
              <a:t>评价网络输出是对输入数据的打分，而非原始判别函数的输出</a:t>
            </a:r>
            <a:r>
              <a:rPr lang="en-US" altLang="zh-CN" sz="2000" dirty="0">
                <a:solidFill>
                  <a:srgbClr val="00B050"/>
                </a:solidFill>
                <a:latin typeface="+mn-ea"/>
              </a:rPr>
              <a:t>0</a:t>
            </a:r>
            <a:r>
              <a:rPr lang="zh-CN" altLang="en-US" sz="2000" dirty="0">
                <a:solidFill>
                  <a:srgbClr val="00B050"/>
                </a:solidFill>
                <a:latin typeface="+mn-ea"/>
              </a:rPr>
              <a:t>或者</a:t>
            </a:r>
            <a:r>
              <a:rPr lang="en-US" altLang="zh-CN" sz="2000" dirty="0">
                <a:solidFill>
                  <a:srgbClr val="00B050"/>
                </a:solidFill>
                <a:latin typeface="+mn-ea"/>
              </a:rPr>
              <a:t>1</a:t>
            </a:r>
            <a:endParaRPr lang="zh-CN" altLang="en-US" sz="2000" dirty="0">
              <a:solidFill>
                <a:srgbClr val="00B05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梯度问题</a:t>
            </a:r>
            <a:endParaRPr lang="zh-CN" altLang="en-US" dirty="0"/>
          </a:p>
        </p:txBody>
      </p:sp>
      <p:pic>
        <p:nvPicPr>
          <p:cNvPr id="4" name="内容占位符 3" descr="屏幕剪辑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092191"/>
            <a:ext cx="7182303" cy="5461009"/>
          </a:xfrm>
        </p:spPr>
      </p:pic>
      <p:sp>
        <p:nvSpPr>
          <p:cNvPr id="5" name="文本框 4"/>
          <p:cNvSpPr txBox="1"/>
          <p:nvPr/>
        </p:nvSpPr>
        <p:spPr>
          <a:xfrm>
            <a:off x="9448800" y="3437557"/>
            <a:ext cx="2514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00B0F0"/>
                </a:solidFill>
              </a:rPr>
              <a:t>W-GAN</a:t>
            </a:r>
            <a:r>
              <a:rPr lang="zh-CN" altLang="en-US" sz="2000" dirty="0">
                <a:solidFill>
                  <a:srgbClr val="00B0F0"/>
                </a:solidFill>
              </a:rPr>
              <a:t>的评价网络梯度不会消失，可以解决原始</a:t>
            </a:r>
            <a:r>
              <a:rPr lang="en-US" altLang="zh-CN" sz="2000" dirty="0">
                <a:solidFill>
                  <a:srgbClr val="00B0F0"/>
                </a:solidFill>
              </a:rPr>
              <a:t>GAN</a:t>
            </a:r>
            <a:r>
              <a:rPr lang="zh-CN" altLang="en-US" sz="2000" dirty="0">
                <a:solidFill>
                  <a:srgbClr val="00B0F0"/>
                </a:solidFill>
              </a:rPr>
              <a:t>训练不稳定的问题</a:t>
            </a:r>
            <a:endParaRPr lang="zh-CN" altLang="en-US" sz="2000" dirty="0">
              <a:solidFill>
                <a:srgbClr val="00B0F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77" y="1157598"/>
            <a:ext cx="9784735" cy="1355240"/>
          </a:xfrm>
          <a:prstGeom prst="rect">
            <a:avLst/>
          </a:prstGeom>
        </p:spPr>
      </p:pic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86" y="4354824"/>
            <a:ext cx="9766106" cy="142509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20001" y="2418810"/>
            <a:ext cx="1018227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DCGAN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971801" y="2467089"/>
            <a:ext cx="902811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WGAN</a:t>
            </a:r>
            <a:endParaRPr lang="zh-CN" altLang="en-US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3429000" y="2801280"/>
            <a:ext cx="0" cy="1553544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8077200" y="2778426"/>
            <a:ext cx="0" cy="1553544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179792" y="190136"/>
            <a:ext cx="1696279" cy="490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DCGAN</a:t>
            </a:r>
            <a:endParaRPr lang="zh-TW" altLang="en-US" sz="24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31" y="1167753"/>
            <a:ext cx="8791575" cy="1543050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987223" y="759139"/>
            <a:ext cx="3777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G: CNN, D: CNN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987223" y="2714681"/>
            <a:ext cx="885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G: CNN (no normalization), D: CNN (no normalization)</a:t>
            </a:r>
            <a:endParaRPr lang="zh-TW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3391100" y="209186"/>
            <a:ext cx="1696279" cy="479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LSGAN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5602408" y="209187"/>
            <a:ext cx="1696279" cy="659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Original</a:t>
            </a:r>
            <a:endParaRPr lang="en-US" altLang="zh-TW" sz="2400" dirty="0"/>
          </a:p>
          <a:p>
            <a:pPr algn="ctr"/>
            <a:r>
              <a:rPr lang="en-US" altLang="zh-TW" sz="2400" dirty="0"/>
              <a:t>WGAN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7813716" y="209186"/>
            <a:ext cx="1696279" cy="659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Improved</a:t>
            </a:r>
            <a:endParaRPr lang="en-US" altLang="zh-TW" sz="2400" dirty="0"/>
          </a:p>
          <a:p>
            <a:pPr algn="ctr"/>
            <a:r>
              <a:rPr lang="en-US" altLang="zh-TW" sz="2400" dirty="0"/>
              <a:t>WGAN</a:t>
            </a:r>
            <a:endParaRPr lang="zh-TW" altLang="en-US" sz="2400" dirty="0"/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05008"/>
            <a:ext cx="8791200" cy="1613164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16" y="5162418"/>
            <a:ext cx="8791200" cy="1497521"/>
          </a:xfrm>
          <a:prstGeom prst="rect">
            <a:avLst/>
          </a:prstGeom>
        </p:spPr>
      </p:pic>
      <p:sp>
        <p:nvSpPr>
          <p:cNvPr id="18" name="文字方塊 17"/>
          <p:cNvSpPr txBox="1"/>
          <p:nvPr/>
        </p:nvSpPr>
        <p:spPr>
          <a:xfrm>
            <a:off x="967372" y="4749348"/>
            <a:ext cx="885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G: CNN (tanh), D: CNN(tanh)</a:t>
            </a:r>
            <a:endParaRPr lang="zh-TW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30911" y="190136"/>
            <a:ext cx="1696279" cy="490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DCGAN</a:t>
            </a:r>
            <a:endParaRPr lang="zh-TW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3442219" y="209186"/>
            <a:ext cx="1696279" cy="479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LSGAN</a:t>
            </a:r>
            <a:endParaRPr lang="zh-TW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5653527" y="209187"/>
            <a:ext cx="1696279" cy="659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Original</a:t>
            </a:r>
            <a:endParaRPr lang="en-US" altLang="zh-TW" sz="2400" dirty="0"/>
          </a:p>
          <a:p>
            <a:pPr algn="ctr"/>
            <a:r>
              <a:rPr lang="en-US" altLang="zh-TW" sz="2400" dirty="0"/>
              <a:t>WGAN</a:t>
            </a:r>
            <a:endParaRPr lang="zh-TW" altLang="en-US" sz="2400" dirty="0"/>
          </a:p>
        </p:txBody>
      </p:sp>
      <p:sp>
        <p:nvSpPr>
          <p:cNvPr id="14" name="矩形 13"/>
          <p:cNvSpPr/>
          <p:nvPr/>
        </p:nvSpPr>
        <p:spPr>
          <a:xfrm>
            <a:off x="7864835" y="209186"/>
            <a:ext cx="1696279" cy="6594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Improved</a:t>
            </a:r>
            <a:endParaRPr lang="en-US" altLang="zh-TW" sz="2400" dirty="0"/>
          </a:p>
          <a:p>
            <a:pPr algn="ctr"/>
            <a:r>
              <a:rPr lang="en-US" altLang="zh-TW" sz="2400" dirty="0"/>
              <a:t>WGAN</a:t>
            </a:r>
            <a:endParaRPr lang="zh-TW" altLang="en-US" sz="2400" dirty="0"/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49" y="1162311"/>
            <a:ext cx="8667750" cy="1552575"/>
          </a:xfrm>
          <a:prstGeom prst="rect">
            <a:avLst/>
          </a:prstGeom>
        </p:spPr>
      </p:pic>
      <p:sp>
        <p:nvSpPr>
          <p:cNvPr id="16" name="文字方塊 15"/>
          <p:cNvSpPr txBox="1"/>
          <p:nvPr/>
        </p:nvSpPr>
        <p:spPr>
          <a:xfrm>
            <a:off x="990833" y="745721"/>
            <a:ext cx="5616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G: MLP, D: CNN</a:t>
            </a:r>
            <a:endParaRPr lang="zh-TW" altLang="en-US" sz="2400" dirty="0"/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33" y="3175412"/>
            <a:ext cx="8667750" cy="1552575"/>
          </a:xfrm>
          <a:prstGeom prst="rect">
            <a:avLst/>
          </a:prstGeom>
        </p:spPr>
      </p:pic>
      <p:sp>
        <p:nvSpPr>
          <p:cNvPr id="18" name="文字方塊 17"/>
          <p:cNvSpPr txBox="1"/>
          <p:nvPr/>
        </p:nvSpPr>
        <p:spPr>
          <a:xfrm>
            <a:off x="981425" y="2759528"/>
            <a:ext cx="5616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G: CNN (bad structure), D: CNN</a:t>
            </a:r>
            <a:endParaRPr lang="zh-TW" altLang="en-US" sz="2400" dirty="0"/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5" y="5188513"/>
            <a:ext cx="8703385" cy="1536523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935007" y="4773335"/>
            <a:ext cx="5616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G: 101 layer, D: 101 layer </a:t>
            </a:r>
            <a:endParaRPr lang="zh-TW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GAN</a:t>
            </a:r>
            <a:r>
              <a:rPr lang="zh-CN" altLang="en-US" dirty="0"/>
              <a:t>的扩展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条件生成</a:t>
            </a:r>
            <a:endParaRPr lang="zh-TW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根据条件针对性的生成数据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5277041" y="4837725"/>
            <a:ext cx="1517650" cy="109145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生成网络</a:t>
            </a:r>
            <a:endParaRPr lang="en-US" altLang="zh-TW" sz="2400" dirty="0"/>
          </a:p>
        </p:txBody>
      </p:sp>
      <p:cxnSp>
        <p:nvCxnSpPr>
          <p:cNvPr id="21" name="直線單箭頭接點 20"/>
          <p:cNvCxnSpPr/>
          <p:nvPr/>
        </p:nvCxnSpPr>
        <p:spPr>
          <a:xfrm>
            <a:off x="6822827" y="5382901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4673985" y="5378587"/>
            <a:ext cx="57755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304800" y="4624036"/>
            <a:ext cx="4518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“Girl with red hair and red eyes”</a:t>
            </a:r>
            <a:endParaRPr lang="zh-TW" altLang="en-US" sz="2400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387784" y="5488138"/>
            <a:ext cx="443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“Girl with yellow ribbon”</a:t>
            </a:r>
            <a:endParaRPr lang="zh-TW" altLang="en-US" sz="2400" dirty="0"/>
          </a:p>
        </p:txBody>
      </p:sp>
      <p:pic>
        <p:nvPicPr>
          <p:cNvPr id="25" name="圖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7072" y="4758803"/>
            <a:ext cx="1224812" cy="1170376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4705" y="4758804"/>
            <a:ext cx="1408175" cy="1173479"/>
          </a:xfrm>
          <a:prstGeom prst="rect">
            <a:avLst/>
          </a:prstGeom>
        </p:spPr>
      </p:pic>
      <p:grpSp>
        <p:nvGrpSpPr>
          <p:cNvPr id="3" name="群組 2"/>
          <p:cNvGrpSpPr/>
          <p:nvPr/>
        </p:nvGrpSpPr>
        <p:grpSpPr>
          <a:xfrm>
            <a:off x="2054582" y="2378572"/>
            <a:ext cx="8082837" cy="1422815"/>
            <a:chOff x="602913" y="2586450"/>
            <a:chExt cx="8082837" cy="1422815"/>
          </a:xfrm>
        </p:grpSpPr>
        <p:sp>
          <p:nvSpPr>
            <p:cNvPr id="27" name="矩形 26"/>
            <p:cNvSpPr/>
            <p:nvPr/>
          </p:nvSpPr>
          <p:spPr>
            <a:xfrm>
              <a:off x="3813175" y="2586450"/>
              <a:ext cx="1517650" cy="109145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/>
                <a:t>生成网络</a:t>
              </a:r>
              <a:endParaRPr lang="en-US" altLang="zh-TW" sz="2400" dirty="0"/>
            </a:p>
          </p:txBody>
        </p:sp>
        <p:cxnSp>
          <p:nvCxnSpPr>
            <p:cNvPr id="28" name="直線單箭頭接點 27"/>
            <p:cNvCxnSpPr/>
            <p:nvPr/>
          </p:nvCxnSpPr>
          <p:spPr>
            <a:xfrm>
              <a:off x="5384465" y="3137142"/>
              <a:ext cx="577552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圖片 2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6176" y="2729676"/>
              <a:ext cx="805004" cy="805004"/>
            </a:xfrm>
            <a:prstGeom prst="rect">
              <a:avLst/>
            </a:prstGeom>
          </p:spPr>
        </p:pic>
        <p:pic>
          <p:nvPicPr>
            <p:cNvPr id="30" name="圖片 2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8461" y="2729676"/>
              <a:ext cx="805004" cy="805004"/>
            </a:xfrm>
            <a:prstGeom prst="rect">
              <a:avLst/>
            </a:prstGeom>
          </p:spPr>
        </p:pic>
        <p:cxnSp>
          <p:nvCxnSpPr>
            <p:cNvPr id="31" name="直線單箭頭接點 30"/>
            <p:cNvCxnSpPr/>
            <p:nvPr/>
          </p:nvCxnSpPr>
          <p:spPr>
            <a:xfrm>
              <a:off x="3235623" y="3132828"/>
              <a:ext cx="577552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字方塊 31"/>
                <p:cNvSpPr txBox="1"/>
                <p:nvPr/>
              </p:nvSpPr>
              <p:spPr>
                <a:xfrm>
                  <a:off x="1656962" y="2608219"/>
                  <a:ext cx="736355" cy="102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2" name="文字方塊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6962" y="2608219"/>
                  <a:ext cx="736355" cy="102047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字方塊 32"/>
                <p:cNvSpPr txBox="1"/>
                <p:nvPr/>
              </p:nvSpPr>
              <p:spPr>
                <a:xfrm>
                  <a:off x="2400689" y="2617322"/>
                  <a:ext cx="736355" cy="102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3" name="文字方塊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0689" y="2617322"/>
                  <a:ext cx="736355" cy="102047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4" name="圖片 3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0746" y="2731572"/>
              <a:ext cx="805004" cy="80500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字方塊 34"/>
                <p:cNvSpPr txBox="1"/>
                <p:nvPr/>
              </p:nvSpPr>
              <p:spPr>
                <a:xfrm>
                  <a:off x="898844" y="2586450"/>
                  <a:ext cx="736355" cy="10204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5" name="文字方塊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844" y="2586450"/>
                  <a:ext cx="736355" cy="1020472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文字方塊 35"/>
            <p:cNvSpPr txBox="1"/>
            <p:nvPr/>
          </p:nvSpPr>
          <p:spPr>
            <a:xfrm>
              <a:off x="602913" y="3639933"/>
              <a:ext cx="28605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In a specific range</a:t>
              </a:r>
              <a:endParaRPr lang="zh-TW" altLang="en-US" dirty="0"/>
            </a:p>
          </p:txBody>
        </p:sp>
      </p:grpSp>
    </p:spTree>
    <p:custDataLst>
      <p:tags r:id="rId9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Conditional GAN</a:t>
            </a:r>
            <a:endParaRPr lang="zh-CN" altLang="en-US" dirty="0"/>
          </a:p>
        </p:txBody>
      </p:sp>
      <p:pic>
        <p:nvPicPr>
          <p:cNvPr id="1028" name="Picture 4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371600"/>
            <a:ext cx="8870937" cy="399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2667000" y="6165107"/>
            <a:ext cx="708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i="0" dirty="0">
                <a:solidFill>
                  <a:srgbClr val="000000"/>
                </a:solidFill>
                <a:effectLst/>
                <a:latin typeface="Lucida Grande" panose="020B0600040502020204"/>
              </a:rPr>
              <a:t>Conditional Generative Adversarial Nets, Mirza </a:t>
            </a:r>
            <a:r>
              <a:rPr lang="en-US" altLang="zh-CN" dirty="0"/>
              <a:t>et al., </a:t>
            </a:r>
            <a:r>
              <a:rPr lang="en-US" altLang="zh-CN" dirty="0" err="1"/>
              <a:t>arXiv</a:t>
            </a:r>
            <a:r>
              <a:rPr lang="en-US" altLang="zh-CN" dirty="0"/>
              <a:t>, 2014</a:t>
            </a:r>
            <a:endParaRPr lang="en-US" altLang="zh-CN" i="0" dirty="0">
              <a:solidFill>
                <a:srgbClr val="000000"/>
              </a:solidFill>
              <a:effectLst/>
              <a:latin typeface="Lucida Grande" panose="020B0600040502020204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34291"/>
            <a:ext cx="3325091" cy="5541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31601"/>
            <a:ext cx="7010810" cy="319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38200" y="323561"/>
            <a:ext cx="10515600" cy="632400"/>
          </a:xfrm>
        </p:spPr>
        <p:txBody>
          <a:bodyPr/>
          <a:lstStyle/>
          <a:p>
            <a:r>
              <a:rPr lang="zh-CN" altLang="en-US" dirty="0"/>
              <a:t>课后作业</a:t>
            </a:r>
            <a:endParaRPr lang="en-CA" dirty="0"/>
          </a:p>
        </p:txBody>
      </p:sp>
      <p:sp>
        <p:nvSpPr>
          <p:cNvPr id="21" name="内容占位符 4"/>
          <p:cNvSpPr>
            <a:spLocks noGrp="1"/>
          </p:cNvSpPr>
          <p:nvPr>
            <p:ph idx="1"/>
          </p:nvPr>
        </p:nvSpPr>
        <p:spPr>
          <a:xfrm>
            <a:off x="838200" y="1181100"/>
            <a:ext cx="10515600" cy="5353050"/>
          </a:xfrm>
        </p:spPr>
        <p:txBody>
          <a:bodyPr/>
          <a:lstStyle/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28" name="文本框 3"/>
          <p:cNvSpPr txBox="1"/>
          <p:nvPr/>
        </p:nvSpPr>
        <p:spPr>
          <a:xfrm>
            <a:off x="925772" y="955925"/>
            <a:ext cx="1034045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cs"/>
              </a:defRPr>
            </a:lvl1pPr>
            <a:lvl2pPr marL="457200" lvl="1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cs"/>
              </a:defRPr>
            </a:lvl2pPr>
            <a:lvl3pPr marL="914400" lvl="2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cs"/>
              </a:defRPr>
            </a:lvl3pPr>
            <a:lvl4pPr marL="1371600" lvl="3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cs"/>
              </a:defRPr>
            </a:lvl4pPr>
            <a:lvl5pPr marL="1828800" lvl="4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cs"/>
              </a:defRPr>
            </a:lvl5pPr>
            <a:lvl6pPr marL="2286000" lvl="5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cs"/>
              </a:defRPr>
            </a:lvl6pPr>
            <a:lvl7pPr marL="2743200" lvl="6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cs"/>
              </a:defRPr>
            </a:lvl7pPr>
            <a:lvl8pPr marL="3200400" lvl="7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cs"/>
              </a:defRPr>
            </a:lvl8pPr>
            <a:lvl9pPr marL="3657600" lvl="8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cs"/>
              </a:defRPr>
            </a:lvl9pPr>
          </a:lstStyle>
          <a:p>
            <a:pPr lvl="0" defTabSz="914400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截止时间：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下周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日晚上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defTabSz="914400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提交方式：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每人作业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下周日晚上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word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文档以“学号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姓名”命名，各班班长收齐压缩后，发到邮箱 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defTabSz="914400"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sz="1800" dirty="0">
                <a:sym typeface="+mn-ea"/>
              </a:rPr>
              <a:t>514034538@qq.com</a:t>
            </a:r>
            <a:endParaRPr lang="en-US" altLang="zh-CN" sz="1800" dirty="0">
              <a:sym typeface="+mn-ea"/>
            </a:endParaRPr>
          </a:p>
          <a:p>
            <a:pPr lvl="0" defTabSz="914400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作业晚交政策：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作业超过截止时间但在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小时以内，该次作业按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分数计算，超过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小时则不记分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72" y="3836327"/>
            <a:ext cx="8212336" cy="246722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72" y="3124200"/>
            <a:ext cx="6802249" cy="53374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IMING" val="|121.9"/>
</p:tagLst>
</file>

<file path=ppt/tags/tag2.xml><?xml version="1.0" encoding="utf-8"?>
<p:tagLst xmlns:p="http://schemas.openxmlformats.org/presentationml/2006/main">
  <p:tag name="TIMING" val="|140.1"/>
</p:tagLst>
</file>

<file path=ppt/tags/tag3.xml><?xml version="1.0" encoding="utf-8"?>
<p:tagLst xmlns:p="http://schemas.openxmlformats.org/presentationml/2006/main">
  <p:tag name="TIMING" val="|137.4"/>
</p:tagLst>
</file>

<file path=ppt/tags/tag4.xml><?xml version="1.0" encoding="utf-8"?>
<p:tagLst xmlns:p="http://schemas.openxmlformats.org/presentationml/2006/main">
  <p:tag name="TIMING" val="|228.7|1.3"/>
</p:tagLst>
</file>

<file path=ppt/tags/tag5.xml><?xml version="1.0" encoding="utf-8"?>
<p:tagLst xmlns:p="http://schemas.openxmlformats.org/presentationml/2006/main">
  <p:tag name="TIMING" val="|34.2"/>
</p:tagLst>
</file>

<file path=ppt/tags/tag6.xml><?xml version="1.0" encoding="utf-8"?>
<p:tagLst xmlns:p="http://schemas.openxmlformats.org/presentationml/2006/main">
  <p:tag name="TIMING" val="|4.8|1.9|5.6|14.2|27.5|0.7|0.5|0.5|0.2|10|1.5|1.3|1.8|0.4|0.5|0.5"/>
</p:tagLst>
</file>

<file path=ppt/tags/tag7.xml><?xml version="1.0" encoding="utf-8"?>
<p:tagLst xmlns:p="http://schemas.openxmlformats.org/presentationml/2006/main">
  <p:tag name="TIMING" val="|98.5|1.1|8.3|0.6|0.6|0.4|1|3.1"/>
</p:tagLst>
</file>

<file path=ppt/tags/tag8.xml><?xml version="1.0" encoding="utf-8"?>
<p:tagLst xmlns:p="http://schemas.openxmlformats.org/presentationml/2006/main">
  <p:tag name="TIMING" val="|21.2|8.6|28.4|3.7|4.2"/>
</p:tagLst>
</file>

<file path=ppt/tags/tag9.xml><?xml version="1.0" encoding="utf-8"?>
<p:tagLst xmlns:p="http://schemas.openxmlformats.org/presentationml/2006/main">
  <p:tag name="TIMING" val="|5"/>
</p:tagLst>
</file>

<file path=ppt/tags/tag10.xml><?xml version="1.0" encoding="utf-8"?>
<p:tagLst xmlns:p="http://schemas.openxmlformats.org/presentationml/2006/main">
  <p:tag name="TIMING" val="|16.4|4.9"/>
</p:tagLst>
</file>

<file path=ppt/tags/tag11.xml><?xml version="1.0" encoding="utf-8"?>
<p:tagLst xmlns:p="http://schemas.openxmlformats.org/presentationml/2006/main">
  <p:tag name="TIMING" val="|10.2|9.1|0.7|0.8"/>
</p:tagLst>
</file>

<file path=ppt/tags/tag12.xml><?xml version="1.0" encoding="utf-8"?>
<p:tagLst xmlns:p="http://schemas.openxmlformats.org/presentationml/2006/main">
  <p:tag name="TIMING" val="|21.1|0.8|6.2|2.1"/>
</p:tagLst>
</file>

<file path=ppt/tags/tag13.xml><?xml version="1.0" encoding="utf-8"?>
<p:tagLst xmlns:p="http://schemas.openxmlformats.org/presentationml/2006/main">
  <p:tag name="TIMING" val="|59.5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4544</Words>
  <Application>WPS 演示</Application>
  <PresentationFormat>宽屏</PresentationFormat>
  <Paragraphs>471</Paragraphs>
  <Slides>53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88" baseType="lpstr">
      <vt:lpstr>Arial</vt:lpstr>
      <vt:lpstr>宋体</vt:lpstr>
      <vt:lpstr>Wingdings</vt:lpstr>
      <vt:lpstr>黑体</vt:lpstr>
      <vt:lpstr>汉仪中黑KW</vt:lpstr>
      <vt:lpstr>微软雅黑</vt:lpstr>
      <vt:lpstr>汉仪旗黑</vt:lpstr>
      <vt:lpstr>Times New Roman</vt:lpstr>
      <vt:lpstr>Calibri</vt:lpstr>
      <vt:lpstr>Helvetica Neue</vt:lpstr>
      <vt:lpstr>宋体</vt:lpstr>
      <vt:lpstr>Arial Unicode MS</vt:lpstr>
      <vt:lpstr>SourceHanSerifCN-Light</vt:lpstr>
      <vt:lpstr>Thonburi</vt:lpstr>
      <vt:lpstr>FZSSJW--GB1-0</vt:lpstr>
      <vt:lpstr>Cambria Math</vt:lpstr>
      <vt:lpstr>Kingsoft Math</vt:lpstr>
      <vt:lpstr>Lucida Grande</vt:lpstr>
      <vt:lpstr>等线</vt:lpstr>
      <vt:lpstr>汉仪中等线KW</vt:lpstr>
      <vt:lpstr>汉仪书宋二KW</vt:lpstr>
      <vt:lpstr>PMingLiU</vt:lpstr>
      <vt:lpstr>宋体-繁</vt:lpstr>
      <vt:lpstr>FZSSJW--GB1-0</vt:lpstr>
      <vt:lpstr>Lucida Grande</vt:lpstr>
      <vt:lpstr>SourceHanSerifCN-Light</vt:lpstr>
      <vt:lpstr>Wingdings</vt:lpstr>
      <vt:lpstr>微软雅黑</vt:lpstr>
      <vt:lpstr>苹方-简</vt:lpstr>
      <vt:lpstr>MS PGothic</vt:lpstr>
      <vt:lpstr>DejaVuMathTeXGyre</vt:lpstr>
      <vt:lpstr>DejaVu Math TeX Gyre</vt:lpstr>
      <vt:lpstr>BatangChe</vt:lpstr>
      <vt:lpstr>Apple SD Gothic Neo</vt:lpstr>
      <vt:lpstr>自定义设计方案</vt:lpstr>
      <vt:lpstr>深度学习 第13章：深度生成模型</vt:lpstr>
      <vt:lpstr>生成模型 Generative Models</vt:lpstr>
      <vt:lpstr>机器学习的两种范式</vt:lpstr>
      <vt:lpstr>生成模型：一系列用于随机生成可观测数据的模型</vt:lpstr>
      <vt:lpstr>生成数据的另一种思路</vt:lpstr>
      <vt:lpstr>深度生成模型</vt:lpstr>
      <vt:lpstr>变分自编码器 Variational Autoencoder，VAE</vt:lpstr>
      <vt:lpstr>自编码器（Autoencoder）</vt:lpstr>
      <vt:lpstr>基于概率分布的潜在特征表示</vt:lpstr>
      <vt:lpstr>变分自编码器（Variational Autoencoder）</vt:lpstr>
      <vt:lpstr>变分自编码器</vt:lpstr>
      <vt:lpstr>概率生成模型</vt:lpstr>
      <vt:lpstr>EM算法回顾</vt:lpstr>
      <vt:lpstr>变分自编码器(VAE)</vt:lpstr>
      <vt:lpstr>变分自编码器</vt:lpstr>
      <vt:lpstr>推断网络</vt:lpstr>
      <vt:lpstr>生成网络</vt:lpstr>
      <vt:lpstr>模型汇总</vt:lpstr>
      <vt:lpstr>再参数化</vt:lpstr>
      <vt:lpstr>变分自编码器的训练过程</vt:lpstr>
      <vt:lpstr>变分自编码器学习到的隐变量流形</vt:lpstr>
      <vt:lpstr>生成对抗网络 Generative Adversarial Network（GAN）</vt:lpstr>
      <vt:lpstr>显式密度模型和隐式密度模型</vt:lpstr>
      <vt:lpstr>生成网络（Generator）</vt:lpstr>
      <vt:lpstr>生成网络示例</vt:lpstr>
      <vt:lpstr>判别网络（Discriminator）</vt:lpstr>
      <vt:lpstr>MinMax Game （极小极大算法）</vt:lpstr>
      <vt:lpstr>对抗过程</vt:lpstr>
      <vt:lpstr>MinMax Game （极小极大算法）</vt:lpstr>
      <vt:lpstr>训练过程</vt:lpstr>
      <vt:lpstr>Anime Face Generation</vt:lpstr>
      <vt:lpstr>Anime Face Generation</vt:lpstr>
      <vt:lpstr>Anime Face Generation</vt:lpstr>
      <vt:lpstr>一个具体的模型：DCGANs</vt:lpstr>
      <vt:lpstr>DCGANs</vt:lpstr>
      <vt:lpstr>模型分析</vt:lpstr>
      <vt:lpstr>模型分析</vt:lpstr>
      <vt:lpstr>不稳定性：生成网络的梯度消失</vt:lpstr>
      <vt:lpstr>改进</vt:lpstr>
      <vt:lpstr>Least Square GAN (LSGAN)</vt:lpstr>
      <vt:lpstr>Wasserstein GAN</vt:lpstr>
      <vt:lpstr>Wasserstein距离</vt:lpstr>
      <vt:lpstr>Wasserstein距离</vt:lpstr>
      <vt:lpstr>Wasserstein GAN（W-GAN）</vt:lpstr>
      <vt:lpstr>梯度问题</vt:lpstr>
      <vt:lpstr>PowerPoint 演示文稿</vt:lpstr>
      <vt:lpstr>PowerPoint 演示文稿</vt:lpstr>
      <vt:lpstr>PowerPoint 演示文稿</vt:lpstr>
      <vt:lpstr>GAN的扩展</vt:lpstr>
      <vt:lpstr>条件生成</vt:lpstr>
      <vt:lpstr>Conditional GAN</vt:lpstr>
      <vt:lpstr>PowerPoint 演示文稿</vt:lpstr>
      <vt:lpstr>课后作业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深度学习 第13章：深度生成模型</dc:title>
  <dc:creator>Xipeng Qiu</dc:creator>
  <cp:lastModifiedBy>王亚星</cp:lastModifiedBy>
  <cp:revision>197</cp:revision>
  <dcterms:created xsi:type="dcterms:W3CDTF">2026-05-18T07:55:08Z</dcterms:created>
  <dcterms:modified xsi:type="dcterms:W3CDTF">2026-05-18T07:55:08Z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38A77C10E2A58EA248AE0A6A3ACBEEE8_42</vt:lpwstr>
  </property>
</Properties>
</file>
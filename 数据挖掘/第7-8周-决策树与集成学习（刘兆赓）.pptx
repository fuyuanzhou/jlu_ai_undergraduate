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83"/>
  </p:notesMasterIdLst>
  <p:sldIdLst>
    <p:sldId id="267" r:id="rId2"/>
    <p:sldId id="275" r:id="rId3"/>
    <p:sldId id="273" r:id="rId4"/>
    <p:sldId id="915" r:id="rId5"/>
    <p:sldId id="916" r:id="rId6"/>
    <p:sldId id="917" r:id="rId7"/>
    <p:sldId id="923" r:id="rId8"/>
    <p:sldId id="921" r:id="rId9"/>
    <p:sldId id="918" r:id="rId10"/>
    <p:sldId id="920" r:id="rId11"/>
    <p:sldId id="925" r:id="rId12"/>
    <p:sldId id="928" r:id="rId13"/>
    <p:sldId id="929" r:id="rId14"/>
    <p:sldId id="930" r:id="rId15"/>
    <p:sldId id="931" r:id="rId16"/>
    <p:sldId id="932" r:id="rId17"/>
    <p:sldId id="926" r:id="rId18"/>
    <p:sldId id="904" r:id="rId19"/>
    <p:sldId id="933" r:id="rId20"/>
    <p:sldId id="927" r:id="rId21"/>
    <p:sldId id="935" r:id="rId22"/>
    <p:sldId id="936" r:id="rId23"/>
    <p:sldId id="939" r:id="rId24"/>
    <p:sldId id="940" r:id="rId25"/>
    <p:sldId id="941" r:id="rId26"/>
    <p:sldId id="938" r:id="rId27"/>
    <p:sldId id="942" r:id="rId28"/>
    <p:sldId id="943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316" r:id="rId38"/>
    <p:sldId id="317" r:id="rId39"/>
    <p:sldId id="318" r:id="rId40"/>
    <p:sldId id="319" r:id="rId41"/>
    <p:sldId id="320" r:id="rId42"/>
    <p:sldId id="944" r:id="rId43"/>
    <p:sldId id="945" r:id="rId44"/>
    <p:sldId id="946" r:id="rId45"/>
    <p:sldId id="949" r:id="rId46"/>
    <p:sldId id="914" r:id="rId47"/>
    <p:sldId id="947" r:id="rId48"/>
    <p:sldId id="948" r:id="rId49"/>
    <p:sldId id="951" r:id="rId50"/>
    <p:sldId id="950" r:id="rId51"/>
    <p:sldId id="952" r:id="rId52"/>
    <p:sldId id="953" r:id="rId53"/>
    <p:sldId id="955" r:id="rId54"/>
    <p:sldId id="957" r:id="rId55"/>
    <p:sldId id="958" r:id="rId56"/>
    <p:sldId id="954" r:id="rId57"/>
    <p:sldId id="959" r:id="rId58"/>
    <p:sldId id="960" r:id="rId59"/>
    <p:sldId id="961" r:id="rId60"/>
    <p:sldId id="962" r:id="rId61"/>
    <p:sldId id="966" r:id="rId62"/>
    <p:sldId id="967" r:id="rId63"/>
    <p:sldId id="968" r:id="rId64"/>
    <p:sldId id="969" r:id="rId65"/>
    <p:sldId id="970" r:id="rId66"/>
    <p:sldId id="965" r:id="rId67"/>
    <p:sldId id="963" r:id="rId68"/>
    <p:sldId id="964" r:id="rId69"/>
    <p:sldId id="971" r:id="rId70"/>
    <p:sldId id="972" r:id="rId71"/>
    <p:sldId id="973" r:id="rId72"/>
    <p:sldId id="974" r:id="rId73"/>
    <p:sldId id="976" r:id="rId74"/>
    <p:sldId id="977" r:id="rId75"/>
    <p:sldId id="978" r:id="rId76"/>
    <p:sldId id="979" r:id="rId77"/>
    <p:sldId id="980" r:id="rId78"/>
    <p:sldId id="981" r:id="rId79"/>
    <p:sldId id="984" r:id="rId80"/>
    <p:sldId id="985" r:id="rId81"/>
    <p:sldId id="863" r:id="rId8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E73"/>
    <a:srgbClr val="39DDE6"/>
    <a:srgbClr val="CC0099"/>
    <a:srgbClr val="576C87"/>
    <a:srgbClr val="E1E1E1"/>
    <a:srgbClr val="FFCC00"/>
    <a:srgbClr val="FFDE02"/>
    <a:srgbClr val="2E75B6"/>
    <a:srgbClr val="44546A"/>
    <a:srgbClr val="FDC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37" autoAdjust="0"/>
    <p:restoredTop sz="84117" autoAdjust="0"/>
  </p:normalViewPr>
  <p:slideViewPr>
    <p:cSldViewPr snapToGrid="0" showGuides="1">
      <p:cViewPr varScale="1">
        <p:scale>
          <a:sx n="74" d="100"/>
          <a:sy n="74" d="100"/>
        </p:scale>
        <p:origin x="225" y="39"/>
      </p:cViewPr>
      <p:guideLst>
        <p:guide orient="horz" pos="89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兆赓 刘" userId="cf25852377afd2b4" providerId="LiveId" clId="{BCD758FA-E4E9-48AB-9A83-D4467FAB8C0B}"/>
    <pc:docChg chg="delSld">
      <pc:chgData name="兆赓 刘" userId="cf25852377afd2b4" providerId="LiveId" clId="{BCD758FA-E4E9-48AB-9A83-D4467FAB8C0B}" dt="2026-06-28T01:12:53.955" v="0" actId="47"/>
      <pc:docMkLst>
        <pc:docMk/>
      </pc:docMkLst>
      <pc:sldChg chg="del">
        <pc:chgData name="兆赓 刘" userId="cf25852377afd2b4" providerId="LiveId" clId="{BCD758FA-E4E9-48AB-9A83-D4467FAB8C0B}" dt="2026-06-28T01:12:53.955" v="0" actId="47"/>
        <pc:sldMkLst>
          <pc:docMk/>
          <pc:sldMk cId="715903320" sldId="9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0D5374-CAC2-4A99-BAFC-4FD9D64443F4}" type="datetimeFigureOut">
              <a:rPr lang="zh-CN" altLang="en-US" smtClean="0"/>
              <a:pPr/>
              <a:t>2026/6/28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A6A5EB-DBDD-4BB6-B956-8F5082F9751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666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348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158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913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78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4F4F4F"/>
                </a:solidFill>
                <a:effectLst/>
                <a:latin typeface="PingFang SC"/>
              </a:rPr>
              <a:t>婚恋匹配、信贷审批、电商促销、医疗分诊、智能家居、保险定价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51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1966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年的 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Concept Learning System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（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CLS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）学习的是人类如何通过一系列“是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/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否”问题逐步识别目标概念的过程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‌，例如判断“某个图形是否为红色”或“是否具有四个边”等二元特征，从而完成对抽象概念的分类与识别。</a:t>
            </a:r>
            <a:endParaRPr lang="zh-CN" altLang="en-US" b="1" i="0" dirty="0">
              <a:solidFill>
                <a:srgbClr val="4F4F4F"/>
              </a:solidFill>
              <a:effectLst/>
              <a:latin typeface="PingFang SC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949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1" i="0" dirty="0">
              <a:solidFill>
                <a:srgbClr val="4F4F4F"/>
              </a:solidFill>
              <a:effectLst/>
              <a:latin typeface="PingFang SC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350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603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为什么叫“先验分布”？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b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在当前节点没有数据（似然函数缺失）的情况下，我们无法计算基于当前数据的后验概率。因此，我们退而求其次，使用‌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父节点的统计规律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‌作为我们对当前情况的“预先信念”（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Prior Belief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）。这相当于假设：“既然父节点的大多数样本都属于类别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，那么在缺乏更多信息的子节点中，样本属于类别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的概率也较大”。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与“后验分布”情形的对比：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情形（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2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）利用后验分布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‌：节点里有数据（如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{4,5}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），只是没法再分了（属性用完了）。此时直接用这俩数据的多数类（否）做决定，这是基于‌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当前观测数据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‌的结论。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情形（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3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）利用先验分布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‌：节点里‌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没数据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‌（空集）。此时借用父节点的数据分布来做决定，这是基于‌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上级历史规律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‌的推测。</a:t>
            </a:r>
          </a:p>
          <a:p>
            <a:b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若某分支无样本，借用父节点分布作为先验分布，本质上是‌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一种平滑策略（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PingFang SC"/>
              </a:rPr>
              <a:t>Smoothing Strategy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）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‌，防止因训练数据覆盖不全而导致模型在特定路径上完全失效，确保决策树在任何输入下都能给出一个基于已有知识的合理预测。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4286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448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5929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387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3136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当熵和条件熵中的概率由数据估计（特别是极大似然估计）得到时，所对应的熵与条件熵分别称为经验熵（</a:t>
            </a:r>
            <a:r>
              <a:rPr lang="en-US" altLang="zh-CN" dirty="0"/>
              <a:t>empirical entropy)</a:t>
            </a:r>
            <a:r>
              <a:rPr lang="zh-CN" altLang="en-US" dirty="0"/>
              <a:t>和经验条件熵（</a:t>
            </a:r>
            <a:r>
              <a:rPr lang="en-US" altLang="zh-CN" dirty="0"/>
              <a:t>empirical conditional entropy 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383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2787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7746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8270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7162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8348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8804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9160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4748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0888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基尼指数越小，代表数据集中类别分布越集中，被随机分错类的概率越低，即纯度越高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2501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1913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77495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5498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0267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4690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8310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基尼指数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CART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分类树中被用作衡量节点纯度的指标，其值越小代表样本的分类越纯净，因此可间接反映模型在该节点上的预测误差大小。在分类任务中，基尼指数本质上衡量的是从一个数据集中随机抽取两个样本，其类别标签不一致的概率。这个概率越高，说明数据越混乱，分类效果越差，对应的预测误差也就越大。因此，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基尼指数可以被视为一种“分类错误率”的估计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‌，即对训练数据的预测误差的一种度量方式。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59557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这段内容是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CART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（分类与回归树）算法中代价复杂度剪枝（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Cost - Complexity Pruning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）的核心思想表述。其深层含义是在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CART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决策树的剪枝过程中，存在一种与参数 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 相关的最优子树选择机制。随着参数 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KaTeX_Math"/>
              </a:rPr>
              <a:t>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 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开始逐渐增大，会划分出不同的区间，在每个区间内都存在一棵相对这个区间而言最优的子树，并且这些最优子树构成一个嵌套的序列。也就是说，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后一个区间的最优子树是在前一个区间最优子树的基础上，通过进一步剪枝得到的，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它反映了在不同复杂度控制参数 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 下，决策树的结构变化以及最优性的变化情况。这种嵌套关系也体现了决策树从复杂（ 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a=0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 时，可能对应未剪枝的原始树）到逐渐简化（随着 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KaTeX_Main"/>
              </a:rPr>
              <a:t>a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增大）的过程，并且在每个阶段都有对应的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最优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结构。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5920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56433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>
                <a:solidFill>
                  <a:srgbClr val="000000"/>
                </a:solidFill>
                <a:latin typeface="HiddenHorzOCR"/>
              </a:rPr>
              <a:t>集成学习通过将多个学习器进行结合</a:t>
            </a:r>
            <a:r>
              <a:rPr lang="en-US" altLang="zh-CN" sz="1800" dirty="0">
                <a:solidFill>
                  <a:srgbClr val="000000"/>
                </a:solidFill>
                <a:latin typeface="HiddenHorzOCR"/>
              </a:rPr>
              <a:t>, </a:t>
            </a:r>
            <a:r>
              <a:rPr lang="zh-CN" altLang="en-US" sz="1800" dirty="0">
                <a:solidFill>
                  <a:srgbClr val="000000"/>
                </a:solidFill>
                <a:latin typeface="HiddenHorzOCR"/>
              </a:rPr>
              <a:t>常可获得比单一学习器显著优越的泛化性能</a:t>
            </a:r>
            <a:r>
              <a:rPr lang="en-US" altLang="zh-CN" sz="1800" dirty="0">
                <a:solidFill>
                  <a:srgbClr val="000000"/>
                </a:solidFill>
                <a:latin typeface="HiddenHorzOCR"/>
              </a:rPr>
              <a:t>. </a:t>
            </a:r>
            <a:r>
              <a:rPr lang="zh-CN" altLang="en-US" sz="1800" dirty="0">
                <a:solidFill>
                  <a:srgbClr val="000000"/>
                </a:solidFill>
                <a:latin typeface="HiddenHorzOCR"/>
              </a:rPr>
              <a:t>这对“弱学习器” </a:t>
            </a:r>
            <a:r>
              <a:rPr lang="en-US" altLang="zh-CN" sz="1800" dirty="0">
                <a:solidFill>
                  <a:srgbClr val="000000"/>
                </a:solidFill>
                <a:latin typeface="HiddenHorzOCR"/>
              </a:rPr>
              <a:t>(weak learner) </a:t>
            </a:r>
            <a:r>
              <a:rPr lang="zh-CN" altLang="en-US" sz="1800" dirty="0">
                <a:solidFill>
                  <a:srgbClr val="000000"/>
                </a:solidFill>
                <a:latin typeface="HiddenHorzOCR"/>
              </a:rPr>
              <a:t>尤为明显</a:t>
            </a:r>
            <a:r>
              <a:rPr lang="en-US" altLang="zh-CN" sz="1800" dirty="0">
                <a:solidFill>
                  <a:srgbClr val="000000"/>
                </a:solidFill>
                <a:latin typeface="HiddenHorzOCR"/>
              </a:rPr>
              <a:t>, </a:t>
            </a:r>
            <a:r>
              <a:rPr lang="zh-CN" altLang="en-US" sz="1800" dirty="0">
                <a:solidFill>
                  <a:srgbClr val="000000"/>
                </a:solidFill>
                <a:latin typeface="HiddenHorzOCR"/>
              </a:rPr>
              <a:t>因此集成学习的很多理论研究都是针对弱学习器进行的</a:t>
            </a:r>
            <a:r>
              <a:rPr lang="en-US" altLang="zh-CN" sz="1800" dirty="0">
                <a:solidFill>
                  <a:srgbClr val="000000"/>
                </a:solidFill>
                <a:latin typeface="HiddenHorzOCR"/>
              </a:rPr>
              <a:t>, </a:t>
            </a:r>
            <a:r>
              <a:rPr lang="zh-CN" altLang="en-US" sz="1800" dirty="0">
                <a:solidFill>
                  <a:srgbClr val="000000"/>
                </a:solidFill>
                <a:latin typeface="HiddenHorzOCR"/>
              </a:rPr>
              <a:t>而基学习器有时也被直接称为弱学习器</a:t>
            </a:r>
            <a:r>
              <a:rPr lang="en-US" altLang="zh-CN" sz="1800" dirty="0">
                <a:solidFill>
                  <a:srgbClr val="000000"/>
                </a:solidFill>
                <a:latin typeface="HiddenHorzOCR"/>
              </a:rPr>
              <a:t>.</a:t>
            </a:r>
            <a:endParaRPr lang="zh-CN" altLang="en-US" sz="1800" dirty="0">
              <a:solidFill>
                <a:srgbClr val="000000"/>
              </a:solidFill>
              <a:latin typeface="HiddenHorzOCR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64836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81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160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69467" y="127668"/>
            <a:ext cx="10422533" cy="4209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83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324080" y="590440"/>
            <a:ext cx="11867920" cy="3401"/>
          </a:xfrm>
          <a:prstGeom prst="line">
            <a:avLst/>
          </a:prstGeom>
          <a:ln w="28575">
            <a:solidFill>
              <a:srgbClr val="16407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769467" y="192002"/>
            <a:ext cx="10422533" cy="3984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E73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674" y="97631"/>
            <a:ext cx="290095" cy="52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38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88336" y="1584605"/>
            <a:ext cx="4307664" cy="430766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012267" y="3732107"/>
            <a:ext cx="2157984" cy="215798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170251" y="3732107"/>
            <a:ext cx="2157984" cy="215798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57432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524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6096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810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382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6000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2438400" y="13411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7315200" y="13411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31699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876800" y="31699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753600" y="31699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8206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13411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2438400" y="13411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876800" y="13411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7315200" y="13411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9753600" y="13411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0" y="31699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2438400" y="31699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876800" y="31699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7315200" y="31699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753600" y="3169920"/>
            <a:ext cx="2438400" cy="18288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9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  <p:sp>
        <p:nvSpPr>
          <p:cNvPr id="17" name="矩形 7"/>
          <p:cNvSpPr/>
          <p:nvPr userDrawn="1"/>
        </p:nvSpPr>
        <p:spPr>
          <a:xfrm>
            <a:off x="1" y="762862"/>
            <a:ext cx="12184067" cy="45708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1" tIns="60940" rIns="121881" bIns="60940" anchor="ctr"/>
          <a:lstStyle/>
          <a:p>
            <a:pPr algn="ctr">
              <a:defRPr/>
            </a:pPr>
            <a:endParaRPr lang="zh-CN" alt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43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2438400" y="20066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7315200" y="20066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38354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876800" y="38354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753600" y="38354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4492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19050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2438400" y="19050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4876800" y="19050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7315200" y="19050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9753600" y="19050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3733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2438400" y="3733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876800" y="3733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315200" y="3733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753600" y="3733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4620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524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3810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6096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8382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524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810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096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382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21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620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ECAS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524000" y="1341120"/>
            <a:ext cx="2286000" cy="45720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3810000" y="1341120"/>
            <a:ext cx="4572000" cy="22860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8382000" y="1341120"/>
            <a:ext cx="2286000" cy="22860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810000" y="3627120"/>
            <a:ext cx="2286000" cy="22860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096000" y="3627120"/>
            <a:ext cx="4572000" cy="22860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8887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225157" y="1594192"/>
            <a:ext cx="4307664" cy="430766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898016" y="2669032"/>
            <a:ext cx="2157984" cy="215798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061587" y="2669032"/>
            <a:ext cx="2157984" cy="215798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42188" y="2669032"/>
            <a:ext cx="2157984" cy="215798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979164" y="3748024"/>
            <a:ext cx="2157984" cy="2157984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043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524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6096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524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096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12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3810000" y="1341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6096000" y="1341120"/>
            <a:ext cx="4572000" cy="4572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524000" y="3627120"/>
            <a:ext cx="2286000" cy="2286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2798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53440" y="1341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2377440" y="1341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901440" y="1341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853440" y="2865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2377440" y="2865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3901440" y="2865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53440" y="4389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2377440" y="4389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901440" y="4389120"/>
            <a:ext cx="1524000" cy="1524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2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6277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524000" y="3169920"/>
            <a:ext cx="1828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7010400" y="1341120"/>
            <a:ext cx="3657600" cy="3657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352800" y="3169920"/>
            <a:ext cx="1828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181600" y="3169920"/>
            <a:ext cx="1828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4636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254350" y="1651001"/>
            <a:ext cx="6032500" cy="40005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/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34719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60407" y="1651001"/>
            <a:ext cx="6032500" cy="40005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/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8735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14400" y="1341120"/>
            <a:ext cx="4876800" cy="36576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400800" y="1341120"/>
            <a:ext cx="4876800" cy="36576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36804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341120"/>
            <a:ext cx="3352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001000" y="1341120"/>
            <a:ext cx="3352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419600" y="1341120"/>
            <a:ext cx="3352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7398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341120"/>
            <a:ext cx="3352800" cy="33528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001000" y="1341120"/>
            <a:ext cx="3352800" cy="33528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419600" y="1341120"/>
            <a:ext cx="3352800" cy="33528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0276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828800"/>
            <a:ext cx="3352800" cy="42672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001000" y="1828800"/>
            <a:ext cx="3352800" cy="42672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419600" y="1828800"/>
            <a:ext cx="3352800" cy="42672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4570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53440" y="1341120"/>
            <a:ext cx="2133600" cy="4572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048000" y="1341120"/>
            <a:ext cx="2133600" cy="4572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242560" y="1341120"/>
            <a:ext cx="2133600" cy="4572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7634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341120"/>
            <a:ext cx="2438400" cy="3352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530600" y="1341120"/>
            <a:ext cx="2438400" cy="3352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23000" y="1341120"/>
            <a:ext cx="2438400" cy="3352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8915400" y="1341120"/>
            <a:ext cx="2438400" cy="3352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8643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70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530600" y="170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23000" y="170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8915400" y="170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752900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/>
          <a:p>
            <a:fld id="{EFAF4AA5-1B32-4B1D-9466-74C2062FAF79}" type="slidenum">
              <a:rPr lang="uk-UA">
                <a:solidFill>
                  <a:srgbClr val="44546A"/>
                </a:solidFill>
              </a:rPr>
              <a:pPr/>
              <a:t>‹#›</a:t>
            </a:fld>
            <a:endParaRPr lang="uk-UA" dirty="0">
              <a:solidFill>
                <a:srgbClr val="44546A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7221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38200" y="40386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23000" y="172212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223000" y="40386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0262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/>
          <a:p>
            <a:fld id="{EFAF4AA5-1B32-4B1D-9466-74C2062FAF79}" type="slidenum">
              <a:rPr lang="uk-UA">
                <a:solidFill>
                  <a:srgbClr val="44546A"/>
                </a:solidFill>
              </a:rPr>
              <a:pPr/>
              <a:t>‹#›</a:t>
            </a:fld>
            <a:endParaRPr lang="uk-UA">
              <a:solidFill>
                <a:srgbClr val="44546A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92480" y="1722120"/>
            <a:ext cx="2133600" cy="2133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92480" y="4038600"/>
            <a:ext cx="2133600" cy="2133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108960" y="1722120"/>
            <a:ext cx="2133600" cy="2133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3108960" y="4038600"/>
            <a:ext cx="2133600" cy="2133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2474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8200" y="1640840"/>
            <a:ext cx="3352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001000" y="1640840"/>
            <a:ext cx="3352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419600" y="1640840"/>
            <a:ext cx="3352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838200" y="4140200"/>
            <a:ext cx="3352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001000" y="4140200"/>
            <a:ext cx="3352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419600" y="4140200"/>
            <a:ext cx="33528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5117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63600" y="1718056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556000" y="1718056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48400" y="1718056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8940800" y="1718056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63600" y="424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556000" y="424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6248400" y="424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8940800" y="4241800"/>
            <a:ext cx="2438400" cy="18288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3319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14400" y="1803400"/>
            <a:ext cx="10363200" cy="18288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14400" y="3937000"/>
            <a:ext cx="1828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448800" y="3937000"/>
            <a:ext cx="1828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315200" y="3937000"/>
            <a:ext cx="1828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181600" y="3937000"/>
            <a:ext cx="1828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048000" y="3937000"/>
            <a:ext cx="1828800" cy="18288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333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1131" y="315837"/>
            <a:ext cx="556069" cy="471563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8010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-MEDIA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/>
          <p:cNvSpPr>
            <a:spLocks noGrp="1"/>
          </p:cNvSpPr>
          <p:nvPr>
            <p:ph type="media" sz="quarter" idx="12" hasCustomPrompt="1"/>
          </p:nvPr>
        </p:nvSpPr>
        <p:spPr>
          <a:xfrm>
            <a:off x="838200" y="1558798"/>
            <a:ext cx="7326941" cy="4121405"/>
          </a:xfrm>
          <a:prstGeom prst="rect">
            <a:avLst/>
          </a:prstGeom>
        </p:spPr>
        <p:txBody>
          <a:bodyPr lIns="45720" tIns="22860" rIns="45720" bIns="22860"/>
          <a:lstStyle/>
          <a:p>
            <a:r>
              <a:rPr lang="en-US" dirty="0"/>
              <a:t>Click icon to add media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4175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838200" y="229851"/>
            <a:ext cx="10515600" cy="530528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4267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78573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625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8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DD0E6-0228-2145-A968-16267A1106B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5A09-4257-A945-B617-39714650F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48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391650" y="64193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9BDA83F4-0262-4454-9773-6006B56D6F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375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705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8" r:id="rId32"/>
    <p:sldLayoutId id="2147483709" r:id="rId33"/>
    <p:sldLayoutId id="2147483710" r:id="rId34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microsoft.com/office/2007/relationships/hdphoto" Target="../media/hdphoto4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7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7.png"/><Relationship Id="rId4" Type="http://schemas.openxmlformats.org/officeDocument/2006/relationships/image" Target="../media/image4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7.png"/><Relationship Id="rId4" Type="http://schemas.openxmlformats.org/officeDocument/2006/relationships/image" Target="../media/image5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7.png"/><Relationship Id="rId4" Type="http://schemas.openxmlformats.org/officeDocument/2006/relationships/image" Target="../media/image5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61546"/>
            <a:ext cx="12249510" cy="692817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34506" y="4038600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388189" y="4089276"/>
            <a:ext cx="11437227" cy="1462516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en-US" altLang="zh-CN" sz="36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《</a:t>
            </a:r>
            <a:r>
              <a:rPr lang="zh-CN" altLang="en-US" sz="36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数据挖掘</a:t>
            </a:r>
            <a:r>
              <a:rPr lang="en-US" altLang="zh-CN" sz="36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》</a:t>
            </a:r>
          </a:p>
          <a:p>
            <a:pPr algn="ctr">
              <a:lnSpc>
                <a:spcPct val="130000"/>
              </a:lnSpc>
            </a:pPr>
            <a:r>
              <a:rPr lang="zh-CN" altLang="en-US" sz="36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决策树与集成学习方法</a:t>
            </a:r>
          </a:p>
        </p:txBody>
      </p:sp>
      <p:grpSp>
        <p:nvGrpSpPr>
          <p:cNvPr id="9" name="组合 45"/>
          <p:cNvGrpSpPr/>
          <p:nvPr/>
        </p:nvGrpSpPr>
        <p:grpSpPr>
          <a:xfrm>
            <a:off x="2153052" y="5655967"/>
            <a:ext cx="7946680" cy="961289"/>
            <a:chOff x="2002264" y="3258103"/>
            <a:chExt cx="8187473" cy="961286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866722" y="3258103"/>
              <a:ext cx="4395931" cy="961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吉林大学人工智能学院</a:t>
              </a:r>
              <a:endParaRPr lang="en-US" altLang="zh-CN" sz="2000" b="1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刘兆赓</a:t>
              </a:r>
              <a:endParaRPr lang="en-US" altLang="zh-CN" sz="2000" b="1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71" t="23333" r="16751"/>
          <a:stretch/>
        </p:blipFill>
        <p:spPr>
          <a:xfrm>
            <a:off x="8683551" y="-43132"/>
            <a:ext cx="3531454" cy="334759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0" cstate="print">
            <a:grayscl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schemeClr val="bg1"/>
                </a:solidFill>
              </a:rPr>
              <a:pPr/>
              <a:t>1</a:t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051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1" y="359231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4D4A09-68C4-4AE7-97EE-BDCF5450C8C6}"/>
              </a:ext>
            </a:extLst>
          </p:cNvPr>
          <p:cNvSpPr/>
          <p:nvPr/>
        </p:nvSpPr>
        <p:spPr>
          <a:xfrm>
            <a:off x="1" y="-5688"/>
            <a:ext cx="5603233" cy="68636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240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" name="任意多边形 4">
            <a:extLst>
              <a:ext uri="{FF2B5EF4-FFF2-40B4-BE49-F238E27FC236}">
                <a16:creationId xmlns:a16="http://schemas.microsoft.com/office/drawing/2014/main" id="{F9A28B36-7688-4864-9316-78C5A8E62467}"/>
              </a:ext>
            </a:extLst>
          </p:cNvPr>
          <p:cNvSpPr/>
          <p:nvPr/>
        </p:nvSpPr>
        <p:spPr>
          <a:xfrm flipH="1">
            <a:off x="960611" y="2624805"/>
            <a:ext cx="4009095" cy="1661367"/>
          </a:xfrm>
          <a:custGeom>
            <a:avLst/>
            <a:gdLst>
              <a:gd name="connsiteX0" fmla="*/ 3548448 w 4378443"/>
              <a:gd name="connsiteY0" fmla="*/ 0 h 1659990"/>
              <a:gd name="connsiteX1" fmla="*/ 0 w 4378443"/>
              <a:gd name="connsiteY1" fmla="*/ 0 h 1659990"/>
              <a:gd name="connsiteX2" fmla="*/ 0 w 4378443"/>
              <a:gd name="connsiteY2" fmla="*/ 1659990 h 1659990"/>
              <a:gd name="connsiteX3" fmla="*/ 3548447 w 4378443"/>
              <a:gd name="connsiteY3" fmla="*/ 1659990 h 1659990"/>
              <a:gd name="connsiteX4" fmla="*/ 4378442 w 4378443"/>
              <a:gd name="connsiteY4" fmla="*/ 829995 h 1659990"/>
              <a:gd name="connsiteX5" fmla="*/ 4378443 w 4378443"/>
              <a:gd name="connsiteY5" fmla="*/ 829995 h 1659990"/>
              <a:gd name="connsiteX6" fmla="*/ 3548448 w 4378443"/>
              <a:gd name="connsiteY6" fmla="*/ 0 h 1659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78443" h="1659990">
                <a:moveTo>
                  <a:pt x="3548448" y="0"/>
                </a:moveTo>
                <a:lnTo>
                  <a:pt x="0" y="0"/>
                </a:lnTo>
                <a:lnTo>
                  <a:pt x="0" y="1659990"/>
                </a:lnTo>
                <a:lnTo>
                  <a:pt x="3548447" y="1659990"/>
                </a:lnTo>
                <a:cubicBezTo>
                  <a:pt x="4006841" y="1659990"/>
                  <a:pt x="4378442" y="1288389"/>
                  <a:pt x="4378442" y="829995"/>
                </a:cubicBezTo>
                <a:lnTo>
                  <a:pt x="4378443" y="829995"/>
                </a:lnTo>
                <a:cubicBezTo>
                  <a:pt x="4378443" y="371601"/>
                  <a:pt x="4006842" y="0"/>
                  <a:pt x="3548448" y="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innerShdw blurRad="63500" dist="177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2400" dirty="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29BCB0F-8C63-4136-B68A-A85B4A9A9EC9}"/>
              </a:ext>
            </a:extLst>
          </p:cNvPr>
          <p:cNvGrpSpPr/>
          <p:nvPr/>
        </p:nvGrpSpPr>
        <p:grpSpPr>
          <a:xfrm>
            <a:off x="4418182" y="1632893"/>
            <a:ext cx="551524" cy="4095728"/>
            <a:chOff x="7636995" y="1679426"/>
            <a:chExt cx="421216" cy="4092334"/>
          </a:xfrm>
          <a:effectLst>
            <a:outerShdw blurRad="228600" dist="101600" dir="10800000" algn="r" rotWithShape="0">
              <a:prstClr val="black">
                <a:alpha val="40000"/>
              </a:prstClr>
            </a:outerShdw>
          </a:effectLst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F09E467-F76A-4847-833D-EDCF7250EADF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 rot="16200000" flipV="1">
              <a:off x="5801436" y="3514985"/>
              <a:ext cx="4092334" cy="42121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3D7AC9F-FF99-4D97-9D74-EDE4D99C1206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 rot="16200000" flipV="1">
              <a:off x="5801436" y="3514985"/>
              <a:ext cx="4092334" cy="421216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9" name="文本框 32">
            <a:extLst>
              <a:ext uri="{FF2B5EF4-FFF2-40B4-BE49-F238E27FC236}">
                <a16:creationId xmlns:a16="http://schemas.microsoft.com/office/drawing/2014/main" id="{09249BDD-30DD-4BE9-9195-D1BAB9FEC693}"/>
              </a:ext>
            </a:extLst>
          </p:cNvPr>
          <p:cNvSpPr txBox="1"/>
          <p:nvPr/>
        </p:nvSpPr>
        <p:spPr>
          <a:xfrm>
            <a:off x="1380290" y="3659768"/>
            <a:ext cx="3567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en-US" altLang="zh-CN" sz="3200" b="1" dirty="0">
                <a:solidFill>
                  <a:prstClr val="whit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CONTENTS</a:t>
            </a:r>
            <a:endParaRPr lang="zh-CN" altLang="en-US" sz="3200" b="1" dirty="0">
              <a:solidFill>
                <a:prstClr val="white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10218" y="2673464"/>
            <a:ext cx="25511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prstClr val="white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目  录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498" y="0"/>
            <a:ext cx="1355352" cy="752437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580" y="42293"/>
            <a:ext cx="666768" cy="66785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grpSp>
        <p:nvGrpSpPr>
          <p:cNvPr id="13" name="组合 12"/>
          <p:cNvGrpSpPr/>
          <p:nvPr/>
        </p:nvGrpSpPr>
        <p:grpSpPr>
          <a:xfrm>
            <a:off x="5739015" y="1385488"/>
            <a:ext cx="3050722" cy="771736"/>
            <a:chOff x="6447320" y="2108200"/>
            <a:chExt cx="3050722" cy="771736"/>
          </a:xfrm>
        </p:grpSpPr>
        <p:sp>
          <p:nvSpPr>
            <p:cNvPr id="20" name="文本框 47">
              <a:extLst>
                <a:ext uri="{FF2B5EF4-FFF2-40B4-BE49-F238E27FC236}">
                  <a16:creationId xmlns:a16="http://schemas.microsoft.com/office/drawing/2014/main" id="{957966FD-5517-4D7F-A25C-3CB74BD62251}"/>
                </a:ext>
              </a:extLst>
            </p:cNvPr>
            <p:cNvSpPr txBox="1"/>
            <p:nvPr/>
          </p:nvSpPr>
          <p:spPr>
            <a:xfrm>
              <a:off x="7466717" y="2162031"/>
              <a:ext cx="20313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3600" b="1" dirty="0">
                  <a:solidFill>
                    <a:srgbClr val="213F79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典型案例</a:t>
              </a:r>
              <a:endParaRPr lang="en-US" altLang="zh-CN" sz="3600" b="1" dirty="0">
                <a:solidFill>
                  <a:srgbClr val="213F79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兰亭特黑简体" panose="02000000000000000000" pitchFamily="2" charset="-122"/>
                <a:ea typeface="方正兰亭特黑简体" panose="02000000000000000000" pitchFamily="2" charset="-122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6447320" y="2108200"/>
              <a:ext cx="771736" cy="771736"/>
            </a:xfrm>
            <a:prstGeom prst="ellipse">
              <a:avLst/>
            </a:prstGeom>
            <a:solidFill>
              <a:srgbClr val="213F79"/>
            </a:solidFill>
            <a:ln>
              <a:noFill/>
            </a:ln>
            <a:effectLst>
              <a:innerShdw blurRad="63500" dist="114300" dir="108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prstClr val="white"/>
                  </a:solidFill>
                  <a:latin typeface="Arial Black" panose="020B0A04020102020204" pitchFamily="34" charset="0"/>
                  <a:ea typeface="方正兰亭特黑简体" panose="02000000000000000000" pitchFamily="2" charset="-122"/>
                </a:rPr>
                <a:t>1</a:t>
              </a:r>
              <a:endParaRPr lang="zh-CN" altLang="en-US" sz="2800" b="1" dirty="0">
                <a:solidFill>
                  <a:prstClr val="white"/>
                </a:solidFill>
                <a:latin typeface="Arial Black" panose="020B0A04020102020204" pitchFamily="34" charset="0"/>
                <a:ea typeface="方正兰亭特黑简体" panose="020000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739015" y="2878349"/>
            <a:ext cx="2589057" cy="771736"/>
            <a:chOff x="6447320" y="3214692"/>
            <a:chExt cx="2589057" cy="771736"/>
          </a:xfrm>
        </p:grpSpPr>
        <p:sp>
          <p:nvSpPr>
            <p:cNvPr id="18" name="文本框 48">
              <a:extLst>
                <a:ext uri="{FF2B5EF4-FFF2-40B4-BE49-F238E27FC236}">
                  <a16:creationId xmlns:a16="http://schemas.microsoft.com/office/drawing/2014/main" id="{3CDCCE53-36A4-4D9C-A9A8-A527E7E391E9}"/>
                </a:ext>
              </a:extLst>
            </p:cNvPr>
            <p:cNvSpPr txBox="1"/>
            <p:nvPr/>
          </p:nvSpPr>
          <p:spPr>
            <a:xfrm>
              <a:off x="7466717" y="3241968"/>
              <a:ext cx="15696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3600" b="1" dirty="0">
                  <a:solidFill>
                    <a:srgbClr val="4472C4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决策树</a:t>
              </a:r>
            </a:p>
          </p:txBody>
        </p:sp>
        <p:sp>
          <p:nvSpPr>
            <p:cNvPr id="19" name="椭圆 18"/>
            <p:cNvSpPr/>
            <p:nvPr/>
          </p:nvSpPr>
          <p:spPr>
            <a:xfrm>
              <a:off x="6447320" y="3214692"/>
              <a:ext cx="771736" cy="771736"/>
            </a:xfrm>
            <a:prstGeom prst="ellipse">
              <a:avLst/>
            </a:prstGeom>
            <a:solidFill>
              <a:srgbClr val="4472C4"/>
            </a:solidFill>
            <a:ln>
              <a:noFill/>
            </a:ln>
            <a:effectLst>
              <a:innerShdw blurRad="63500" dist="114300" dir="108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prstClr val="white"/>
                  </a:solidFill>
                  <a:latin typeface="Arial Black" panose="020B0A04020102020204" pitchFamily="34" charset="0"/>
                  <a:ea typeface="方正兰亭特黑简体" panose="02000000000000000000" pitchFamily="2" charset="-122"/>
                </a:rPr>
                <a:t>2</a:t>
              </a:r>
              <a:endParaRPr lang="zh-CN" altLang="en-US" sz="2800" b="1" dirty="0">
                <a:solidFill>
                  <a:prstClr val="white"/>
                </a:solidFill>
                <a:latin typeface="Arial Black" panose="020B0A04020102020204" pitchFamily="34" charset="0"/>
                <a:ea typeface="方正兰亭特黑简体" panose="020000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739015" y="4330146"/>
            <a:ext cx="3050721" cy="771736"/>
            <a:chOff x="6447320" y="4280120"/>
            <a:chExt cx="3050721" cy="771736"/>
          </a:xfrm>
        </p:grpSpPr>
        <p:sp>
          <p:nvSpPr>
            <p:cNvPr id="16" name="文本框 49">
              <a:extLst>
                <a:ext uri="{FF2B5EF4-FFF2-40B4-BE49-F238E27FC236}">
                  <a16:creationId xmlns:a16="http://schemas.microsoft.com/office/drawing/2014/main" id="{C70D3AA2-E94E-4687-82A9-82DCCCB8B239}"/>
                </a:ext>
              </a:extLst>
            </p:cNvPr>
            <p:cNvSpPr txBox="1"/>
            <p:nvPr/>
          </p:nvSpPr>
          <p:spPr>
            <a:xfrm>
              <a:off x="7466716" y="4301919"/>
              <a:ext cx="20313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3600" b="1" dirty="0">
                  <a:solidFill>
                    <a:srgbClr val="213F79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集成学习</a:t>
              </a:r>
            </a:p>
          </p:txBody>
        </p:sp>
        <p:sp>
          <p:nvSpPr>
            <p:cNvPr id="17" name="椭圆 16"/>
            <p:cNvSpPr/>
            <p:nvPr/>
          </p:nvSpPr>
          <p:spPr>
            <a:xfrm>
              <a:off x="6447320" y="4280120"/>
              <a:ext cx="771736" cy="771736"/>
            </a:xfrm>
            <a:prstGeom prst="ellipse">
              <a:avLst/>
            </a:prstGeom>
            <a:solidFill>
              <a:srgbClr val="213F79"/>
            </a:solidFill>
            <a:ln>
              <a:noFill/>
            </a:ln>
            <a:effectLst>
              <a:innerShdw blurRad="63500" dist="114300" dir="108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prstClr val="white"/>
                  </a:solidFill>
                  <a:latin typeface="Arial Black" panose="020B0A04020102020204" pitchFamily="34" charset="0"/>
                  <a:ea typeface="方正兰亭特黑简体" panose="02000000000000000000" pitchFamily="2" charset="-122"/>
                </a:rPr>
                <a:t>3</a:t>
              </a:r>
              <a:endParaRPr lang="zh-CN" altLang="en-US" sz="2800" b="1" dirty="0">
                <a:solidFill>
                  <a:prstClr val="white"/>
                </a:solidFill>
                <a:latin typeface="Arial Black" panose="020B0A04020102020204" pitchFamily="34" charset="0"/>
                <a:ea typeface="方正兰亭特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783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-127000"/>
            <a:ext cx="12192000" cy="6985001"/>
            <a:chOff x="0" y="-127000"/>
            <a:chExt cx="12192000" cy="6985001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 5">
              <a:extLst>
                <a:ext uri="{FF2B5EF4-FFF2-40B4-BE49-F238E27FC236}">
                  <a16:creationId xmlns:a16="http://schemas.microsoft.com/office/drawing/2014/main" id="{683F9A17-5372-4D20-B984-AEEE30D4E8ED}"/>
                </a:ext>
              </a:extLst>
            </p:cNvPr>
            <p:cNvSpPr/>
            <p:nvPr/>
          </p:nvSpPr>
          <p:spPr>
            <a:xfrm flipH="1">
              <a:off x="1651519" y="990601"/>
              <a:ext cx="3046301" cy="916025"/>
            </a:xfrm>
            <a:custGeom>
              <a:avLst/>
              <a:gdLst>
                <a:gd name="connsiteX0" fmla="*/ 3548448 w 4378443"/>
                <a:gd name="connsiteY0" fmla="*/ 0 h 1659990"/>
                <a:gd name="connsiteX1" fmla="*/ 0 w 4378443"/>
                <a:gd name="connsiteY1" fmla="*/ 0 h 1659990"/>
                <a:gd name="connsiteX2" fmla="*/ 0 w 4378443"/>
                <a:gd name="connsiteY2" fmla="*/ 1659990 h 1659990"/>
                <a:gd name="connsiteX3" fmla="*/ 3548447 w 4378443"/>
                <a:gd name="connsiteY3" fmla="*/ 1659990 h 1659990"/>
                <a:gd name="connsiteX4" fmla="*/ 4378442 w 4378443"/>
                <a:gd name="connsiteY4" fmla="*/ 829995 h 1659990"/>
                <a:gd name="connsiteX5" fmla="*/ 4378443 w 4378443"/>
                <a:gd name="connsiteY5" fmla="*/ 829995 h 1659990"/>
                <a:gd name="connsiteX6" fmla="*/ 3548448 w 4378443"/>
                <a:gd name="connsiteY6" fmla="*/ 0 h 16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8443" h="1659990">
                  <a:moveTo>
                    <a:pt x="3548448" y="0"/>
                  </a:moveTo>
                  <a:lnTo>
                    <a:pt x="0" y="0"/>
                  </a:lnTo>
                  <a:lnTo>
                    <a:pt x="0" y="1659990"/>
                  </a:lnTo>
                  <a:lnTo>
                    <a:pt x="3548447" y="1659990"/>
                  </a:lnTo>
                  <a:cubicBezTo>
                    <a:pt x="4006841" y="1659990"/>
                    <a:pt x="4378442" y="1288389"/>
                    <a:pt x="4378442" y="829995"/>
                  </a:cubicBezTo>
                  <a:lnTo>
                    <a:pt x="4378443" y="829995"/>
                  </a:lnTo>
                  <a:cubicBezTo>
                    <a:pt x="4378443" y="371601"/>
                    <a:pt x="4006842" y="0"/>
                    <a:pt x="3548448" y="0"/>
                  </a:cubicBezTo>
                  <a:close/>
                </a:path>
              </a:pathLst>
            </a:custGeom>
            <a:solidFill>
              <a:srgbClr val="213F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200C103-E212-4C79-9ADB-9CF7394DABAA}"/>
                </a:ext>
              </a:extLst>
            </p:cNvPr>
            <p:cNvGrpSpPr/>
            <p:nvPr/>
          </p:nvGrpSpPr>
          <p:grpSpPr>
            <a:xfrm>
              <a:off x="4095487" y="-127000"/>
              <a:ext cx="602335" cy="5812453"/>
              <a:chOff x="7636995" y="1679426"/>
              <a:chExt cx="421216" cy="4092334"/>
            </a:xfrm>
          </p:grpSpPr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A07D4936-ED15-4494-A02F-C2411B992F9B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rcRect t="76775"/>
              <a:stretch/>
            </p:blipFill>
            <p:spPr>
              <a:xfrm rot="16200000" flipV="1">
                <a:off x="5801436" y="3514985"/>
                <a:ext cx="4092334" cy="421216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19C4510A-8E52-4E6D-ABC3-8F5193067839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rcRect t="76775"/>
              <a:stretch/>
            </p:blipFill>
            <p:spPr>
              <a:xfrm rot="16200000" flipV="1">
                <a:off x="5801436" y="3514985"/>
                <a:ext cx="4092334" cy="421216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8" name="直角三角形 7">
              <a:extLst>
                <a:ext uri="{FF2B5EF4-FFF2-40B4-BE49-F238E27FC236}">
                  <a16:creationId xmlns:a16="http://schemas.microsoft.com/office/drawing/2014/main" id="{99A2EC02-BD58-46AF-A84F-156DCC33EE05}"/>
                </a:ext>
              </a:extLst>
            </p:cNvPr>
            <p:cNvSpPr/>
            <p:nvPr/>
          </p:nvSpPr>
          <p:spPr>
            <a:xfrm flipH="1" flipV="1">
              <a:off x="3785126" y="3950674"/>
              <a:ext cx="913719" cy="432309"/>
            </a:xfrm>
            <a:prstGeom prst="rtTriangle">
              <a:avLst/>
            </a:prstGeom>
            <a:solidFill>
              <a:srgbClr val="213F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" name="任意多边形 8">
              <a:extLst>
                <a:ext uri="{FF2B5EF4-FFF2-40B4-BE49-F238E27FC236}">
                  <a16:creationId xmlns:a16="http://schemas.microsoft.com/office/drawing/2014/main" id="{23158547-6A0B-4618-8FF8-0A8B69708EC6}"/>
                </a:ext>
              </a:extLst>
            </p:cNvPr>
            <p:cNvSpPr/>
            <p:nvPr/>
          </p:nvSpPr>
          <p:spPr>
            <a:xfrm>
              <a:off x="3794643" y="2362673"/>
              <a:ext cx="6466957" cy="1592519"/>
            </a:xfrm>
            <a:custGeom>
              <a:avLst/>
              <a:gdLst>
                <a:gd name="connsiteX0" fmla="*/ 0 w 5229817"/>
                <a:gd name="connsiteY0" fmla="*/ 0 h 1429030"/>
                <a:gd name="connsiteX1" fmla="*/ 4515302 w 5229817"/>
                <a:gd name="connsiteY1" fmla="*/ 0 h 1429030"/>
                <a:gd name="connsiteX2" fmla="*/ 5229817 w 5229817"/>
                <a:gd name="connsiteY2" fmla="*/ 714515 h 1429030"/>
                <a:gd name="connsiteX3" fmla="*/ 5229816 w 5229817"/>
                <a:gd name="connsiteY3" fmla="*/ 714515 h 1429030"/>
                <a:gd name="connsiteX4" fmla="*/ 4515301 w 5229817"/>
                <a:gd name="connsiteY4" fmla="*/ 1429030 h 1429030"/>
                <a:gd name="connsiteX5" fmla="*/ 0 w 5229817"/>
                <a:gd name="connsiteY5" fmla="*/ 1429029 h 142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29817" h="1429030">
                  <a:moveTo>
                    <a:pt x="0" y="0"/>
                  </a:moveTo>
                  <a:lnTo>
                    <a:pt x="4515302" y="0"/>
                  </a:lnTo>
                  <a:cubicBezTo>
                    <a:pt x="4909918" y="0"/>
                    <a:pt x="5229817" y="319899"/>
                    <a:pt x="5229817" y="714515"/>
                  </a:cubicBezTo>
                  <a:lnTo>
                    <a:pt x="5229816" y="714515"/>
                  </a:lnTo>
                  <a:cubicBezTo>
                    <a:pt x="5229816" y="1109131"/>
                    <a:pt x="4909917" y="1429030"/>
                    <a:pt x="4515301" y="1429030"/>
                  </a:cubicBezTo>
                  <a:lnTo>
                    <a:pt x="0" y="1429029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" name="文本框 61">
              <a:extLst>
                <a:ext uri="{FF2B5EF4-FFF2-40B4-BE49-F238E27FC236}">
                  <a16:creationId xmlns:a16="http://schemas.microsoft.com/office/drawing/2014/main" id="{8EFA2E3D-1349-4611-858A-C5CD9EC762AE}"/>
                </a:ext>
              </a:extLst>
            </p:cNvPr>
            <p:cNvSpPr txBox="1"/>
            <p:nvPr/>
          </p:nvSpPr>
          <p:spPr>
            <a:xfrm>
              <a:off x="4248597" y="2585793"/>
              <a:ext cx="5401012" cy="101566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600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典型案例</a:t>
              </a:r>
            </a:p>
          </p:txBody>
        </p:sp>
        <p:sp>
          <p:nvSpPr>
            <p:cNvPr id="11" name="文本框 62">
              <a:extLst>
                <a:ext uri="{FF2B5EF4-FFF2-40B4-BE49-F238E27FC236}">
                  <a16:creationId xmlns:a16="http://schemas.microsoft.com/office/drawing/2014/main" id="{60BBD27F-574E-483D-98AD-863290A27093}"/>
                </a:ext>
              </a:extLst>
            </p:cNvPr>
            <p:cNvSpPr txBox="1"/>
            <p:nvPr/>
          </p:nvSpPr>
          <p:spPr>
            <a:xfrm>
              <a:off x="2090544" y="1121713"/>
              <a:ext cx="16647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PART  1</a:t>
              </a:r>
              <a:endParaRPr lang="zh-CN" altLang="en-US" sz="4000" b="1" dirty="0">
                <a:solidFill>
                  <a:prstClr val="white"/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33AE577-F75A-49A4-AF49-6C3DFB8BA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3838768"/>
              <a:ext cx="4992468" cy="3019233"/>
            </a:xfrm>
            <a:custGeom>
              <a:avLst/>
              <a:gdLst>
                <a:gd name="T0" fmla="*/ 0 w 2348"/>
                <a:gd name="T1" fmla="*/ 0 h 1407"/>
                <a:gd name="T2" fmla="*/ 2348 w 2348"/>
                <a:gd name="T3" fmla="*/ 1407 h 1407"/>
                <a:gd name="T4" fmla="*/ 0 w 2348"/>
                <a:gd name="T5" fmla="*/ 1407 h 1407"/>
                <a:gd name="T6" fmla="*/ 0 w 2348"/>
                <a:gd name="T7" fmla="*/ 0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8" h="1407">
                  <a:moveTo>
                    <a:pt x="0" y="0"/>
                  </a:moveTo>
                  <a:lnTo>
                    <a:pt x="2348" y="1407"/>
                  </a:lnTo>
                  <a:lnTo>
                    <a:pt x="0" y="1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F7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62551" tIns="81275" rIns="162551" bIns="81275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155895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276">
                <a:solidFill>
                  <a:srgbClr val="000000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BA162EA-CEA0-4726-8F4B-BB627F8D0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059" y="4356933"/>
              <a:ext cx="9361941" cy="2501068"/>
            </a:xfrm>
            <a:custGeom>
              <a:avLst/>
              <a:gdLst>
                <a:gd name="T0" fmla="*/ 4403 w 4403"/>
                <a:gd name="T1" fmla="*/ 0 h 1161"/>
                <a:gd name="T2" fmla="*/ 4403 w 4403"/>
                <a:gd name="T3" fmla="*/ 1161 h 1161"/>
                <a:gd name="T4" fmla="*/ 0 w 4403"/>
                <a:gd name="T5" fmla="*/ 1161 h 1161"/>
                <a:gd name="T6" fmla="*/ 4403 w 4403"/>
                <a:gd name="T7" fmla="*/ 0 h 1161"/>
                <a:gd name="connsiteX0" fmla="*/ 10000 w 10000"/>
                <a:gd name="connsiteY0" fmla="*/ 0 h 10039"/>
                <a:gd name="connsiteX1" fmla="*/ 10000 w 10000"/>
                <a:gd name="connsiteY1" fmla="*/ 10039 h 10039"/>
                <a:gd name="connsiteX2" fmla="*/ 0 w 10000"/>
                <a:gd name="connsiteY2" fmla="*/ 10039 h 10039"/>
                <a:gd name="connsiteX3" fmla="*/ 10000 w 10000"/>
                <a:gd name="connsiteY3" fmla="*/ 0 h 1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39">
                  <a:moveTo>
                    <a:pt x="10000" y="0"/>
                  </a:moveTo>
                  <a:lnTo>
                    <a:pt x="10000" y="10039"/>
                  </a:lnTo>
                  <a:lnTo>
                    <a:pt x="0" y="10039"/>
                  </a:lnTo>
                  <a:lnTo>
                    <a:pt x="10000" y="0"/>
                  </a:lnTo>
                  <a:close/>
                </a:path>
              </a:pathLst>
            </a:custGeom>
            <a:solidFill>
              <a:srgbClr val="4472C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62551" tIns="81275" rIns="162551" bIns="81275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155895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276">
                <a:solidFill>
                  <a:srgbClr val="000000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schemeClr val="bg1"/>
                </a:solidFill>
              </a:rPr>
              <a:pPr/>
              <a:t>3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498" y="0"/>
            <a:ext cx="1355352" cy="752437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580" y="42293"/>
            <a:ext cx="666768" cy="66785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153171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14B1DC1-66CA-4CB3-93C5-44E928FAC5B7}"/>
              </a:ext>
            </a:extLst>
          </p:cNvPr>
          <p:cNvSpPr txBox="1">
            <a:spLocks/>
          </p:cNvSpPr>
          <p:nvPr/>
        </p:nvSpPr>
        <p:spPr>
          <a:xfrm>
            <a:off x="826789" y="1813342"/>
            <a:ext cx="10538421" cy="4606054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通俗点，决策树分类的思想类似于找对象。现想象一个女孩的母亲要给这个女孩介绍男朋友，于是有了下面的对话：</a:t>
            </a:r>
          </a:p>
          <a:p>
            <a:r>
              <a:rPr lang="zh-CN" altLang="en-US" dirty="0"/>
              <a:t>      女儿：多大年纪了？</a:t>
            </a:r>
            <a:br>
              <a:rPr lang="zh-CN" altLang="en-US" dirty="0"/>
            </a:br>
            <a:r>
              <a:rPr lang="zh-CN" altLang="en-US" dirty="0"/>
              <a:t>      母亲：</a:t>
            </a:r>
            <a:r>
              <a:rPr lang="en-US" altLang="zh-CN" dirty="0"/>
              <a:t>27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      女儿：长的帅不帅？</a:t>
            </a:r>
            <a:br>
              <a:rPr lang="zh-CN" altLang="en-US" dirty="0"/>
            </a:br>
            <a:r>
              <a:rPr lang="zh-CN" altLang="en-US" dirty="0"/>
              <a:t>      母亲：挺帅的。</a:t>
            </a:r>
            <a:br>
              <a:rPr lang="zh-CN" altLang="en-US" dirty="0"/>
            </a:br>
            <a:r>
              <a:rPr lang="zh-CN" altLang="en-US" dirty="0"/>
              <a:t>      女儿：收入高不？</a:t>
            </a:r>
            <a:br>
              <a:rPr lang="zh-CN" altLang="en-US" dirty="0"/>
            </a:br>
            <a:r>
              <a:rPr lang="zh-CN" altLang="en-US" dirty="0"/>
              <a:t>      母亲：不算很高，中等情况。</a:t>
            </a:r>
            <a:br>
              <a:rPr lang="zh-CN" altLang="en-US" dirty="0"/>
            </a:br>
            <a:r>
              <a:rPr lang="zh-CN" altLang="en-US" dirty="0"/>
              <a:t>      女儿：是公务员不？</a:t>
            </a:r>
            <a:br>
              <a:rPr lang="zh-CN" altLang="en-US" dirty="0"/>
            </a:br>
            <a:r>
              <a:rPr lang="zh-CN" altLang="en-US" dirty="0"/>
              <a:t>      母亲：是，在财政局上班呢。</a:t>
            </a:r>
            <a:br>
              <a:rPr lang="zh-CN" altLang="en-US" dirty="0"/>
            </a:br>
            <a:r>
              <a:rPr lang="zh-CN" altLang="en-US" dirty="0"/>
              <a:t>      女儿：好，可以见见。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02415527-4D5E-4813-AB24-B43DC5B84806}"/>
              </a:ext>
            </a:extLst>
          </p:cNvPr>
          <p:cNvSpPr txBox="1">
            <a:spLocks/>
          </p:cNvSpPr>
          <p:nvPr/>
        </p:nvSpPr>
        <p:spPr>
          <a:xfrm>
            <a:off x="397126" y="1056086"/>
            <a:ext cx="10798471" cy="1325563"/>
          </a:xfrm>
          <a:prstGeom prst="rect">
            <a:avLst/>
          </a:prstGeom>
        </p:spPr>
        <p:txBody>
          <a:bodyPr lIns="90000"/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002E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/>
              <a:t>案例一</a:t>
            </a:r>
          </a:p>
        </p:txBody>
      </p:sp>
    </p:spTree>
    <p:extLst>
      <p:ext uri="{BB962C8B-B14F-4D97-AF65-F5344CB8AC3E}">
        <p14:creationId xmlns:p14="http://schemas.microsoft.com/office/powerpoint/2010/main" val="97309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02415527-4D5E-4813-AB24-B43DC5B84806}"/>
              </a:ext>
            </a:extLst>
          </p:cNvPr>
          <p:cNvSpPr txBox="1">
            <a:spLocks/>
          </p:cNvSpPr>
          <p:nvPr/>
        </p:nvSpPr>
        <p:spPr>
          <a:xfrm>
            <a:off x="397126" y="1056086"/>
            <a:ext cx="10798471" cy="1325563"/>
          </a:xfrm>
          <a:prstGeom prst="rect">
            <a:avLst/>
          </a:prstGeom>
        </p:spPr>
        <p:txBody>
          <a:bodyPr lIns="90000"/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002E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/>
              <a:t>案例一</a:t>
            </a:r>
          </a:p>
        </p:txBody>
      </p:sp>
      <p:pic>
        <p:nvPicPr>
          <p:cNvPr id="7" name="Picture 2" descr="http://hi.csdn.net/attachment/201201/8/0_1326015919pgCu.gif">
            <a:extLst>
              <a:ext uri="{FF2B5EF4-FFF2-40B4-BE49-F238E27FC236}">
                <a16:creationId xmlns:a16="http://schemas.microsoft.com/office/drawing/2014/main" id="{6DD0396E-4DC3-4862-BE07-9005C1948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0204" y="1383747"/>
            <a:ext cx="6264696" cy="50031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4773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914B2-B033-48FE-B53A-EAB609631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7964074-1024-4224-BB5B-FAFED56EA2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6EC46EC3-0896-4E25-BC1B-3A2E2BB90191}"/>
              </a:ext>
            </a:extLst>
          </p:cNvPr>
          <p:cNvSpPr txBox="1">
            <a:spLocks/>
          </p:cNvSpPr>
          <p:nvPr/>
        </p:nvSpPr>
        <p:spPr>
          <a:xfrm>
            <a:off x="397126" y="1056086"/>
            <a:ext cx="10798471" cy="1325563"/>
          </a:xfrm>
          <a:prstGeom prst="rect">
            <a:avLst/>
          </a:prstGeom>
        </p:spPr>
        <p:txBody>
          <a:bodyPr lIns="90000"/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002E7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/>
              <a:t>案例二</a:t>
            </a:r>
          </a:p>
        </p:txBody>
      </p:sp>
      <p:graphicFrame>
        <p:nvGraphicFramePr>
          <p:cNvPr id="5" name="Group 77">
            <a:extLst>
              <a:ext uri="{FF2B5EF4-FFF2-40B4-BE49-F238E27FC236}">
                <a16:creationId xmlns:a16="http://schemas.microsoft.com/office/drawing/2014/main" id="{3F53B261-0956-4CCA-879C-68B6CB7A0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995793"/>
              </p:ext>
            </p:extLst>
          </p:nvPr>
        </p:nvGraphicFramePr>
        <p:xfrm>
          <a:off x="1333283" y="1669277"/>
          <a:ext cx="9525434" cy="3675337"/>
        </p:xfrm>
        <a:graphic>
          <a:graphicData uri="http://schemas.openxmlformats.org/drawingml/2006/table">
            <a:tbl>
              <a:tblPr/>
              <a:tblGrid>
                <a:gridCol w="1058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85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68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8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02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68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85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811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名称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体温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表皮覆盖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胎生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水生动物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飞行动物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有腿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冬眠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类标号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人类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恒温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毛发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哺乳动物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5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海龟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冷血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鳞片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半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爬行类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5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鸽子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恒温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羽毛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鸟类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5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鲸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恒温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毛发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哺乳类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val 78">
            <a:extLst>
              <a:ext uri="{FF2B5EF4-FFF2-40B4-BE49-F238E27FC236}">
                <a16:creationId xmlns:a16="http://schemas.microsoft.com/office/drawing/2014/main" id="{5C77A59D-C475-4B70-ACB4-6F04D504F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923" y="1658591"/>
            <a:ext cx="8453091" cy="3674519"/>
          </a:xfrm>
          <a:prstGeom prst="ellipse">
            <a:avLst/>
          </a:prstGeom>
          <a:noFill/>
          <a:ln w="12700">
            <a:solidFill>
              <a:srgbClr val="CC0099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Oval 79">
            <a:extLst>
              <a:ext uri="{FF2B5EF4-FFF2-40B4-BE49-F238E27FC236}">
                <a16:creationId xmlns:a16="http://schemas.microsoft.com/office/drawing/2014/main" id="{B4C1F903-2A67-498E-8A11-6F71CFA2F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6867" y="1669276"/>
            <a:ext cx="919042" cy="3675338"/>
          </a:xfrm>
          <a:prstGeom prst="ellipse">
            <a:avLst/>
          </a:prstGeom>
          <a:noFill/>
          <a:ln w="28575">
            <a:solidFill>
              <a:srgbClr val="33CCFF"/>
            </a:solidFill>
            <a:round/>
          </a:ln>
          <a:effectLst/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8" name="Text Box 80">
            <a:extLst>
              <a:ext uri="{FF2B5EF4-FFF2-40B4-BE49-F238E27FC236}">
                <a16:creationId xmlns:a16="http://schemas.microsoft.com/office/drawing/2014/main" id="{186FF743-349B-432E-8DD6-1ADF2E785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177" y="5059623"/>
            <a:ext cx="33058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/>
              <a:t>X</a:t>
            </a:r>
          </a:p>
        </p:txBody>
      </p:sp>
      <p:sp>
        <p:nvSpPr>
          <p:cNvPr id="9" name="Text Box 82">
            <a:extLst>
              <a:ext uri="{FF2B5EF4-FFF2-40B4-BE49-F238E27FC236}">
                <a16:creationId xmlns:a16="http://schemas.microsoft.com/office/drawing/2014/main" id="{91814666-4455-4654-9EFC-57DB7230D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5057" y="4975282"/>
            <a:ext cx="31320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665646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-127000"/>
            <a:ext cx="12192000" cy="6985001"/>
            <a:chOff x="0" y="-127000"/>
            <a:chExt cx="12192000" cy="6985001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 5">
              <a:extLst>
                <a:ext uri="{FF2B5EF4-FFF2-40B4-BE49-F238E27FC236}">
                  <a16:creationId xmlns:a16="http://schemas.microsoft.com/office/drawing/2014/main" id="{683F9A17-5372-4D20-B984-AEEE30D4E8ED}"/>
                </a:ext>
              </a:extLst>
            </p:cNvPr>
            <p:cNvSpPr/>
            <p:nvPr/>
          </p:nvSpPr>
          <p:spPr>
            <a:xfrm flipH="1">
              <a:off x="1651519" y="990601"/>
              <a:ext cx="3046301" cy="916025"/>
            </a:xfrm>
            <a:custGeom>
              <a:avLst/>
              <a:gdLst>
                <a:gd name="connsiteX0" fmla="*/ 3548448 w 4378443"/>
                <a:gd name="connsiteY0" fmla="*/ 0 h 1659990"/>
                <a:gd name="connsiteX1" fmla="*/ 0 w 4378443"/>
                <a:gd name="connsiteY1" fmla="*/ 0 h 1659990"/>
                <a:gd name="connsiteX2" fmla="*/ 0 w 4378443"/>
                <a:gd name="connsiteY2" fmla="*/ 1659990 h 1659990"/>
                <a:gd name="connsiteX3" fmla="*/ 3548447 w 4378443"/>
                <a:gd name="connsiteY3" fmla="*/ 1659990 h 1659990"/>
                <a:gd name="connsiteX4" fmla="*/ 4378442 w 4378443"/>
                <a:gd name="connsiteY4" fmla="*/ 829995 h 1659990"/>
                <a:gd name="connsiteX5" fmla="*/ 4378443 w 4378443"/>
                <a:gd name="connsiteY5" fmla="*/ 829995 h 1659990"/>
                <a:gd name="connsiteX6" fmla="*/ 3548448 w 4378443"/>
                <a:gd name="connsiteY6" fmla="*/ 0 h 16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8443" h="1659990">
                  <a:moveTo>
                    <a:pt x="3548448" y="0"/>
                  </a:moveTo>
                  <a:lnTo>
                    <a:pt x="0" y="0"/>
                  </a:lnTo>
                  <a:lnTo>
                    <a:pt x="0" y="1659990"/>
                  </a:lnTo>
                  <a:lnTo>
                    <a:pt x="3548447" y="1659990"/>
                  </a:lnTo>
                  <a:cubicBezTo>
                    <a:pt x="4006841" y="1659990"/>
                    <a:pt x="4378442" y="1288389"/>
                    <a:pt x="4378442" y="829995"/>
                  </a:cubicBezTo>
                  <a:lnTo>
                    <a:pt x="4378443" y="829995"/>
                  </a:lnTo>
                  <a:cubicBezTo>
                    <a:pt x="4378443" y="371601"/>
                    <a:pt x="4006842" y="0"/>
                    <a:pt x="3548448" y="0"/>
                  </a:cubicBezTo>
                  <a:close/>
                </a:path>
              </a:pathLst>
            </a:custGeom>
            <a:solidFill>
              <a:srgbClr val="213F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200C103-E212-4C79-9ADB-9CF7394DABAA}"/>
                </a:ext>
              </a:extLst>
            </p:cNvPr>
            <p:cNvGrpSpPr/>
            <p:nvPr/>
          </p:nvGrpSpPr>
          <p:grpSpPr>
            <a:xfrm>
              <a:off x="4095487" y="-127000"/>
              <a:ext cx="602335" cy="5812453"/>
              <a:chOff x="7636995" y="1679426"/>
              <a:chExt cx="421216" cy="4092334"/>
            </a:xfrm>
          </p:grpSpPr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A07D4936-ED15-4494-A02F-C2411B992F9B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rcRect t="76775"/>
              <a:stretch/>
            </p:blipFill>
            <p:spPr>
              <a:xfrm rot="16200000" flipV="1">
                <a:off x="5801436" y="3514985"/>
                <a:ext cx="4092334" cy="421216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19C4510A-8E52-4E6D-ABC3-8F5193067839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rcRect t="76775"/>
              <a:stretch/>
            </p:blipFill>
            <p:spPr>
              <a:xfrm rot="16200000" flipV="1">
                <a:off x="5801436" y="3514985"/>
                <a:ext cx="4092334" cy="421216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8" name="直角三角形 7">
              <a:extLst>
                <a:ext uri="{FF2B5EF4-FFF2-40B4-BE49-F238E27FC236}">
                  <a16:creationId xmlns:a16="http://schemas.microsoft.com/office/drawing/2014/main" id="{99A2EC02-BD58-46AF-A84F-156DCC33EE05}"/>
                </a:ext>
              </a:extLst>
            </p:cNvPr>
            <p:cNvSpPr/>
            <p:nvPr/>
          </p:nvSpPr>
          <p:spPr>
            <a:xfrm flipH="1" flipV="1">
              <a:off x="3785126" y="3950674"/>
              <a:ext cx="913719" cy="432309"/>
            </a:xfrm>
            <a:prstGeom prst="rtTriangle">
              <a:avLst/>
            </a:prstGeom>
            <a:solidFill>
              <a:srgbClr val="213F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" name="任意多边形 8">
              <a:extLst>
                <a:ext uri="{FF2B5EF4-FFF2-40B4-BE49-F238E27FC236}">
                  <a16:creationId xmlns:a16="http://schemas.microsoft.com/office/drawing/2014/main" id="{23158547-6A0B-4618-8FF8-0A8B69708EC6}"/>
                </a:ext>
              </a:extLst>
            </p:cNvPr>
            <p:cNvSpPr/>
            <p:nvPr/>
          </p:nvSpPr>
          <p:spPr>
            <a:xfrm>
              <a:off x="3794643" y="2362673"/>
              <a:ext cx="6466957" cy="1592519"/>
            </a:xfrm>
            <a:custGeom>
              <a:avLst/>
              <a:gdLst>
                <a:gd name="connsiteX0" fmla="*/ 0 w 5229817"/>
                <a:gd name="connsiteY0" fmla="*/ 0 h 1429030"/>
                <a:gd name="connsiteX1" fmla="*/ 4515302 w 5229817"/>
                <a:gd name="connsiteY1" fmla="*/ 0 h 1429030"/>
                <a:gd name="connsiteX2" fmla="*/ 5229817 w 5229817"/>
                <a:gd name="connsiteY2" fmla="*/ 714515 h 1429030"/>
                <a:gd name="connsiteX3" fmla="*/ 5229816 w 5229817"/>
                <a:gd name="connsiteY3" fmla="*/ 714515 h 1429030"/>
                <a:gd name="connsiteX4" fmla="*/ 4515301 w 5229817"/>
                <a:gd name="connsiteY4" fmla="*/ 1429030 h 1429030"/>
                <a:gd name="connsiteX5" fmla="*/ 0 w 5229817"/>
                <a:gd name="connsiteY5" fmla="*/ 1429029 h 142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29817" h="1429030">
                  <a:moveTo>
                    <a:pt x="0" y="0"/>
                  </a:moveTo>
                  <a:lnTo>
                    <a:pt x="4515302" y="0"/>
                  </a:lnTo>
                  <a:cubicBezTo>
                    <a:pt x="4909918" y="0"/>
                    <a:pt x="5229817" y="319899"/>
                    <a:pt x="5229817" y="714515"/>
                  </a:cubicBezTo>
                  <a:lnTo>
                    <a:pt x="5229816" y="714515"/>
                  </a:lnTo>
                  <a:cubicBezTo>
                    <a:pt x="5229816" y="1109131"/>
                    <a:pt x="4909917" y="1429030"/>
                    <a:pt x="4515301" y="1429030"/>
                  </a:cubicBezTo>
                  <a:lnTo>
                    <a:pt x="0" y="1429029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" name="文本框 61">
              <a:extLst>
                <a:ext uri="{FF2B5EF4-FFF2-40B4-BE49-F238E27FC236}">
                  <a16:creationId xmlns:a16="http://schemas.microsoft.com/office/drawing/2014/main" id="{8EFA2E3D-1349-4611-858A-C5CD9EC762AE}"/>
                </a:ext>
              </a:extLst>
            </p:cNvPr>
            <p:cNvSpPr txBox="1"/>
            <p:nvPr/>
          </p:nvSpPr>
          <p:spPr>
            <a:xfrm>
              <a:off x="4248597" y="2585793"/>
              <a:ext cx="5401012" cy="101566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600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决策树</a:t>
              </a:r>
            </a:p>
          </p:txBody>
        </p:sp>
        <p:sp>
          <p:nvSpPr>
            <p:cNvPr id="11" name="文本框 62">
              <a:extLst>
                <a:ext uri="{FF2B5EF4-FFF2-40B4-BE49-F238E27FC236}">
                  <a16:creationId xmlns:a16="http://schemas.microsoft.com/office/drawing/2014/main" id="{60BBD27F-574E-483D-98AD-863290A27093}"/>
                </a:ext>
              </a:extLst>
            </p:cNvPr>
            <p:cNvSpPr txBox="1"/>
            <p:nvPr/>
          </p:nvSpPr>
          <p:spPr>
            <a:xfrm>
              <a:off x="2090544" y="1121713"/>
              <a:ext cx="21609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PART  2</a:t>
              </a:r>
              <a:endParaRPr lang="zh-CN" altLang="en-US" sz="4000" b="1" dirty="0">
                <a:solidFill>
                  <a:prstClr val="white"/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33AE577-F75A-49A4-AF49-6C3DFB8BA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3838768"/>
              <a:ext cx="4992468" cy="3019233"/>
            </a:xfrm>
            <a:custGeom>
              <a:avLst/>
              <a:gdLst>
                <a:gd name="T0" fmla="*/ 0 w 2348"/>
                <a:gd name="T1" fmla="*/ 0 h 1407"/>
                <a:gd name="T2" fmla="*/ 2348 w 2348"/>
                <a:gd name="T3" fmla="*/ 1407 h 1407"/>
                <a:gd name="T4" fmla="*/ 0 w 2348"/>
                <a:gd name="T5" fmla="*/ 1407 h 1407"/>
                <a:gd name="T6" fmla="*/ 0 w 2348"/>
                <a:gd name="T7" fmla="*/ 0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8" h="1407">
                  <a:moveTo>
                    <a:pt x="0" y="0"/>
                  </a:moveTo>
                  <a:lnTo>
                    <a:pt x="2348" y="1407"/>
                  </a:lnTo>
                  <a:lnTo>
                    <a:pt x="0" y="1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F7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62551" tIns="81275" rIns="162551" bIns="81275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155895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276">
                <a:solidFill>
                  <a:srgbClr val="000000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BA162EA-CEA0-4726-8F4B-BB627F8D0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059" y="4356933"/>
              <a:ext cx="9361941" cy="2501068"/>
            </a:xfrm>
            <a:custGeom>
              <a:avLst/>
              <a:gdLst>
                <a:gd name="T0" fmla="*/ 4403 w 4403"/>
                <a:gd name="T1" fmla="*/ 0 h 1161"/>
                <a:gd name="T2" fmla="*/ 4403 w 4403"/>
                <a:gd name="T3" fmla="*/ 1161 h 1161"/>
                <a:gd name="T4" fmla="*/ 0 w 4403"/>
                <a:gd name="T5" fmla="*/ 1161 h 1161"/>
                <a:gd name="T6" fmla="*/ 4403 w 4403"/>
                <a:gd name="T7" fmla="*/ 0 h 1161"/>
                <a:gd name="connsiteX0" fmla="*/ 10000 w 10000"/>
                <a:gd name="connsiteY0" fmla="*/ 0 h 10039"/>
                <a:gd name="connsiteX1" fmla="*/ 10000 w 10000"/>
                <a:gd name="connsiteY1" fmla="*/ 10039 h 10039"/>
                <a:gd name="connsiteX2" fmla="*/ 0 w 10000"/>
                <a:gd name="connsiteY2" fmla="*/ 10039 h 10039"/>
                <a:gd name="connsiteX3" fmla="*/ 10000 w 10000"/>
                <a:gd name="connsiteY3" fmla="*/ 0 h 1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39">
                  <a:moveTo>
                    <a:pt x="10000" y="0"/>
                  </a:moveTo>
                  <a:lnTo>
                    <a:pt x="10000" y="10039"/>
                  </a:lnTo>
                  <a:lnTo>
                    <a:pt x="0" y="10039"/>
                  </a:lnTo>
                  <a:lnTo>
                    <a:pt x="10000" y="0"/>
                  </a:lnTo>
                  <a:close/>
                </a:path>
              </a:pathLst>
            </a:custGeom>
            <a:solidFill>
              <a:srgbClr val="4472C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62551" tIns="81275" rIns="162551" bIns="81275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155895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276">
                <a:solidFill>
                  <a:srgbClr val="000000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schemeClr val="bg1"/>
                </a:solidFill>
              </a:rPr>
              <a:pPr/>
              <a:t>7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498" y="0"/>
            <a:ext cx="1355352" cy="752437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580" y="42293"/>
            <a:ext cx="666768" cy="66785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111241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914B2-B033-48FE-B53A-EAB609631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7964074-1024-4224-BB5B-FAFED56EA2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F14DB1F-9524-4793-A1EC-A7669941C0D8}"/>
              </a:ext>
            </a:extLst>
          </p:cNvPr>
          <p:cNvSpPr txBox="1"/>
          <p:nvPr/>
        </p:nvSpPr>
        <p:spPr>
          <a:xfrm>
            <a:off x="424709" y="952279"/>
            <a:ext cx="6103736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决策树简史</a:t>
            </a:r>
          </a:p>
        </p:txBody>
      </p:sp>
      <p:sp>
        <p:nvSpPr>
          <p:cNvPr id="15" name="TextBox 25">
            <a:extLst>
              <a:ext uri="{FF2B5EF4-FFF2-40B4-BE49-F238E27FC236}">
                <a16:creationId xmlns:a16="http://schemas.microsoft.com/office/drawing/2014/main" id="{532391F7-7210-4BB4-813E-E6E965EB120A}"/>
              </a:ext>
            </a:extLst>
          </p:cNvPr>
          <p:cNvSpPr txBox="1"/>
          <p:nvPr/>
        </p:nvSpPr>
        <p:spPr>
          <a:xfrm>
            <a:off x="713012" y="1566664"/>
            <a:ext cx="8525283" cy="3077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50"/>
              </a:lnSpc>
            </a:pPr>
            <a:r>
              <a:rPr lang="en-US" altLang="zh-CN" sz="2196" dirty="0">
                <a:solidFill>
                  <a:srgbClr val="000000"/>
                </a:solidFill>
                <a:latin typeface="Calibri"/>
              </a:rPr>
              <a:t>• </a:t>
            </a:r>
            <a:r>
              <a:rPr lang="zh-CN" altLang="en-US" sz="2196" dirty="0">
                <a:solidFill>
                  <a:srgbClr val="000000"/>
                </a:solidFill>
                <a:latin typeface="微软雅黑"/>
              </a:rPr>
              <a:t>第一个决策树算法：</a:t>
            </a:r>
            <a:r>
              <a:rPr lang="en-US" altLang="zh-CN" sz="2196" dirty="0">
                <a:solidFill>
                  <a:srgbClr val="000000"/>
                </a:solidFill>
                <a:latin typeface="Calibri"/>
              </a:rPr>
              <a:t>CLS </a:t>
            </a:r>
            <a:r>
              <a:rPr lang="en-US" altLang="zh-CN" sz="2004" dirty="0">
                <a:solidFill>
                  <a:srgbClr val="000000"/>
                </a:solidFill>
                <a:latin typeface="Calibri"/>
              </a:rPr>
              <a:t>(Concept Learning System)</a:t>
            </a:r>
            <a:r>
              <a:rPr lang="zh-CN" altLang="en-US" sz="2004" dirty="0">
                <a:solidFill>
                  <a:srgbClr val="000000"/>
                </a:solidFill>
                <a:latin typeface="Calibri"/>
              </a:rPr>
              <a:t>，用于学习单个概念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B285DE6F-A61E-4EED-8A09-E999B240D361}"/>
              </a:ext>
            </a:extLst>
          </p:cNvPr>
          <p:cNvSpPr txBox="1"/>
          <p:nvPr/>
        </p:nvSpPr>
        <p:spPr>
          <a:xfrm>
            <a:off x="1053649" y="1953295"/>
            <a:ext cx="10842833" cy="56816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96"/>
              </a:lnSpc>
            </a:pPr>
            <a:r>
              <a:rPr lang="en-US" altLang="zh-CN" sz="2196" dirty="0">
                <a:solidFill>
                  <a:srgbClr val="996600"/>
                </a:solidFill>
                <a:latin typeface="Calibri"/>
              </a:rPr>
              <a:t>[E. B. Hunt, J. Marin, and P. T. Stone’s book “</a:t>
            </a:r>
            <a:r>
              <a:rPr lang="en-US" altLang="zh-CN" sz="2196" i="1" dirty="0">
                <a:solidFill>
                  <a:srgbClr val="996600"/>
                </a:solidFill>
                <a:latin typeface="Calibri"/>
              </a:rPr>
              <a:t>Experiments in </a:t>
            </a:r>
            <a:r>
              <a:rPr lang="en-US" altLang="zh-CN" sz="2198" i="1" dirty="0">
                <a:solidFill>
                  <a:srgbClr val="996600"/>
                </a:solidFill>
                <a:latin typeface="Calibri"/>
              </a:rPr>
              <a:t>Induction</a:t>
            </a:r>
            <a:r>
              <a:rPr lang="en-US" altLang="zh-CN" sz="2198" dirty="0">
                <a:solidFill>
                  <a:srgbClr val="996600"/>
                </a:solidFill>
                <a:latin typeface="Calibri"/>
              </a:rPr>
              <a:t>” published by Academic Press in 1966]</a:t>
            </a:r>
            <a:endParaRPr lang="zh-CN" altLang="en-US" sz="2198" dirty="0">
              <a:solidFill>
                <a:srgbClr val="996600"/>
              </a:solidFill>
              <a:latin typeface="Calibri"/>
            </a:endParaRPr>
          </a:p>
        </p:txBody>
      </p:sp>
      <p:sp>
        <p:nvSpPr>
          <p:cNvPr id="17" name="TextBox 27">
            <a:extLst>
              <a:ext uri="{FF2B5EF4-FFF2-40B4-BE49-F238E27FC236}">
                <a16:creationId xmlns:a16="http://schemas.microsoft.com/office/drawing/2014/main" id="{BF945A26-5765-4B62-9DE3-703D61A419D3}"/>
              </a:ext>
            </a:extLst>
          </p:cNvPr>
          <p:cNvSpPr txBox="1"/>
          <p:nvPr/>
        </p:nvSpPr>
        <p:spPr>
          <a:xfrm>
            <a:off x="713012" y="2731454"/>
            <a:ext cx="7286547" cy="4782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350"/>
              </a:lnSpc>
              <a:buClrTx/>
              <a:buSzTx/>
              <a:buNone/>
              <a:tabLst>
                <a:tab pos="457200" algn="l"/>
              </a:tabLst>
              <a:defRPr/>
            </a:pPr>
            <a:r>
              <a:rPr lang="en-US" altLang="zh-CN" sz="2196" dirty="0">
                <a:solidFill>
                  <a:srgbClr val="000000"/>
                </a:solidFill>
                <a:latin typeface="Calibri"/>
              </a:rPr>
              <a:t>• </a:t>
            </a:r>
            <a:r>
              <a:rPr lang="zh-CN" altLang="en-US" sz="2196" dirty="0">
                <a:solidFill>
                  <a:srgbClr val="000000"/>
                </a:solidFill>
                <a:latin typeface="微软雅黑"/>
              </a:rPr>
              <a:t>使决策树受到关注、成为机器学习主流技术的算法：</a:t>
            </a:r>
            <a:r>
              <a:rPr lang="en-US" altLang="zh-CN" sz="2196" dirty="0">
                <a:solidFill>
                  <a:srgbClr val="000000"/>
                </a:solidFill>
                <a:latin typeface="Calibri"/>
              </a:rPr>
              <a:t>ID3</a:t>
            </a:r>
          </a:p>
          <a:p>
            <a:pPr marL="0" marR="0" lvl="0" indent="0" defTabSz="914400" eaLnBrk="1" fontAlgn="auto" latinLnBrk="0" hangingPunct="1">
              <a:lnSpc>
                <a:spcPts val="1000"/>
              </a:lnSpc>
              <a:buClrTx/>
              <a:buSzTx/>
              <a:buNone/>
              <a:tabLst>
                <a:tab pos="457200" algn="l"/>
              </a:tabLst>
              <a:defRPr/>
            </a:pPr>
            <a:endParaRPr lang="en-US" altLang="zh-CN" sz="2196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21B4057-91AE-4410-97C0-F377F61C76CA}"/>
              </a:ext>
            </a:extLst>
          </p:cNvPr>
          <p:cNvSpPr txBox="1"/>
          <p:nvPr/>
        </p:nvSpPr>
        <p:spPr>
          <a:xfrm>
            <a:off x="997949" y="3138940"/>
            <a:ext cx="10568978" cy="66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ts val="2196"/>
              </a:lnSpc>
              <a:buClrTx/>
              <a:buSzTx/>
              <a:buNone/>
              <a:tabLst>
                <a:tab pos="457200" algn="l"/>
              </a:tabLst>
              <a:defRPr/>
            </a:pPr>
            <a:r>
              <a:rPr lang="en-US" altLang="zh-CN" sz="2196" dirty="0">
                <a:solidFill>
                  <a:srgbClr val="996600"/>
                </a:solidFill>
                <a:latin typeface="Calibri"/>
              </a:rPr>
              <a:t>[</a:t>
            </a:r>
            <a:r>
              <a:rPr lang="en-US" altLang="zh-CN" sz="2196" dirty="0">
                <a:solidFill>
                  <a:srgbClr val="FF0000"/>
                </a:solidFill>
                <a:latin typeface="Calibri"/>
              </a:rPr>
              <a:t>J. R. Quinlan</a:t>
            </a:r>
            <a:r>
              <a:rPr lang="en-US" altLang="zh-CN" sz="2196" dirty="0">
                <a:solidFill>
                  <a:srgbClr val="996600"/>
                </a:solidFill>
                <a:latin typeface="Calibri"/>
              </a:rPr>
              <a:t>’s paper in a book “Expert Systems in the Micro Electronic Age” edited by D. Michie, published by   Edinburgh University Press in 1979]</a:t>
            </a:r>
            <a:endParaRPr lang="zh-CN" altLang="en-US" sz="2196" dirty="0">
              <a:solidFill>
                <a:srgbClr val="996600"/>
              </a:solidFill>
              <a:latin typeface="Calibri"/>
            </a:endParaRPr>
          </a:p>
        </p:txBody>
      </p:sp>
      <p:sp>
        <p:nvSpPr>
          <p:cNvPr id="19" name="TextBox 27">
            <a:extLst>
              <a:ext uri="{FF2B5EF4-FFF2-40B4-BE49-F238E27FC236}">
                <a16:creationId xmlns:a16="http://schemas.microsoft.com/office/drawing/2014/main" id="{97BD8C74-25E0-4FCB-BFA4-B0B0B573A732}"/>
              </a:ext>
            </a:extLst>
          </p:cNvPr>
          <p:cNvSpPr txBox="1"/>
          <p:nvPr/>
        </p:nvSpPr>
        <p:spPr>
          <a:xfrm>
            <a:off x="962886" y="3812521"/>
            <a:ext cx="10604041" cy="70724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buClrTx/>
              <a:buSzTx/>
              <a:buNone/>
              <a:tabLst>
                <a:tab pos="457200" algn="l"/>
              </a:tabLst>
              <a:defRPr/>
            </a:pPr>
            <a:r>
              <a:rPr lang="en-US" altLang="zh-CN" sz="2196" dirty="0">
                <a:solidFill>
                  <a:srgbClr val="000000"/>
                </a:solidFill>
                <a:latin typeface="Calibri"/>
              </a:rPr>
              <a:t>Note:</a:t>
            </a:r>
            <a:r>
              <a:rPr lang="en-US" altLang="zh-CN" sz="2400" dirty="0"/>
              <a:t> </a:t>
            </a:r>
            <a:r>
              <a:rPr lang="en-US" altLang="zh-CN" sz="2196" dirty="0">
                <a:solidFill>
                  <a:srgbClr val="000000"/>
                </a:solidFill>
                <a:latin typeface="Calibri"/>
              </a:rPr>
              <a:t>J.R. Quinlan </a:t>
            </a:r>
            <a:r>
              <a:rPr lang="zh-CN" altLang="en-US" sz="2196" dirty="0">
                <a:solidFill>
                  <a:srgbClr val="000000"/>
                </a:solidFill>
                <a:latin typeface="Calibri"/>
              </a:rPr>
              <a:t>在在</a:t>
            </a:r>
            <a:r>
              <a:rPr lang="en-US" altLang="zh-CN" sz="2196" dirty="0">
                <a:solidFill>
                  <a:srgbClr val="000000"/>
                </a:solidFill>
                <a:latin typeface="Calibri"/>
              </a:rPr>
              <a:t>1983</a:t>
            </a:r>
            <a:r>
              <a:rPr lang="zh-CN" altLang="en-US" sz="2196" dirty="0">
                <a:solidFill>
                  <a:srgbClr val="000000"/>
                </a:solidFill>
                <a:latin typeface="Calibri"/>
              </a:rPr>
              <a:t>年和</a:t>
            </a:r>
            <a:r>
              <a:rPr lang="en-US" altLang="zh-CN" sz="2196" dirty="0">
                <a:solidFill>
                  <a:srgbClr val="000000"/>
                </a:solidFill>
                <a:latin typeface="Calibri"/>
              </a:rPr>
              <a:t>1986</a:t>
            </a:r>
            <a:r>
              <a:rPr lang="zh-CN" altLang="en-US" sz="2196" dirty="0">
                <a:solidFill>
                  <a:srgbClr val="000000"/>
                </a:solidFill>
                <a:latin typeface="Calibri"/>
              </a:rPr>
              <a:t>年对</a:t>
            </a:r>
            <a:r>
              <a:rPr lang="en-US" altLang="zh-CN" sz="2196" dirty="0">
                <a:solidFill>
                  <a:srgbClr val="000000"/>
                </a:solidFill>
                <a:latin typeface="Calibri"/>
              </a:rPr>
              <a:t>ID3 </a:t>
            </a:r>
            <a:r>
              <a:rPr lang="zh-CN" altLang="en-US" sz="2196" dirty="0">
                <a:solidFill>
                  <a:srgbClr val="000000"/>
                </a:solidFill>
                <a:latin typeface="Calibri"/>
              </a:rPr>
              <a:t>进行了总结和简化，使其成为决策树学习算法的典型</a:t>
            </a:r>
          </a:p>
        </p:txBody>
      </p:sp>
      <p:sp>
        <p:nvSpPr>
          <p:cNvPr id="20" name="TextBox 28">
            <a:extLst>
              <a:ext uri="{FF2B5EF4-FFF2-40B4-BE49-F238E27FC236}">
                <a16:creationId xmlns:a16="http://schemas.microsoft.com/office/drawing/2014/main" id="{6B39F969-D4FB-4481-9148-4EF805F79FF5}"/>
              </a:ext>
            </a:extLst>
          </p:cNvPr>
          <p:cNvSpPr txBox="1"/>
          <p:nvPr/>
        </p:nvSpPr>
        <p:spPr>
          <a:xfrm>
            <a:off x="763955" y="4804982"/>
            <a:ext cx="3592330" cy="3077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50"/>
              </a:lnSpc>
            </a:pPr>
            <a:r>
              <a:rPr lang="en-US" altLang="zh-CN" sz="2196" dirty="0">
                <a:solidFill>
                  <a:srgbClr val="000000"/>
                </a:solidFill>
                <a:latin typeface="Calibri"/>
              </a:rPr>
              <a:t>• </a:t>
            </a:r>
            <a:r>
              <a:rPr lang="zh-CN" altLang="en-US" sz="2196" dirty="0">
                <a:solidFill>
                  <a:srgbClr val="000000"/>
                </a:solidFill>
                <a:latin typeface="微软雅黑"/>
              </a:rPr>
              <a:t>最常用的决策树算法：</a:t>
            </a:r>
            <a:r>
              <a:rPr lang="en-US" altLang="zh-CN" sz="2196" dirty="0">
                <a:solidFill>
                  <a:srgbClr val="000000"/>
                </a:solidFill>
                <a:latin typeface="Calibri"/>
              </a:rPr>
              <a:t>C4.5</a:t>
            </a:r>
            <a:endParaRPr lang="zh-CN" altLang="en-US" sz="2196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TextBox 29">
            <a:extLst>
              <a:ext uri="{FF2B5EF4-FFF2-40B4-BE49-F238E27FC236}">
                <a16:creationId xmlns:a16="http://schemas.microsoft.com/office/drawing/2014/main" id="{AE7E97B3-636A-431C-A7CF-C2BD1C748B2B}"/>
              </a:ext>
            </a:extLst>
          </p:cNvPr>
          <p:cNvSpPr txBox="1"/>
          <p:nvPr/>
        </p:nvSpPr>
        <p:spPr>
          <a:xfrm>
            <a:off x="1094988" y="5291336"/>
            <a:ext cx="10471939" cy="5680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96"/>
              </a:lnSpc>
            </a:pPr>
            <a:r>
              <a:rPr lang="en-US" altLang="zh-CN" sz="2196" dirty="0">
                <a:solidFill>
                  <a:srgbClr val="996600"/>
                </a:solidFill>
                <a:latin typeface="Calibri"/>
              </a:rPr>
              <a:t>[</a:t>
            </a:r>
            <a:r>
              <a:rPr lang="en-US" altLang="zh-CN" sz="2196" dirty="0">
                <a:solidFill>
                  <a:srgbClr val="FF0000"/>
                </a:solidFill>
                <a:latin typeface="Calibri"/>
              </a:rPr>
              <a:t>J. R. Quinlan</a:t>
            </a:r>
            <a:r>
              <a:rPr lang="en-US" altLang="zh-CN" sz="2196" dirty="0">
                <a:solidFill>
                  <a:srgbClr val="996600"/>
                </a:solidFill>
                <a:latin typeface="Calibri"/>
              </a:rPr>
              <a:t>’s book “</a:t>
            </a:r>
            <a:r>
              <a:rPr lang="en-US" altLang="zh-CN" sz="2196" i="1" dirty="0">
                <a:solidFill>
                  <a:srgbClr val="996600"/>
                </a:solidFill>
                <a:latin typeface="Calibri"/>
              </a:rPr>
              <a:t>C4.5: Programs for Machine Learning</a:t>
            </a:r>
            <a:r>
              <a:rPr lang="en-US" altLang="zh-CN" sz="2196" dirty="0">
                <a:solidFill>
                  <a:srgbClr val="996600"/>
                </a:solidFill>
                <a:latin typeface="Calibri"/>
              </a:rPr>
              <a:t>” published by Morgan Kaufmann in 1993]</a:t>
            </a:r>
            <a:endParaRPr lang="zh-CN" altLang="en-US" sz="2196" dirty="0">
              <a:solidFill>
                <a:srgbClr val="9966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909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5C01A8-CEF1-4720-A4AB-1E5E5A855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CA7E03F-FA57-40F5-BF03-3217E8528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0C9DF4-CF65-4FFC-864A-DCD151C6C158}"/>
              </a:ext>
            </a:extLst>
          </p:cNvPr>
          <p:cNvSpPr txBox="1"/>
          <p:nvPr/>
        </p:nvSpPr>
        <p:spPr>
          <a:xfrm>
            <a:off x="424709" y="952279"/>
            <a:ext cx="6103736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决策树简史</a:t>
            </a: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0FA59EC3-D65A-4604-AFE7-9F3363EEF6B4}"/>
              </a:ext>
            </a:extLst>
          </p:cNvPr>
          <p:cNvSpPr txBox="1"/>
          <p:nvPr/>
        </p:nvSpPr>
        <p:spPr>
          <a:xfrm>
            <a:off x="699087" y="1655654"/>
            <a:ext cx="9401088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50"/>
              </a:lnSpc>
            </a:pPr>
            <a:r>
              <a:rPr lang="en-US" altLang="zh-CN" sz="2196" dirty="0">
                <a:solidFill>
                  <a:srgbClr val="000000"/>
                </a:solidFill>
                <a:latin typeface="Calibri"/>
              </a:rPr>
              <a:t>• </a:t>
            </a:r>
            <a:r>
              <a:rPr lang="zh-CN" altLang="en-US" sz="2196" dirty="0">
                <a:solidFill>
                  <a:srgbClr val="000000"/>
                </a:solidFill>
                <a:latin typeface="微软雅黑"/>
              </a:rPr>
              <a:t>可以用于回归任务的决策树算法：</a:t>
            </a:r>
            <a:r>
              <a:rPr lang="en-US" altLang="zh-CN" sz="2196" dirty="0">
                <a:solidFill>
                  <a:srgbClr val="000000"/>
                </a:solidFill>
                <a:latin typeface="Calibri"/>
              </a:rPr>
              <a:t>CART </a:t>
            </a:r>
            <a:r>
              <a:rPr lang="en-US" altLang="zh-CN" sz="2004" dirty="0">
                <a:solidFill>
                  <a:srgbClr val="000000"/>
                </a:solidFill>
                <a:latin typeface="Calibri"/>
              </a:rPr>
              <a:t>(Classification and Regression Tree)</a:t>
            </a:r>
            <a:endParaRPr lang="zh-CN" altLang="en-US" sz="2004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8B7446DC-CFF9-44AE-A06C-40DF8CFEAAD6}"/>
              </a:ext>
            </a:extLst>
          </p:cNvPr>
          <p:cNvSpPr txBox="1"/>
          <p:nvPr/>
        </p:nvSpPr>
        <p:spPr>
          <a:xfrm>
            <a:off x="961339" y="2174317"/>
            <a:ext cx="10422533" cy="5680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98"/>
              </a:lnSpc>
            </a:pPr>
            <a:r>
              <a:rPr lang="en-US" altLang="zh-CN" sz="2198" dirty="0">
                <a:solidFill>
                  <a:srgbClr val="996600"/>
                </a:solidFill>
                <a:latin typeface="Calibri"/>
              </a:rPr>
              <a:t>[</a:t>
            </a:r>
            <a:r>
              <a:rPr lang="en-US" altLang="zh-CN" sz="2198" dirty="0">
                <a:solidFill>
                  <a:srgbClr val="FF0000"/>
                </a:solidFill>
                <a:latin typeface="Calibri"/>
              </a:rPr>
              <a:t>L. </a:t>
            </a:r>
            <a:r>
              <a:rPr lang="en-US" altLang="zh-CN" sz="2198" dirty="0" err="1">
                <a:solidFill>
                  <a:srgbClr val="FF0000"/>
                </a:solidFill>
                <a:latin typeface="Calibri"/>
              </a:rPr>
              <a:t>Breiman</a:t>
            </a:r>
            <a:r>
              <a:rPr lang="en-US" altLang="zh-CN" sz="2198" dirty="0">
                <a:solidFill>
                  <a:srgbClr val="996600"/>
                </a:solidFill>
                <a:latin typeface="Calibri"/>
              </a:rPr>
              <a:t>, J. H. Friedman, R. A. </a:t>
            </a:r>
            <a:r>
              <a:rPr lang="en-US" altLang="zh-CN" sz="2198" dirty="0" err="1">
                <a:solidFill>
                  <a:srgbClr val="996600"/>
                </a:solidFill>
                <a:latin typeface="Calibri"/>
              </a:rPr>
              <a:t>Olshen</a:t>
            </a:r>
            <a:r>
              <a:rPr lang="en-US" altLang="zh-CN" sz="2198" dirty="0">
                <a:solidFill>
                  <a:srgbClr val="996600"/>
                </a:solidFill>
                <a:latin typeface="Calibri"/>
              </a:rPr>
              <a:t>, and C. J. Stone’s book </a:t>
            </a:r>
            <a:r>
              <a:rPr lang="en-US" altLang="zh-CN" sz="2196" dirty="0">
                <a:solidFill>
                  <a:srgbClr val="996600"/>
                </a:solidFill>
                <a:latin typeface="Calibri"/>
              </a:rPr>
              <a:t>“Classification and Regression Trees” published by Wadsworth in 1984]</a:t>
            </a:r>
            <a:endParaRPr lang="zh-CN" altLang="en-US" sz="2196" dirty="0">
              <a:solidFill>
                <a:srgbClr val="996600"/>
              </a:solidFill>
              <a:latin typeface="Calibri"/>
            </a:endParaRPr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D21B8299-8FF7-4CB3-B148-91D21D75A89E}"/>
              </a:ext>
            </a:extLst>
          </p:cNvPr>
          <p:cNvSpPr txBox="1"/>
          <p:nvPr/>
        </p:nvSpPr>
        <p:spPr>
          <a:xfrm>
            <a:off x="699086" y="3071687"/>
            <a:ext cx="10844633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50"/>
              </a:lnSpc>
            </a:pPr>
            <a:r>
              <a:rPr lang="en-US" altLang="zh-CN" sz="2196" dirty="0">
                <a:solidFill>
                  <a:srgbClr val="000000"/>
                </a:solidFill>
                <a:latin typeface="Calibri"/>
              </a:rPr>
              <a:t>• </a:t>
            </a:r>
            <a:r>
              <a:rPr lang="zh-CN" altLang="en-US" sz="2196" dirty="0">
                <a:solidFill>
                  <a:srgbClr val="000000"/>
                </a:solidFill>
                <a:latin typeface="Calibri"/>
              </a:rPr>
              <a:t>基于决策树的集成学习算法</a:t>
            </a:r>
            <a:r>
              <a:rPr lang="zh-CN" altLang="en-US" sz="2196" dirty="0">
                <a:solidFill>
                  <a:srgbClr val="000000"/>
                </a:solidFill>
                <a:latin typeface="微软雅黑"/>
              </a:rPr>
              <a:t>：</a:t>
            </a:r>
            <a:r>
              <a:rPr lang="en-US" altLang="zh-CN" sz="2196" dirty="0">
                <a:solidFill>
                  <a:srgbClr val="000000"/>
                </a:solidFill>
                <a:latin typeface="Calibri"/>
              </a:rPr>
              <a:t>RF (Random Forest) &amp; </a:t>
            </a:r>
            <a:r>
              <a:rPr lang="en-US" altLang="zh-CN" sz="2196" dirty="0" err="1">
                <a:solidFill>
                  <a:srgbClr val="000000"/>
                </a:solidFill>
                <a:latin typeface="Calibri"/>
              </a:rPr>
              <a:t>XGBoost</a:t>
            </a:r>
            <a:r>
              <a:rPr lang="zh-CN" altLang="en-US" sz="2196" dirty="0">
                <a:solidFill>
                  <a:srgbClr val="000000"/>
                </a:solidFill>
                <a:latin typeface="Calibri"/>
              </a:rPr>
              <a:t>（</a:t>
            </a:r>
            <a:r>
              <a:rPr lang="en-US" altLang="zh-CN" sz="2196" dirty="0" err="1">
                <a:solidFill>
                  <a:srgbClr val="000000"/>
                </a:solidFill>
                <a:latin typeface="Calibri"/>
              </a:rPr>
              <a:t>eXtreme</a:t>
            </a:r>
            <a:r>
              <a:rPr lang="en-US" altLang="zh-CN" sz="2196" dirty="0">
                <a:solidFill>
                  <a:srgbClr val="000000"/>
                </a:solidFill>
                <a:latin typeface="Calibri"/>
              </a:rPr>
              <a:t> Gradient Boosting</a:t>
            </a:r>
            <a:r>
              <a:rPr lang="zh-CN" altLang="en-US" sz="2196" dirty="0">
                <a:solidFill>
                  <a:srgbClr val="000000"/>
                </a:solidFill>
                <a:latin typeface="Calibri"/>
              </a:rPr>
              <a:t>）</a:t>
            </a:r>
            <a:endParaRPr lang="zh-CN" altLang="en-US" sz="2004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7C5D85-E879-408E-AFC2-7B25E869D755}"/>
              </a:ext>
            </a:extLst>
          </p:cNvPr>
          <p:cNvSpPr txBox="1"/>
          <p:nvPr/>
        </p:nvSpPr>
        <p:spPr>
          <a:xfrm>
            <a:off x="900998" y="3519606"/>
            <a:ext cx="7876314" cy="378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98"/>
              </a:lnSpc>
            </a:pPr>
            <a:r>
              <a:rPr lang="en-US" altLang="zh-CN" sz="2198" dirty="0">
                <a:solidFill>
                  <a:srgbClr val="996600"/>
                </a:solidFill>
                <a:latin typeface="Calibri"/>
              </a:rPr>
              <a:t>[</a:t>
            </a:r>
            <a:r>
              <a:rPr lang="en-US" altLang="zh-CN" sz="2198" dirty="0">
                <a:solidFill>
                  <a:srgbClr val="FF0000"/>
                </a:solidFill>
                <a:latin typeface="Calibri"/>
              </a:rPr>
              <a:t>L. </a:t>
            </a:r>
            <a:r>
              <a:rPr lang="en-US" altLang="zh-CN" sz="2198" dirty="0" err="1">
                <a:solidFill>
                  <a:srgbClr val="FF0000"/>
                </a:solidFill>
                <a:latin typeface="Calibri"/>
              </a:rPr>
              <a:t>Breiman</a:t>
            </a:r>
            <a:r>
              <a:rPr lang="en-US" altLang="zh-CN" sz="2198" dirty="0">
                <a:solidFill>
                  <a:srgbClr val="996600"/>
                </a:solidFill>
                <a:latin typeface="Calibri"/>
              </a:rPr>
              <a:t>. (2001). Random forests. Machine learning, 45(1), 5-32.]</a:t>
            </a:r>
            <a:endParaRPr lang="zh-CN" altLang="en-US" sz="2198" dirty="0">
              <a:solidFill>
                <a:srgbClr val="996600"/>
              </a:solidFill>
              <a:latin typeface="Calibr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94F2671-37D8-410A-AABF-4C8673052618}"/>
              </a:ext>
            </a:extLst>
          </p:cNvPr>
          <p:cNvSpPr txBox="1"/>
          <p:nvPr/>
        </p:nvSpPr>
        <p:spPr>
          <a:xfrm>
            <a:off x="900997" y="3969057"/>
            <a:ext cx="10559173" cy="942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98"/>
              </a:lnSpc>
            </a:pPr>
            <a:r>
              <a:rPr lang="en-US" altLang="zh-CN" sz="2198" dirty="0">
                <a:solidFill>
                  <a:srgbClr val="996600"/>
                </a:solidFill>
                <a:latin typeface="Calibri"/>
              </a:rPr>
              <a:t>[</a:t>
            </a:r>
            <a:r>
              <a:rPr lang="en-US" altLang="zh-CN" sz="2198" dirty="0">
                <a:solidFill>
                  <a:srgbClr val="FF0000"/>
                </a:solidFill>
                <a:latin typeface="Calibri"/>
              </a:rPr>
              <a:t>Chen, Tianqi</a:t>
            </a:r>
            <a:r>
              <a:rPr lang="en-US" altLang="zh-CN" sz="2198" dirty="0">
                <a:solidFill>
                  <a:srgbClr val="996600"/>
                </a:solidFill>
                <a:latin typeface="Calibri"/>
              </a:rPr>
              <a:t>, and Carlos </a:t>
            </a:r>
            <a:r>
              <a:rPr lang="en-US" altLang="zh-CN" sz="2198" dirty="0" err="1">
                <a:solidFill>
                  <a:srgbClr val="996600"/>
                </a:solidFill>
                <a:latin typeface="Calibri"/>
              </a:rPr>
              <a:t>Guestrin</a:t>
            </a:r>
            <a:r>
              <a:rPr lang="en-US" altLang="zh-CN" sz="2198" dirty="0">
                <a:solidFill>
                  <a:srgbClr val="996600"/>
                </a:solidFill>
                <a:latin typeface="Calibri"/>
              </a:rPr>
              <a:t>. "</a:t>
            </a:r>
            <a:r>
              <a:rPr lang="en-US" altLang="zh-CN" sz="2198" dirty="0" err="1">
                <a:solidFill>
                  <a:srgbClr val="996600"/>
                </a:solidFill>
                <a:latin typeface="Calibri"/>
              </a:rPr>
              <a:t>Xgboost</a:t>
            </a:r>
            <a:r>
              <a:rPr lang="en-US" altLang="zh-CN" sz="2198" dirty="0">
                <a:solidFill>
                  <a:srgbClr val="996600"/>
                </a:solidFill>
                <a:latin typeface="Calibri"/>
              </a:rPr>
              <a:t>: A scalable tree boosting system." Proceedings of the 22nd </a:t>
            </a:r>
            <a:r>
              <a:rPr lang="en-US" altLang="zh-CN" sz="2198" dirty="0" err="1">
                <a:solidFill>
                  <a:srgbClr val="996600"/>
                </a:solidFill>
                <a:latin typeface="Calibri"/>
              </a:rPr>
              <a:t>acm</a:t>
            </a:r>
            <a:r>
              <a:rPr lang="en-US" altLang="zh-CN" sz="2198" dirty="0">
                <a:solidFill>
                  <a:srgbClr val="996600"/>
                </a:solidFill>
                <a:latin typeface="Calibri"/>
              </a:rPr>
              <a:t> </a:t>
            </a:r>
            <a:r>
              <a:rPr lang="en-US" altLang="zh-CN" sz="2198" dirty="0" err="1">
                <a:solidFill>
                  <a:srgbClr val="996600"/>
                </a:solidFill>
                <a:latin typeface="Calibri"/>
              </a:rPr>
              <a:t>sigkdd</a:t>
            </a:r>
            <a:r>
              <a:rPr lang="en-US" altLang="zh-CN" sz="2198" dirty="0">
                <a:solidFill>
                  <a:srgbClr val="996600"/>
                </a:solidFill>
                <a:latin typeface="Calibri"/>
              </a:rPr>
              <a:t> international conference on knowledge discovery and data mining. 2016.]</a:t>
            </a:r>
            <a:endParaRPr lang="zh-CN" altLang="en-US" sz="2198" dirty="0">
              <a:solidFill>
                <a:srgbClr val="9966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6959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DBEBE35-FB2A-4FCB-92E5-61F36B5B3D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8" t="2892" r="8817"/>
          <a:stretch/>
        </p:blipFill>
        <p:spPr bwMode="auto">
          <a:xfrm>
            <a:off x="6698334" y="1007386"/>
            <a:ext cx="5493666" cy="4924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A2914B2-B033-48FE-B53A-EAB609631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7964074-1024-4224-BB5B-FAFED56EA2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7" name="TextBox 25">
            <a:extLst>
              <a:ext uri="{FF2B5EF4-FFF2-40B4-BE49-F238E27FC236}">
                <a16:creationId xmlns:a16="http://schemas.microsoft.com/office/drawing/2014/main" id="{8854E339-694F-45AA-9949-DCEEE7283FB9}"/>
              </a:ext>
            </a:extLst>
          </p:cNvPr>
          <p:cNvSpPr txBox="1"/>
          <p:nvPr/>
        </p:nvSpPr>
        <p:spPr>
          <a:xfrm>
            <a:off x="467694" y="1007386"/>
            <a:ext cx="5745163" cy="44319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决策树基于“树”结构进行决策</a:t>
            </a:r>
          </a:p>
        </p:txBody>
      </p:sp>
      <p:sp>
        <p:nvSpPr>
          <p:cNvPr id="8" name="TextBox 26">
            <a:extLst>
              <a:ext uri="{FF2B5EF4-FFF2-40B4-BE49-F238E27FC236}">
                <a16:creationId xmlns:a16="http://schemas.microsoft.com/office/drawing/2014/main" id="{EAF9DFCB-E280-441A-9298-22D51971AD21}"/>
              </a:ext>
            </a:extLst>
          </p:cNvPr>
          <p:cNvSpPr txBox="1"/>
          <p:nvPr/>
        </p:nvSpPr>
        <p:spPr>
          <a:xfrm>
            <a:off x="560527" y="1592738"/>
            <a:ext cx="6499664" cy="28212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215"/>
              </a:lnSpc>
            </a:pPr>
            <a:r>
              <a:rPr lang="zh-CN" altLang="en-US" sz="2006" dirty="0">
                <a:solidFill>
                  <a:srgbClr val="000000"/>
                </a:solidFill>
                <a:latin typeface="Wingdings"/>
              </a:rPr>
              <a:t> </a:t>
            </a:r>
            <a:r>
              <a:rPr lang="zh-CN" altLang="en-US" sz="2006" dirty="0">
                <a:solidFill>
                  <a:srgbClr val="000000"/>
                </a:solidFill>
                <a:latin typeface="微软雅黑"/>
              </a:rPr>
              <a:t>每个“内部结点”对应于某个属性上的“测试”</a:t>
            </a:r>
            <a:r>
              <a:rPr lang="en-US" altLang="zh-CN" sz="2006" dirty="0">
                <a:solidFill>
                  <a:srgbClr val="000000"/>
                </a:solidFill>
                <a:latin typeface="微软雅黑"/>
              </a:rPr>
              <a:t>(test)</a:t>
            </a:r>
            <a:endParaRPr lang="zh-CN" altLang="en-US" sz="2006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9" name="TextBox 27">
            <a:extLst>
              <a:ext uri="{FF2B5EF4-FFF2-40B4-BE49-F238E27FC236}">
                <a16:creationId xmlns:a16="http://schemas.microsoft.com/office/drawing/2014/main" id="{F35A721A-B5E9-4153-AE5C-477CF3AF2423}"/>
              </a:ext>
            </a:extLst>
          </p:cNvPr>
          <p:cNvSpPr txBox="1"/>
          <p:nvPr/>
        </p:nvSpPr>
        <p:spPr>
          <a:xfrm>
            <a:off x="560527" y="2050466"/>
            <a:ext cx="7667164" cy="7437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212"/>
              </a:lnSpc>
            </a:pPr>
            <a:r>
              <a:rPr lang="zh-CN" altLang="en-US" sz="2004" dirty="0">
                <a:solidFill>
                  <a:srgbClr val="000000"/>
                </a:solidFill>
                <a:latin typeface="Wingdings"/>
              </a:rPr>
              <a:t> </a:t>
            </a:r>
            <a:r>
              <a:rPr lang="zh-CN" altLang="en-US" sz="2004" dirty="0">
                <a:solidFill>
                  <a:srgbClr val="000000"/>
                </a:solidFill>
                <a:latin typeface="微软雅黑"/>
              </a:rPr>
              <a:t>每个分支对应于该测试的一种可能结果（即该属性的某个取值）</a:t>
            </a:r>
          </a:p>
          <a:p>
            <a:pPr>
              <a:lnSpc>
                <a:spcPts val="1000"/>
              </a:lnSpc>
            </a:pPr>
            <a:endParaRPr lang="zh-CN" altLang="en-US" sz="2004" dirty="0">
              <a:solidFill>
                <a:srgbClr val="000000"/>
              </a:solidFill>
              <a:latin typeface="微软雅黑"/>
            </a:endParaRPr>
          </a:p>
          <a:p>
            <a:pPr>
              <a:lnSpc>
                <a:spcPts val="2600"/>
              </a:lnSpc>
            </a:pPr>
            <a:r>
              <a:rPr lang="zh-CN" altLang="en-US" sz="2004" dirty="0">
                <a:solidFill>
                  <a:srgbClr val="000000"/>
                </a:solidFill>
                <a:latin typeface="Wingdings"/>
              </a:rPr>
              <a:t> </a:t>
            </a:r>
            <a:r>
              <a:rPr lang="zh-CN" altLang="en-US" sz="2004" dirty="0">
                <a:solidFill>
                  <a:srgbClr val="000000"/>
                </a:solidFill>
                <a:latin typeface="微软雅黑"/>
              </a:rPr>
              <a:t>每个“叶结点”对应于一个“预测结果”</a:t>
            </a:r>
          </a:p>
        </p:txBody>
      </p:sp>
      <p:sp>
        <p:nvSpPr>
          <p:cNvPr id="11" name="TextBox 28">
            <a:extLst>
              <a:ext uri="{FF2B5EF4-FFF2-40B4-BE49-F238E27FC236}">
                <a16:creationId xmlns:a16="http://schemas.microsoft.com/office/drawing/2014/main" id="{D37582AB-A27C-48C3-938E-DC731554AE33}"/>
              </a:ext>
            </a:extLst>
          </p:cNvPr>
          <p:cNvSpPr txBox="1"/>
          <p:nvPr/>
        </p:nvSpPr>
        <p:spPr>
          <a:xfrm>
            <a:off x="522334" y="3273082"/>
            <a:ext cx="6537857" cy="868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2E73"/>
                </a:solidFill>
                <a:latin typeface="Wingdings"/>
              </a:rPr>
              <a:t>学习过程</a:t>
            </a:r>
            <a:r>
              <a:rPr lang="zh-CN" altLang="en-US" sz="2000" dirty="0">
                <a:solidFill>
                  <a:srgbClr val="000000"/>
                </a:solidFill>
                <a:latin typeface="Wingdings"/>
              </a:rPr>
              <a:t>：通过对训练样本的分析来确定“划分属性”（即内部结点所对应的属性）</a:t>
            </a:r>
          </a:p>
        </p:txBody>
      </p:sp>
      <p:sp>
        <p:nvSpPr>
          <p:cNvPr id="12" name="TextBox 29">
            <a:extLst>
              <a:ext uri="{FF2B5EF4-FFF2-40B4-BE49-F238E27FC236}">
                <a16:creationId xmlns:a16="http://schemas.microsoft.com/office/drawing/2014/main" id="{AECEE32C-7324-411F-B362-CD2410AB09A3}"/>
              </a:ext>
            </a:extLst>
          </p:cNvPr>
          <p:cNvSpPr txBox="1"/>
          <p:nvPr/>
        </p:nvSpPr>
        <p:spPr>
          <a:xfrm>
            <a:off x="560526" y="4685502"/>
            <a:ext cx="6057089" cy="86895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2E73"/>
                </a:solidFill>
                <a:latin typeface="Wingdings"/>
              </a:rPr>
              <a:t>预测过程：</a:t>
            </a:r>
            <a:r>
              <a:rPr lang="zh-CN" altLang="en-US" sz="2000" dirty="0">
                <a:solidFill>
                  <a:srgbClr val="000000"/>
                </a:solidFill>
                <a:latin typeface="微软雅黑"/>
              </a:rPr>
              <a:t>将测试示例从根结点开始，沿着划分属性所构成的“判定测试序列”下行，直到叶结点</a:t>
            </a:r>
          </a:p>
        </p:txBody>
      </p:sp>
    </p:spTree>
    <p:extLst>
      <p:ext uri="{BB962C8B-B14F-4D97-AF65-F5344CB8AC3E}">
        <p14:creationId xmlns:p14="http://schemas.microsoft.com/office/powerpoint/2010/main" val="162899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5C01A8-CEF1-4720-A4AB-1E5E5A855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CA7E03F-FA57-40F5-BF03-3217E8528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0C9DF4-CF65-4FFC-864A-DCD151C6C158}"/>
              </a:ext>
            </a:extLst>
          </p:cNvPr>
          <p:cNvSpPr txBox="1"/>
          <p:nvPr/>
        </p:nvSpPr>
        <p:spPr>
          <a:xfrm>
            <a:off x="424709" y="952279"/>
            <a:ext cx="6103736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决策树构建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A291BF-CEB0-430A-9E2A-3A467CCC1086}"/>
              </a:ext>
            </a:extLst>
          </p:cNvPr>
          <p:cNvSpPr txBox="1"/>
          <p:nvPr/>
        </p:nvSpPr>
        <p:spPr>
          <a:xfrm>
            <a:off x="424709" y="1688497"/>
            <a:ext cx="6103736" cy="387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341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E73"/>
                </a:solidFill>
                <a:latin typeface="微软雅黑"/>
              </a:rPr>
              <a:t>策略：“分而治之”</a:t>
            </a:r>
            <a:r>
              <a:rPr lang="en-US" altLang="zh-CN" sz="2400" dirty="0">
                <a:solidFill>
                  <a:srgbClr val="002E73"/>
                </a:solidFill>
                <a:latin typeface="Times New Roman"/>
              </a:rPr>
              <a:t>(divide-and-conquer)</a:t>
            </a:r>
            <a:endParaRPr lang="zh-CN" altLang="en-US" sz="2400" dirty="0">
              <a:solidFill>
                <a:srgbClr val="002E73"/>
              </a:solidFill>
              <a:latin typeface="Times New Roman"/>
            </a:endParaRPr>
          </a:p>
        </p:txBody>
      </p:sp>
      <p:sp>
        <p:nvSpPr>
          <p:cNvPr id="12" name="TextBox 25">
            <a:extLst>
              <a:ext uri="{FF2B5EF4-FFF2-40B4-BE49-F238E27FC236}">
                <a16:creationId xmlns:a16="http://schemas.microsoft.com/office/drawing/2014/main" id="{1BBDE938-4BD3-488E-8416-2D3A5984957B}"/>
              </a:ext>
            </a:extLst>
          </p:cNvPr>
          <p:cNvSpPr txBox="1"/>
          <p:nvPr/>
        </p:nvSpPr>
        <p:spPr>
          <a:xfrm>
            <a:off x="854176" y="2276470"/>
            <a:ext cx="2769989" cy="27520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1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/>
              </a:rPr>
              <a:t>自根至叶的递归过程</a:t>
            </a:r>
          </a:p>
        </p:txBody>
      </p:sp>
      <p:sp>
        <p:nvSpPr>
          <p:cNvPr id="14" name="TextBox 26">
            <a:extLst>
              <a:ext uri="{FF2B5EF4-FFF2-40B4-BE49-F238E27FC236}">
                <a16:creationId xmlns:a16="http://schemas.microsoft.com/office/drawing/2014/main" id="{E268295C-6607-4B6C-B1CD-FCCF8E82CF43}"/>
              </a:ext>
            </a:extLst>
          </p:cNvPr>
          <p:cNvSpPr txBox="1"/>
          <p:nvPr/>
        </p:nvSpPr>
        <p:spPr>
          <a:xfrm>
            <a:off x="854176" y="2815109"/>
            <a:ext cx="7097136" cy="29495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41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/>
              </a:rPr>
              <a:t>在每个中间结点寻找一个“划分”</a:t>
            </a:r>
            <a:r>
              <a:rPr lang="en-US" altLang="zh-CN" sz="2400" dirty="0">
                <a:solidFill>
                  <a:srgbClr val="000000"/>
                </a:solidFill>
                <a:latin typeface="微软雅黑"/>
              </a:rPr>
              <a:t>(split or test)</a:t>
            </a:r>
            <a:r>
              <a:rPr lang="zh-CN" altLang="en-US" sz="2400" dirty="0">
                <a:solidFill>
                  <a:srgbClr val="000000"/>
                </a:solidFill>
                <a:latin typeface="微软雅黑"/>
              </a:rPr>
              <a:t>属性</a:t>
            </a:r>
          </a:p>
        </p:txBody>
      </p:sp>
      <p:sp>
        <p:nvSpPr>
          <p:cNvPr id="15" name="TextBox 27">
            <a:extLst>
              <a:ext uri="{FF2B5EF4-FFF2-40B4-BE49-F238E27FC236}">
                <a16:creationId xmlns:a16="http://schemas.microsoft.com/office/drawing/2014/main" id="{450278CD-695F-4E9B-9496-B8F55E3B7F75}"/>
              </a:ext>
            </a:extLst>
          </p:cNvPr>
          <p:cNvSpPr txBox="1"/>
          <p:nvPr/>
        </p:nvSpPr>
        <p:spPr>
          <a:xfrm>
            <a:off x="459638" y="3495258"/>
            <a:ext cx="2500685" cy="29495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342900" indent="-342900">
              <a:lnSpc>
                <a:spcPts val="2341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E73"/>
                </a:solidFill>
                <a:latin typeface="微软雅黑"/>
              </a:rPr>
              <a:t>三种停止条件：</a:t>
            </a:r>
          </a:p>
        </p:txBody>
      </p:sp>
      <p:sp>
        <p:nvSpPr>
          <p:cNvPr id="16" name="TextBox 28">
            <a:extLst>
              <a:ext uri="{FF2B5EF4-FFF2-40B4-BE49-F238E27FC236}">
                <a16:creationId xmlns:a16="http://schemas.microsoft.com/office/drawing/2014/main" id="{9C9B96E8-1ADC-49A3-8E8F-AC65A21BE1C8}"/>
              </a:ext>
            </a:extLst>
          </p:cNvPr>
          <p:cNvSpPr txBox="1"/>
          <p:nvPr/>
        </p:nvSpPr>
        <p:spPr>
          <a:xfrm>
            <a:off x="854176" y="4090779"/>
            <a:ext cx="7014741" cy="27520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1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/>
              </a:rPr>
              <a:t>(1) </a:t>
            </a:r>
            <a:r>
              <a:rPr lang="zh-CN" altLang="en-US" sz="2400" dirty="0">
                <a:solidFill>
                  <a:srgbClr val="000000"/>
                </a:solidFill>
                <a:latin typeface="微软雅黑"/>
              </a:rPr>
              <a:t>当前结点包含的样本全属于同一类别，无需划分</a:t>
            </a:r>
            <a:r>
              <a:rPr lang="en-US" altLang="zh-CN" sz="2400" dirty="0">
                <a:solidFill>
                  <a:srgbClr val="000000"/>
                </a:solidFill>
                <a:latin typeface="微软雅黑"/>
              </a:rPr>
              <a:t>;</a:t>
            </a:r>
            <a:endParaRPr lang="zh-CN" altLang="en-US" sz="2400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17" name="TextBox 29">
            <a:extLst>
              <a:ext uri="{FF2B5EF4-FFF2-40B4-BE49-F238E27FC236}">
                <a16:creationId xmlns:a16="http://schemas.microsoft.com/office/drawing/2014/main" id="{46A7F536-98BF-49BF-92E9-7BBE3FD47AC6}"/>
              </a:ext>
            </a:extLst>
          </p:cNvPr>
          <p:cNvSpPr txBox="1"/>
          <p:nvPr/>
        </p:nvSpPr>
        <p:spPr>
          <a:xfrm>
            <a:off x="854176" y="4666551"/>
            <a:ext cx="9334287" cy="81381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1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/>
              </a:rPr>
              <a:t>(2) </a:t>
            </a:r>
            <a:r>
              <a:rPr lang="zh-CN" altLang="en-US" sz="2400" dirty="0">
                <a:solidFill>
                  <a:srgbClr val="000000"/>
                </a:solidFill>
                <a:latin typeface="微软雅黑"/>
              </a:rPr>
              <a:t>当前属性集为空</a:t>
            </a:r>
            <a:r>
              <a:rPr lang="en-US" altLang="zh-CN" sz="2400" dirty="0">
                <a:solidFill>
                  <a:srgbClr val="000000"/>
                </a:solidFill>
                <a:latin typeface="微软雅黑"/>
              </a:rPr>
              <a:t>, </a:t>
            </a:r>
            <a:r>
              <a:rPr lang="zh-CN" altLang="en-US" sz="2400" dirty="0">
                <a:solidFill>
                  <a:srgbClr val="000000"/>
                </a:solidFill>
                <a:latin typeface="微软雅黑"/>
              </a:rPr>
              <a:t>或是所有样本在所有属性上取值相同，无法划分</a:t>
            </a:r>
            <a:r>
              <a:rPr lang="en-US" altLang="zh-CN" sz="2400" dirty="0">
                <a:solidFill>
                  <a:srgbClr val="000000"/>
                </a:solidFill>
                <a:latin typeface="微软雅黑"/>
              </a:rPr>
              <a:t>;</a:t>
            </a:r>
          </a:p>
          <a:p>
            <a:pPr>
              <a:lnSpc>
                <a:spcPts val="2110"/>
              </a:lnSpc>
            </a:pPr>
            <a:endParaRPr lang="en-US" altLang="zh-CN" sz="2400" dirty="0">
              <a:solidFill>
                <a:srgbClr val="000000"/>
              </a:solidFill>
              <a:latin typeface="微软雅黑"/>
            </a:endParaRPr>
          </a:p>
          <a:p>
            <a:pPr>
              <a:lnSpc>
                <a:spcPts val="211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/>
              </a:rPr>
              <a:t>(3) </a:t>
            </a:r>
            <a:r>
              <a:rPr lang="zh-CN" altLang="en-US" sz="2400" dirty="0">
                <a:solidFill>
                  <a:srgbClr val="000000"/>
                </a:solidFill>
                <a:latin typeface="微软雅黑"/>
              </a:rPr>
              <a:t>当前结点包含的样本集合为空，不能划分</a:t>
            </a:r>
            <a:r>
              <a:rPr lang="en-US" altLang="zh-CN" sz="2400" dirty="0">
                <a:solidFill>
                  <a:srgbClr val="000000"/>
                </a:solidFill>
                <a:latin typeface="微软雅黑"/>
              </a:rPr>
              <a:t>.</a:t>
            </a:r>
            <a:endParaRPr lang="zh-CN" altLang="en-US" sz="2400" dirty="0">
              <a:solidFill>
                <a:srgbClr val="000000"/>
              </a:solidFill>
              <a:latin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016638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C7721-0726-4831-84CF-CBDE4D3D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0190554-F691-4ED4-885A-1D6FB8C91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A58892-3B42-4E44-B071-5AD77B34FB87}"/>
              </a:ext>
            </a:extLst>
          </p:cNvPr>
          <p:cNvSpPr txBox="1"/>
          <p:nvPr/>
        </p:nvSpPr>
        <p:spPr>
          <a:xfrm>
            <a:off x="396859" y="910758"/>
            <a:ext cx="8561476" cy="1034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CLS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算法</a:t>
            </a:r>
            <a:endParaRPr lang="en-US" altLang="zh-CN" sz="2800" dirty="0">
              <a:solidFill>
                <a:srgbClr val="002E73"/>
              </a:solidFill>
              <a:latin typeface="+mj-lt"/>
              <a:ea typeface="+mj-ea"/>
              <a:cs typeface="+mj-cs"/>
            </a:endParaRPr>
          </a:p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   </a:t>
            </a:r>
          </a:p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   CLS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算法是早期的决策树学习算法。它是许多决策树学习算法的基础。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63372-F8A7-4D9E-BD48-7609C535F02B}"/>
              </a:ext>
            </a:extLst>
          </p:cNvPr>
          <p:cNvSpPr txBox="1"/>
          <p:nvPr/>
        </p:nvSpPr>
        <p:spPr>
          <a:xfrm>
            <a:off x="396859" y="2187129"/>
            <a:ext cx="6103736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CLS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算法基本思想</a:t>
            </a:r>
            <a:endParaRPr lang="en-US" altLang="zh-CN" sz="2800" dirty="0">
              <a:solidFill>
                <a:srgbClr val="002E7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0A4901-0022-41B8-A410-F43481E29252}"/>
              </a:ext>
            </a:extLst>
          </p:cNvPr>
          <p:cNvSpPr txBox="1"/>
          <p:nvPr/>
        </p:nvSpPr>
        <p:spPr>
          <a:xfrm>
            <a:off x="327234" y="2691392"/>
            <a:ext cx="11142220" cy="21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从一棵空决策树开始，选择某一属性（分类属性）作为测试属性。该测试属性对应决策树中的决策结点。根据该属性的值的不同，可将训练样本分成相应的子集</a:t>
            </a:r>
            <a:r>
              <a:rPr lang="zh-CN" altLang="en-US" dirty="0"/>
              <a:t>：</a:t>
            </a:r>
            <a:endParaRPr lang="en-US" altLang="zh-CN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如果该子集为空，或该子集中的样本属于同一个类，则该子集为叶结点，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否则该子集对应于决策树的内部结点，即测试结点，需要选择一个新的分类属性对该子集进行划分，直到所有的子集都为空或者属于同一类。</a:t>
            </a:r>
          </a:p>
        </p:txBody>
      </p:sp>
    </p:spTree>
    <p:extLst>
      <p:ext uri="{BB962C8B-B14F-4D97-AF65-F5344CB8AC3E}">
        <p14:creationId xmlns:p14="http://schemas.microsoft.com/office/powerpoint/2010/main" val="313694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8BCD52-E87B-4FAE-98E2-37A8FDC5C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5FD2F12-8CEB-4925-9B7F-2591E23EB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20B3C1-71E4-4991-AAF8-7A782A96F1DE}"/>
              </a:ext>
            </a:extLst>
          </p:cNvPr>
          <p:cNvSpPr txBox="1"/>
          <p:nvPr/>
        </p:nvSpPr>
        <p:spPr>
          <a:xfrm>
            <a:off x="693923" y="975665"/>
            <a:ext cx="6103736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CLS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算法构建决策树</a:t>
            </a:r>
            <a:endParaRPr lang="en-US" altLang="zh-CN" sz="2800" dirty="0">
              <a:solidFill>
                <a:srgbClr val="002E73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Group 67">
            <a:extLst>
              <a:ext uri="{FF2B5EF4-FFF2-40B4-BE49-F238E27FC236}">
                <a16:creationId xmlns:a16="http://schemas.microsoft.com/office/drawing/2014/main" id="{48717EEC-D867-4CF3-924E-F3C6A3F84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098273"/>
              </p:ext>
            </p:extLst>
          </p:nvPr>
        </p:nvGraphicFramePr>
        <p:xfrm>
          <a:off x="2279650" y="1647664"/>
          <a:ext cx="7632700" cy="4577084"/>
        </p:xfrm>
        <a:graphic>
          <a:graphicData uri="http://schemas.openxmlformats.org/drawingml/2006/table">
            <a:tbl>
              <a:tblPr/>
              <a:tblGrid>
                <a:gridCol w="190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6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人员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眼睛颜色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头发颜色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所属人种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黑色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黑色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黄种人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蓝色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金色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白种人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灰色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金色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白种人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蓝色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红色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白种人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灰色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红色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白种人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黑色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金色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混血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9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灰色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黑色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混血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7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蓝色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黑色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混血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612110"/>
                  </a:ext>
                </a:extLst>
              </a:tr>
              <a:tr h="1449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蓝色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金色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431170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灰色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混血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616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3267C-3E47-4F0E-8B35-E783268A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A25587A-5C1E-4C16-8376-13CFE4DB0B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B7F8C0-C3CB-4499-9321-2BE78FD78286}"/>
              </a:ext>
            </a:extLst>
          </p:cNvPr>
          <p:cNvSpPr txBox="1"/>
          <p:nvPr/>
        </p:nvSpPr>
        <p:spPr>
          <a:xfrm>
            <a:off x="563957" y="933890"/>
            <a:ext cx="6103736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CLS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算法构建决策树</a:t>
            </a:r>
            <a:endParaRPr lang="en-US" altLang="zh-CN" sz="2800" dirty="0">
              <a:solidFill>
                <a:srgbClr val="002E7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2B65BC2C-E38C-413F-B4C3-4D47282AB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526" y="1628775"/>
            <a:ext cx="1584325" cy="7191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dirty="0"/>
              <a:t>眼睛颜色</a:t>
            </a: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C91701AF-017A-42AC-BEDB-4EB5E48E4F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97364" y="2347914"/>
            <a:ext cx="15843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BC7C512D-0B04-470E-A918-F1CDA5FC94D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1688" y="2347914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07A8F29A-80AC-4F00-966A-CCA2C58DE13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1689" y="2347914"/>
            <a:ext cx="1368425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D65F51D6-2257-4923-B1FA-E3C846947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3" y="2852738"/>
            <a:ext cx="1441450" cy="1008062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dirty="0"/>
              <a:t>头发颜色</a:t>
            </a:r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554B565E-FC5E-45E1-B282-8EB999058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8088" y="2997200"/>
            <a:ext cx="1439862" cy="9350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头发颜色</a:t>
            </a:r>
          </a:p>
        </p:txBody>
      </p:sp>
      <p:sp>
        <p:nvSpPr>
          <p:cNvPr id="12" name="Oval 13">
            <a:extLst>
              <a:ext uri="{FF2B5EF4-FFF2-40B4-BE49-F238E27FC236}">
                <a16:creationId xmlns:a16="http://schemas.microsoft.com/office/drawing/2014/main" id="{34AB8ECD-6B63-4565-A273-C15C399CA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826" y="2997200"/>
            <a:ext cx="1439863" cy="93503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dirty="0"/>
              <a:t>头发颜色</a:t>
            </a: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EFD3D099-6F09-4215-AF97-CC49E7284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1826" y="2276475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黑色</a:t>
            </a:r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B3177C8A-A62A-413D-B805-C13B4631F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9889" y="2540000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/>
              <a:t>蓝色</a:t>
            </a: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093FF337-7B28-4AAB-84C0-B09BC1FCC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4" y="2492375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灰色</a:t>
            </a:r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AEED65EE-600B-4CEE-AD7A-5135B239E1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5188" y="3789364"/>
            <a:ext cx="165735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" name="Oval 20">
            <a:extLst>
              <a:ext uri="{FF2B5EF4-FFF2-40B4-BE49-F238E27FC236}">
                <a16:creationId xmlns:a16="http://schemas.microsoft.com/office/drawing/2014/main" id="{828EE978-208F-4214-9474-E29B1A24E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8" y="4940301"/>
            <a:ext cx="1116012" cy="720725"/>
          </a:xfrm>
          <a:prstGeom prst="ellipse">
            <a:avLst/>
          </a:prstGeom>
          <a:solidFill>
            <a:srgbClr val="CC0099"/>
          </a:solidFill>
          <a:ln w="952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黄种人</a:t>
            </a:r>
            <a:r>
              <a:rPr lang="en-US" altLang="zh-CN">
                <a:solidFill>
                  <a:schemeClr val="bg1"/>
                </a:solidFill>
              </a:rPr>
              <a:t>[1]</a:t>
            </a:r>
          </a:p>
        </p:txBody>
      </p:sp>
      <p:sp>
        <p:nvSpPr>
          <p:cNvPr id="18" name="Line 22">
            <a:extLst>
              <a:ext uri="{FF2B5EF4-FFF2-40B4-BE49-F238E27FC236}">
                <a16:creationId xmlns:a16="http://schemas.microsoft.com/office/drawing/2014/main" id="{8BF2CABB-67E4-41AA-9DFE-B64B70D983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43250" y="3789363"/>
            <a:ext cx="649288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9" name="Oval 27">
            <a:extLst>
              <a:ext uri="{FF2B5EF4-FFF2-40B4-BE49-F238E27FC236}">
                <a16:creationId xmlns:a16="http://schemas.microsoft.com/office/drawing/2014/main" id="{648F3149-31AE-4E4D-B358-B568CE9DE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1" y="4941889"/>
            <a:ext cx="1116013" cy="720725"/>
          </a:xfrm>
          <a:prstGeom prst="ellipse">
            <a:avLst/>
          </a:prstGeom>
          <a:solidFill>
            <a:srgbClr val="CC0099"/>
          </a:solidFill>
          <a:ln w="952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混血</a:t>
            </a:r>
            <a:r>
              <a:rPr lang="en-US" altLang="zh-CN">
                <a:solidFill>
                  <a:schemeClr val="bg1"/>
                </a:solidFill>
              </a:rPr>
              <a:t>[6]</a:t>
            </a:r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E4FC7983-3AB3-4B83-BA98-3A459EF27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6" y="4941889"/>
            <a:ext cx="1116013" cy="720725"/>
          </a:xfrm>
          <a:prstGeom prst="ellipse">
            <a:avLst/>
          </a:prstGeom>
          <a:solidFill>
            <a:srgbClr val="CC0099"/>
          </a:solidFill>
          <a:ln w="952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白种人</a:t>
            </a:r>
            <a:r>
              <a:rPr lang="en-US" altLang="zh-CN">
                <a:solidFill>
                  <a:schemeClr val="bg1"/>
                </a:solidFill>
              </a:rPr>
              <a:t>[2]</a:t>
            </a:r>
          </a:p>
        </p:txBody>
      </p:sp>
      <p:sp>
        <p:nvSpPr>
          <p:cNvPr id="21" name="Oval 29">
            <a:extLst>
              <a:ext uri="{FF2B5EF4-FFF2-40B4-BE49-F238E27FC236}">
                <a16:creationId xmlns:a16="http://schemas.microsoft.com/office/drawing/2014/main" id="{AAADF26A-07B3-461B-B250-C1A77843F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1" y="4941889"/>
            <a:ext cx="1116013" cy="720725"/>
          </a:xfrm>
          <a:prstGeom prst="ellipse">
            <a:avLst/>
          </a:prstGeom>
          <a:solidFill>
            <a:srgbClr val="CC0099"/>
          </a:solidFill>
          <a:ln w="952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白种人</a:t>
            </a:r>
            <a:r>
              <a:rPr lang="en-US" altLang="zh-CN">
                <a:solidFill>
                  <a:schemeClr val="bg1"/>
                </a:solidFill>
              </a:rPr>
              <a:t>[4]</a:t>
            </a:r>
          </a:p>
        </p:txBody>
      </p:sp>
      <p:sp>
        <p:nvSpPr>
          <p:cNvPr id="22" name="Oval 30">
            <a:extLst>
              <a:ext uri="{FF2B5EF4-FFF2-40B4-BE49-F238E27FC236}">
                <a16:creationId xmlns:a16="http://schemas.microsoft.com/office/drawing/2014/main" id="{86C5A46E-39C4-4D06-85A3-8E459CE80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313" y="4941889"/>
            <a:ext cx="1116012" cy="720725"/>
          </a:xfrm>
          <a:prstGeom prst="ellipse">
            <a:avLst/>
          </a:prstGeom>
          <a:solidFill>
            <a:srgbClr val="CC0099"/>
          </a:solidFill>
          <a:ln w="952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混血</a:t>
            </a:r>
            <a:r>
              <a:rPr lang="en-US" altLang="zh-CN">
                <a:solidFill>
                  <a:schemeClr val="bg1"/>
                </a:solidFill>
              </a:rPr>
              <a:t>[8]</a:t>
            </a:r>
          </a:p>
        </p:txBody>
      </p:sp>
      <p:sp>
        <p:nvSpPr>
          <p:cNvPr id="23" name="Oval 31">
            <a:extLst>
              <a:ext uri="{FF2B5EF4-FFF2-40B4-BE49-F238E27FC236}">
                <a16:creationId xmlns:a16="http://schemas.microsoft.com/office/drawing/2014/main" id="{39982F55-B1F4-4F3B-91E4-92F914420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8276" y="4941889"/>
            <a:ext cx="1116013" cy="720725"/>
          </a:xfrm>
          <a:prstGeom prst="ellipse">
            <a:avLst/>
          </a:prstGeom>
          <a:solidFill>
            <a:srgbClr val="CC0099"/>
          </a:solidFill>
          <a:ln w="952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白种人</a:t>
            </a:r>
            <a:r>
              <a:rPr lang="en-US" altLang="zh-CN">
                <a:solidFill>
                  <a:schemeClr val="bg1"/>
                </a:solidFill>
              </a:rPr>
              <a:t>[3]</a:t>
            </a:r>
          </a:p>
        </p:txBody>
      </p:sp>
      <p:sp>
        <p:nvSpPr>
          <p:cNvPr id="24" name="Oval 32">
            <a:extLst>
              <a:ext uri="{FF2B5EF4-FFF2-40B4-BE49-F238E27FC236}">
                <a16:creationId xmlns:a16="http://schemas.microsoft.com/office/drawing/2014/main" id="{96036C55-2CC9-4244-8878-1453AC7CD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2238" y="4941889"/>
            <a:ext cx="1116012" cy="720725"/>
          </a:xfrm>
          <a:prstGeom prst="ellipse">
            <a:avLst/>
          </a:prstGeom>
          <a:solidFill>
            <a:srgbClr val="CC0099"/>
          </a:solidFill>
          <a:ln w="952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白种人</a:t>
            </a:r>
            <a:r>
              <a:rPr lang="en-US" altLang="zh-CN">
                <a:solidFill>
                  <a:schemeClr val="bg1"/>
                </a:solidFill>
              </a:rPr>
              <a:t>[5]</a:t>
            </a:r>
          </a:p>
        </p:txBody>
      </p:sp>
      <p:sp>
        <p:nvSpPr>
          <p:cNvPr id="25" name="Oval 33">
            <a:extLst>
              <a:ext uri="{FF2B5EF4-FFF2-40B4-BE49-F238E27FC236}">
                <a16:creationId xmlns:a16="http://schemas.microsoft.com/office/drawing/2014/main" id="{23476079-85BE-46DD-A605-C2C82C939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8" y="4005264"/>
            <a:ext cx="1116012" cy="720725"/>
          </a:xfrm>
          <a:prstGeom prst="ellipse">
            <a:avLst/>
          </a:prstGeom>
          <a:solidFill>
            <a:srgbClr val="CC0099"/>
          </a:solidFill>
          <a:ln w="952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混血</a:t>
            </a:r>
            <a:r>
              <a:rPr lang="en-US" altLang="zh-CN">
                <a:solidFill>
                  <a:schemeClr val="bg1"/>
                </a:solidFill>
              </a:rPr>
              <a:t>[7]</a:t>
            </a:r>
          </a:p>
        </p:txBody>
      </p:sp>
      <p:sp>
        <p:nvSpPr>
          <p:cNvPr id="26" name="Line 34">
            <a:extLst>
              <a:ext uri="{FF2B5EF4-FFF2-40B4-BE49-F238E27FC236}">
                <a16:creationId xmlns:a16="http://schemas.microsoft.com/office/drawing/2014/main" id="{35F93ADF-B17B-44C1-A631-68AA0CF0CE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56139" y="3933826"/>
            <a:ext cx="1152525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7" name="Line 35">
            <a:extLst>
              <a:ext uri="{FF2B5EF4-FFF2-40B4-BE49-F238E27FC236}">
                <a16:creationId xmlns:a16="http://schemas.microsoft.com/office/drawing/2014/main" id="{47392750-00FB-4A9E-9818-76449E4982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8663" y="3933826"/>
            <a:ext cx="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8" name="Line 36">
            <a:extLst>
              <a:ext uri="{FF2B5EF4-FFF2-40B4-BE49-F238E27FC236}">
                <a16:creationId xmlns:a16="http://schemas.microsoft.com/office/drawing/2014/main" id="{23162C6D-870D-40AF-AFDD-8088F80EDC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8663" y="3933826"/>
            <a:ext cx="1223962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" name="Line 37">
            <a:extLst>
              <a:ext uri="{FF2B5EF4-FFF2-40B4-BE49-F238E27FC236}">
                <a16:creationId xmlns:a16="http://schemas.microsoft.com/office/drawing/2014/main" id="{4159FE36-527E-4572-9F56-DC14986B7ED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8889" y="3933826"/>
            <a:ext cx="719137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0" name="Line 38">
            <a:extLst>
              <a:ext uri="{FF2B5EF4-FFF2-40B4-BE49-F238E27FC236}">
                <a16:creationId xmlns:a16="http://schemas.microsoft.com/office/drawing/2014/main" id="{4EB26B65-DFF7-4ABE-B9E7-E45F81803A2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8889" y="3933826"/>
            <a:ext cx="1800225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1" name="Line 39">
            <a:extLst>
              <a:ext uri="{FF2B5EF4-FFF2-40B4-BE49-F238E27FC236}">
                <a16:creationId xmlns:a16="http://schemas.microsoft.com/office/drawing/2014/main" id="{A30E4356-F124-46E9-A120-5B02F363B0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8889" y="3933826"/>
            <a:ext cx="1800225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Box 40">
            <a:extLst>
              <a:ext uri="{FF2B5EF4-FFF2-40B4-BE49-F238E27FC236}">
                <a16:creationId xmlns:a16="http://schemas.microsoft.com/office/drawing/2014/main" id="{FAB64D8E-9CF5-4A4F-ADE6-BAA46E08B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9" y="4221163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黑色</a:t>
            </a:r>
          </a:p>
        </p:txBody>
      </p:sp>
      <p:sp>
        <p:nvSpPr>
          <p:cNvPr id="33" name="Text Box 41">
            <a:extLst>
              <a:ext uri="{FF2B5EF4-FFF2-40B4-BE49-F238E27FC236}">
                <a16:creationId xmlns:a16="http://schemas.microsoft.com/office/drawing/2014/main" id="{0336DE9B-F1D9-4954-867E-CC30DFC4C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814" y="4149725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金色</a:t>
            </a:r>
          </a:p>
        </p:txBody>
      </p:sp>
      <p:sp>
        <p:nvSpPr>
          <p:cNvPr id="34" name="Text Box 42">
            <a:extLst>
              <a:ext uri="{FF2B5EF4-FFF2-40B4-BE49-F238E27FC236}">
                <a16:creationId xmlns:a16="http://schemas.microsoft.com/office/drawing/2014/main" id="{7619ABD2-FD05-4325-8DFE-441BD8D87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6" y="4292600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金色</a:t>
            </a:r>
          </a:p>
        </p:txBody>
      </p:sp>
      <p:sp>
        <p:nvSpPr>
          <p:cNvPr id="35" name="Text Box 43">
            <a:extLst>
              <a:ext uri="{FF2B5EF4-FFF2-40B4-BE49-F238E27FC236}">
                <a16:creationId xmlns:a16="http://schemas.microsoft.com/office/drawing/2014/main" id="{B6C60303-9FCA-45D1-A5D7-C801537FE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6" y="4365625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红色</a:t>
            </a:r>
          </a:p>
        </p:txBody>
      </p:sp>
      <p:sp>
        <p:nvSpPr>
          <p:cNvPr id="36" name="Text Box 44">
            <a:extLst>
              <a:ext uri="{FF2B5EF4-FFF2-40B4-BE49-F238E27FC236}">
                <a16:creationId xmlns:a16="http://schemas.microsoft.com/office/drawing/2014/main" id="{3B3623BD-43FE-4F3D-931C-9D1FB78ED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439" y="4365625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黑色</a:t>
            </a:r>
          </a:p>
        </p:txBody>
      </p:sp>
      <p:sp>
        <p:nvSpPr>
          <p:cNvPr id="37" name="Text Box 45">
            <a:extLst>
              <a:ext uri="{FF2B5EF4-FFF2-40B4-BE49-F238E27FC236}">
                <a16:creationId xmlns:a16="http://schemas.microsoft.com/office/drawing/2014/main" id="{35FD1E1D-2F75-44BB-9EFB-9B3796485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301" y="4292600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金色</a:t>
            </a:r>
          </a:p>
        </p:txBody>
      </p:sp>
      <p:sp>
        <p:nvSpPr>
          <p:cNvPr id="38" name="Text Box 46">
            <a:extLst>
              <a:ext uri="{FF2B5EF4-FFF2-40B4-BE49-F238E27FC236}">
                <a16:creationId xmlns:a16="http://schemas.microsoft.com/office/drawing/2014/main" id="{172E7FDF-F3E7-413A-8656-243F14AAC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0901" y="4365625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红色</a:t>
            </a:r>
          </a:p>
        </p:txBody>
      </p:sp>
      <p:sp>
        <p:nvSpPr>
          <p:cNvPr id="39" name="Text Box 47">
            <a:extLst>
              <a:ext uri="{FF2B5EF4-FFF2-40B4-BE49-F238E27FC236}">
                <a16:creationId xmlns:a16="http://schemas.microsoft.com/office/drawing/2014/main" id="{1BEB2AE5-7DEA-45B3-AD22-6B8AD3A82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5364" y="3789363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黑色</a:t>
            </a:r>
          </a:p>
        </p:txBody>
      </p:sp>
    </p:spTree>
    <p:extLst>
      <p:ext uri="{BB962C8B-B14F-4D97-AF65-F5344CB8AC3E}">
        <p14:creationId xmlns:p14="http://schemas.microsoft.com/office/powerpoint/2010/main" val="10474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6FE405-2AEF-4251-89E8-4D10E7787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DC051A9-D595-4C52-8C64-43D30B2C0F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F9ED16-2502-47C7-8659-BFC475B32CC8}"/>
              </a:ext>
            </a:extLst>
          </p:cNvPr>
          <p:cNvSpPr txBox="1"/>
          <p:nvPr/>
        </p:nvSpPr>
        <p:spPr>
          <a:xfrm>
            <a:off x="577881" y="906040"/>
            <a:ext cx="6103736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CLS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算法构建决策树</a:t>
            </a:r>
            <a:endParaRPr lang="en-US" altLang="zh-CN" sz="2800" dirty="0">
              <a:solidFill>
                <a:srgbClr val="002E7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7D45EFF9-C18E-4FF9-B5DA-C6729BD04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782" y="1437976"/>
            <a:ext cx="653415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</a:rPr>
              <a:t>采用不同的测试属性及其先后顺序将会生成不同的决策树</a:t>
            </a:r>
          </a:p>
        </p:txBody>
      </p:sp>
      <p:graphicFrame>
        <p:nvGraphicFramePr>
          <p:cNvPr id="9" name="Group 181">
            <a:extLst>
              <a:ext uri="{FF2B5EF4-FFF2-40B4-BE49-F238E27FC236}">
                <a16:creationId xmlns:a16="http://schemas.microsoft.com/office/drawing/2014/main" id="{139988B3-9057-4505-87D4-5699D30F6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404343"/>
              </p:ext>
            </p:extLst>
          </p:nvPr>
        </p:nvGraphicFramePr>
        <p:xfrm>
          <a:off x="804769" y="2359520"/>
          <a:ext cx="10192565" cy="4059876"/>
        </p:xfrm>
        <a:graphic>
          <a:graphicData uri="http://schemas.openxmlformats.org/drawingml/2006/table">
            <a:tbl>
              <a:tblPr/>
              <a:tblGrid>
                <a:gridCol w="904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2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1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77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1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23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41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023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5461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学生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鸡肉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猪肉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牛肉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羊肉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鱼肉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鸡蛋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青菜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番茄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牛奶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健康情况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不缺钙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不缺钙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缺钙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不缺钙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缺钙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缺钙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不缺钙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缺钙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不缺钙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不缺钙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40192099-C3F0-4BD6-8E89-B1F01E7209F8}"/>
              </a:ext>
            </a:extLst>
          </p:cNvPr>
          <p:cNvSpPr txBox="1"/>
          <p:nvPr/>
        </p:nvSpPr>
        <p:spPr>
          <a:xfrm>
            <a:off x="4659514" y="1910840"/>
            <a:ext cx="6103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学生膳食结构和缺钙调查表</a:t>
            </a:r>
          </a:p>
        </p:txBody>
      </p:sp>
    </p:spTree>
    <p:extLst>
      <p:ext uri="{BB962C8B-B14F-4D97-AF65-F5344CB8AC3E}">
        <p14:creationId xmlns:p14="http://schemas.microsoft.com/office/powerpoint/2010/main" val="344888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6FE405-2AEF-4251-89E8-4D10E7787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DC051A9-D595-4C52-8C64-43D30B2C0F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F9ED16-2502-47C7-8659-BFC475B32CC8}"/>
              </a:ext>
            </a:extLst>
          </p:cNvPr>
          <p:cNvSpPr txBox="1"/>
          <p:nvPr/>
        </p:nvSpPr>
        <p:spPr>
          <a:xfrm>
            <a:off x="577881" y="906040"/>
            <a:ext cx="6103736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CLS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算法构建决策树</a:t>
            </a:r>
            <a:endParaRPr lang="en-US" altLang="zh-CN" sz="2800" dirty="0">
              <a:solidFill>
                <a:srgbClr val="002E7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71EDA1A8-7FB2-4B4C-831C-561CE61AF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661" y="1542848"/>
            <a:ext cx="863600" cy="4318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dirty="0"/>
              <a:t>鸡肉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8DA4EAE-F63E-4F43-AEF4-5222930BF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886" y="2190548"/>
            <a:ext cx="863600" cy="4318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猪肉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21F6F978-BB9F-42F0-B1DE-8DFD9CD26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899" y="2190548"/>
            <a:ext cx="863600" cy="4318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dirty="0"/>
              <a:t>猪肉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F124E2B-0B41-4965-B59A-1F889A841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936" y="2982711"/>
            <a:ext cx="863600" cy="4318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dirty="0"/>
              <a:t>牛肉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C7C19BB-CE4E-4650-AFAF-7E40AA999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936" y="2982711"/>
            <a:ext cx="863600" cy="4318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dirty="0"/>
              <a:t>牛肉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404732A-AB76-4F63-A88B-78575E5D9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1724" y="3054148"/>
            <a:ext cx="863600" cy="4318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dirty="0"/>
              <a:t>牛肉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C1E4399-4102-436D-A3DF-6F4986604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6050" y="3054148"/>
            <a:ext cx="1368425" cy="431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不缺</a:t>
            </a:r>
            <a:r>
              <a:rPr lang="zh-CN" altLang="en-US">
                <a:solidFill>
                  <a:schemeClr val="bg1"/>
                </a:solidFill>
              </a:rPr>
              <a:t>钙（</a:t>
            </a:r>
            <a:r>
              <a:rPr lang="en-US" altLang="zh-CN">
                <a:solidFill>
                  <a:schemeClr val="bg1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5F474E6-184B-47F6-BD8F-873BD4F1E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750" y="4206673"/>
            <a:ext cx="1368425" cy="431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缺钙（</a:t>
            </a:r>
            <a:r>
              <a:rPr lang="en-US" altLang="zh-CN" dirty="0">
                <a:solidFill>
                  <a:schemeClr val="bg1"/>
                </a:solidFill>
              </a:rPr>
              <a:t>3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6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8053905-0182-4BAA-8C43-CFE99C2AC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12" y="4206673"/>
            <a:ext cx="1368425" cy="431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不缺钙（</a:t>
            </a:r>
            <a:r>
              <a:rPr lang="en-US" altLang="zh-CN">
                <a:solidFill>
                  <a:schemeClr val="bg1"/>
                </a:solidFill>
              </a:rPr>
              <a:t>4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B91809D-09F4-495E-B054-84C510001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8475" y="4206673"/>
            <a:ext cx="1368425" cy="431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不缺钙（</a:t>
            </a:r>
            <a:r>
              <a:rPr lang="en-US" altLang="zh-CN">
                <a:solidFill>
                  <a:schemeClr val="bg1"/>
                </a:solidFill>
              </a:rPr>
              <a:t>10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8B2D8C9-B9E1-46B3-BB30-5E988EBD9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9925" y="4206673"/>
            <a:ext cx="1368425" cy="431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缺钙（</a:t>
            </a:r>
            <a:r>
              <a:rPr lang="en-US" altLang="zh-CN">
                <a:solidFill>
                  <a:schemeClr val="bg1"/>
                </a:solidFill>
              </a:rPr>
              <a:t>5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2F8590C-E9B1-43AE-954F-EC83FE166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787" y="4206673"/>
            <a:ext cx="1368425" cy="431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不缺钙（</a:t>
            </a:r>
            <a:r>
              <a:rPr lang="en-US" altLang="zh-CN">
                <a:solidFill>
                  <a:schemeClr val="bg1"/>
                </a:solidFill>
              </a:rPr>
              <a:t>1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45ED20F-4916-4EF8-895E-8BF27386D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549" y="4206673"/>
            <a:ext cx="863600" cy="4318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dirty="0"/>
              <a:t>鱼肉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178DB11-3B74-48CC-92F6-D66A14369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1225" y="5214736"/>
            <a:ext cx="1368425" cy="431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缺钙（</a:t>
            </a:r>
            <a:r>
              <a:rPr lang="en-US" altLang="zh-CN" dirty="0">
                <a:solidFill>
                  <a:schemeClr val="bg1"/>
                </a:solidFill>
              </a:rPr>
              <a:t>8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C85DFDC-D618-444F-9A4F-3F44EC0FE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4112" y="5214736"/>
            <a:ext cx="1584325" cy="431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不缺钙（</a:t>
            </a:r>
            <a:r>
              <a:rPr lang="en-US" altLang="zh-CN">
                <a:solidFill>
                  <a:schemeClr val="bg1"/>
                </a:solidFill>
              </a:rPr>
              <a:t>7</a:t>
            </a:r>
            <a:r>
              <a:rPr lang="zh-CN" altLang="en-US">
                <a:solidFill>
                  <a:schemeClr val="bg1"/>
                </a:solidFill>
              </a:rPr>
              <a:t>，</a:t>
            </a:r>
            <a:r>
              <a:rPr lang="en-US" altLang="zh-CN">
                <a:solidFill>
                  <a:schemeClr val="bg1"/>
                </a:solidFill>
              </a:rPr>
              <a:t>9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07E7AF4D-775F-4D20-BFE3-D12E63FD6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0021" y="1411769"/>
            <a:ext cx="3873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600" dirty="0"/>
              <a:t>是</a:t>
            </a: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FB02CC50-AA84-499A-ACAB-7D697C0C6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636" y="1709536"/>
            <a:ext cx="3873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600"/>
              <a:t>否</a:t>
            </a:r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1AF62D4B-61C6-4DAD-AC59-D384B99D6A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18475" y="1901624"/>
            <a:ext cx="936625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F5D5D86F-EB2C-4ED9-A7AC-8FB7CD3F6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5824" y="1901623"/>
            <a:ext cx="1008062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6DEF5B8E-2856-4F59-9297-1C2833C723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78611" y="2622349"/>
            <a:ext cx="865188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092670DF-E9B9-4958-BB54-D4DFA1B56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5599" y="2622349"/>
            <a:ext cx="6477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3268E2A1-1127-4782-892B-7BD962027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8611" y="2550911"/>
            <a:ext cx="3873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600"/>
              <a:t>是</a:t>
            </a: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3ABEA8C9-D3A0-400F-A4CC-584F4CEDB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386" y="2477886"/>
            <a:ext cx="3873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600"/>
              <a:t>否</a:t>
            </a: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EE4A044D-10BB-44D6-98E9-00D8E583C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411" y="3581198"/>
            <a:ext cx="3873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600"/>
              <a:t>否</a:t>
            </a:r>
          </a:p>
        </p:txBody>
      </p:sp>
      <p:sp>
        <p:nvSpPr>
          <p:cNvPr id="35" name="Text Box 34">
            <a:extLst>
              <a:ext uri="{FF2B5EF4-FFF2-40B4-BE49-F238E27FC236}">
                <a16:creationId xmlns:a16="http://schemas.microsoft.com/office/drawing/2014/main" id="{8364A99D-9957-4747-8110-24374E857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6899" y="3509761"/>
            <a:ext cx="3873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600"/>
              <a:t>否</a:t>
            </a:r>
          </a:p>
        </p:txBody>
      </p:sp>
      <p:sp>
        <p:nvSpPr>
          <p:cNvPr id="36" name="Text Box 35">
            <a:extLst>
              <a:ext uri="{FF2B5EF4-FFF2-40B4-BE49-F238E27FC236}">
                <a16:creationId xmlns:a16="http://schemas.microsoft.com/office/drawing/2014/main" id="{75027DCA-048D-415A-8E3D-4DFE4EA6D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2299" y="2550911"/>
            <a:ext cx="3873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600"/>
              <a:t>否</a:t>
            </a:r>
          </a:p>
        </p:txBody>
      </p:sp>
      <p:sp>
        <p:nvSpPr>
          <p:cNvPr id="37" name="Text Box 36">
            <a:extLst>
              <a:ext uri="{FF2B5EF4-FFF2-40B4-BE49-F238E27FC236}">
                <a16:creationId xmlns:a16="http://schemas.microsoft.com/office/drawing/2014/main" id="{86F8B47A-FBE9-4001-9472-BDBCB785F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8699" y="3485948"/>
            <a:ext cx="3873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600"/>
              <a:t>否</a:t>
            </a:r>
          </a:p>
        </p:txBody>
      </p:sp>
      <p:sp>
        <p:nvSpPr>
          <p:cNvPr id="38" name="Text Box 37">
            <a:extLst>
              <a:ext uri="{FF2B5EF4-FFF2-40B4-BE49-F238E27FC236}">
                <a16:creationId xmlns:a16="http://schemas.microsoft.com/office/drawing/2014/main" id="{A57FC7CC-906C-4442-8EE7-B9B213E46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5186" y="4733723"/>
            <a:ext cx="3873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600"/>
              <a:t>否</a:t>
            </a:r>
          </a:p>
        </p:txBody>
      </p:sp>
      <p:sp>
        <p:nvSpPr>
          <p:cNvPr id="39" name="Line 38">
            <a:extLst>
              <a:ext uri="{FF2B5EF4-FFF2-40B4-BE49-F238E27FC236}">
                <a16:creationId xmlns:a16="http://schemas.microsoft.com/office/drawing/2014/main" id="{1D2108B0-90C2-496E-AA2B-108DA49B3B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8611" y="3414511"/>
            <a:ext cx="64928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" name="Line 39">
            <a:extLst>
              <a:ext uri="{FF2B5EF4-FFF2-40B4-BE49-F238E27FC236}">
                <a16:creationId xmlns:a16="http://schemas.microsoft.com/office/drawing/2014/main" id="{0BF71BAC-BEC4-4F06-9DFB-A96ABE7032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5100" y="3343074"/>
            <a:ext cx="1081087" cy="790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1" name="Line 40">
            <a:extLst>
              <a:ext uri="{FF2B5EF4-FFF2-40B4-BE49-F238E27FC236}">
                <a16:creationId xmlns:a16="http://schemas.microsoft.com/office/drawing/2014/main" id="{3A19458D-DA1B-4066-B605-EFBD904C27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0861" y="3414511"/>
            <a:ext cx="237648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2" name="Line 41">
            <a:extLst>
              <a:ext uri="{FF2B5EF4-FFF2-40B4-BE49-F238E27FC236}">
                <a16:creationId xmlns:a16="http://schemas.microsoft.com/office/drawing/2014/main" id="{5C5F87F2-A58C-4999-9F55-F32D9D559D0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60374" y="4638474"/>
            <a:ext cx="43180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3" name="Line 42">
            <a:extLst>
              <a:ext uri="{FF2B5EF4-FFF2-40B4-BE49-F238E27FC236}">
                <a16:creationId xmlns:a16="http://schemas.microsoft.com/office/drawing/2014/main" id="{BE6FC35F-D366-44FB-956E-289A80E425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6049" y="2550912"/>
            <a:ext cx="792162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Box 43">
            <a:extLst>
              <a:ext uri="{FF2B5EF4-FFF2-40B4-BE49-F238E27FC236}">
                <a16:creationId xmlns:a16="http://schemas.microsoft.com/office/drawing/2014/main" id="{F7A2160B-2FF0-4154-BFE2-6F8DE7FBE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549" y="3581198"/>
            <a:ext cx="3873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600"/>
              <a:t>是</a:t>
            </a:r>
          </a:p>
        </p:txBody>
      </p:sp>
      <p:sp>
        <p:nvSpPr>
          <p:cNvPr id="45" name="Text Box 44">
            <a:extLst>
              <a:ext uri="{FF2B5EF4-FFF2-40B4-BE49-F238E27FC236}">
                <a16:creationId xmlns:a16="http://schemas.microsoft.com/office/drawing/2014/main" id="{FD29C14B-6C88-454E-B00E-BF37195B2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386" y="3558973"/>
            <a:ext cx="3873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600"/>
              <a:t>是</a:t>
            </a:r>
          </a:p>
        </p:txBody>
      </p:sp>
      <p:sp>
        <p:nvSpPr>
          <p:cNvPr id="46" name="Text Box 45">
            <a:extLst>
              <a:ext uri="{FF2B5EF4-FFF2-40B4-BE49-F238E27FC236}">
                <a16:creationId xmlns:a16="http://schemas.microsoft.com/office/drawing/2014/main" id="{2FFA12D0-635C-4ED1-9AF0-9D2F70357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6186" y="3485948"/>
            <a:ext cx="3873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600"/>
              <a:t>是</a:t>
            </a:r>
          </a:p>
        </p:txBody>
      </p:sp>
      <p:sp>
        <p:nvSpPr>
          <p:cNvPr id="47" name="Text Box 46">
            <a:extLst>
              <a:ext uri="{FF2B5EF4-FFF2-40B4-BE49-F238E27FC236}">
                <a16:creationId xmlns:a16="http://schemas.microsoft.com/office/drawing/2014/main" id="{77A630B3-835E-473E-ACA4-7019620B6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8199" y="4806748"/>
            <a:ext cx="3873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600"/>
              <a:t>是</a:t>
            </a:r>
          </a:p>
        </p:txBody>
      </p:sp>
      <p:sp>
        <p:nvSpPr>
          <p:cNvPr id="48" name="Line 47">
            <a:extLst>
              <a:ext uri="{FF2B5EF4-FFF2-40B4-BE49-F238E27FC236}">
                <a16:creationId xmlns:a16="http://schemas.microsoft.com/office/drawing/2014/main" id="{16C5871F-66BF-45BD-9609-EEBB8F3F38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0550" y="3414511"/>
            <a:ext cx="720725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9" name="Line 48">
            <a:extLst>
              <a:ext uri="{FF2B5EF4-FFF2-40B4-BE49-F238E27FC236}">
                <a16:creationId xmlns:a16="http://schemas.microsoft.com/office/drawing/2014/main" id="{F420C6E7-0878-47D8-9E3C-6C28F1B27D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3299" y="3414511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0" name="Line 49">
            <a:extLst>
              <a:ext uri="{FF2B5EF4-FFF2-40B4-BE49-F238E27FC236}">
                <a16:creationId xmlns:a16="http://schemas.microsoft.com/office/drawing/2014/main" id="{AD96CAEE-4C3C-4411-9CFF-F9B25085BE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3524" y="3485949"/>
            <a:ext cx="8636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1" name="Line 50">
            <a:extLst>
              <a:ext uri="{FF2B5EF4-FFF2-40B4-BE49-F238E27FC236}">
                <a16:creationId xmlns:a16="http://schemas.microsoft.com/office/drawing/2014/main" id="{325540F5-63AF-45D0-8874-4EC23A7F2F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7849" y="4567036"/>
            <a:ext cx="792162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2" name="Line 51">
            <a:extLst>
              <a:ext uri="{FF2B5EF4-FFF2-40B4-BE49-F238E27FC236}">
                <a16:creationId xmlns:a16="http://schemas.microsoft.com/office/drawing/2014/main" id="{71B157A3-C981-4A2F-A0FA-14D7CED73E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4962" y="2622348"/>
            <a:ext cx="576263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Box 52">
            <a:extLst>
              <a:ext uri="{FF2B5EF4-FFF2-40B4-BE49-F238E27FC236}">
                <a16:creationId xmlns:a16="http://schemas.microsoft.com/office/drawing/2014/main" id="{EBC7C312-9D82-4FB7-BD93-51DA8ABAD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3511" y="2501698"/>
            <a:ext cx="3873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600"/>
              <a:t>是</a:t>
            </a:r>
          </a:p>
        </p:txBody>
      </p:sp>
      <p:sp>
        <p:nvSpPr>
          <p:cNvPr id="54" name="Oval 5">
            <a:extLst>
              <a:ext uri="{FF2B5EF4-FFF2-40B4-BE49-F238E27FC236}">
                <a16:creationId xmlns:a16="http://schemas.microsoft.com/office/drawing/2014/main" id="{AF3CD2C2-4575-4E35-ABC3-027C21539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1641" y="994264"/>
            <a:ext cx="1007740" cy="57656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dirty="0"/>
              <a:t>牛奶</a:t>
            </a:r>
          </a:p>
        </p:txBody>
      </p:sp>
      <p:sp>
        <p:nvSpPr>
          <p:cNvPr id="55" name="Oval 6">
            <a:extLst>
              <a:ext uri="{FF2B5EF4-FFF2-40B4-BE49-F238E27FC236}">
                <a16:creationId xmlns:a16="http://schemas.microsoft.com/office/drawing/2014/main" id="{012FAED5-0817-44A0-8530-777FBCC41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36" y="1945810"/>
            <a:ext cx="1800225" cy="1007864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不缺钙</a:t>
            </a: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1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2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4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</a:p>
          <a:p>
            <a:pPr algn="ctr"/>
            <a:r>
              <a:rPr lang="en-US" altLang="zh-CN" dirty="0">
                <a:solidFill>
                  <a:schemeClr val="bg1"/>
                </a:solidFill>
              </a:rPr>
              <a:t>7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9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10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56" name="Oval 7">
            <a:extLst>
              <a:ext uri="{FF2B5EF4-FFF2-40B4-BE49-F238E27FC236}">
                <a16:creationId xmlns:a16="http://schemas.microsoft.com/office/drawing/2014/main" id="{C4781598-EBF5-48E4-8B5A-2776C8E54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7674" y="1974648"/>
            <a:ext cx="1583977" cy="93585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缺钙</a:t>
            </a: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3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5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6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8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57" name="Line 8">
            <a:extLst>
              <a:ext uri="{FF2B5EF4-FFF2-40B4-BE49-F238E27FC236}">
                <a16:creationId xmlns:a16="http://schemas.microsoft.com/office/drawing/2014/main" id="{785F5C7A-DBA1-4E55-B681-DCDDCB5635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16009" y="1542848"/>
            <a:ext cx="863601" cy="398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" name="Line 9">
            <a:extLst>
              <a:ext uri="{FF2B5EF4-FFF2-40B4-BE49-F238E27FC236}">
                <a16:creationId xmlns:a16="http://schemas.microsoft.com/office/drawing/2014/main" id="{205204DA-9186-43F0-A8E1-FE3E4F24EA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411" y="1542848"/>
            <a:ext cx="1152525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Box 25">
            <a:extLst>
              <a:ext uri="{FF2B5EF4-FFF2-40B4-BE49-F238E27FC236}">
                <a16:creationId xmlns:a16="http://schemas.microsoft.com/office/drawing/2014/main" id="{16493F87-B8E6-4190-A1D9-360D481DA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8361" y="1911148"/>
            <a:ext cx="3873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600"/>
              <a:t>是</a:t>
            </a:r>
          </a:p>
        </p:txBody>
      </p:sp>
      <p:sp>
        <p:nvSpPr>
          <p:cNvPr id="60" name="Text Box 25">
            <a:extLst>
              <a:ext uri="{FF2B5EF4-FFF2-40B4-BE49-F238E27FC236}">
                <a16:creationId xmlns:a16="http://schemas.microsoft.com/office/drawing/2014/main" id="{C3C62D78-67A6-4982-B0F2-8218FADDA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4026" y="1422198"/>
            <a:ext cx="387350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600" dirty="0"/>
              <a:t>否</a:t>
            </a:r>
          </a:p>
        </p:txBody>
      </p:sp>
    </p:spTree>
    <p:extLst>
      <p:ext uri="{BB962C8B-B14F-4D97-AF65-F5344CB8AC3E}">
        <p14:creationId xmlns:p14="http://schemas.microsoft.com/office/powerpoint/2010/main" val="410663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F52ED-432E-4700-829C-D1F0093F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FC6D12-4B02-4D70-A5B8-36E4381A10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2FF631-5143-4B28-818B-E656F5AA501C}"/>
              </a:ext>
            </a:extLst>
          </p:cNvPr>
          <p:cNvSpPr txBox="1"/>
          <p:nvPr/>
        </p:nvSpPr>
        <p:spPr>
          <a:xfrm>
            <a:off x="420067" y="882655"/>
            <a:ext cx="6103736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决策树构建基本算法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E63624B-D39F-4590-972F-EAC6759D2C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916" y="1387837"/>
            <a:ext cx="8626958" cy="539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71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课上思考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A20F0D-18F6-8D46-B5DD-04308A33EA87}"/>
              </a:ext>
            </a:extLst>
          </p:cNvPr>
          <p:cNvSpPr/>
          <p:nvPr/>
        </p:nvSpPr>
        <p:spPr>
          <a:xfrm>
            <a:off x="1812269" y="907641"/>
            <a:ext cx="871568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342900"/>
            <a:r>
              <a:rPr lang="zh-CN" altLang="en-US" sz="32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头脑风暴</a:t>
            </a:r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67C29371-3484-A34C-A0B9-1EFCD4AFD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74" y="1767718"/>
            <a:ext cx="2983997" cy="4494645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874577FD-1557-9C48-B575-4721C6D2C216}"/>
              </a:ext>
            </a:extLst>
          </p:cNvPr>
          <p:cNvSpPr txBox="1"/>
          <p:nvPr/>
        </p:nvSpPr>
        <p:spPr>
          <a:xfrm>
            <a:off x="4551455" y="1937889"/>
            <a:ext cx="5678685" cy="1830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4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怎样理解算法中提到的先验分布和后验分布？</a:t>
            </a:r>
            <a:endParaRPr lang="en-CN" sz="4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122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619661-782E-483E-9A50-3D6FA2DB0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0258A4E-A065-49E6-AD14-9B84417975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E27DBE-B359-4792-9D6F-A5915EABCD72}"/>
              </a:ext>
            </a:extLst>
          </p:cNvPr>
          <p:cNvSpPr txBox="1"/>
          <p:nvPr/>
        </p:nvSpPr>
        <p:spPr>
          <a:xfrm>
            <a:off x="554674" y="952530"/>
            <a:ext cx="1858971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ID3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算法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A5A4E4-A6CD-4A55-8884-AF1436947CFE}"/>
              </a:ext>
            </a:extLst>
          </p:cNvPr>
          <p:cNvSpPr txBox="1"/>
          <p:nvPr/>
        </p:nvSpPr>
        <p:spPr>
          <a:xfrm>
            <a:off x="615016" y="1432661"/>
            <a:ext cx="10965837" cy="487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ID3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算法是一种经典的决策树学习算法，由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Quinlan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（昆兰）于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1979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年提出。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ID3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算法主要针对属性选择问题。是决策树学习方法中最具影响和最为典型的算法。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该方法使用信息增益选择测试属性。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当获取信息时，将不确定的内容转为确定的内容，因此信息伴随着不确定性。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从直觉上讲，小概率事件比大概率事件包含的信息量大。如果某件事情是“百年一见”则肯定比“习以为常”的事件包含的信息量大。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 </a:t>
            </a:r>
            <a:r>
              <a:rPr lang="zh-CN" altLang="en-US" sz="2400" b="1" dirty="0">
                <a:solidFill>
                  <a:srgbClr val="C00000"/>
                </a:solidFill>
              </a:rPr>
              <a:t>如何度量信息量的大小？</a:t>
            </a:r>
          </a:p>
        </p:txBody>
      </p:sp>
    </p:spTree>
    <p:extLst>
      <p:ext uri="{BB962C8B-B14F-4D97-AF65-F5344CB8AC3E}">
        <p14:creationId xmlns:p14="http://schemas.microsoft.com/office/powerpoint/2010/main" val="2513304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F52ED-432E-4700-829C-D1F0093F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FC6D12-4B02-4D70-A5B8-36E4381A10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C65D53-96AC-4470-9482-18CFBF92871E}"/>
              </a:ext>
            </a:extLst>
          </p:cNvPr>
          <p:cNvSpPr txBox="1"/>
          <p:nvPr/>
        </p:nvSpPr>
        <p:spPr>
          <a:xfrm>
            <a:off x="554674" y="952530"/>
            <a:ext cx="1858971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信息增益</a:t>
            </a:r>
          </a:p>
          <a:p>
            <a:pPr defTabSz="914377">
              <a:lnSpc>
                <a:spcPct val="90000"/>
              </a:lnSpc>
              <a:spcBef>
                <a:spcPct val="0"/>
              </a:spcBef>
            </a:pPr>
            <a:endParaRPr lang="zh-CN" altLang="en-US" sz="2800" dirty="0">
              <a:solidFill>
                <a:srgbClr val="002E7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E351E214-F8A7-46D0-A438-71FA916137A1}"/>
              </a:ext>
            </a:extLst>
          </p:cNvPr>
          <p:cNvSpPr txBox="1">
            <a:spLocks/>
          </p:cNvSpPr>
          <p:nvPr/>
        </p:nvSpPr>
        <p:spPr>
          <a:xfrm>
            <a:off x="950681" y="1522869"/>
            <a:ext cx="9896918" cy="483981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Shannon 1948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年提出的信息论理论：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熵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(entropy)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：信息量大小的度量，即表示随机变量不确定性的度量。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熵的通俗解释：事件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的信息量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I(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 )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可如下度量：</a:t>
            </a:r>
          </a:p>
          <a:p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其中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p(a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)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表示事件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发生的概率。</a:t>
            </a:r>
          </a:p>
          <a:p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假设有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n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个互不相容的事件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</a:rPr>
              <a:t>1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,a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</a:rPr>
              <a:t>2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,a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</a:rPr>
              <a:t>3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,….,a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</a:rPr>
              <a:t>n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,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它们中有且仅有一个发生，则其平均的信息量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(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熵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)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可如下度量：</a:t>
            </a:r>
          </a:p>
          <a:p>
            <a:endParaRPr lang="zh-CN" altLang="en-US" sz="2400" dirty="0">
              <a:solidFill>
                <a:schemeClr val="bg2">
                  <a:lumMod val="10000"/>
                </a:schemeClr>
              </a:solidFill>
            </a:endParaRPr>
          </a:p>
        </p:txBody>
      </p:sp>
      <p:graphicFrame>
        <p:nvGraphicFramePr>
          <p:cNvPr id="15" name="Object 13">
            <a:extLst>
              <a:ext uri="{FF2B5EF4-FFF2-40B4-BE49-F238E27FC236}">
                <a16:creationId xmlns:a16="http://schemas.microsoft.com/office/drawing/2014/main" id="{87B76B54-7921-45B5-ADD6-AF1ED9417F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992856"/>
              </p:ext>
            </p:extLst>
          </p:nvPr>
        </p:nvGraphicFramePr>
        <p:xfrm>
          <a:off x="3969933" y="2837164"/>
          <a:ext cx="3167063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524000" imgH="431800" progId="Equation.3">
                  <p:embed/>
                </p:oleObj>
              </mc:Choice>
              <mc:Fallback>
                <p:oleObj name="公式" r:id="rId3" imgW="1524000" imgH="431800" progId="Equation.3">
                  <p:embed/>
                  <p:pic>
                    <p:nvPicPr>
                      <p:cNvPr id="15" name="Object 13">
                        <a:extLst>
                          <a:ext uri="{FF2B5EF4-FFF2-40B4-BE49-F238E27FC236}">
                            <a16:creationId xmlns:a16="http://schemas.microsoft.com/office/drawing/2014/main" id="{87B76B54-7921-45B5-ADD6-AF1ED9417F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9933" y="2837164"/>
                        <a:ext cx="3167063" cy="892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1">
            <a:extLst>
              <a:ext uri="{FF2B5EF4-FFF2-40B4-BE49-F238E27FC236}">
                <a16:creationId xmlns:a16="http://schemas.microsoft.com/office/drawing/2014/main" id="{29A4F9DF-EF23-4E52-8CF5-0BCA66CB56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767878"/>
              </p:ext>
            </p:extLst>
          </p:nvPr>
        </p:nvGraphicFramePr>
        <p:xfrm>
          <a:off x="2832100" y="5156200"/>
          <a:ext cx="61341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933700" imgH="444500" progId="Equation.3">
                  <p:embed/>
                </p:oleObj>
              </mc:Choice>
              <mc:Fallback>
                <p:oleObj name="公式" r:id="rId5" imgW="2933700" imgH="444500" progId="Equation.3">
                  <p:embed/>
                  <p:pic>
                    <p:nvPicPr>
                      <p:cNvPr id="16" name="Object 11">
                        <a:extLst>
                          <a:ext uri="{FF2B5EF4-FFF2-40B4-BE49-F238E27FC236}">
                            <a16:creationId xmlns:a16="http://schemas.microsoft.com/office/drawing/2014/main" id="{29A4F9DF-EF23-4E52-8CF5-0BCA66CB56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5156200"/>
                        <a:ext cx="6134100" cy="9350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779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F52ED-432E-4700-829C-D1F0093F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FC6D12-4B02-4D70-A5B8-36E4381A10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C65D53-96AC-4470-9482-18CFBF92871E}"/>
              </a:ext>
            </a:extLst>
          </p:cNvPr>
          <p:cNvSpPr txBox="1"/>
          <p:nvPr/>
        </p:nvSpPr>
        <p:spPr>
          <a:xfrm>
            <a:off x="554674" y="952530"/>
            <a:ext cx="1858971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信息增益</a:t>
            </a:r>
          </a:p>
          <a:p>
            <a:pPr defTabSz="914377">
              <a:lnSpc>
                <a:spcPct val="90000"/>
              </a:lnSpc>
              <a:spcBef>
                <a:spcPct val="0"/>
              </a:spcBef>
            </a:pPr>
            <a:endParaRPr lang="zh-CN" altLang="en-US" sz="2800" dirty="0">
              <a:solidFill>
                <a:srgbClr val="002E7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1350C14F-71F2-4BCA-AB53-88EBC01DD659}"/>
              </a:ext>
            </a:extLst>
          </p:cNvPr>
          <p:cNvSpPr txBox="1">
            <a:spLocks/>
          </p:cNvSpPr>
          <p:nvPr/>
        </p:nvSpPr>
        <p:spPr>
          <a:xfrm>
            <a:off x="623139" y="1507952"/>
            <a:ext cx="11753047" cy="483981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熵的理论解释：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设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X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是一个取有限个值的离散随机变量，其概率分布为：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则随机变量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X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的熵定义为：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对数以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2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为底或以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e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为底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(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自然对数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)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，这时熵的单位分别称作比特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(bit)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或纳特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(</a:t>
            </a:r>
            <a:r>
              <a:rPr lang="en-US" altLang="zh-CN" sz="2400" dirty="0" err="1">
                <a:solidFill>
                  <a:schemeClr val="bg2">
                    <a:lumMod val="10000"/>
                  </a:schemeClr>
                </a:solidFill>
              </a:rPr>
              <a:t>nat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),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熵只依赖于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X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的分布，与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X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的取值无关，所以也可以将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X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的熵记作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</a:rPr>
              <a:t>H(p)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，即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B9226425-915A-456F-83CD-28225C8B3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862" y="2528889"/>
            <a:ext cx="4570310" cy="51125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A2C1E519-CA2A-4091-8526-16C881595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171" y="3679655"/>
            <a:ext cx="3028207" cy="93978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B8F08C7B-4133-462C-8024-333BDBFB1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171" y="5397145"/>
            <a:ext cx="3160182" cy="95281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481AD26-9136-4F92-839D-6CBEF18524D7}"/>
              </a:ext>
            </a:extLst>
          </p:cNvPr>
          <p:cNvSpPr txBox="1"/>
          <p:nvPr/>
        </p:nvSpPr>
        <p:spPr>
          <a:xfrm>
            <a:off x="7656107" y="3949494"/>
            <a:ext cx="2955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</a:rPr>
              <a:t>若</a:t>
            </a:r>
            <a:r>
              <a:rPr lang="en-US" altLang="zh-CN" sz="2000" dirty="0">
                <a:solidFill>
                  <a:srgbClr val="C00000"/>
                </a:solidFill>
              </a:rPr>
              <a:t>p</a:t>
            </a:r>
            <a:r>
              <a:rPr lang="en-US" altLang="zh-CN" sz="2000" baseline="-25000" dirty="0">
                <a:solidFill>
                  <a:srgbClr val="C00000"/>
                </a:solidFill>
              </a:rPr>
              <a:t>i</a:t>
            </a:r>
            <a:r>
              <a:rPr lang="en-US" altLang="zh-CN" sz="2000" dirty="0">
                <a:solidFill>
                  <a:srgbClr val="C00000"/>
                </a:solidFill>
              </a:rPr>
              <a:t>=0,</a:t>
            </a:r>
            <a:r>
              <a:rPr lang="zh-CN" altLang="en-US" sz="2000" dirty="0">
                <a:solidFill>
                  <a:srgbClr val="C00000"/>
                </a:solidFill>
              </a:rPr>
              <a:t>则定义</a:t>
            </a:r>
            <a:r>
              <a:rPr lang="en-US" altLang="zh-CN" sz="2000" dirty="0">
                <a:solidFill>
                  <a:srgbClr val="C00000"/>
                </a:solidFill>
              </a:rPr>
              <a:t>0log0=0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95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F52ED-432E-4700-829C-D1F0093F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FC6D12-4B02-4D70-A5B8-36E4381A10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C65D53-96AC-4470-9482-18CFBF92871E}"/>
              </a:ext>
            </a:extLst>
          </p:cNvPr>
          <p:cNvSpPr txBox="1"/>
          <p:nvPr/>
        </p:nvSpPr>
        <p:spPr>
          <a:xfrm>
            <a:off x="554674" y="952530"/>
            <a:ext cx="1858971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信息增益</a:t>
            </a:r>
          </a:p>
          <a:p>
            <a:pPr defTabSz="914377">
              <a:lnSpc>
                <a:spcPct val="90000"/>
              </a:lnSpc>
              <a:spcBef>
                <a:spcPct val="0"/>
              </a:spcBef>
            </a:pPr>
            <a:endParaRPr lang="zh-CN" altLang="en-US" sz="2800" dirty="0">
              <a:solidFill>
                <a:srgbClr val="002E7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FAFF4D79-AAB1-4C5A-9AB5-0D10D708D091}"/>
              </a:ext>
            </a:extLst>
          </p:cNvPr>
          <p:cNvSpPr txBox="1">
            <a:spLocks/>
          </p:cNvSpPr>
          <p:nvPr/>
        </p:nvSpPr>
        <p:spPr>
          <a:xfrm>
            <a:off x="1099224" y="1500253"/>
            <a:ext cx="8819955" cy="483981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熵的</a:t>
            </a:r>
            <a:r>
              <a:rPr lang="zh-CN" altLang="en-US" dirty="0">
                <a:solidFill>
                  <a:srgbClr val="C00000"/>
                </a:solidFill>
              </a:rPr>
              <a:t>理论解释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熵越大，随机变量的不确定性越大：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/>
              <a:t>X</a:t>
            </a:r>
            <a:r>
              <a:rPr lang="zh-CN" altLang="en-US" dirty="0"/>
              <a:t>为</a:t>
            </a:r>
            <a:r>
              <a:rPr lang="en-US" altLang="zh-CN" dirty="0"/>
              <a:t>1,0</a:t>
            </a:r>
            <a:r>
              <a:rPr lang="zh-CN" altLang="en-US" dirty="0"/>
              <a:t>分布时：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熵：</a:t>
            </a:r>
            <a:endParaRPr lang="en-US" altLang="zh-CN" dirty="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7074891-96B8-4BE9-BAD0-59472444B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911" y="2484371"/>
            <a:ext cx="2201834" cy="43786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5" name="Picture 3">
            <a:extLst>
              <a:ext uri="{FF2B5EF4-FFF2-40B4-BE49-F238E27FC236}">
                <a16:creationId xmlns:a16="http://schemas.microsoft.com/office/drawing/2014/main" id="{AC536049-9029-463A-9909-A31CB2882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332" y="3680343"/>
            <a:ext cx="6225453" cy="399921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3EA08B89-24D1-4A74-9135-B7103D91B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457" y="5203878"/>
            <a:ext cx="4625455" cy="43204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7" name="Picture 5">
            <a:extLst>
              <a:ext uri="{FF2B5EF4-FFF2-40B4-BE49-F238E27FC236}">
                <a16:creationId xmlns:a16="http://schemas.microsoft.com/office/drawing/2014/main" id="{209F38E3-C03B-435B-A716-E6CC48C56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755" y="2759829"/>
            <a:ext cx="3480847" cy="297392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45817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29DBCC7A-E481-43FA-A52E-E613E174AF8C}"/>
              </a:ext>
            </a:extLst>
          </p:cNvPr>
          <p:cNvSpPr txBox="1">
            <a:spLocks/>
          </p:cNvSpPr>
          <p:nvPr/>
        </p:nvSpPr>
        <p:spPr>
          <a:xfrm>
            <a:off x="618182" y="1513125"/>
            <a:ext cx="11213786" cy="483981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>
            <a:normAutofit fontScale="62500" lnSpcReduction="20000"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设有随机变量</a:t>
            </a:r>
            <a:r>
              <a:rPr lang="en-US" altLang="zh-CN" dirty="0"/>
              <a:t>(X,Y),</a:t>
            </a:r>
            <a:r>
              <a:rPr lang="zh-CN" altLang="en-US" dirty="0"/>
              <a:t>其联合概率分布为：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sz="3400" dirty="0">
                <a:solidFill>
                  <a:srgbClr val="C00000"/>
                </a:solidFill>
              </a:rPr>
              <a:t>条件熵</a:t>
            </a:r>
            <a:r>
              <a:rPr lang="en-US" altLang="zh-CN" sz="3400" dirty="0">
                <a:solidFill>
                  <a:srgbClr val="C00000"/>
                </a:solidFill>
              </a:rPr>
              <a:t>H(Y|X)</a:t>
            </a:r>
            <a:r>
              <a:rPr lang="zh-CN" altLang="en-US" sz="3400" dirty="0"/>
              <a:t>：表示在己知随机变量</a:t>
            </a:r>
            <a:r>
              <a:rPr lang="en-US" altLang="zh-CN" sz="3400" dirty="0"/>
              <a:t>X</a:t>
            </a:r>
            <a:r>
              <a:rPr lang="zh-CN" altLang="en-US" sz="3400" dirty="0"/>
              <a:t>的条件下随机变量</a:t>
            </a:r>
            <a:r>
              <a:rPr lang="en-US" altLang="zh-CN" sz="3400" dirty="0"/>
              <a:t>Y</a:t>
            </a:r>
            <a:r>
              <a:rPr lang="zh-CN" altLang="en-US" sz="3400" dirty="0"/>
              <a:t>的不确定性，定义为</a:t>
            </a:r>
            <a:r>
              <a:rPr lang="en-US" altLang="zh-CN" sz="3400" dirty="0"/>
              <a:t>X</a:t>
            </a:r>
            <a:r>
              <a:rPr lang="zh-CN" altLang="en-US" sz="3400" dirty="0"/>
              <a:t>给定条件下</a:t>
            </a:r>
            <a:r>
              <a:rPr lang="en-US" altLang="zh-CN" sz="3400" dirty="0"/>
              <a:t>Y</a:t>
            </a:r>
            <a:r>
              <a:rPr lang="zh-CN" altLang="en-US" sz="3400" dirty="0"/>
              <a:t>的条件概率分布的熵对</a:t>
            </a:r>
            <a:r>
              <a:rPr lang="en-US" altLang="zh-CN" sz="3400" dirty="0"/>
              <a:t>X</a:t>
            </a:r>
            <a:r>
              <a:rPr lang="zh-CN" altLang="en-US" sz="3400" dirty="0"/>
              <a:t>的数学期望：</a:t>
            </a:r>
            <a:endParaRPr lang="en-US" altLang="zh-CN" sz="3400" dirty="0"/>
          </a:p>
          <a:p>
            <a:pPr>
              <a:lnSpc>
                <a:spcPct val="120000"/>
              </a:lnSpc>
            </a:pPr>
            <a:endParaRPr lang="en-US" altLang="zh-CN" sz="3400" dirty="0"/>
          </a:p>
          <a:p>
            <a:pPr>
              <a:lnSpc>
                <a:spcPct val="120000"/>
              </a:lnSpc>
            </a:pPr>
            <a:endParaRPr lang="en-US" altLang="zh-CN" sz="3400" dirty="0"/>
          </a:p>
          <a:p>
            <a:pPr>
              <a:lnSpc>
                <a:spcPct val="120000"/>
              </a:lnSpc>
            </a:pPr>
            <a:r>
              <a:rPr lang="zh-CN" altLang="en-US" sz="3400" dirty="0"/>
              <a:t>当熵和条件熵中的概率由数据估计（特别是极大似然估计）得到时，所对应的熵与条件熵分别称为</a:t>
            </a:r>
            <a:r>
              <a:rPr lang="zh-CN" altLang="en-US" sz="3400" dirty="0">
                <a:solidFill>
                  <a:srgbClr val="C00000"/>
                </a:solidFill>
              </a:rPr>
              <a:t>经验熵</a:t>
            </a:r>
            <a:r>
              <a:rPr lang="zh-CN" altLang="en-US" sz="3400" dirty="0"/>
              <a:t>（</a:t>
            </a:r>
            <a:r>
              <a:rPr lang="en-US" altLang="zh-CN" sz="3400" dirty="0"/>
              <a:t>empirical entropy)</a:t>
            </a:r>
            <a:r>
              <a:rPr lang="zh-CN" altLang="en-US" sz="3400" dirty="0"/>
              <a:t>和</a:t>
            </a:r>
            <a:r>
              <a:rPr lang="zh-CN" altLang="en-US" sz="3400" dirty="0">
                <a:solidFill>
                  <a:srgbClr val="C00000"/>
                </a:solidFill>
              </a:rPr>
              <a:t>经验条件熵</a:t>
            </a:r>
            <a:r>
              <a:rPr lang="zh-CN" altLang="en-US" sz="3400" dirty="0"/>
              <a:t>（</a:t>
            </a:r>
            <a:r>
              <a:rPr lang="en-US" altLang="zh-CN" sz="3400" dirty="0"/>
              <a:t>empirical conditional entropy )</a:t>
            </a:r>
          </a:p>
          <a:p>
            <a:pPr>
              <a:lnSpc>
                <a:spcPct val="120000"/>
              </a:lnSpc>
            </a:pPr>
            <a:r>
              <a:rPr lang="en-US" altLang="zh-CN" sz="3400" dirty="0"/>
              <a:t>—</a:t>
            </a:r>
            <a:r>
              <a:rPr lang="zh-CN" altLang="en-US" sz="3400" dirty="0"/>
              <a:t>般地，熵</a:t>
            </a:r>
            <a:r>
              <a:rPr lang="en-US" altLang="zh-CN" sz="3400" dirty="0"/>
              <a:t>H(Y)</a:t>
            </a:r>
            <a:r>
              <a:rPr lang="zh-CN" altLang="en-US" sz="3400" dirty="0"/>
              <a:t>与条件熵</a:t>
            </a:r>
            <a:r>
              <a:rPr lang="en-US" altLang="zh-CN" sz="3400" dirty="0"/>
              <a:t>H(Y|X)</a:t>
            </a:r>
            <a:r>
              <a:rPr lang="zh-CN" altLang="en-US" sz="3400" dirty="0"/>
              <a:t>之差称为</a:t>
            </a:r>
            <a:r>
              <a:rPr lang="zh-CN" altLang="en-US" sz="3400" dirty="0">
                <a:solidFill>
                  <a:srgbClr val="C00000"/>
                </a:solidFill>
              </a:rPr>
              <a:t>互信息</a:t>
            </a:r>
            <a:r>
              <a:rPr lang="zh-CN" altLang="en-US" sz="3400" dirty="0"/>
              <a:t>（</a:t>
            </a:r>
            <a:r>
              <a:rPr lang="en-US" altLang="zh-CN" sz="3400" dirty="0"/>
              <a:t>mutual information)</a:t>
            </a:r>
          </a:p>
          <a:p>
            <a:pPr>
              <a:lnSpc>
                <a:spcPct val="120000"/>
              </a:lnSpc>
            </a:pPr>
            <a:r>
              <a:rPr lang="zh-CN" altLang="en-US" sz="3400" dirty="0"/>
              <a:t>决策树学习中的信息增益等价于训练数据集中类与特征的互信息，即表示得知特征</a:t>
            </a:r>
            <a:r>
              <a:rPr lang="en-US" altLang="zh-CN" sz="3400" dirty="0"/>
              <a:t>X</a:t>
            </a:r>
            <a:r>
              <a:rPr lang="zh-CN" altLang="en-US" sz="3400" dirty="0"/>
              <a:t>的信息而使得类</a:t>
            </a:r>
            <a:r>
              <a:rPr lang="en-US" altLang="zh-CN" sz="3400" dirty="0"/>
              <a:t>Y</a:t>
            </a:r>
            <a:r>
              <a:rPr lang="zh-CN" altLang="en-US" sz="3400" dirty="0"/>
              <a:t>的信息的不确定性减少的程度</a:t>
            </a:r>
            <a:r>
              <a:rPr lang="en-US" altLang="zh-CN" sz="3400" dirty="0"/>
              <a:t>.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E516DF77-2B2D-400A-83D9-CD8FA080F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2119" y="3309342"/>
            <a:ext cx="3859493" cy="74743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5D9DB896-5605-495A-B19B-41352E238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564" y="1735727"/>
            <a:ext cx="8377328" cy="53266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57F52ED-432E-4700-829C-D1F0093F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FC6D12-4B02-4D70-A5B8-36E4381A10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C65D53-96AC-4470-9482-18CFBF92871E}"/>
              </a:ext>
            </a:extLst>
          </p:cNvPr>
          <p:cNvSpPr txBox="1"/>
          <p:nvPr/>
        </p:nvSpPr>
        <p:spPr>
          <a:xfrm>
            <a:off x="554674" y="952530"/>
            <a:ext cx="1858971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信息增益</a:t>
            </a:r>
          </a:p>
          <a:p>
            <a:pPr defTabSz="914377">
              <a:lnSpc>
                <a:spcPct val="90000"/>
              </a:lnSpc>
              <a:spcBef>
                <a:spcPct val="0"/>
              </a:spcBef>
            </a:pPr>
            <a:endParaRPr lang="zh-CN" altLang="en-US" sz="2800" dirty="0">
              <a:solidFill>
                <a:srgbClr val="002E73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0172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F52ED-432E-4700-829C-D1F0093F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FC6D12-4B02-4D70-A5B8-36E4381A10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C65D53-96AC-4470-9482-18CFBF92871E}"/>
              </a:ext>
            </a:extLst>
          </p:cNvPr>
          <p:cNvSpPr txBox="1"/>
          <p:nvPr/>
        </p:nvSpPr>
        <p:spPr>
          <a:xfrm>
            <a:off x="554674" y="952530"/>
            <a:ext cx="1858971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信息增益</a:t>
            </a:r>
          </a:p>
          <a:p>
            <a:pPr defTabSz="914377">
              <a:lnSpc>
                <a:spcPct val="90000"/>
              </a:lnSpc>
              <a:spcBef>
                <a:spcPct val="0"/>
              </a:spcBef>
            </a:pPr>
            <a:endParaRPr lang="zh-CN" altLang="en-US" sz="2800" dirty="0">
              <a:solidFill>
                <a:srgbClr val="002E7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DCFD901-CEED-4593-9465-7EC3A8166516}"/>
              </a:ext>
            </a:extLst>
          </p:cNvPr>
          <p:cNvSpPr txBox="1">
            <a:spLocks/>
          </p:cNvSpPr>
          <p:nvPr/>
        </p:nvSpPr>
        <p:spPr>
          <a:xfrm>
            <a:off x="775651" y="1484784"/>
            <a:ext cx="10737195" cy="5373216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定义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(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信息增益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):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特征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对训练数据集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D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的信息增益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g(D,A),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定义为集合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D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的经验熵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H(D)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与特征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给定条件下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D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的经验条件熵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H(D|A)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之差，即 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                          </a:t>
            </a:r>
            <a:r>
              <a:rPr lang="en-US" altLang="zh-CN" dirty="0">
                <a:solidFill>
                  <a:srgbClr val="C00000"/>
                </a:solidFill>
              </a:rPr>
              <a:t>g(D,A)=H(D)-H(D|A)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	</a:t>
            </a: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当给定训练数据集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D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和特征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A,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经验熵</a:t>
            </a:r>
            <a:r>
              <a:rPr lang="en-US" altLang="zh-CN" dirty="0">
                <a:solidFill>
                  <a:srgbClr val="C00000"/>
                </a:solidFill>
              </a:rPr>
              <a:t>H(D)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表示对数据集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D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进行分类的不确定性。而经验条件熵</a:t>
            </a:r>
            <a:r>
              <a:rPr lang="en-US" altLang="zh-CN" dirty="0">
                <a:solidFill>
                  <a:srgbClr val="C00000"/>
                </a:solidFill>
              </a:rPr>
              <a:t>H(D|A)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表示在特征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给定的条件下对数据集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D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进行分类的不确定性。那么它们的差，即</a:t>
            </a:r>
            <a:r>
              <a:rPr lang="zh-CN" altLang="en-US" dirty="0">
                <a:solidFill>
                  <a:srgbClr val="C00000"/>
                </a:solidFill>
              </a:rPr>
              <a:t>信息增益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，就表示由于特征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而使得对数据集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D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的分类的不确定性减少的程度。显然，对于数据集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D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而言，信息增益依赖于特征，</a:t>
            </a:r>
            <a:r>
              <a:rPr lang="zh-CN" altLang="en-US" dirty="0">
                <a:solidFill>
                  <a:srgbClr val="C00000"/>
                </a:solidFill>
              </a:rPr>
              <a:t>不同的特征往往具有不同的信息增益。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信息增益大的特征具有更强的分类能力。</a:t>
            </a:r>
          </a:p>
        </p:txBody>
      </p:sp>
    </p:spTree>
    <p:extLst>
      <p:ext uri="{BB962C8B-B14F-4D97-AF65-F5344CB8AC3E}">
        <p14:creationId xmlns:p14="http://schemas.microsoft.com/office/powerpoint/2010/main" val="257751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F52ED-432E-4700-829C-D1F0093F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FC6D12-4B02-4D70-A5B8-36E4381A10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C65D53-96AC-4470-9482-18CFBF92871E}"/>
              </a:ext>
            </a:extLst>
          </p:cNvPr>
          <p:cNvSpPr txBox="1"/>
          <p:nvPr/>
        </p:nvSpPr>
        <p:spPr>
          <a:xfrm>
            <a:off x="554674" y="952530"/>
            <a:ext cx="3418556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信息增益的具体算法</a:t>
            </a:r>
          </a:p>
          <a:p>
            <a:pPr defTabSz="914377">
              <a:lnSpc>
                <a:spcPct val="90000"/>
              </a:lnSpc>
              <a:spcBef>
                <a:spcPct val="0"/>
              </a:spcBef>
            </a:pPr>
            <a:endParaRPr lang="zh-CN" altLang="en-US" sz="2800" dirty="0">
              <a:solidFill>
                <a:srgbClr val="002E7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DCFD901-CEED-4593-9465-7EC3A8166516}"/>
              </a:ext>
            </a:extLst>
          </p:cNvPr>
          <p:cNvSpPr txBox="1">
            <a:spLocks/>
          </p:cNvSpPr>
          <p:nvPr/>
        </p:nvSpPr>
        <p:spPr>
          <a:xfrm>
            <a:off x="775651" y="1484784"/>
            <a:ext cx="10737195" cy="5373216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576B03-406A-4E20-9673-F2EA59035667}"/>
              </a:ext>
            </a:extLst>
          </p:cNvPr>
          <p:cNvSpPr txBox="1">
            <a:spLocks/>
          </p:cNvSpPr>
          <p:nvPr/>
        </p:nvSpPr>
        <p:spPr>
          <a:xfrm>
            <a:off x="1044365" y="1536616"/>
            <a:ext cx="10295123" cy="5373216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设训练数据集为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D</a:t>
            </a:r>
          </a:p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|D|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表示其样本容量，即样本个数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设有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K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个类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C</a:t>
            </a:r>
            <a:r>
              <a:rPr lang="en-US" altLang="zh-CN" baseline="-25000" dirty="0">
                <a:solidFill>
                  <a:schemeClr val="bg2">
                    <a:lumMod val="10000"/>
                  </a:schemeClr>
                </a:solidFill>
              </a:rPr>
              <a:t>k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, k = 1,2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…K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，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|C</a:t>
            </a:r>
            <a:r>
              <a:rPr lang="en-US" altLang="zh-CN" baseline="-25000" dirty="0">
                <a:solidFill>
                  <a:schemeClr val="bg2">
                    <a:lumMod val="10000"/>
                  </a:schemeClr>
                </a:solidFill>
              </a:rPr>
              <a:t>k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 |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为属于类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C</a:t>
            </a:r>
            <a:r>
              <a:rPr lang="en-US" altLang="zh-CN" baseline="-25000" dirty="0">
                <a:solidFill>
                  <a:schemeClr val="bg2">
                    <a:lumMod val="10000"/>
                  </a:schemeClr>
                </a:solidFill>
              </a:rPr>
              <a:t>k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的样本个数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特征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有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n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个不同的 取值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{a</a:t>
            </a:r>
            <a:r>
              <a:rPr lang="en-US" altLang="zh-CN" baseline="-25000" dirty="0">
                <a:solidFill>
                  <a:schemeClr val="bg2">
                    <a:lumMod val="10000"/>
                  </a:schemeClr>
                </a:solidFill>
              </a:rPr>
              <a:t>1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,a</a:t>
            </a:r>
            <a:r>
              <a:rPr lang="en-US" altLang="zh-CN" baseline="-25000" dirty="0">
                <a:solidFill>
                  <a:schemeClr val="bg2">
                    <a:lumMod val="10000"/>
                  </a:schemeClr>
                </a:solidFill>
              </a:rPr>
              <a:t>2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…a</a:t>
            </a:r>
            <a:r>
              <a:rPr lang="en-US" altLang="zh-CN" baseline="-25000" dirty="0">
                <a:solidFill>
                  <a:schemeClr val="bg2">
                    <a:lumMod val="10000"/>
                  </a:schemeClr>
                </a:solidFill>
              </a:rPr>
              <a:t>n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}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根据特征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的取值将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D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划分为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n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个子集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D</a:t>
            </a:r>
            <a:r>
              <a:rPr lang="en-US" altLang="zh-CN" baseline="-25000" dirty="0">
                <a:solidFill>
                  <a:schemeClr val="bg2">
                    <a:lumMod val="10000"/>
                  </a:schemeClr>
                </a:solidFill>
              </a:rPr>
              <a:t>1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…</a:t>
            </a:r>
            <a:r>
              <a:rPr lang="en-US" altLang="zh-CN" dirty="0" err="1">
                <a:solidFill>
                  <a:schemeClr val="bg2">
                    <a:lumMod val="10000"/>
                  </a:schemeClr>
                </a:solidFill>
              </a:rPr>
              <a:t>D</a:t>
            </a:r>
            <a:r>
              <a:rPr lang="en-US" altLang="zh-CN" baseline="-25000" dirty="0" err="1">
                <a:solidFill>
                  <a:schemeClr val="bg2">
                    <a:lumMod val="10000"/>
                  </a:schemeClr>
                </a:solidFill>
              </a:rPr>
              <a:t>n</a:t>
            </a:r>
            <a:endParaRPr lang="en-US" altLang="zh-CN" baseline="-250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|D</a:t>
            </a:r>
            <a:r>
              <a:rPr lang="en-US" altLang="zh-CN" baseline="-25000" dirty="0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|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为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D</a:t>
            </a:r>
            <a:r>
              <a:rPr lang="en-US" altLang="zh-CN" baseline="-25000" dirty="0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的样本个数，显然有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记子集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D</a:t>
            </a:r>
            <a:r>
              <a:rPr lang="en-US" altLang="zh-CN" baseline="-25000" dirty="0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中属于类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C</a:t>
            </a:r>
            <a:r>
              <a:rPr lang="en-US" altLang="zh-CN" baseline="-25000" dirty="0">
                <a:solidFill>
                  <a:schemeClr val="bg2">
                    <a:lumMod val="10000"/>
                  </a:schemeClr>
                </a:solidFill>
              </a:rPr>
              <a:t>k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的样本集合为</a:t>
            </a:r>
            <a:r>
              <a:rPr lang="en-US" altLang="zh-CN" dirty="0" err="1">
                <a:solidFill>
                  <a:schemeClr val="bg2">
                    <a:lumMod val="10000"/>
                  </a:schemeClr>
                </a:solidFill>
              </a:rPr>
              <a:t>D</a:t>
            </a:r>
            <a:r>
              <a:rPr lang="en-US" altLang="zh-CN" baseline="-25000" dirty="0" err="1">
                <a:solidFill>
                  <a:schemeClr val="bg2">
                    <a:lumMod val="10000"/>
                  </a:schemeClr>
                </a:solidFill>
              </a:rPr>
              <a:t>ik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，即</a:t>
            </a:r>
            <a:r>
              <a:rPr lang="en-US" altLang="zh-CN" dirty="0" err="1">
                <a:solidFill>
                  <a:schemeClr val="bg2">
                    <a:lumMod val="10000"/>
                  </a:schemeClr>
                </a:solidFill>
              </a:rPr>
              <a:t>D</a:t>
            </a:r>
            <a:r>
              <a:rPr lang="en-US" altLang="zh-CN" baseline="-25000" dirty="0" err="1">
                <a:solidFill>
                  <a:schemeClr val="bg2">
                    <a:lumMod val="10000"/>
                  </a:schemeClr>
                </a:solidFill>
              </a:rPr>
              <a:t>ik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= D</a:t>
            </a:r>
            <a:r>
              <a:rPr lang="en-US" altLang="zh-CN" baseline="-25000" dirty="0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∩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 C</a:t>
            </a:r>
            <a:r>
              <a:rPr lang="en-US" altLang="zh-CN" baseline="-25000" dirty="0">
                <a:solidFill>
                  <a:schemeClr val="bg2">
                    <a:lumMod val="10000"/>
                  </a:schemeClr>
                </a:solidFill>
              </a:rPr>
              <a:t>k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|</a:t>
            </a:r>
            <a:r>
              <a:rPr lang="en-US" altLang="zh-CN" dirty="0" err="1">
                <a:solidFill>
                  <a:schemeClr val="bg2">
                    <a:lumMod val="10000"/>
                  </a:schemeClr>
                </a:solidFill>
              </a:rPr>
              <a:t>D</a:t>
            </a:r>
            <a:r>
              <a:rPr lang="en-US" altLang="zh-CN" baseline="-25000" dirty="0" err="1">
                <a:solidFill>
                  <a:schemeClr val="bg2">
                    <a:lumMod val="10000"/>
                  </a:schemeClr>
                </a:solidFill>
              </a:rPr>
              <a:t>ik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|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为</a:t>
            </a:r>
            <a:r>
              <a:rPr lang="en-US" altLang="zh-CN" dirty="0" err="1">
                <a:solidFill>
                  <a:schemeClr val="bg2">
                    <a:lumMod val="10000"/>
                  </a:schemeClr>
                </a:solidFill>
              </a:rPr>
              <a:t>D</a:t>
            </a:r>
            <a:r>
              <a:rPr lang="en-US" altLang="zh-CN" baseline="-25000" dirty="0" err="1">
                <a:solidFill>
                  <a:schemeClr val="bg2">
                    <a:lumMod val="10000"/>
                  </a:schemeClr>
                </a:solidFill>
              </a:rPr>
              <a:t>ik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的样本个数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6CBBF2-5A69-4A44-B365-913EECC61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399" y="4285293"/>
            <a:ext cx="1687989" cy="75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75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B0BCDB-B462-4FC6-8979-E41CD0EBA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C759E63-00FF-4673-87D9-2F6D7E5EAA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26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FD5312-6AC2-4106-8007-7BAD39746979}"/>
              </a:ext>
            </a:extLst>
          </p:cNvPr>
          <p:cNvSpPr txBox="1"/>
          <p:nvPr/>
        </p:nvSpPr>
        <p:spPr>
          <a:xfrm>
            <a:off x="554674" y="952530"/>
            <a:ext cx="3418556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信息增益的具体算法</a:t>
            </a:r>
          </a:p>
          <a:p>
            <a:pPr defTabSz="914377">
              <a:lnSpc>
                <a:spcPct val="90000"/>
              </a:lnSpc>
              <a:spcBef>
                <a:spcPct val="0"/>
              </a:spcBef>
            </a:pPr>
            <a:endParaRPr lang="zh-CN" altLang="en-US" sz="2800" dirty="0">
              <a:solidFill>
                <a:srgbClr val="002E7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4F9627C-F1C9-434D-80BE-B82B30877571}"/>
              </a:ext>
            </a:extLst>
          </p:cNvPr>
          <p:cNvSpPr txBox="1">
            <a:spLocks/>
          </p:cNvSpPr>
          <p:nvPr/>
        </p:nvSpPr>
        <p:spPr>
          <a:xfrm>
            <a:off x="1883532" y="1554467"/>
            <a:ext cx="8424936" cy="5373216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输入：训练数据集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D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和特征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；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输出：特征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对训练数据集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D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的信息增益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g(D,A)</a:t>
            </a:r>
          </a:p>
          <a:p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1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、计算数据集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D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的经验熵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H(D)</a:t>
            </a:r>
          </a:p>
          <a:p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2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、计算特征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对数据集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D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的经验条件熵</a:t>
            </a:r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H(D|A)</a:t>
            </a:r>
          </a:p>
          <a:p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bg2">
                    <a:lumMod val="10000"/>
                  </a:schemeClr>
                </a:solidFill>
              </a:rPr>
              <a:t>3</a:t>
            </a: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</a:rPr>
              <a:t>、计算信息增益</a:t>
            </a:r>
            <a:endParaRPr lang="en-US" altLang="zh-CN" sz="24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56C8D74-F26D-4940-82A3-97FF36610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407" y="2963579"/>
            <a:ext cx="3447698" cy="79149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EAA3CC7F-80D3-4010-A447-61E4F9D27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3987" y="4329643"/>
            <a:ext cx="6738348" cy="73159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12C3881D-EFE6-47BC-AB5C-B223F90C7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799" y="5756026"/>
            <a:ext cx="4733336" cy="476866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759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E07D7-E43F-4E34-9910-F3BFEEBF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EC304CB-20FC-4D6B-8C3E-416083AEB6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27</a:t>
            </a:fld>
            <a:endParaRPr lang="zh-CN" altLang="en-US"/>
          </a:p>
        </p:txBody>
      </p:sp>
      <p:graphicFrame>
        <p:nvGraphicFramePr>
          <p:cNvPr id="5" name="Group 127">
            <a:extLst>
              <a:ext uri="{FF2B5EF4-FFF2-40B4-BE49-F238E27FC236}">
                <a16:creationId xmlns:a16="http://schemas.microsoft.com/office/drawing/2014/main" id="{8D9E6827-C69F-40C1-89B7-7B8F7918D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141464"/>
              </p:ext>
            </p:extLst>
          </p:nvPr>
        </p:nvGraphicFramePr>
        <p:xfrm>
          <a:off x="2782889" y="836613"/>
          <a:ext cx="7056437" cy="5852160"/>
        </p:xfrm>
        <a:graphic>
          <a:graphicData uri="http://schemas.openxmlformats.org/drawingml/2006/table">
            <a:tbl>
              <a:tblPr/>
              <a:tblGrid>
                <a:gridCol w="798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4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1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114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计数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年龄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收入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学生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信誉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归类：买计算机？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9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19BDA-0F82-4B1E-BBF7-EE5BB5F1E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决策树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3FB0FBA-786D-4399-864C-1CDE7EDE4C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28</a:t>
            </a:fld>
            <a:endParaRPr lang="zh-CN" altLang="en-US"/>
          </a:p>
        </p:txBody>
      </p:sp>
      <p:graphicFrame>
        <p:nvGraphicFramePr>
          <p:cNvPr id="4" name="Group 141">
            <a:extLst>
              <a:ext uri="{FF2B5EF4-FFF2-40B4-BE49-F238E27FC236}">
                <a16:creationId xmlns:a16="http://schemas.microsoft.com/office/drawing/2014/main" id="{6AA50856-0482-47D9-95DA-08324C1B2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386958"/>
              </p:ext>
            </p:extLst>
          </p:nvPr>
        </p:nvGraphicFramePr>
        <p:xfrm>
          <a:off x="1652693" y="1103413"/>
          <a:ext cx="4537075" cy="5290187"/>
        </p:xfrm>
        <a:graphic>
          <a:graphicData uri="http://schemas.openxmlformats.org/drawingml/2006/table">
            <a:tbl>
              <a:tblPr/>
              <a:tblGrid>
                <a:gridCol w="51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0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计数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年龄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收入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学生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信誉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归类：买计算机？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Text Box 131">
            <a:extLst>
              <a:ext uri="{FF2B5EF4-FFF2-40B4-BE49-F238E27FC236}">
                <a16:creationId xmlns:a16="http://schemas.microsoft.com/office/drawing/2014/main" id="{F439A6C6-5144-4F4B-AB93-622471AAA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783" y="872581"/>
            <a:ext cx="4059125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/>
              <a:t>第</a:t>
            </a:r>
            <a:r>
              <a:rPr lang="en-US" altLang="zh-CN" sz="2400" dirty="0"/>
              <a:t>1</a:t>
            </a:r>
            <a:r>
              <a:rPr lang="zh-CN" altLang="en-US" sz="2400" dirty="0"/>
              <a:t>步计算决策属性的经验熵</a:t>
            </a:r>
          </a:p>
        </p:txBody>
      </p:sp>
      <p:sp>
        <p:nvSpPr>
          <p:cNvPr id="6" name="Text Box 134">
            <a:extLst>
              <a:ext uri="{FF2B5EF4-FFF2-40B4-BE49-F238E27FC236}">
                <a16:creationId xmlns:a16="http://schemas.microsoft.com/office/drawing/2014/main" id="{AF3ABDD0-4010-4806-A945-35CFF58FD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783" y="1519616"/>
            <a:ext cx="5470053" cy="40934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000" dirty="0"/>
              <a:t>决策属性“买计算机？”。</a:t>
            </a:r>
            <a:endParaRPr lang="en-US" altLang="zh-CN" sz="2000" dirty="0"/>
          </a:p>
          <a:p>
            <a:r>
              <a:rPr lang="zh-CN" altLang="en-US" sz="2000" dirty="0"/>
              <a:t>该属性分两类：买</a:t>
            </a:r>
            <a:r>
              <a:rPr lang="en-US" altLang="zh-CN" sz="2000" dirty="0"/>
              <a:t>/</a:t>
            </a:r>
            <a:r>
              <a:rPr lang="zh-CN" altLang="en-US" sz="2000" dirty="0"/>
              <a:t>不买</a:t>
            </a:r>
          </a:p>
          <a:p>
            <a:endParaRPr lang="en-US" altLang="zh-CN" sz="2000" dirty="0"/>
          </a:p>
          <a:p>
            <a:r>
              <a:rPr lang="en-US" altLang="zh-CN" sz="2000" dirty="0"/>
              <a:t>|C1|(</a:t>
            </a:r>
            <a:r>
              <a:rPr lang="zh-CN" altLang="en-US" sz="2000" dirty="0"/>
              <a:t>买</a:t>
            </a:r>
            <a:r>
              <a:rPr lang="en-US" altLang="zh-CN" sz="2000" dirty="0"/>
              <a:t>)=641            </a:t>
            </a:r>
          </a:p>
          <a:p>
            <a:r>
              <a:rPr lang="en-US" altLang="zh-CN" sz="2000" dirty="0"/>
              <a:t>|C2|</a:t>
            </a:r>
            <a:r>
              <a:rPr lang="zh-CN" altLang="en-US" sz="2000" dirty="0"/>
              <a:t>（不买）</a:t>
            </a:r>
            <a:r>
              <a:rPr lang="en-US" altLang="zh-CN" sz="2000" dirty="0"/>
              <a:t>= 383</a:t>
            </a:r>
          </a:p>
          <a:p>
            <a:r>
              <a:rPr lang="en-US" altLang="zh-CN" sz="2000" dirty="0"/>
              <a:t>|D|=|C1|+|C2|=1024</a:t>
            </a:r>
          </a:p>
          <a:p>
            <a:endParaRPr lang="en-US" altLang="zh-CN" sz="2000" dirty="0"/>
          </a:p>
          <a:p>
            <a:r>
              <a:rPr lang="en-US" altLang="zh-CN" sz="2000" dirty="0"/>
              <a:t>P1=641/1024=0.6260</a:t>
            </a:r>
          </a:p>
          <a:p>
            <a:r>
              <a:rPr lang="en-US" altLang="zh-CN" sz="2000" dirty="0"/>
              <a:t>P2=383/1024=0.3740</a:t>
            </a:r>
          </a:p>
          <a:p>
            <a:endParaRPr lang="en-US" altLang="zh-CN" sz="2000" dirty="0"/>
          </a:p>
          <a:p>
            <a:r>
              <a:rPr lang="en-US" altLang="zh-CN" sz="2000" dirty="0"/>
              <a:t>H(D)=-P1Log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P1-P2Log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P2</a:t>
            </a:r>
          </a:p>
          <a:p>
            <a:r>
              <a:rPr lang="en-US" altLang="zh-CN" sz="2000" dirty="0"/>
              <a:t>    =-(P1Log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P1+P2Log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P2)</a:t>
            </a:r>
          </a:p>
          <a:p>
            <a:r>
              <a:rPr lang="en-US" altLang="zh-CN" sz="2000" dirty="0"/>
              <a:t>    =0.9537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AC6906C-42F4-42E1-8D1D-67DE48B9A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216" y="5763811"/>
            <a:ext cx="2855683" cy="6555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1855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7399" name="Group 7"/>
          <p:cNvGraphicFramePr>
            <a:graphicFrameLocks noGrp="1"/>
          </p:cNvGraphicFramePr>
          <p:nvPr/>
        </p:nvGraphicFramePr>
        <p:xfrm>
          <a:off x="1775520" y="941662"/>
          <a:ext cx="4968552" cy="5803900"/>
        </p:xfrm>
        <a:graphic>
          <a:graphicData uri="http://schemas.openxmlformats.org/drawingml/2006/table">
            <a:tbl>
              <a:tblPr/>
              <a:tblGrid>
                <a:gridCol w="561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62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67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计数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年龄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收入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学生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信誉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归类：买计算机？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27520" name="Text Box 128"/>
          <p:cNvSpPr txBox="1">
            <a:spLocks noChangeArrowheads="1"/>
          </p:cNvSpPr>
          <p:nvPr/>
        </p:nvSpPr>
        <p:spPr bwMode="auto">
          <a:xfrm>
            <a:off x="6988127" y="1525029"/>
            <a:ext cx="4366901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/>
              <a:t>第</a:t>
            </a:r>
            <a:r>
              <a:rPr lang="en-US" altLang="zh-CN" sz="2400" dirty="0"/>
              <a:t>2</a:t>
            </a:r>
            <a:r>
              <a:rPr lang="zh-CN" altLang="en-US" sz="2400" dirty="0"/>
              <a:t>步计算条件属性的信息增益</a:t>
            </a:r>
          </a:p>
        </p:txBody>
      </p:sp>
      <p:sp>
        <p:nvSpPr>
          <p:cNvPr id="827521" name="Text Box 129"/>
          <p:cNvSpPr txBox="1">
            <a:spLocks noChangeArrowheads="1"/>
          </p:cNvSpPr>
          <p:nvPr/>
        </p:nvSpPr>
        <p:spPr bwMode="auto">
          <a:xfrm>
            <a:off x="6988127" y="2677992"/>
            <a:ext cx="3923928" cy="19389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dirty="0"/>
              <a:t>条件属性共有</a:t>
            </a:r>
            <a:r>
              <a:rPr lang="en-US" altLang="zh-CN" sz="2400" dirty="0"/>
              <a:t>4</a:t>
            </a:r>
            <a:r>
              <a:rPr lang="zh-CN" altLang="en-US" sz="2400" dirty="0"/>
              <a:t>个：</a:t>
            </a:r>
            <a:endParaRPr lang="en-US" altLang="zh-CN" sz="2400" dirty="0"/>
          </a:p>
          <a:p>
            <a:r>
              <a:rPr lang="zh-CN" altLang="en-US" sz="2400" dirty="0"/>
              <a:t>年龄、收入、学生、信誉。</a:t>
            </a:r>
          </a:p>
          <a:p>
            <a:r>
              <a:rPr lang="zh-CN" altLang="en-US" sz="2400" dirty="0"/>
              <a:t>分别计算不同属性的信息增益。</a:t>
            </a:r>
          </a:p>
          <a:p>
            <a:endParaRPr lang="en-US" altLang="zh-CN" sz="2400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2B7BB38-3935-48A7-AEF9-6E67AC627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8552" name="Group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550337"/>
              </p:ext>
            </p:extLst>
          </p:nvPr>
        </p:nvGraphicFramePr>
        <p:xfrm>
          <a:off x="1776123" y="652744"/>
          <a:ext cx="4897239" cy="6126480"/>
        </p:xfrm>
        <a:graphic>
          <a:graphicData uri="http://schemas.openxmlformats.org/drawingml/2006/table">
            <a:tbl>
              <a:tblPr/>
              <a:tblGrid>
                <a:gridCol w="648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0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95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计数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年龄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收入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学生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信誉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归类：买计算机？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28544" name="Text Box 128"/>
          <p:cNvSpPr txBox="1">
            <a:spLocks noChangeArrowheads="1"/>
          </p:cNvSpPr>
          <p:nvPr/>
        </p:nvSpPr>
        <p:spPr bwMode="auto">
          <a:xfrm>
            <a:off x="6937637" y="1319536"/>
            <a:ext cx="4373313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/>
              <a:t>第</a:t>
            </a:r>
            <a:r>
              <a:rPr lang="en-US" altLang="zh-CN" sz="2400" dirty="0"/>
              <a:t>2-1</a:t>
            </a:r>
            <a:r>
              <a:rPr lang="zh-CN" altLang="en-US" sz="2400" dirty="0"/>
              <a:t>步计算年龄的经验条件熵</a:t>
            </a:r>
          </a:p>
          <a:p>
            <a:endParaRPr lang="zh-CN" altLang="en-US" sz="2400" dirty="0"/>
          </a:p>
        </p:txBody>
      </p:sp>
      <p:sp>
        <p:nvSpPr>
          <p:cNvPr id="828545" name="Text Box 129"/>
          <p:cNvSpPr txBox="1">
            <a:spLocks noChangeArrowheads="1"/>
          </p:cNvSpPr>
          <p:nvPr/>
        </p:nvSpPr>
        <p:spPr bwMode="auto">
          <a:xfrm>
            <a:off x="6937637" y="1825624"/>
            <a:ext cx="3371436" cy="440120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 dirty="0"/>
              <a:t>年龄共分三个组：</a:t>
            </a:r>
          </a:p>
          <a:p>
            <a:r>
              <a:rPr lang="zh-CN" altLang="en-US" sz="2000" dirty="0"/>
              <a:t>       青年、中年、老年</a:t>
            </a:r>
          </a:p>
          <a:p>
            <a:r>
              <a:rPr lang="zh-CN" altLang="en-US" sz="2000" dirty="0"/>
              <a:t>青年买与不买比例为</a:t>
            </a:r>
            <a:r>
              <a:rPr lang="en-US" altLang="zh-CN" sz="2000" dirty="0"/>
              <a:t>128/256</a:t>
            </a:r>
          </a:p>
          <a:p>
            <a:endParaRPr lang="en-US" altLang="zh-CN" sz="2000" dirty="0"/>
          </a:p>
          <a:p>
            <a:r>
              <a:rPr lang="en-US" altLang="zh-CN" sz="2000" dirty="0"/>
              <a:t>|D11|(</a:t>
            </a:r>
            <a:r>
              <a:rPr lang="zh-CN" altLang="en-US" sz="2000" dirty="0"/>
              <a:t>买</a:t>
            </a:r>
            <a:r>
              <a:rPr lang="en-US" altLang="zh-CN" sz="2000" dirty="0"/>
              <a:t>)=128            </a:t>
            </a:r>
          </a:p>
          <a:p>
            <a:r>
              <a:rPr lang="en-US" altLang="zh-CN" sz="2000" dirty="0"/>
              <a:t>|D12|(</a:t>
            </a:r>
            <a:r>
              <a:rPr lang="zh-CN" altLang="en-US" sz="2000" dirty="0"/>
              <a:t>不买</a:t>
            </a:r>
            <a:r>
              <a:rPr lang="en-US" altLang="zh-CN" sz="2000" dirty="0"/>
              <a:t>)= 256</a:t>
            </a:r>
          </a:p>
          <a:p>
            <a:r>
              <a:rPr lang="en-US" altLang="zh-CN" sz="2000" dirty="0"/>
              <a:t>|D1|=384</a:t>
            </a:r>
          </a:p>
          <a:p>
            <a:endParaRPr lang="en-US" altLang="zh-CN" sz="2000" dirty="0"/>
          </a:p>
          <a:p>
            <a:r>
              <a:rPr lang="en-US" altLang="zh-CN" sz="2000" dirty="0"/>
              <a:t>P1=128/384</a:t>
            </a:r>
          </a:p>
          <a:p>
            <a:r>
              <a:rPr lang="en-US" altLang="zh-CN" sz="2000" dirty="0"/>
              <a:t>P2=256/384</a:t>
            </a:r>
          </a:p>
          <a:p>
            <a:endParaRPr lang="en-US" altLang="zh-CN" sz="2000" dirty="0"/>
          </a:p>
          <a:p>
            <a:r>
              <a:rPr lang="en-US" altLang="zh-CN" sz="2000" dirty="0"/>
              <a:t>H(D1)=-P1Log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P1-P2Log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P2</a:t>
            </a:r>
          </a:p>
          <a:p>
            <a:r>
              <a:rPr lang="en-US" altLang="zh-CN" sz="2000" dirty="0"/>
              <a:t>    =-(P1Log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P1+P2Log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P2)</a:t>
            </a:r>
          </a:p>
          <a:p>
            <a:r>
              <a:rPr lang="en-US" altLang="zh-CN" sz="2000" dirty="0"/>
              <a:t>    =0.9183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637" y="6205256"/>
            <a:ext cx="4860032" cy="5276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0BB3790-6BDA-4BB9-AE34-08CC7A642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0469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575270"/>
              </p:ext>
            </p:extLst>
          </p:nvPr>
        </p:nvGraphicFramePr>
        <p:xfrm>
          <a:off x="1834081" y="674955"/>
          <a:ext cx="5112072" cy="6126480"/>
        </p:xfrm>
        <a:graphic>
          <a:graphicData uri="http://schemas.openxmlformats.org/drawingml/2006/table">
            <a:tbl>
              <a:tblPr/>
              <a:tblGrid>
                <a:gridCol w="577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0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80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24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计数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年龄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收入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学生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信誉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归类：买计算机？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1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9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1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01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8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8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30590" name="Text Box 126"/>
          <p:cNvSpPr txBox="1">
            <a:spLocks noChangeArrowheads="1"/>
          </p:cNvSpPr>
          <p:nvPr/>
        </p:nvSpPr>
        <p:spPr bwMode="auto">
          <a:xfrm>
            <a:off x="7195289" y="1315617"/>
            <a:ext cx="4373313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/>
              <a:t>第</a:t>
            </a:r>
            <a:r>
              <a:rPr lang="en-US" altLang="zh-CN" sz="2400" dirty="0"/>
              <a:t>2-2</a:t>
            </a:r>
            <a:r>
              <a:rPr lang="zh-CN" altLang="en-US" sz="2400" dirty="0"/>
              <a:t>步计算年龄的经验条件熵</a:t>
            </a:r>
          </a:p>
          <a:p>
            <a:endParaRPr lang="zh-CN" altLang="en-US" sz="2400" dirty="0"/>
          </a:p>
        </p:txBody>
      </p:sp>
      <p:sp>
        <p:nvSpPr>
          <p:cNvPr id="830591" name="Text Box 127"/>
          <p:cNvSpPr txBox="1">
            <a:spLocks noChangeArrowheads="1"/>
          </p:cNvSpPr>
          <p:nvPr/>
        </p:nvSpPr>
        <p:spPr bwMode="auto">
          <a:xfrm>
            <a:off x="7216055" y="2077617"/>
            <a:ext cx="3222229" cy="440120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 dirty="0"/>
              <a:t>年龄共分三个组：</a:t>
            </a:r>
          </a:p>
          <a:p>
            <a:r>
              <a:rPr lang="zh-CN" altLang="en-US" sz="2000" dirty="0"/>
              <a:t>       青年、中年、老年</a:t>
            </a:r>
          </a:p>
          <a:p>
            <a:r>
              <a:rPr lang="zh-CN" altLang="en-US" sz="2000" dirty="0"/>
              <a:t>中年买与不买比例为</a:t>
            </a:r>
            <a:r>
              <a:rPr lang="en-US" altLang="zh-CN" sz="2000" dirty="0"/>
              <a:t>256/0</a:t>
            </a:r>
          </a:p>
          <a:p>
            <a:endParaRPr lang="en-US" altLang="zh-CN" sz="2000" dirty="0"/>
          </a:p>
          <a:p>
            <a:r>
              <a:rPr lang="en-US" altLang="zh-CN" sz="2000" dirty="0"/>
              <a:t>|D21|(</a:t>
            </a:r>
            <a:r>
              <a:rPr lang="zh-CN" altLang="en-US" sz="2000" dirty="0"/>
              <a:t>买</a:t>
            </a:r>
            <a:r>
              <a:rPr lang="en-US" altLang="zh-CN" sz="2000" dirty="0"/>
              <a:t>)=256            </a:t>
            </a:r>
          </a:p>
          <a:p>
            <a:r>
              <a:rPr lang="en-US" altLang="zh-CN" sz="2000" dirty="0"/>
              <a:t>|D22|(</a:t>
            </a:r>
            <a:r>
              <a:rPr lang="zh-CN" altLang="en-US" sz="2000" dirty="0"/>
              <a:t>不买</a:t>
            </a:r>
            <a:r>
              <a:rPr lang="en-US" altLang="zh-CN" sz="2000" dirty="0"/>
              <a:t>)= 0</a:t>
            </a:r>
          </a:p>
          <a:p>
            <a:r>
              <a:rPr lang="en-US" altLang="zh-CN" sz="2000" dirty="0"/>
              <a:t>|D2|=256</a:t>
            </a:r>
          </a:p>
          <a:p>
            <a:endParaRPr lang="en-US" altLang="zh-CN" sz="2000" dirty="0"/>
          </a:p>
          <a:p>
            <a:r>
              <a:rPr lang="en-US" altLang="zh-CN" sz="2000" dirty="0"/>
              <a:t>P1=256/256</a:t>
            </a:r>
          </a:p>
          <a:p>
            <a:r>
              <a:rPr lang="en-US" altLang="zh-CN" sz="2000" dirty="0"/>
              <a:t>P2=0/256</a:t>
            </a:r>
          </a:p>
          <a:p>
            <a:endParaRPr lang="en-US" altLang="zh-CN" sz="2000" dirty="0"/>
          </a:p>
          <a:p>
            <a:r>
              <a:rPr lang="en-US" altLang="zh-CN" sz="2000" dirty="0"/>
              <a:t>H(D2)=-P1Log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P1-P2Log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P2</a:t>
            </a:r>
          </a:p>
          <a:p>
            <a:r>
              <a:rPr lang="en-US" altLang="zh-CN" sz="2000" dirty="0"/>
              <a:t>    =-(P1Log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P1+P2Log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P2)</a:t>
            </a:r>
          </a:p>
          <a:p>
            <a:r>
              <a:rPr lang="en-US" altLang="zh-CN" sz="2000" dirty="0"/>
              <a:t>    =0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CAAABA6-AB8C-424A-9912-8F5825441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149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241212"/>
              </p:ext>
            </p:extLst>
          </p:nvPr>
        </p:nvGraphicFramePr>
        <p:xfrm>
          <a:off x="1670007" y="676931"/>
          <a:ext cx="5431408" cy="6126480"/>
        </p:xfrm>
        <a:graphic>
          <a:graphicData uri="http://schemas.openxmlformats.org/drawingml/2006/table">
            <a:tbl>
              <a:tblPr/>
              <a:tblGrid>
                <a:gridCol w="613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3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66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48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60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计数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年龄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收入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学生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信誉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归类：买计算机？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132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7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7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7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63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77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+mn-cs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31614" name="Text Box 126"/>
          <p:cNvSpPr txBox="1">
            <a:spLocks noChangeArrowheads="1"/>
          </p:cNvSpPr>
          <p:nvPr/>
        </p:nvSpPr>
        <p:spPr bwMode="auto">
          <a:xfrm>
            <a:off x="7224554" y="1368424"/>
            <a:ext cx="4373313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/>
              <a:t>第</a:t>
            </a:r>
            <a:r>
              <a:rPr lang="en-US" altLang="zh-CN" sz="2400" dirty="0"/>
              <a:t>2-3</a:t>
            </a:r>
            <a:r>
              <a:rPr lang="zh-CN" altLang="en-US" sz="2400" dirty="0"/>
              <a:t>步计算年龄的经验条件熵</a:t>
            </a:r>
          </a:p>
          <a:p>
            <a:endParaRPr lang="zh-CN" altLang="en-US" sz="2400" dirty="0"/>
          </a:p>
        </p:txBody>
      </p:sp>
      <p:sp>
        <p:nvSpPr>
          <p:cNvPr id="831615" name="Text Box 127"/>
          <p:cNvSpPr txBox="1">
            <a:spLocks noChangeArrowheads="1"/>
          </p:cNvSpPr>
          <p:nvPr/>
        </p:nvSpPr>
        <p:spPr bwMode="auto">
          <a:xfrm>
            <a:off x="7224554" y="2340163"/>
            <a:ext cx="3661580" cy="440120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 dirty="0"/>
              <a:t>年龄共分三个组：</a:t>
            </a:r>
          </a:p>
          <a:p>
            <a:r>
              <a:rPr lang="zh-CN" altLang="en-US" sz="2000" dirty="0"/>
              <a:t>       青年、中年、老年</a:t>
            </a:r>
          </a:p>
          <a:p>
            <a:r>
              <a:rPr lang="zh-CN" altLang="en-US" sz="2000" dirty="0"/>
              <a:t>老年买与不买比例为</a:t>
            </a:r>
            <a:r>
              <a:rPr lang="en-US" altLang="zh-CN" sz="2000" dirty="0"/>
              <a:t>257/127</a:t>
            </a:r>
          </a:p>
          <a:p>
            <a:endParaRPr lang="en-US" altLang="zh-CN" sz="2000" dirty="0"/>
          </a:p>
          <a:p>
            <a:r>
              <a:rPr lang="en-US" altLang="zh-CN" sz="2000" dirty="0"/>
              <a:t>|D31|(</a:t>
            </a:r>
            <a:r>
              <a:rPr lang="zh-CN" altLang="en-US" sz="2000" dirty="0"/>
              <a:t>买</a:t>
            </a:r>
            <a:r>
              <a:rPr lang="en-US" altLang="zh-CN" sz="2000" dirty="0"/>
              <a:t>)=257            </a:t>
            </a:r>
          </a:p>
          <a:p>
            <a:r>
              <a:rPr lang="en-US" altLang="zh-CN" sz="2000" dirty="0"/>
              <a:t>|D32|</a:t>
            </a:r>
            <a:r>
              <a:rPr lang="zh-CN" altLang="en-US" sz="2000" dirty="0"/>
              <a:t>（不买）</a:t>
            </a:r>
            <a:r>
              <a:rPr lang="en-US" altLang="zh-CN" sz="2000" dirty="0"/>
              <a:t>=127</a:t>
            </a:r>
          </a:p>
          <a:p>
            <a:r>
              <a:rPr lang="en-US" altLang="zh-CN" sz="2000" dirty="0"/>
              <a:t>|D3|=384</a:t>
            </a:r>
          </a:p>
          <a:p>
            <a:endParaRPr lang="en-US" altLang="zh-CN" sz="2000" dirty="0"/>
          </a:p>
          <a:p>
            <a:r>
              <a:rPr lang="en-US" altLang="zh-CN" sz="2000" dirty="0"/>
              <a:t>P1=257/384</a:t>
            </a:r>
          </a:p>
          <a:p>
            <a:r>
              <a:rPr lang="en-US" altLang="zh-CN" sz="2000" dirty="0"/>
              <a:t>P2=127/384</a:t>
            </a:r>
          </a:p>
          <a:p>
            <a:endParaRPr lang="en-US" altLang="zh-CN" sz="2000" dirty="0"/>
          </a:p>
          <a:p>
            <a:r>
              <a:rPr lang="en-US" altLang="zh-CN" sz="2000" dirty="0"/>
              <a:t>H(D3)=-P1Log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P1-P2Log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P2</a:t>
            </a:r>
          </a:p>
          <a:p>
            <a:r>
              <a:rPr lang="en-US" altLang="zh-CN" sz="2000" dirty="0"/>
              <a:t>    =-(P1Log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P1+P2Log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P2)</a:t>
            </a:r>
          </a:p>
          <a:p>
            <a:r>
              <a:rPr lang="en-US" altLang="zh-CN" sz="2000" dirty="0"/>
              <a:t>    =0.9157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F8625DD-1779-42AB-80EA-3BE13546B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251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242092"/>
              </p:ext>
            </p:extLst>
          </p:nvPr>
        </p:nvGraphicFramePr>
        <p:xfrm>
          <a:off x="1769467" y="707890"/>
          <a:ext cx="5251896" cy="5958108"/>
        </p:xfrm>
        <a:graphic>
          <a:graphicData uri="http://schemas.openxmlformats.org/drawingml/2006/table">
            <a:tbl>
              <a:tblPr/>
              <a:tblGrid>
                <a:gridCol w="593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9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9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35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95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计数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年龄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收入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学生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信誉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归类：买计算机？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9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6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32638" name="Text Box 126"/>
          <p:cNvSpPr txBox="1">
            <a:spLocks noChangeArrowheads="1"/>
          </p:cNvSpPr>
          <p:nvPr/>
        </p:nvSpPr>
        <p:spPr bwMode="auto">
          <a:xfrm>
            <a:off x="7137608" y="895956"/>
            <a:ext cx="4065537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/>
              <a:t>第</a:t>
            </a:r>
            <a:r>
              <a:rPr lang="en-US" altLang="zh-CN" sz="2400" dirty="0"/>
              <a:t>2-4</a:t>
            </a:r>
            <a:r>
              <a:rPr lang="zh-CN" altLang="en-US" sz="2400" dirty="0"/>
              <a:t>步计算年龄的信息增益</a:t>
            </a:r>
          </a:p>
          <a:p>
            <a:endParaRPr lang="zh-CN" altLang="en-US" sz="2400" dirty="0"/>
          </a:p>
        </p:txBody>
      </p:sp>
      <p:sp>
        <p:nvSpPr>
          <p:cNvPr id="832639" name="Text Box 127"/>
          <p:cNvSpPr txBox="1">
            <a:spLocks noChangeArrowheads="1"/>
          </p:cNvSpPr>
          <p:nvPr/>
        </p:nvSpPr>
        <p:spPr bwMode="auto">
          <a:xfrm>
            <a:off x="7137608" y="1508480"/>
            <a:ext cx="4634057" cy="501675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000" dirty="0"/>
              <a:t>年龄共分三个组：</a:t>
            </a:r>
          </a:p>
          <a:p>
            <a:r>
              <a:rPr lang="zh-CN" altLang="en-US" sz="2000" dirty="0"/>
              <a:t>       青年、中年、老年</a:t>
            </a:r>
          </a:p>
          <a:p>
            <a:r>
              <a:rPr lang="zh-CN" altLang="en-US" sz="2000" dirty="0"/>
              <a:t>所占比例</a:t>
            </a:r>
          </a:p>
          <a:p>
            <a:r>
              <a:rPr lang="zh-CN" altLang="en-US" sz="2000" dirty="0"/>
              <a:t>青年组 </a:t>
            </a:r>
            <a:r>
              <a:rPr lang="en-US" altLang="zh-CN" sz="2000" dirty="0"/>
              <a:t>384/1024=0.375</a:t>
            </a:r>
          </a:p>
          <a:p>
            <a:r>
              <a:rPr lang="zh-CN" altLang="en-US" sz="2000" dirty="0"/>
              <a:t>中年组 </a:t>
            </a:r>
            <a:r>
              <a:rPr lang="en-US" altLang="zh-CN" sz="2000" dirty="0"/>
              <a:t>256/1024=0.25</a:t>
            </a:r>
          </a:p>
          <a:p>
            <a:r>
              <a:rPr lang="zh-CN" altLang="en-US" sz="2000" dirty="0"/>
              <a:t>老年组 </a:t>
            </a:r>
            <a:r>
              <a:rPr lang="en-US" altLang="zh-CN" sz="2000" dirty="0"/>
              <a:t>384/1024=0.375</a:t>
            </a:r>
          </a:p>
          <a:p>
            <a:endParaRPr lang="en-US" altLang="zh-CN" sz="2000" dirty="0"/>
          </a:p>
          <a:p>
            <a:r>
              <a:rPr lang="zh-CN" altLang="en-US" sz="2000" dirty="0"/>
              <a:t>计算年龄的</a:t>
            </a:r>
            <a:r>
              <a:rPr lang="zh-CN" altLang="en-US" sz="2000" dirty="0">
                <a:solidFill>
                  <a:srgbClr val="C00000"/>
                </a:solidFill>
              </a:rPr>
              <a:t>经验条件熵</a:t>
            </a:r>
          </a:p>
          <a:p>
            <a:r>
              <a:rPr lang="en-US" altLang="zh-CN" sz="2000" dirty="0"/>
              <a:t>H</a:t>
            </a:r>
            <a:r>
              <a:rPr lang="zh-CN" altLang="en-US" sz="2000" dirty="0"/>
              <a:t>（</a:t>
            </a:r>
            <a:r>
              <a:rPr lang="en-US" altLang="zh-CN" sz="2000" dirty="0"/>
              <a:t>D|</a:t>
            </a:r>
            <a:r>
              <a:rPr lang="zh-CN" altLang="en-US" sz="2000" dirty="0"/>
              <a:t>年龄）</a:t>
            </a:r>
            <a:r>
              <a:rPr lang="en-US" altLang="zh-CN" sz="2000" dirty="0"/>
              <a:t>=0.375*0.9183+</a:t>
            </a:r>
          </a:p>
          <a:p>
            <a:r>
              <a:rPr lang="en-US" altLang="zh-CN" sz="2000" dirty="0"/>
              <a:t>                       0.25*0+</a:t>
            </a:r>
          </a:p>
          <a:p>
            <a:r>
              <a:rPr lang="en-US" altLang="zh-CN" sz="2000" dirty="0"/>
              <a:t>                       0.375*0.9157</a:t>
            </a:r>
          </a:p>
          <a:p>
            <a:r>
              <a:rPr lang="en-US" altLang="zh-CN" sz="2000" dirty="0"/>
              <a:t>                     =0.6877</a:t>
            </a:r>
          </a:p>
          <a:p>
            <a:r>
              <a:rPr lang="zh-CN" altLang="en-US" sz="2000" dirty="0"/>
              <a:t>计算年龄的</a:t>
            </a:r>
            <a:r>
              <a:rPr lang="zh-CN" altLang="en-US" sz="2000" dirty="0">
                <a:solidFill>
                  <a:srgbClr val="C00000"/>
                </a:solidFill>
              </a:rPr>
              <a:t>信息增益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en-US" altLang="zh-CN" sz="2000" dirty="0"/>
              <a:t>g</a:t>
            </a: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，年龄）</a:t>
            </a:r>
          </a:p>
          <a:p>
            <a:r>
              <a:rPr lang="zh-CN" altLang="en-US" sz="2000" dirty="0"/>
              <a:t>                  </a:t>
            </a:r>
            <a:r>
              <a:rPr lang="en-US" altLang="zh-CN" sz="2000" dirty="0"/>
              <a:t>=0.9537-0.6877</a:t>
            </a:r>
          </a:p>
          <a:p>
            <a:r>
              <a:rPr lang="en-US" altLang="zh-CN" sz="2000" dirty="0"/>
              <a:t>                  =0.2660    </a:t>
            </a:r>
            <a:r>
              <a:rPr lang="zh-CN" altLang="en-US" sz="2000" dirty="0">
                <a:solidFill>
                  <a:srgbClr val="FF0000"/>
                </a:solidFill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F051B41-409A-4557-B2FC-315B024BE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662" name="Text Box 126"/>
          <p:cNvSpPr txBox="1">
            <a:spLocks noChangeArrowheads="1"/>
          </p:cNvSpPr>
          <p:nvPr/>
        </p:nvSpPr>
        <p:spPr bwMode="auto">
          <a:xfrm>
            <a:off x="7176121" y="1500733"/>
            <a:ext cx="393409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/>
              <a:t>第</a:t>
            </a:r>
            <a:r>
              <a:rPr lang="en-US" altLang="zh-CN" sz="2400" dirty="0"/>
              <a:t>3</a:t>
            </a:r>
            <a:r>
              <a:rPr lang="zh-CN" altLang="en-US" sz="2400" dirty="0"/>
              <a:t>步  计算收入的信息增益</a:t>
            </a:r>
          </a:p>
          <a:p>
            <a:endParaRPr lang="zh-CN" altLang="en-US" sz="2400" dirty="0"/>
          </a:p>
        </p:txBody>
      </p:sp>
      <p:sp>
        <p:nvSpPr>
          <p:cNvPr id="833663" name="Text Box 127"/>
          <p:cNvSpPr txBox="1">
            <a:spLocks noChangeArrowheads="1"/>
          </p:cNvSpPr>
          <p:nvPr/>
        </p:nvSpPr>
        <p:spPr bwMode="auto">
          <a:xfrm>
            <a:off x="7176121" y="2300288"/>
            <a:ext cx="3320140" cy="193899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 dirty="0"/>
              <a:t>收入共分三个组：</a:t>
            </a:r>
          </a:p>
          <a:p>
            <a:r>
              <a:rPr lang="zh-CN" altLang="en-US" sz="2000" dirty="0"/>
              <a:t>       高、中、低</a:t>
            </a:r>
          </a:p>
          <a:p>
            <a:r>
              <a:rPr lang="en-US" altLang="zh-CN" sz="2000" dirty="0"/>
              <a:t>H</a:t>
            </a:r>
            <a:r>
              <a:rPr lang="zh-CN" altLang="en-US" sz="2000" dirty="0"/>
              <a:t>（</a:t>
            </a:r>
            <a:r>
              <a:rPr lang="en-US" altLang="zh-CN" sz="2000" dirty="0"/>
              <a:t>D|</a:t>
            </a:r>
            <a:r>
              <a:rPr lang="zh-CN" altLang="en-US" sz="2000" dirty="0"/>
              <a:t>收入）</a:t>
            </a:r>
            <a:r>
              <a:rPr lang="en-US" altLang="zh-CN" sz="2000" dirty="0"/>
              <a:t>=0.9361</a:t>
            </a:r>
          </a:p>
          <a:p>
            <a:r>
              <a:rPr lang="en-US" altLang="zh-CN" sz="2000" dirty="0"/>
              <a:t>g(D,</a:t>
            </a:r>
            <a:r>
              <a:rPr lang="zh-CN" altLang="en-US" sz="2000" dirty="0"/>
              <a:t> 收入</a:t>
            </a:r>
            <a:r>
              <a:rPr lang="en-US" altLang="zh-CN" sz="2000" dirty="0"/>
              <a:t>)=0.9537-0.9361</a:t>
            </a:r>
          </a:p>
          <a:p>
            <a:r>
              <a:rPr lang="en-US" altLang="zh-CN" sz="2000" dirty="0"/>
              <a:t>                       =0.0176 </a:t>
            </a:r>
            <a:r>
              <a:rPr lang="en-US" altLang="zh-CN" sz="2000" dirty="0">
                <a:solidFill>
                  <a:srgbClr val="FF0000"/>
                </a:solidFill>
              </a:rPr>
              <a:t>(2)</a:t>
            </a:r>
          </a:p>
          <a:p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547F561-9DEB-4178-987F-7B67810B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graphicFrame>
        <p:nvGraphicFramePr>
          <p:cNvPr id="6" name="Group 5">
            <a:extLst>
              <a:ext uri="{FF2B5EF4-FFF2-40B4-BE49-F238E27FC236}">
                <a16:creationId xmlns:a16="http://schemas.microsoft.com/office/drawing/2014/main" id="{0703164B-2DFA-4562-8006-F499221D47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549604"/>
              </p:ext>
            </p:extLst>
          </p:nvPr>
        </p:nvGraphicFramePr>
        <p:xfrm>
          <a:off x="1769467" y="707890"/>
          <a:ext cx="5251896" cy="5958108"/>
        </p:xfrm>
        <a:graphic>
          <a:graphicData uri="http://schemas.openxmlformats.org/drawingml/2006/table">
            <a:tbl>
              <a:tblPr/>
              <a:tblGrid>
                <a:gridCol w="593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9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9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35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95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计数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年龄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收入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学生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信誉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归类：买计算机？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9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6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686" name="Text Box 126"/>
          <p:cNvSpPr txBox="1">
            <a:spLocks noChangeArrowheads="1"/>
          </p:cNvSpPr>
          <p:nvPr/>
        </p:nvSpPr>
        <p:spPr bwMode="auto">
          <a:xfrm>
            <a:off x="7161663" y="1414923"/>
            <a:ext cx="3751348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/>
              <a:t>第</a:t>
            </a:r>
            <a:r>
              <a:rPr lang="en-US" altLang="zh-CN" sz="2400" dirty="0"/>
              <a:t>4</a:t>
            </a:r>
            <a:r>
              <a:rPr lang="zh-CN" altLang="en-US" sz="2400" dirty="0"/>
              <a:t>步计算学生的信息增益</a:t>
            </a:r>
          </a:p>
        </p:txBody>
      </p:sp>
      <p:sp>
        <p:nvSpPr>
          <p:cNvPr id="834687" name="Text Box 127"/>
          <p:cNvSpPr txBox="1">
            <a:spLocks noChangeArrowheads="1"/>
          </p:cNvSpPr>
          <p:nvPr/>
        </p:nvSpPr>
        <p:spPr bwMode="auto">
          <a:xfrm>
            <a:off x="7161663" y="2132857"/>
            <a:ext cx="3813865" cy="16312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 dirty="0"/>
              <a:t>学生共分二个组：</a:t>
            </a:r>
          </a:p>
          <a:p>
            <a:r>
              <a:rPr lang="zh-CN" altLang="en-US" sz="2000" dirty="0"/>
              <a:t>       学生、非学生</a:t>
            </a:r>
          </a:p>
          <a:p>
            <a:r>
              <a:rPr lang="en-US" altLang="zh-CN" sz="2000" dirty="0"/>
              <a:t>H</a:t>
            </a:r>
            <a:r>
              <a:rPr lang="zh-CN" altLang="en-US" sz="2000" dirty="0"/>
              <a:t>（</a:t>
            </a:r>
            <a:r>
              <a:rPr lang="en-US" altLang="zh-CN" sz="2000" dirty="0"/>
              <a:t>D | </a:t>
            </a:r>
            <a:r>
              <a:rPr lang="zh-CN" altLang="en-US" sz="2000" dirty="0"/>
              <a:t>学生）</a:t>
            </a:r>
            <a:r>
              <a:rPr lang="en-US" altLang="zh-CN" sz="2000" dirty="0"/>
              <a:t>=0.7811</a:t>
            </a:r>
          </a:p>
          <a:p>
            <a:r>
              <a:rPr lang="en-US" altLang="zh-CN" sz="2000" dirty="0"/>
              <a:t>g(D</a:t>
            </a:r>
            <a:r>
              <a:rPr lang="zh-CN" altLang="en-US" sz="2000" dirty="0"/>
              <a:t>，学生）</a:t>
            </a:r>
            <a:r>
              <a:rPr lang="en-US" altLang="zh-CN" sz="2000" dirty="0"/>
              <a:t>=0.9537-0.7811</a:t>
            </a:r>
          </a:p>
          <a:p>
            <a:r>
              <a:rPr lang="en-US" altLang="zh-CN" sz="2000" dirty="0"/>
              <a:t>                        =0.1726  </a:t>
            </a:r>
            <a:r>
              <a:rPr lang="zh-CN" altLang="en-US" sz="2000" dirty="0">
                <a:solidFill>
                  <a:srgbClr val="FF0000"/>
                </a:solidFill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</a:rPr>
              <a:t>3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21E497-96BA-4C13-8ECF-3B741CF4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graphicFrame>
        <p:nvGraphicFramePr>
          <p:cNvPr id="6" name="Group 5">
            <a:extLst>
              <a:ext uri="{FF2B5EF4-FFF2-40B4-BE49-F238E27FC236}">
                <a16:creationId xmlns:a16="http://schemas.microsoft.com/office/drawing/2014/main" id="{AFC74C40-425E-4429-896B-8A882A673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598167"/>
              </p:ext>
            </p:extLst>
          </p:nvPr>
        </p:nvGraphicFramePr>
        <p:xfrm>
          <a:off x="1769467" y="707890"/>
          <a:ext cx="5251896" cy="5958108"/>
        </p:xfrm>
        <a:graphic>
          <a:graphicData uri="http://schemas.openxmlformats.org/drawingml/2006/table">
            <a:tbl>
              <a:tblPr/>
              <a:tblGrid>
                <a:gridCol w="593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9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9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35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95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计数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年龄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收入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学生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信誉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归类：买计算机？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9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6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710" name="Text Box 126"/>
          <p:cNvSpPr txBox="1">
            <a:spLocks noChangeArrowheads="1"/>
          </p:cNvSpPr>
          <p:nvPr/>
        </p:nvSpPr>
        <p:spPr bwMode="auto">
          <a:xfrm>
            <a:off x="7323229" y="1531299"/>
            <a:ext cx="3751348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/>
              <a:t>第</a:t>
            </a:r>
            <a:r>
              <a:rPr lang="en-US" altLang="zh-CN" sz="2400" dirty="0"/>
              <a:t>5</a:t>
            </a:r>
            <a:r>
              <a:rPr lang="zh-CN" altLang="en-US" sz="2400" dirty="0"/>
              <a:t>步计算信誉的信息增益</a:t>
            </a:r>
          </a:p>
        </p:txBody>
      </p:sp>
      <p:sp>
        <p:nvSpPr>
          <p:cNvPr id="835711" name="Text Box 127"/>
          <p:cNvSpPr txBox="1">
            <a:spLocks noChangeArrowheads="1"/>
          </p:cNvSpPr>
          <p:nvPr/>
        </p:nvSpPr>
        <p:spPr bwMode="auto">
          <a:xfrm>
            <a:off x="7256951" y="2293206"/>
            <a:ext cx="3813865" cy="16312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 dirty="0"/>
              <a:t>信誉分二个组：</a:t>
            </a:r>
          </a:p>
          <a:p>
            <a:r>
              <a:rPr lang="zh-CN" altLang="en-US" sz="2000" dirty="0"/>
              <a:t>       良好，优秀</a:t>
            </a:r>
          </a:p>
          <a:p>
            <a:r>
              <a:rPr lang="en-US" altLang="zh-CN" sz="2000" dirty="0"/>
              <a:t>H</a:t>
            </a:r>
            <a:r>
              <a:rPr lang="zh-CN" altLang="en-US" sz="2000" dirty="0"/>
              <a:t>（</a:t>
            </a:r>
            <a:r>
              <a:rPr lang="en-US" altLang="zh-CN" sz="2000" dirty="0"/>
              <a:t>D | </a:t>
            </a:r>
            <a:r>
              <a:rPr lang="zh-CN" altLang="en-US" sz="2000" dirty="0"/>
              <a:t>信誉）</a:t>
            </a:r>
            <a:r>
              <a:rPr lang="en-US" altLang="zh-CN" sz="2000" dirty="0"/>
              <a:t>= 0.9048</a:t>
            </a:r>
          </a:p>
          <a:p>
            <a:r>
              <a:rPr lang="en-US" altLang="zh-CN" sz="2000" dirty="0"/>
              <a:t>g(D</a:t>
            </a:r>
            <a:r>
              <a:rPr lang="zh-CN" altLang="en-US" sz="2000" dirty="0"/>
              <a:t>，信誉</a:t>
            </a:r>
            <a:r>
              <a:rPr lang="en-US" altLang="zh-CN" sz="2000" dirty="0"/>
              <a:t>)=0.9537-0.9048</a:t>
            </a:r>
          </a:p>
          <a:p>
            <a:r>
              <a:rPr lang="en-US" altLang="zh-CN" sz="2000" dirty="0"/>
              <a:t>                        =0.0453  </a:t>
            </a:r>
            <a:r>
              <a:rPr lang="zh-CN" altLang="en-US" sz="2000" dirty="0">
                <a:solidFill>
                  <a:srgbClr val="FF0000"/>
                </a:solidFill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</a:rPr>
              <a:t>4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4D914B-1626-4596-83EC-80B377B9D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graphicFrame>
        <p:nvGraphicFramePr>
          <p:cNvPr id="6" name="Group 5">
            <a:extLst>
              <a:ext uri="{FF2B5EF4-FFF2-40B4-BE49-F238E27FC236}">
                <a16:creationId xmlns:a16="http://schemas.microsoft.com/office/drawing/2014/main" id="{FD36DAA7-86FA-4DE6-AB98-848B8FE792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009607"/>
              </p:ext>
            </p:extLst>
          </p:nvPr>
        </p:nvGraphicFramePr>
        <p:xfrm>
          <a:off x="1769467" y="707890"/>
          <a:ext cx="5251896" cy="5958108"/>
        </p:xfrm>
        <a:graphic>
          <a:graphicData uri="http://schemas.openxmlformats.org/drawingml/2006/table">
            <a:tbl>
              <a:tblPr/>
              <a:tblGrid>
                <a:gridCol w="593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9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9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35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95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计数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年龄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收入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学生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信誉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归类：买计算机？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9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6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5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6614" name="Group 6"/>
          <p:cNvGraphicFramePr>
            <a:graphicFrameLocks noGrp="1"/>
          </p:cNvGraphicFramePr>
          <p:nvPr/>
        </p:nvGraphicFramePr>
        <p:xfrm>
          <a:off x="1703513" y="908721"/>
          <a:ext cx="4537075" cy="5272724"/>
        </p:xfrm>
        <a:graphic>
          <a:graphicData uri="http://schemas.openxmlformats.org/drawingml/2006/table">
            <a:tbl>
              <a:tblPr/>
              <a:tblGrid>
                <a:gridCol w="512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0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计数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年龄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收入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学生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信誉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归类：买计算机？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36735" name="Text Box 127"/>
          <p:cNvSpPr txBox="1">
            <a:spLocks noChangeArrowheads="1"/>
          </p:cNvSpPr>
          <p:nvPr/>
        </p:nvSpPr>
        <p:spPr bwMode="auto">
          <a:xfrm>
            <a:off x="7342674" y="1563261"/>
            <a:ext cx="2504212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 dirty="0"/>
              <a:t>第</a:t>
            </a:r>
            <a:r>
              <a:rPr lang="en-US" altLang="zh-CN" sz="2000" dirty="0"/>
              <a:t>6</a:t>
            </a:r>
            <a:r>
              <a:rPr lang="zh-CN" altLang="en-US" sz="2000" dirty="0"/>
              <a:t>步计算选择节点  </a:t>
            </a:r>
          </a:p>
        </p:txBody>
      </p:sp>
      <p:sp>
        <p:nvSpPr>
          <p:cNvPr id="836736" name="Text Box 128"/>
          <p:cNvSpPr txBox="1">
            <a:spLocks noChangeArrowheads="1"/>
          </p:cNvSpPr>
          <p:nvPr/>
        </p:nvSpPr>
        <p:spPr bwMode="auto">
          <a:xfrm>
            <a:off x="7271238" y="2291925"/>
            <a:ext cx="3375025" cy="37496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endParaRPr lang="en-US" altLang="zh-CN" sz="2000" dirty="0"/>
          </a:p>
          <a:p>
            <a:r>
              <a:rPr lang="zh-CN" altLang="en-US" sz="2000" dirty="0"/>
              <a:t>年龄信息增益</a:t>
            </a:r>
            <a:r>
              <a:rPr lang="en-US" altLang="zh-CN" sz="2000" dirty="0"/>
              <a:t>=0.9537-0.6877</a:t>
            </a:r>
          </a:p>
          <a:p>
            <a:r>
              <a:rPr lang="en-US" altLang="zh-CN" sz="2000" dirty="0"/>
              <a:t>                        =0.2660  </a:t>
            </a:r>
            <a:r>
              <a:rPr lang="zh-CN" altLang="en-US" sz="2000" dirty="0">
                <a:solidFill>
                  <a:srgbClr val="FF0000"/>
                </a:solidFill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</a:p>
          <a:p>
            <a:endParaRPr lang="zh-CN" altLang="en-US" sz="2000" dirty="0"/>
          </a:p>
          <a:p>
            <a:r>
              <a:rPr lang="zh-CN" altLang="en-US" sz="2000" dirty="0"/>
              <a:t>收入信息增益</a:t>
            </a:r>
            <a:r>
              <a:rPr lang="en-US" altLang="zh-CN" sz="2000" dirty="0"/>
              <a:t>=0.9537-0.9361</a:t>
            </a:r>
          </a:p>
          <a:p>
            <a:r>
              <a:rPr lang="en-US" altLang="zh-CN" sz="2000" dirty="0"/>
              <a:t>                       =0.0176    </a:t>
            </a:r>
            <a:r>
              <a:rPr lang="zh-CN" altLang="en-US" sz="2000" dirty="0">
                <a:solidFill>
                  <a:srgbClr val="FF0000"/>
                </a:solidFill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</a:rPr>
              <a:t>2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</a:p>
          <a:p>
            <a:endParaRPr lang="zh-CN" altLang="en-US" sz="2000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年龄信息增益</a:t>
            </a:r>
            <a:r>
              <a:rPr lang="en-US" altLang="zh-CN" sz="2000" dirty="0"/>
              <a:t>=0.9537-0.7811</a:t>
            </a:r>
          </a:p>
          <a:p>
            <a:r>
              <a:rPr lang="en-US" altLang="zh-CN" sz="2000" dirty="0"/>
              <a:t>                        =0.1726   </a:t>
            </a:r>
            <a:r>
              <a:rPr lang="zh-CN" altLang="en-US" sz="2000" dirty="0">
                <a:solidFill>
                  <a:srgbClr val="FF0000"/>
                </a:solidFill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</a:rPr>
              <a:t>3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/>
              <a:t>信誉信息增益</a:t>
            </a:r>
            <a:r>
              <a:rPr lang="en-US" altLang="zh-CN" sz="2000" dirty="0"/>
              <a:t>=0.9537-0.9048</a:t>
            </a:r>
          </a:p>
          <a:p>
            <a:r>
              <a:rPr lang="en-US" altLang="zh-CN" sz="2000" dirty="0"/>
              <a:t>                        =0.0453   </a:t>
            </a:r>
            <a:r>
              <a:rPr lang="zh-CN" altLang="en-US" sz="2000" dirty="0">
                <a:solidFill>
                  <a:srgbClr val="FF0000"/>
                </a:solidFill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</a:rPr>
              <a:t>4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836737" name="AutoShape 129"/>
          <p:cNvSpPr>
            <a:spLocks noChangeArrowheads="1"/>
          </p:cNvSpPr>
          <p:nvPr/>
        </p:nvSpPr>
        <p:spPr bwMode="auto">
          <a:xfrm>
            <a:off x="6386513" y="1123951"/>
            <a:ext cx="646112" cy="4392613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CCE6A08-D37C-4986-B6D1-D6EC4AF43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7785" name="Group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210036"/>
              </p:ext>
            </p:extLst>
          </p:nvPr>
        </p:nvGraphicFramePr>
        <p:xfrm>
          <a:off x="1369279" y="2593293"/>
          <a:ext cx="4871308" cy="2682240"/>
        </p:xfrm>
        <a:graphic>
          <a:graphicData uri="http://schemas.openxmlformats.org/drawingml/2006/table">
            <a:tbl>
              <a:tblPr/>
              <a:tblGrid>
                <a:gridCol w="631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1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35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计数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年龄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收入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学生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信誉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归类：买计算机？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37758" name="Rectangle 126"/>
          <p:cNvSpPr>
            <a:spLocks noChangeArrowheads="1"/>
          </p:cNvSpPr>
          <p:nvPr/>
        </p:nvSpPr>
        <p:spPr bwMode="auto">
          <a:xfrm>
            <a:off x="8112126" y="2152529"/>
            <a:ext cx="1223963" cy="5032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年龄</a:t>
            </a:r>
          </a:p>
        </p:txBody>
      </p:sp>
      <p:sp>
        <p:nvSpPr>
          <p:cNvPr id="837760" name="Line 128"/>
          <p:cNvSpPr>
            <a:spLocks noChangeShapeType="1"/>
          </p:cNvSpPr>
          <p:nvPr/>
        </p:nvSpPr>
        <p:spPr bwMode="auto">
          <a:xfrm flipH="1">
            <a:off x="7104064" y="2657354"/>
            <a:ext cx="1584325" cy="935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37761" name="Line 129"/>
          <p:cNvSpPr>
            <a:spLocks noChangeShapeType="1"/>
          </p:cNvSpPr>
          <p:nvPr/>
        </p:nvSpPr>
        <p:spPr bwMode="auto">
          <a:xfrm>
            <a:off x="8688388" y="2657354"/>
            <a:ext cx="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37762" name="Line 130"/>
          <p:cNvSpPr>
            <a:spLocks noChangeShapeType="1"/>
          </p:cNvSpPr>
          <p:nvPr/>
        </p:nvSpPr>
        <p:spPr bwMode="auto">
          <a:xfrm>
            <a:off x="8688388" y="2657353"/>
            <a:ext cx="151130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37763" name="Text Box 131"/>
          <p:cNvSpPr txBox="1">
            <a:spLocks noChangeArrowheads="1"/>
          </p:cNvSpPr>
          <p:nvPr/>
        </p:nvSpPr>
        <p:spPr bwMode="auto">
          <a:xfrm>
            <a:off x="7032626" y="2728790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青年</a:t>
            </a:r>
          </a:p>
        </p:txBody>
      </p:sp>
      <p:sp>
        <p:nvSpPr>
          <p:cNvPr id="837764" name="Text Box 132"/>
          <p:cNvSpPr txBox="1">
            <a:spLocks noChangeArrowheads="1"/>
          </p:cNvSpPr>
          <p:nvPr/>
        </p:nvSpPr>
        <p:spPr bwMode="auto">
          <a:xfrm>
            <a:off x="8255001" y="2992315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中年</a:t>
            </a:r>
          </a:p>
        </p:txBody>
      </p:sp>
      <p:sp>
        <p:nvSpPr>
          <p:cNvPr id="837765" name="Text Box 133"/>
          <p:cNvSpPr txBox="1">
            <a:spLocks noChangeArrowheads="1"/>
          </p:cNvSpPr>
          <p:nvPr/>
        </p:nvSpPr>
        <p:spPr bwMode="auto">
          <a:xfrm>
            <a:off x="9405939" y="2728790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老年</a:t>
            </a:r>
          </a:p>
        </p:txBody>
      </p:sp>
      <p:sp>
        <p:nvSpPr>
          <p:cNvPr id="837766" name="Oval 134"/>
          <p:cNvSpPr>
            <a:spLocks noChangeArrowheads="1"/>
          </p:cNvSpPr>
          <p:nvPr/>
        </p:nvSpPr>
        <p:spPr bwMode="auto">
          <a:xfrm>
            <a:off x="6672264" y="3520954"/>
            <a:ext cx="719137" cy="151288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7767" name="Text Box 135"/>
          <p:cNvSpPr txBox="1">
            <a:spLocks noChangeArrowheads="1"/>
          </p:cNvSpPr>
          <p:nvPr/>
        </p:nvSpPr>
        <p:spPr bwMode="auto">
          <a:xfrm>
            <a:off x="6600826" y="3881316"/>
            <a:ext cx="646331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买</a:t>
            </a:r>
            <a:r>
              <a:rPr lang="en-US" altLang="zh-CN"/>
              <a:t>/</a:t>
            </a:r>
          </a:p>
          <a:p>
            <a:r>
              <a:rPr lang="zh-CN" altLang="en-US"/>
              <a:t>不买</a:t>
            </a:r>
          </a:p>
        </p:txBody>
      </p:sp>
      <p:sp>
        <p:nvSpPr>
          <p:cNvPr id="837768" name="Oval 136"/>
          <p:cNvSpPr>
            <a:spLocks noChangeArrowheads="1"/>
          </p:cNvSpPr>
          <p:nvPr/>
        </p:nvSpPr>
        <p:spPr bwMode="auto">
          <a:xfrm>
            <a:off x="8183563" y="3809878"/>
            <a:ext cx="1008062" cy="792162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7769" name="Text Box 137"/>
          <p:cNvSpPr txBox="1">
            <a:spLocks noChangeArrowheads="1"/>
          </p:cNvSpPr>
          <p:nvPr/>
        </p:nvSpPr>
        <p:spPr bwMode="auto">
          <a:xfrm>
            <a:off x="8401050" y="4000378"/>
            <a:ext cx="415498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/>
              <a:t>买</a:t>
            </a:r>
          </a:p>
        </p:txBody>
      </p:sp>
      <p:sp>
        <p:nvSpPr>
          <p:cNvPr id="837770" name="Oval 138"/>
          <p:cNvSpPr>
            <a:spLocks noChangeArrowheads="1"/>
          </p:cNvSpPr>
          <p:nvPr/>
        </p:nvSpPr>
        <p:spPr bwMode="auto">
          <a:xfrm>
            <a:off x="9767889" y="3520954"/>
            <a:ext cx="719137" cy="151288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7771" name="Text Box 139"/>
          <p:cNvSpPr txBox="1">
            <a:spLocks noChangeArrowheads="1"/>
          </p:cNvSpPr>
          <p:nvPr/>
        </p:nvSpPr>
        <p:spPr bwMode="auto">
          <a:xfrm>
            <a:off x="9805085" y="3905813"/>
            <a:ext cx="646331" cy="6463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ctr"/>
          </a:lstStyle>
          <a:p>
            <a:r>
              <a:rPr lang="zh-CN" altLang="en-US" dirty="0"/>
              <a:t>买</a:t>
            </a:r>
            <a:r>
              <a:rPr lang="en-US" altLang="zh-CN" dirty="0"/>
              <a:t>/</a:t>
            </a:r>
          </a:p>
          <a:p>
            <a:r>
              <a:rPr lang="zh-CN" altLang="en-US" dirty="0"/>
              <a:t>不买</a:t>
            </a:r>
          </a:p>
        </p:txBody>
      </p:sp>
      <p:sp>
        <p:nvSpPr>
          <p:cNvPr id="837772" name="Line 140"/>
          <p:cNvSpPr>
            <a:spLocks noChangeShapeType="1"/>
          </p:cNvSpPr>
          <p:nvPr/>
        </p:nvSpPr>
        <p:spPr bwMode="auto">
          <a:xfrm flipH="1">
            <a:off x="6456363" y="5033841"/>
            <a:ext cx="576262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37773" name="Line 141"/>
          <p:cNvSpPr>
            <a:spLocks noChangeShapeType="1"/>
          </p:cNvSpPr>
          <p:nvPr/>
        </p:nvSpPr>
        <p:spPr bwMode="auto">
          <a:xfrm>
            <a:off x="10128251" y="5033840"/>
            <a:ext cx="360363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37774" name="Line 142"/>
          <p:cNvSpPr>
            <a:spLocks noChangeShapeType="1"/>
          </p:cNvSpPr>
          <p:nvPr/>
        </p:nvSpPr>
        <p:spPr bwMode="auto">
          <a:xfrm>
            <a:off x="8040688" y="4602040"/>
            <a:ext cx="1223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37775" name="Text Box 143"/>
          <p:cNvSpPr txBox="1">
            <a:spLocks noChangeArrowheads="1"/>
          </p:cNvSpPr>
          <p:nvPr/>
        </p:nvSpPr>
        <p:spPr bwMode="auto">
          <a:xfrm>
            <a:off x="8328026" y="4562353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叶子</a:t>
            </a:r>
          </a:p>
        </p:txBody>
      </p:sp>
      <p:sp>
        <p:nvSpPr>
          <p:cNvPr id="837786" name="AutoShape 154"/>
          <p:cNvSpPr>
            <a:spLocks noChangeArrowheads="1"/>
          </p:cNvSpPr>
          <p:nvPr/>
        </p:nvSpPr>
        <p:spPr bwMode="auto">
          <a:xfrm>
            <a:off x="6383339" y="3160591"/>
            <a:ext cx="1152525" cy="288925"/>
          </a:xfrm>
          <a:prstGeom prst="rightArrow">
            <a:avLst>
              <a:gd name="adj1" fmla="val 50000"/>
              <a:gd name="adj2" fmla="val 99725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dirty="0">
              <a:highlight>
                <a:srgbClr val="39DDE6"/>
              </a:highlight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9997946-77E0-4E34-A720-7532D0D0C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8661" name="Group 5"/>
          <p:cNvGraphicFramePr>
            <a:graphicFrameLocks noGrp="1"/>
          </p:cNvGraphicFramePr>
          <p:nvPr/>
        </p:nvGraphicFramePr>
        <p:xfrm>
          <a:off x="1775521" y="1556792"/>
          <a:ext cx="4753099" cy="2682240"/>
        </p:xfrm>
        <a:graphic>
          <a:graphicData uri="http://schemas.openxmlformats.org/drawingml/2006/table">
            <a:tbl>
              <a:tblPr/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9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4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31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6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计数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年龄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收入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学生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信誉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归类：买计算机？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7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6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7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7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7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38712" name="Rectangle 56"/>
          <p:cNvSpPr>
            <a:spLocks noChangeArrowheads="1"/>
          </p:cNvSpPr>
          <p:nvPr/>
        </p:nvSpPr>
        <p:spPr bwMode="auto">
          <a:xfrm>
            <a:off x="6946795" y="939456"/>
            <a:ext cx="4805798" cy="452431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dirty="0"/>
              <a:t>青年买与不买比例为</a:t>
            </a:r>
            <a:r>
              <a:rPr lang="en-US" altLang="zh-CN" sz="2400" dirty="0"/>
              <a:t>128/256</a:t>
            </a:r>
          </a:p>
          <a:p>
            <a:endParaRPr lang="en-US" altLang="zh-CN" sz="2400" dirty="0"/>
          </a:p>
          <a:p>
            <a:r>
              <a:rPr lang="en-US" altLang="zh-CN" sz="2400" dirty="0"/>
              <a:t>|C1|(</a:t>
            </a:r>
            <a:r>
              <a:rPr lang="zh-CN" altLang="en-US" sz="2400" dirty="0"/>
              <a:t>买</a:t>
            </a:r>
            <a:r>
              <a:rPr lang="en-US" altLang="zh-CN" sz="2400" dirty="0"/>
              <a:t>)=128            </a:t>
            </a:r>
          </a:p>
          <a:p>
            <a:r>
              <a:rPr lang="en-US" altLang="zh-CN" sz="2400" dirty="0"/>
              <a:t>|C2|</a:t>
            </a:r>
            <a:r>
              <a:rPr lang="zh-CN" altLang="en-US" sz="2400" dirty="0"/>
              <a:t>（不买）</a:t>
            </a:r>
            <a:r>
              <a:rPr lang="en-US" altLang="zh-CN" sz="2400" dirty="0"/>
              <a:t>= 256</a:t>
            </a:r>
          </a:p>
          <a:p>
            <a:r>
              <a:rPr lang="en-US" altLang="zh-CN" sz="2400" dirty="0"/>
              <a:t>|D|=384</a:t>
            </a:r>
          </a:p>
          <a:p>
            <a:endParaRPr lang="en-US" altLang="zh-CN" sz="2400" dirty="0"/>
          </a:p>
          <a:p>
            <a:r>
              <a:rPr lang="en-US" altLang="zh-CN" sz="2400" dirty="0"/>
              <a:t>P1=128/384</a:t>
            </a:r>
          </a:p>
          <a:p>
            <a:r>
              <a:rPr lang="en-US" altLang="zh-CN" sz="2400" dirty="0"/>
              <a:t>P2=256/384</a:t>
            </a:r>
          </a:p>
          <a:p>
            <a:endParaRPr lang="en-US" altLang="zh-CN" sz="2400" dirty="0"/>
          </a:p>
          <a:p>
            <a:r>
              <a:rPr lang="en-US" altLang="zh-CN" sz="2400" dirty="0"/>
              <a:t>H(D)=-P1Log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P1-P2Log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P2</a:t>
            </a:r>
          </a:p>
          <a:p>
            <a:r>
              <a:rPr lang="en-US" altLang="zh-CN" sz="2400" dirty="0"/>
              <a:t>    =-(P1Log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P1+P2Log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P2)</a:t>
            </a:r>
          </a:p>
          <a:p>
            <a:r>
              <a:rPr lang="en-US" altLang="zh-CN" sz="2400" dirty="0"/>
              <a:t>    =0.9183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4B71142-85F1-4415-A625-EAA26E46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9685" name="Group 5"/>
          <p:cNvGraphicFramePr>
            <a:graphicFrameLocks noGrp="1"/>
          </p:cNvGraphicFramePr>
          <p:nvPr/>
        </p:nvGraphicFramePr>
        <p:xfrm>
          <a:off x="1703513" y="1556791"/>
          <a:ext cx="4825874" cy="2486339"/>
        </p:xfrm>
        <a:graphic>
          <a:graphicData uri="http://schemas.openxmlformats.org/drawingml/2006/table">
            <a:tbl>
              <a:tblPr/>
              <a:tblGrid>
                <a:gridCol w="545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4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8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20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计数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年龄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收入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学生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信誉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归类：买计算机？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8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8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8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39736" name="Rectangle 56"/>
          <p:cNvSpPr>
            <a:spLocks noChangeArrowheads="1"/>
          </p:cNvSpPr>
          <p:nvPr/>
        </p:nvSpPr>
        <p:spPr bwMode="auto">
          <a:xfrm>
            <a:off x="6708650" y="1481931"/>
            <a:ext cx="3779837" cy="1006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/>
              <a:t>如果选择收入作为节点</a:t>
            </a:r>
          </a:p>
          <a:p>
            <a:r>
              <a:rPr lang="zh-CN" altLang="en-US" sz="2000" dirty="0"/>
              <a:t>分高、中、低</a:t>
            </a:r>
          </a:p>
          <a:p>
            <a:endParaRPr lang="en-US" altLang="zh-CN" sz="2000" dirty="0"/>
          </a:p>
        </p:txBody>
      </p:sp>
      <p:sp>
        <p:nvSpPr>
          <p:cNvPr id="839737" name="Rectangle 57"/>
          <p:cNvSpPr>
            <a:spLocks noChangeArrowheads="1"/>
          </p:cNvSpPr>
          <p:nvPr/>
        </p:nvSpPr>
        <p:spPr bwMode="auto">
          <a:xfrm>
            <a:off x="1593850" y="4913314"/>
            <a:ext cx="8382000" cy="1335087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 eaLnBrk="0" hangingPunct="0">
              <a:buSzPct val="70000"/>
            </a:pPr>
            <a:r>
              <a:rPr lang="zh-CN" altLang="en-US" sz="2000" dirty="0">
                <a:solidFill>
                  <a:schemeClr val="tx2"/>
                </a:solidFill>
                <a:latin typeface="华文新魏" panose="02010800040101010101" pitchFamily="2" charset="-122"/>
              </a:rPr>
              <a:t>平均信息期望（加权总和）： </a:t>
            </a:r>
          </a:p>
          <a:p>
            <a:pPr marL="342900" indent="-342900" eaLnBrk="0" hangingPunct="0">
              <a:buSzPct val="70000"/>
            </a:pPr>
            <a:r>
              <a:rPr lang="zh-CN" altLang="en-US" sz="2000" dirty="0">
                <a:solidFill>
                  <a:schemeClr val="tx2"/>
                </a:solidFill>
                <a:latin typeface="华文新魏" panose="02010800040101010101" pitchFamily="2" charset="-122"/>
              </a:rPr>
              <a:t>	</a:t>
            </a:r>
            <a:r>
              <a:rPr lang="en-US" altLang="zh-CN" sz="2000" dirty="0">
                <a:solidFill>
                  <a:schemeClr val="tx2"/>
                </a:solidFill>
                <a:latin typeface="华文新魏" panose="02010800040101010101" pitchFamily="2" charset="-122"/>
              </a:rPr>
              <a:t>E(</a:t>
            </a:r>
            <a:r>
              <a:rPr lang="zh-CN" altLang="en-US" sz="2000" dirty="0">
                <a:solidFill>
                  <a:schemeClr val="tx2"/>
                </a:solidFill>
                <a:latin typeface="华文新魏" panose="02010800040101010101" pitchFamily="2" charset="-122"/>
              </a:rPr>
              <a:t>收入）</a:t>
            </a:r>
            <a:r>
              <a:rPr lang="en-US" altLang="zh-CN" sz="2000" dirty="0">
                <a:solidFill>
                  <a:schemeClr val="tx2"/>
                </a:solidFill>
                <a:latin typeface="华文新魏" panose="02010800040101010101" pitchFamily="2" charset="-122"/>
              </a:rPr>
              <a:t>= 0.3333 * 0 + 0.5 * 0.9183 + 0.1667 * 0 = 0.4592</a:t>
            </a:r>
          </a:p>
          <a:p>
            <a:pPr marL="342900" indent="-342900">
              <a:spcBef>
                <a:spcPct val="20000"/>
              </a:spcBef>
              <a:buSzPct val="70000"/>
            </a:pPr>
            <a:r>
              <a:rPr lang="en-US" altLang="zh-CN" sz="2000" dirty="0">
                <a:solidFill>
                  <a:schemeClr val="tx2"/>
                </a:solidFill>
                <a:latin typeface="华文新魏" panose="02010800040101010101" pitchFamily="2" charset="-122"/>
              </a:rPr>
              <a:t>Gain(</a:t>
            </a:r>
            <a:r>
              <a:rPr lang="zh-CN" altLang="en-US" sz="2000" dirty="0">
                <a:solidFill>
                  <a:schemeClr val="tx2"/>
                </a:solidFill>
                <a:latin typeface="华文新魏" panose="02010800040101010101" pitchFamily="2" charset="-122"/>
              </a:rPr>
              <a:t>收入</a:t>
            </a:r>
            <a:r>
              <a:rPr lang="en-US" altLang="zh-CN" sz="2000" dirty="0">
                <a:solidFill>
                  <a:schemeClr val="tx2"/>
                </a:solidFill>
                <a:latin typeface="华文新魏" panose="02010800040101010101" pitchFamily="2" charset="-122"/>
              </a:rPr>
              <a:t>) = 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</a:rPr>
              <a:t>I(128, 256)</a:t>
            </a:r>
            <a:r>
              <a:rPr lang="en-US" altLang="zh-CN" sz="2000" dirty="0">
                <a:solidFill>
                  <a:schemeClr val="tx2"/>
                </a:solidFill>
                <a:latin typeface="华文新魏" panose="02010800040101010101" pitchFamily="2" charset="-122"/>
              </a:rPr>
              <a:t> - E(</a:t>
            </a:r>
            <a:r>
              <a:rPr lang="zh-CN" altLang="en-US" sz="2000" dirty="0">
                <a:solidFill>
                  <a:schemeClr val="tx2"/>
                </a:solidFill>
                <a:latin typeface="华文新魏" panose="02010800040101010101" pitchFamily="2" charset="-122"/>
              </a:rPr>
              <a:t>收入</a:t>
            </a:r>
            <a:r>
              <a:rPr lang="en-US" altLang="zh-CN" sz="2000" dirty="0">
                <a:solidFill>
                  <a:schemeClr val="tx2"/>
                </a:solidFill>
                <a:latin typeface="华文新魏" panose="02010800040101010101" pitchFamily="2" charset="-122"/>
              </a:rPr>
              <a:t>)=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</a:rPr>
              <a:t>0.9183</a:t>
            </a:r>
            <a:r>
              <a:rPr lang="en-US" altLang="zh-CN" sz="2000" dirty="0">
                <a:solidFill>
                  <a:schemeClr val="tx2"/>
                </a:solidFill>
                <a:latin typeface="华文新魏" panose="02010800040101010101" pitchFamily="2" charset="-122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/>
              </a:rPr>
              <a:t>–</a:t>
            </a:r>
            <a:r>
              <a:rPr lang="en-US" altLang="zh-CN" sz="2000" dirty="0">
                <a:solidFill>
                  <a:schemeClr val="tx2"/>
                </a:solidFill>
                <a:latin typeface="华文新魏" panose="02010800040101010101" pitchFamily="2" charset="-122"/>
              </a:rPr>
              <a:t> 0.4592 = 0.4591</a:t>
            </a:r>
          </a:p>
        </p:txBody>
      </p:sp>
      <p:sp>
        <p:nvSpPr>
          <p:cNvPr id="839738" name="Text Box 58"/>
          <p:cNvSpPr txBox="1">
            <a:spLocks noChangeArrowheads="1"/>
          </p:cNvSpPr>
          <p:nvPr/>
        </p:nvSpPr>
        <p:spPr bwMode="auto">
          <a:xfrm>
            <a:off x="6888164" y="2327991"/>
            <a:ext cx="2664221" cy="258532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dirty="0">
                <a:latin typeface="华文新魏" panose="02010800040101010101" pitchFamily="2" charset="-122"/>
              </a:rPr>
              <a:t>H(D1)=0 </a:t>
            </a:r>
          </a:p>
          <a:p>
            <a:pPr>
              <a:lnSpc>
                <a:spcPct val="90000"/>
              </a:lnSpc>
            </a:pPr>
            <a:r>
              <a:rPr lang="zh-CN" altLang="en-US" sz="2000" dirty="0">
                <a:latin typeface="华文新魏" panose="02010800040101010101" pitchFamily="2" charset="-122"/>
              </a:rPr>
              <a:t>比例</a:t>
            </a:r>
            <a:r>
              <a:rPr lang="en-US" altLang="zh-CN" sz="2000" dirty="0">
                <a:latin typeface="华文新魏" panose="02010800040101010101" pitchFamily="2" charset="-122"/>
              </a:rPr>
              <a:t>: 128/384=0.3333</a:t>
            </a:r>
          </a:p>
          <a:p>
            <a:pPr>
              <a:lnSpc>
                <a:spcPct val="90000"/>
              </a:lnSpc>
            </a:pPr>
            <a:endParaRPr lang="en-US" altLang="zh-CN" sz="2000" dirty="0">
              <a:latin typeface="华文新魏" panose="02010800040101010101" pitchFamily="2" charset="-122"/>
            </a:endParaRPr>
          </a:p>
          <a:p>
            <a:pPr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华文新魏" panose="02010800040101010101" pitchFamily="2" charset="-122"/>
              </a:rPr>
              <a:t>H(D2)=0.9183 </a:t>
            </a:r>
          </a:p>
          <a:p>
            <a:pPr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latin typeface="华文新魏" panose="02010800040101010101" pitchFamily="2" charset="-122"/>
              </a:rPr>
              <a:t>比例</a:t>
            </a:r>
            <a:r>
              <a:rPr lang="en-US" altLang="zh-CN" sz="2000" dirty="0">
                <a:latin typeface="华文新魏" panose="02010800040101010101" pitchFamily="2" charset="-122"/>
              </a:rPr>
              <a:t>: 192/384=0.5</a:t>
            </a:r>
          </a:p>
          <a:p>
            <a:pPr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zh-CN" sz="2000" dirty="0">
              <a:latin typeface="华文新魏" panose="02010800040101010101" pitchFamily="2" charset="-122"/>
            </a:endParaRPr>
          </a:p>
          <a:p>
            <a:pPr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华文新魏" panose="02010800040101010101" pitchFamily="2" charset="-122"/>
              </a:rPr>
              <a:t>H(D3)=0</a:t>
            </a:r>
          </a:p>
          <a:p>
            <a:pPr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latin typeface="华文新魏" panose="02010800040101010101" pitchFamily="2" charset="-122"/>
              </a:rPr>
              <a:t>比例</a:t>
            </a:r>
            <a:r>
              <a:rPr lang="en-US" altLang="zh-CN" sz="2000" dirty="0">
                <a:latin typeface="华文新魏" panose="02010800040101010101" pitchFamily="2" charset="-122"/>
              </a:rPr>
              <a:t>: 64/384=0.1667 </a:t>
            </a:r>
          </a:p>
        </p:txBody>
      </p:sp>
      <p:sp>
        <p:nvSpPr>
          <p:cNvPr id="839739" name="Text Box 59"/>
          <p:cNvSpPr txBox="1">
            <a:spLocks noChangeArrowheads="1"/>
          </p:cNvSpPr>
          <p:nvPr/>
        </p:nvSpPr>
        <p:spPr bwMode="auto">
          <a:xfrm>
            <a:off x="4419601" y="6270625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注意</a:t>
            </a:r>
          </a:p>
        </p:txBody>
      </p:sp>
      <p:sp>
        <p:nvSpPr>
          <p:cNvPr id="839740" name="Line 60"/>
          <p:cNvSpPr>
            <a:spLocks noChangeShapeType="1"/>
          </p:cNvSpPr>
          <p:nvPr/>
        </p:nvSpPr>
        <p:spPr bwMode="auto">
          <a:xfrm flipH="1" flipV="1">
            <a:off x="4079876" y="6021388"/>
            <a:ext cx="576263" cy="3603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39741" name="Line 61"/>
          <p:cNvSpPr>
            <a:spLocks noChangeShapeType="1"/>
          </p:cNvSpPr>
          <p:nvPr/>
        </p:nvSpPr>
        <p:spPr bwMode="auto">
          <a:xfrm flipV="1">
            <a:off x="5016501" y="5949950"/>
            <a:ext cx="1008063" cy="431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9DC121E-9DF4-4440-9871-1A22FC3C0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0830" name="Group 126"/>
          <p:cNvGraphicFramePr>
            <a:graphicFrameLocks noGrp="1"/>
          </p:cNvGraphicFramePr>
          <p:nvPr/>
        </p:nvGraphicFramePr>
        <p:xfrm>
          <a:off x="1631950" y="894130"/>
          <a:ext cx="4032250" cy="5874704"/>
        </p:xfrm>
        <a:graphic>
          <a:graphicData uri="http://schemas.openxmlformats.org/drawingml/2006/table">
            <a:tbl>
              <a:tblPr/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3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6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计数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年龄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收入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学生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信誉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归类：买计算机？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4B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40831" name="Rectangle 127"/>
          <p:cNvSpPr>
            <a:spLocks noChangeArrowheads="1"/>
          </p:cNvSpPr>
          <p:nvPr/>
        </p:nvSpPr>
        <p:spPr bwMode="auto">
          <a:xfrm>
            <a:off x="7824788" y="1181468"/>
            <a:ext cx="1223962" cy="50323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/>
              <a:t>年龄</a:t>
            </a:r>
          </a:p>
        </p:txBody>
      </p:sp>
      <p:sp>
        <p:nvSpPr>
          <p:cNvPr id="840832" name="Line 128"/>
          <p:cNvSpPr>
            <a:spLocks noChangeShapeType="1"/>
          </p:cNvSpPr>
          <p:nvPr/>
        </p:nvSpPr>
        <p:spPr bwMode="auto">
          <a:xfrm flipH="1">
            <a:off x="6816726" y="1686293"/>
            <a:ext cx="1584325" cy="935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40833" name="Line 129"/>
          <p:cNvSpPr>
            <a:spLocks noChangeShapeType="1"/>
          </p:cNvSpPr>
          <p:nvPr/>
        </p:nvSpPr>
        <p:spPr bwMode="auto">
          <a:xfrm>
            <a:off x="8401050" y="1686293"/>
            <a:ext cx="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40834" name="Line 130"/>
          <p:cNvSpPr>
            <a:spLocks noChangeShapeType="1"/>
          </p:cNvSpPr>
          <p:nvPr/>
        </p:nvSpPr>
        <p:spPr bwMode="auto">
          <a:xfrm>
            <a:off x="8401050" y="1686292"/>
            <a:ext cx="151130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40835" name="Text Box 131"/>
          <p:cNvSpPr txBox="1">
            <a:spLocks noChangeArrowheads="1"/>
          </p:cNvSpPr>
          <p:nvPr/>
        </p:nvSpPr>
        <p:spPr bwMode="auto">
          <a:xfrm>
            <a:off x="6745289" y="1757729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青年</a:t>
            </a:r>
          </a:p>
        </p:txBody>
      </p:sp>
      <p:sp>
        <p:nvSpPr>
          <p:cNvPr id="840836" name="Text Box 132"/>
          <p:cNvSpPr txBox="1">
            <a:spLocks noChangeArrowheads="1"/>
          </p:cNvSpPr>
          <p:nvPr/>
        </p:nvSpPr>
        <p:spPr bwMode="auto">
          <a:xfrm>
            <a:off x="7967664" y="2021254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中年</a:t>
            </a:r>
          </a:p>
        </p:txBody>
      </p:sp>
      <p:sp>
        <p:nvSpPr>
          <p:cNvPr id="840837" name="Text Box 133"/>
          <p:cNvSpPr txBox="1">
            <a:spLocks noChangeArrowheads="1"/>
          </p:cNvSpPr>
          <p:nvPr/>
        </p:nvSpPr>
        <p:spPr bwMode="auto">
          <a:xfrm>
            <a:off x="9118601" y="1757729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老年</a:t>
            </a:r>
          </a:p>
        </p:txBody>
      </p:sp>
      <p:sp>
        <p:nvSpPr>
          <p:cNvPr id="840838" name="Oval 134"/>
          <p:cNvSpPr>
            <a:spLocks noChangeArrowheads="1"/>
          </p:cNvSpPr>
          <p:nvPr/>
        </p:nvSpPr>
        <p:spPr bwMode="auto">
          <a:xfrm>
            <a:off x="6384925" y="2549893"/>
            <a:ext cx="719138" cy="1512887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839" name="Text Box 135"/>
          <p:cNvSpPr txBox="1">
            <a:spLocks noChangeArrowheads="1"/>
          </p:cNvSpPr>
          <p:nvPr/>
        </p:nvSpPr>
        <p:spPr bwMode="auto">
          <a:xfrm>
            <a:off x="6313489" y="2918192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学生</a:t>
            </a:r>
          </a:p>
        </p:txBody>
      </p:sp>
      <p:sp>
        <p:nvSpPr>
          <p:cNvPr id="840840" name="Oval 136"/>
          <p:cNvSpPr>
            <a:spLocks noChangeArrowheads="1"/>
          </p:cNvSpPr>
          <p:nvPr/>
        </p:nvSpPr>
        <p:spPr bwMode="auto">
          <a:xfrm>
            <a:off x="7896226" y="2838817"/>
            <a:ext cx="1008063" cy="792162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841" name="Text Box 137"/>
          <p:cNvSpPr txBox="1">
            <a:spLocks noChangeArrowheads="1"/>
          </p:cNvSpPr>
          <p:nvPr/>
        </p:nvSpPr>
        <p:spPr bwMode="auto">
          <a:xfrm>
            <a:off x="8150439" y="3029317"/>
            <a:ext cx="415498" cy="3693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ctr"/>
          </a:lstStyle>
          <a:p>
            <a:r>
              <a:rPr lang="zh-CN" altLang="en-US"/>
              <a:t>买</a:t>
            </a:r>
          </a:p>
        </p:txBody>
      </p:sp>
      <p:sp>
        <p:nvSpPr>
          <p:cNvPr id="840842" name="Oval 138"/>
          <p:cNvSpPr>
            <a:spLocks noChangeArrowheads="1"/>
          </p:cNvSpPr>
          <p:nvPr/>
        </p:nvSpPr>
        <p:spPr bwMode="auto">
          <a:xfrm>
            <a:off x="9480550" y="2549893"/>
            <a:ext cx="719138" cy="151288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843" name="Text Box 139"/>
          <p:cNvSpPr txBox="1">
            <a:spLocks noChangeArrowheads="1"/>
          </p:cNvSpPr>
          <p:nvPr/>
        </p:nvSpPr>
        <p:spPr bwMode="auto">
          <a:xfrm>
            <a:off x="9409114" y="2918192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信誉</a:t>
            </a:r>
          </a:p>
        </p:txBody>
      </p:sp>
      <p:sp>
        <p:nvSpPr>
          <p:cNvPr id="840844" name="Line 140"/>
          <p:cNvSpPr>
            <a:spLocks noChangeShapeType="1"/>
          </p:cNvSpPr>
          <p:nvPr/>
        </p:nvSpPr>
        <p:spPr bwMode="auto">
          <a:xfrm flipH="1">
            <a:off x="6169026" y="4062780"/>
            <a:ext cx="576263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40845" name="Line 141"/>
          <p:cNvSpPr>
            <a:spLocks noChangeShapeType="1"/>
          </p:cNvSpPr>
          <p:nvPr/>
        </p:nvSpPr>
        <p:spPr bwMode="auto">
          <a:xfrm>
            <a:off x="9840913" y="4062779"/>
            <a:ext cx="360362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40846" name="Line 142"/>
          <p:cNvSpPr>
            <a:spLocks noChangeShapeType="1"/>
          </p:cNvSpPr>
          <p:nvPr/>
        </p:nvSpPr>
        <p:spPr bwMode="auto">
          <a:xfrm>
            <a:off x="7753351" y="3630979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40847" name="Text Box 143"/>
          <p:cNvSpPr txBox="1">
            <a:spLocks noChangeArrowheads="1"/>
          </p:cNvSpPr>
          <p:nvPr/>
        </p:nvSpPr>
        <p:spPr bwMode="auto">
          <a:xfrm>
            <a:off x="8040689" y="3591292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叶子</a:t>
            </a:r>
          </a:p>
        </p:txBody>
      </p:sp>
      <p:sp>
        <p:nvSpPr>
          <p:cNvPr id="840849" name="Line 145"/>
          <p:cNvSpPr>
            <a:spLocks noChangeShapeType="1"/>
          </p:cNvSpPr>
          <p:nvPr/>
        </p:nvSpPr>
        <p:spPr bwMode="auto">
          <a:xfrm>
            <a:off x="6743700" y="4062780"/>
            <a:ext cx="431800" cy="790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40850" name="Line 146"/>
          <p:cNvSpPr>
            <a:spLocks noChangeShapeType="1"/>
          </p:cNvSpPr>
          <p:nvPr/>
        </p:nvSpPr>
        <p:spPr bwMode="auto">
          <a:xfrm flipH="1">
            <a:off x="9264651" y="4062779"/>
            <a:ext cx="576263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40851" name="Text Box 147"/>
          <p:cNvSpPr txBox="1">
            <a:spLocks noChangeArrowheads="1"/>
          </p:cNvSpPr>
          <p:nvPr/>
        </p:nvSpPr>
        <p:spPr bwMode="auto">
          <a:xfrm>
            <a:off x="5951538" y="4062779"/>
            <a:ext cx="415498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否</a:t>
            </a:r>
          </a:p>
        </p:txBody>
      </p:sp>
      <p:sp>
        <p:nvSpPr>
          <p:cNvPr id="840852" name="Text Box 148"/>
          <p:cNvSpPr txBox="1">
            <a:spLocks noChangeArrowheads="1"/>
          </p:cNvSpPr>
          <p:nvPr/>
        </p:nvSpPr>
        <p:spPr bwMode="auto">
          <a:xfrm>
            <a:off x="6888163" y="4062779"/>
            <a:ext cx="415498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是</a:t>
            </a:r>
          </a:p>
        </p:txBody>
      </p:sp>
      <p:sp>
        <p:nvSpPr>
          <p:cNvPr id="840853" name="Text Box 149"/>
          <p:cNvSpPr txBox="1">
            <a:spLocks noChangeArrowheads="1"/>
          </p:cNvSpPr>
          <p:nvPr/>
        </p:nvSpPr>
        <p:spPr bwMode="auto">
          <a:xfrm>
            <a:off x="9207500" y="4062779"/>
            <a:ext cx="415498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优</a:t>
            </a:r>
          </a:p>
        </p:txBody>
      </p:sp>
      <p:sp>
        <p:nvSpPr>
          <p:cNvPr id="840854" name="Text Box 150"/>
          <p:cNvSpPr txBox="1">
            <a:spLocks noChangeArrowheads="1"/>
          </p:cNvSpPr>
          <p:nvPr/>
        </p:nvSpPr>
        <p:spPr bwMode="auto">
          <a:xfrm>
            <a:off x="9999663" y="4062779"/>
            <a:ext cx="415498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良</a:t>
            </a:r>
          </a:p>
        </p:txBody>
      </p:sp>
      <p:sp>
        <p:nvSpPr>
          <p:cNvPr id="840855" name="Oval 151"/>
          <p:cNvSpPr>
            <a:spLocks noChangeArrowheads="1"/>
          </p:cNvSpPr>
          <p:nvPr/>
        </p:nvSpPr>
        <p:spPr bwMode="auto">
          <a:xfrm>
            <a:off x="6743701" y="4853355"/>
            <a:ext cx="1008063" cy="7921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856" name="Text Box 152"/>
          <p:cNvSpPr txBox="1">
            <a:spLocks noChangeArrowheads="1"/>
          </p:cNvSpPr>
          <p:nvPr/>
        </p:nvSpPr>
        <p:spPr bwMode="auto">
          <a:xfrm>
            <a:off x="6961188" y="5043854"/>
            <a:ext cx="415498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买</a:t>
            </a:r>
          </a:p>
        </p:txBody>
      </p:sp>
      <p:sp>
        <p:nvSpPr>
          <p:cNvPr id="840857" name="Oval 153"/>
          <p:cNvSpPr>
            <a:spLocks noChangeArrowheads="1"/>
          </p:cNvSpPr>
          <p:nvPr/>
        </p:nvSpPr>
        <p:spPr bwMode="auto">
          <a:xfrm>
            <a:off x="5664201" y="4853355"/>
            <a:ext cx="1008063" cy="7921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858" name="Text Box 154"/>
          <p:cNvSpPr txBox="1">
            <a:spLocks noChangeArrowheads="1"/>
          </p:cNvSpPr>
          <p:nvPr/>
        </p:nvSpPr>
        <p:spPr bwMode="auto">
          <a:xfrm>
            <a:off x="5808311" y="5043854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不买</a:t>
            </a:r>
          </a:p>
        </p:txBody>
      </p:sp>
      <p:sp>
        <p:nvSpPr>
          <p:cNvPr id="840863" name="Oval 159"/>
          <p:cNvSpPr>
            <a:spLocks noChangeArrowheads="1"/>
          </p:cNvSpPr>
          <p:nvPr/>
        </p:nvSpPr>
        <p:spPr bwMode="auto">
          <a:xfrm>
            <a:off x="8831264" y="4926379"/>
            <a:ext cx="719137" cy="15128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864" name="Text Box 160"/>
          <p:cNvSpPr txBox="1">
            <a:spLocks noChangeArrowheads="1"/>
          </p:cNvSpPr>
          <p:nvPr/>
        </p:nvSpPr>
        <p:spPr bwMode="auto">
          <a:xfrm>
            <a:off x="8831264" y="5286743"/>
            <a:ext cx="646331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买</a:t>
            </a:r>
            <a:r>
              <a:rPr lang="en-US" altLang="zh-CN" dirty="0">
                <a:solidFill>
                  <a:schemeClr val="bg1"/>
                </a:solidFill>
              </a:rPr>
              <a:t>/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不买</a:t>
            </a:r>
          </a:p>
        </p:txBody>
      </p:sp>
      <p:sp>
        <p:nvSpPr>
          <p:cNvPr id="840865" name="Oval 161"/>
          <p:cNvSpPr>
            <a:spLocks noChangeArrowheads="1"/>
          </p:cNvSpPr>
          <p:nvPr/>
        </p:nvSpPr>
        <p:spPr bwMode="auto">
          <a:xfrm>
            <a:off x="9625013" y="4997817"/>
            <a:ext cx="1008062" cy="7921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866" name="Text Box 162"/>
          <p:cNvSpPr txBox="1">
            <a:spLocks noChangeArrowheads="1"/>
          </p:cNvSpPr>
          <p:nvPr/>
        </p:nvSpPr>
        <p:spPr bwMode="auto">
          <a:xfrm>
            <a:off x="9842500" y="5188317"/>
            <a:ext cx="415498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买</a:t>
            </a:r>
          </a:p>
        </p:txBody>
      </p:sp>
      <p:sp>
        <p:nvSpPr>
          <p:cNvPr id="840867" name="Line 163"/>
          <p:cNvSpPr>
            <a:spLocks noChangeShapeType="1"/>
          </p:cNvSpPr>
          <p:nvPr/>
        </p:nvSpPr>
        <p:spPr bwMode="auto">
          <a:xfrm flipH="1">
            <a:off x="8401050" y="6437680"/>
            <a:ext cx="719138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40868" name="Line 164"/>
          <p:cNvSpPr>
            <a:spLocks noChangeShapeType="1"/>
          </p:cNvSpPr>
          <p:nvPr/>
        </p:nvSpPr>
        <p:spPr bwMode="auto">
          <a:xfrm>
            <a:off x="9696450" y="5789979"/>
            <a:ext cx="971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40869" name="Text Box 165"/>
          <p:cNvSpPr txBox="1">
            <a:spLocks noChangeArrowheads="1"/>
          </p:cNvSpPr>
          <p:nvPr/>
        </p:nvSpPr>
        <p:spPr bwMode="auto">
          <a:xfrm>
            <a:off x="9767889" y="5764579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叶子</a:t>
            </a:r>
          </a:p>
        </p:txBody>
      </p:sp>
      <p:sp>
        <p:nvSpPr>
          <p:cNvPr id="840870" name="Line 166"/>
          <p:cNvSpPr>
            <a:spLocks noChangeShapeType="1"/>
          </p:cNvSpPr>
          <p:nvPr/>
        </p:nvSpPr>
        <p:spPr bwMode="auto">
          <a:xfrm>
            <a:off x="6743700" y="5670917"/>
            <a:ext cx="971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40871" name="Text Box 167"/>
          <p:cNvSpPr txBox="1">
            <a:spLocks noChangeArrowheads="1"/>
          </p:cNvSpPr>
          <p:nvPr/>
        </p:nvSpPr>
        <p:spPr bwMode="auto">
          <a:xfrm>
            <a:off x="6815139" y="5645517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叶子</a:t>
            </a:r>
          </a:p>
        </p:txBody>
      </p:sp>
      <p:sp>
        <p:nvSpPr>
          <p:cNvPr id="840872" name="Line 168"/>
          <p:cNvSpPr>
            <a:spLocks noChangeShapeType="1"/>
          </p:cNvSpPr>
          <p:nvPr/>
        </p:nvSpPr>
        <p:spPr bwMode="auto">
          <a:xfrm>
            <a:off x="5735638" y="5670917"/>
            <a:ext cx="971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40873" name="Text Box 169"/>
          <p:cNvSpPr txBox="1">
            <a:spLocks noChangeArrowheads="1"/>
          </p:cNvSpPr>
          <p:nvPr/>
        </p:nvSpPr>
        <p:spPr bwMode="auto">
          <a:xfrm>
            <a:off x="5807076" y="5645517"/>
            <a:ext cx="6463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叶子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14D922D-EFDC-4C92-9942-6EDE31CE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4D922D-EFDC-4C92-9942-6EDE31CE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D232582-A856-44BD-A4A7-A80052DC46D8}"/>
              </a:ext>
            </a:extLst>
          </p:cNvPr>
          <p:cNvSpPr txBox="1"/>
          <p:nvPr/>
        </p:nvSpPr>
        <p:spPr>
          <a:xfrm>
            <a:off x="666073" y="882832"/>
            <a:ext cx="6103736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ID3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算法</a:t>
            </a:r>
            <a:endParaRPr lang="en-US" altLang="zh-CN" sz="2800" dirty="0">
              <a:solidFill>
                <a:srgbClr val="002E7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6533EFB-B035-4F61-9A32-57021E869F3F}"/>
              </a:ext>
            </a:extLst>
          </p:cNvPr>
          <p:cNvSpPr txBox="1"/>
          <p:nvPr/>
        </p:nvSpPr>
        <p:spPr>
          <a:xfrm>
            <a:off x="819246" y="1448290"/>
            <a:ext cx="1042253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输入：训练数据集 D，特征集 A 阈值 ε；</a:t>
            </a:r>
            <a:endParaRPr lang="en-US" altLang="zh-CN" dirty="0"/>
          </a:p>
          <a:p>
            <a:r>
              <a:rPr lang="zh-CN" altLang="en-US" dirty="0"/>
              <a:t>输出：决策树 T。</a:t>
            </a:r>
            <a:endParaRPr lang="en-US" altLang="zh-CN" dirty="0"/>
          </a:p>
          <a:p>
            <a:pPr marL="342900" indent="-342900">
              <a:buAutoNum type="arabicParenBoth"/>
            </a:pPr>
            <a:r>
              <a:rPr lang="zh-CN" altLang="en-US" dirty="0"/>
              <a:t>若 D 中所有实例属于同一类 C</a:t>
            </a:r>
            <a:r>
              <a:rPr lang="zh-CN" altLang="en-US" baseline="-25000" dirty="0"/>
              <a:t>k</a:t>
            </a:r>
            <a:r>
              <a:rPr lang="zh-CN" altLang="en-US" dirty="0"/>
              <a:t>，则 T 为单结点树，并将类 C</a:t>
            </a:r>
            <a:r>
              <a:rPr lang="zh-CN" altLang="en-US" baseline="-25000" dirty="0"/>
              <a:t>k</a:t>
            </a:r>
            <a:r>
              <a:rPr lang="zh-CN" altLang="en-US" dirty="0"/>
              <a:t> 作为该结点的类标记，返回 T；</a:t>
            </a:r>
            <a:endParaRPr lang="en-US" altLang="zh-CN" dirty="0"/>
          </a:p>
          <a:p>
            <a:pPr marL="342900" indent="-342900">
              <a:buAutoNum type="arabicParenBoth"/>
            </a:pPr>
            <a:r>
              <a:rPr lang="zh-CN" altLang="en-US" dirty="0"/>
              <a:t>若 A = ∅，则 T 为单结点树，并将 D 中实例数最大的类 C</a:t>
            </a:r>
            <a:r>
              <a:rPr lang="zh-CN" altLang="en-US" baseline="-25000" dirty="0"/>
              <a:t>k</a:t>
            </a:r>
            <a:r>
              <a:rPr lang="zh-CN" altLang="en-US" dirty="0"/>
              <a:t> 作为该结点的类标记，返回 T；</a:t>
            </a:r>
            <a:endParaRPr lang="en-US" altLang="zh-CN" dirty="0"/>
          </a:p>
          <a:p>
            <a:pPr marL="342900" indent="-342900">
              <a:buAutoNum type="arabicParenBoth"/>
            </a:pPr>
            <a:r>
              <a:rPr lang="zh-CN" altLang="en-US" dirty="0"/>
              <a:t>否则，</a:t>
            </a:r>
            <a:r>
              <a:rPr lang="zh-CN" altLang="en-US" dirty="0">
                <a:solidFill>
                  <a:srgbClr val="C00000"/>
                </a:solidFill>
              </a:rPr>
              <a:t>计算 A 中各特征对 D 的信息增益</a:t>
            </a:r>
            <a:r>
              <a:rPr lang="zh-CN" altLang="en-US" dirty="0"/>
              <a:t>，选择信息增益最大的特征 A</a:t>
            </a:r>
            <a:r>
              <a:rPr lang="zh-CN" altLang="en-US" baseline="-25000" dirty="0"/>
              <a:t>g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(4) </a:t>
            </a:r>
            <a:r>
              <a:rPr lang="zh-CN" altLang="en-US" dirty="0"/>
              <a:t>如果 </a:t>
            </a:r>
            <a:r>
              <a:rPr lang="en-US" altLang="zh-CN" dirty="0"/>
              <a:t>A</a:t>
            </a:r>
            <a:r>
              <a:rPr lang="en-US" altLang="zh-CN" baseline="-25000" dirty="0"/>
              <a:t>g</a:t>
            </a:r>
            <a:r>
              <a:rPr lang="en-US" altLang="zh-CN" dirty="0"/>
              <a:t> </a:t>
            </a:r>
            <a:r>
              <a:rPr lang="zh-CN" altLang="en-US" dirty="0"/>
              <a:t>的信息增益小于阈值 ε</a:t>
            </a:r>
            <a:r>
              <a:rPr lang="en-US" altLang="zh-CN" dirty="0"/>
              <a:t>, </a:t>
            </a:r>
            <a:r>
              <a:rPr lang="zh-CN" altLang="en-US" dirty="0"/>
              <a:t>则置 </a:t>
            </a:r>
            <a:r>
              <a:rPr lang="en-US" altLang="zh-CN" dirty="0"/>
              <a:t>T </a:t>
            </a:r>
            <a:r>
              <a:rPr lang="zh-CN" altLang="en-US" dirty="0"/>
              <a:t>为单结点树</a:t>
            </a:r>
            <a:r>
              <a:rPr lang="en-US" altLang="zh-CN" dirty="0"/>
              <a:t>, </a:t>
            </a:r>
            <a:r>
              <a:rPr lang="zh-CN" altLang="en-US" dirty="0"/>
              <a:t>并将 </a:t>
            </a:r>
            <a:r>
              <a:rPr lang="en-US" altLang="zh-CN" dirty="0"/>
              <a:t>D </a:t>
            </a:r>
            <a:r>
              <a:rPr lang="zh-CN" altLang="en-US" dirty="0"/>
              <a:t>中实例数最大的类 </a:t>
            </a:r>
            <a:r>
              <a:rPr lang="en-US" altLang="zh-CN" dirty="0"/>
              <a:t>C</a:t>
            </a:r>
            <a:r>
              <a:rPr lang="en-US" altLang="zh-CN" baseline="-25000" dirty="0"/>
              <a:t>k</a:t>
            </a:r>
            <a:r>
              <a:rPr lang="en-US" altLang="zh-CN" dirty="0"/>
              <a:t> </a:t>
            </a:r>
            <a:r>
              <a:rPr lang="zh-CN" altLang="en-US" dirty="0"/>
              <a:t>作为该结点的类标记</a:t>
            </a:r>
            <a:r>
              <a:rPr lang="en-US" altLang="zh-CN" dirty="0"/>
              <a:t>, </a:t>
            </a:r>
            <a:r>
              <a:rPr lang="zh-CN" altLang="en-US" dirty="0"/>
              <a:t>返回 </a:t>
            </a:r>
            <a:r>
              <a:rPr lang="en-US" altLang="zh-CN" dirty="0"/>
              <a:t>T;</a:t>
            </a:r>
          </a:p>
          <a:p>
            <a:r>
              <a:rPr lang="en-US" altLang="zh-CN" dirty="0"/>
              <a:t>(5) </a:t>
            </a:r>
            <a:r>
              <a:rPr lang="zh-CN" altLang="en-US" dirty="0"/>
              <a:t>否则</a:t>
            </a:r>
            <a:r>
              <a:rPr lang="en-US" altLang="zh-CN" dirty="0"/>
              <a:t>, </a:t>
            </a:r>
            <a:r>
              <a:rPr lang="zh-CN" altLang="en-US" dirty="0"/>
              <a:t>对 </a:t>
            </a:r>
            <a:r>
              <a:rPr lang="en-US" altLang="zh-CN" dirty="0"/>
              <a:t>A</a:t>
            </a:r>
            <a:r>
              <a:rPr lang="en-US" altLang="zh-CN" baseline="-25000" dirty="0"/>
              <a:t>g</a:t>
            </a:r>
            <a:r>
              <a:rPr lang="en-US" altLang="zh-CN" dirty="0"/>
              <a:t> </a:t>
            </a:r>
            <a:r>
              <a:rPr lang="zh-CN" altLang="en-US" dirty="0"/>
              <a:t>的每一可能值 </a:t>
            </a:r>
            <a:r>
              <a:rPr lang="en-US" altLang="zh-CN" dirty="0"/>
              <a:t>a</a:t>
            </a:r>
            <a:r>
              <a:rPr lang="en-US" altLang="zh-CN" baseline="-25000" dirty="0"/>
              <a:t>i</a:t>
            </a:r>
            <a:r>
              <a:rPr lang="en-US" altLang="zh-CN" dirty="0"/>
              <a:t>, </a:t>
            </a:r>
            <a:r>
              <a:rPr lang="zh-CN" altLang="en-US" dirty="0"/>
              <a:t>依 </a:t>
            </a:r>
            <a:r>
              <a:rPr lang="en-US" altLang="zh-CN" dirty="0"/>
              <a:t>A</a:t>
            </a:r>
            <a:r>
              <a:rPr lang="en-US" altLang="zh-CN" baseline="-25000" dirty="0"/>
              <a:t>g</a:t>
            </a:r>
            <a:r>
              <a:rPr lang="en-US" altLang="zh-CN" dirty="0"/>
              <a:t>=a</a:t>
            </a:r>
            <a:r>
              <a:rPr lang="en-US" altLang="zh-CN" baseline="-25000" dirty="0"/>
              <a:t>i</a:t>
            </a:r>
            <a:r>
              <a:rPr lang="en-US" altLang="zh-CN" dirty="0"/>
              <a:t> </a:t>
            </a:r>
            <a:r>
              <a:rPr lang="zh-CN" altLang="en-US" dirty="0"/>
              <a:t>将 </a:t>
            </a:r>
            <a:r>
              <a:rPr lang="en-US" altLang="zh-CN" dirty="0"/>
              <a:t>D </a:t>
            </a:r>
            <a:r>
              <a:rPr lang="zh-CN" altLang="en-US" dirty="0"/>
              <a:t>分割为若干非空子集 </a:t>
            </a:r>
            <a:r>
              <a:rPr lang="en-US" altLang="zh-CN" dirty="0"/>
              <a:t>D</a:t>
            </a:r>
            <a:r>
              <a:rPr lang="en-US" altLang="zh-CN" baseline="-25000" dirty="0"/>
              <a:t>i</a:t>
            </a:r>
            <a:r>
              <a:rPr lang="en-US" altLang="zh-CN" dirty="0"/>
              <a:t>, </a:t>
            </a:r>
            <a:r>
              <a:rPr lang="zh-CN" altLang="en-US" dirty="0"/>
              <a:t>将 </a:t>
            </a:r>
            <a:r>
              <a:rPr lang="en-US" altLang="zh-CN" dirty="0"/>
              <a:t>D</a:t>
            </a:r>
            <a:r>
              <a:rPr lang="en-US" altLang="zh-CN" baseline="-25000" dirty="0"/>
              <a:t>i</a:t>
            </a:r>
            <a:r>
              <a:rPr lang="en-US" altLang="zh-CN" dirty="0"/>
              <a:t> </a:t>
            </a:r>
            <a:r>
              <a:rPr lang="zh-CN" altLang="en-US" dirty="0"/>
              <a:t>中实例数最大的类作为标记</a:t>
            </a:r>
            <a:r>
              <a:rPr lang="en-US" altLang="zh-CN" dirty="0"/>
              <a:t>, </a:t>
            </a:r>
            <a:r>
              <a:rPr lang="zh-CN" altLang="en-US" dirty="0"/>
              <a:t>构建子结点</a:t>
            </a:r>
            <a:r>
              <a:rPr lang="en-US" altLang="zh-CN" dirty="0"/>
              <a:t>, </a:t>
            </a:r>
            <a:r>
              <a:rPr lang="zh-CN" altLang="en-US" dirty="0"/>
              <a:t>由结点及其子结点构成树 </a:t>
            </a:r>
            <a:r>
              <a:rPr lang="en-US" altLang="zh-CN" dirty="0"/>
              <a:t>T, </a:t>
            </a:r>
            <a:r>
              <a:rPr lang="zh-CN" altLang="en-US" dirty="0"/>
              <a:t>返回 </a:t>
            </a:r>
            <a:r>
              <a:rPr lang="en-US" altLang="zh-CN" dirty="0"/>
              <a:t>T;</a:t>
            </a:r>
          </a:p>
          <a:p>
            <a:r>
              <a:rPr lang="en-US" altLang="zh-CN" dirty="0"/>
              <a:t>(6) </a:t>
            </a:r>
            <a:r>
              <a:rPr lang="zh-CN" altLang="en-US" dirty="0"/>
              <a:t>对第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个子结点</a:t>
            </a:r>
            <a:r>
              <a:rPr lang="en-US" altLang="zh-CN" dirty="0"/>
              <a:t>, </a:t>
            </a:r>
            <a:r>
              <a:rPr lang="zh-CN" altLang="en-US" dirty="0"/>
              <a:t>以 </a:t>
            </a:r>
            <a:r>
              <a:rPr lang="en-US" altLang="zh-CN" dirty="0"/>
              <a:t>D</a:t>
            </a:r>
            <a:r>
              <a:rPr lang="en-US" altLang="zh-CN" baseline="-25000" dirty="0"/>
              <a:t>i</a:t>
            </a:r>
            <a:r>
              <a:rPr lang="en-US" altLang="zh-CN" dirty="0"/>
              <a:t> </a:t>
            </a:r>
            <a:r>
              <a:rPr lang="zh-CN" altLang="en-US" dirty="0"/>
              <a:t>为训练集</a:t>
            </a:r>
            <a:r>
              <a:rPr lang="en-US" altLang="zh-CN" dirty="0"/>
              <a:t>, </a:t>
            </a:r>
            <a:r>
              <a:rPr lang="zh-CN" altLang="en-US" dirty="0"/>
              <a:t>以 </a:t>
            </a:r>
            <a:r>
              <a:rPr lang="en-US" altLang="zh-CN" dirty="0"/>
              <a:t>A-{A</a:t>
            </a:r>
            <a:r>
              <a:rPr lang="en-US" altLang="zh-CN" baseline="-25000" dirty="0"/>
              <a:t>g</a:t>
            </a:r>
            <a:r>
              <a:rPr lang="en-US" altLang="zh-CN" dirty="0"/>
              <a:t>} </a:t>
            </a:r>
            <a:r>
              <a:rPr lang="zh-CN" altLang="en-US" dirty="0"/>
              <a:t>为特征集</a:t>
            </a:r>
            <a:r>
              <a:rPr lang="en-US" altLang="zh-CN" dirty="0"/>
              <a:t>, </a:t>
            </a:r>
            <a:r>
              <a:rPr lang="zh-CN" altLang="en-US" dirty="0"/>
              <a:t>递归地调用步 </a:t>
            </a:r>
            <a:r>
              <a:rPr lang="en-US" altLang="zh-CN" dirty="0"/>
              <a:t>(1) ~ </a:t>
            </a:r>
            <a:r>
              <a:rPr lang="zh-CN" altLang="en-US" dirty="0"/>
              <a:t>步 </a:t>
            </a:r>
            <a:r>
              <a:rPr lang="en-US" altLang="zh-CN" dirty="0"/>
              <a:t>(5), </a:t>
            </a:r>
            <a:r>
              <a:rPr lang="zh-CN" altLang="en-US" dirty="0"/>
              <a:t>得到子树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i</a:t>
            </a:r>
            <a:r>
              <a:rPr lang="en-US" altLang="zh-CN" dirty="0"/>
              <a:t>, </a:t>
            </a:r>
            <a:r>
              <a:rPr lang="zh-CN" altLang="en-US" dirty="0"/>
              <a:t>返回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i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3561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7F873-D9A7-4859-9EE0-624DCFC80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B50A1FD-ED8C-4E9D-8488-F1705C1F0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43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F859CA3-0F7C-4864-843B-D047726C3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533" y="1370098"/>
            <a:ext cx="9146717" cy="52959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D54571D-2CE7-43A7-93EC-3EFD25BA1A23}"/>
              </a:ext>
            </a:extLst>
          </p:cNvPr>
          <p:cNvSpPr txBox="1"/>
          <p:nvPr/>
        </p:nvSpPr>
        <p:spPr>
          <a:xfrm>
            <a:off x="577882" y="889967"/>
            <a:ext cx="10937987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例题：根据信息增益准则，判断下表中哪个特征的信息增益最大？</a:t>
            </a:r>
            <a:endParaRPr lang="en-US" altLang="zh-CN" sz="2800" dirty="0">
              <a:solidFill>
                <a:srgbClr val="002E73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7241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952E8C-1876-4E3C-B362-E89C2154A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3C88FF3-00D3-408F-924E-3179987927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BE10039-79AD-4C9C-BB66-F048E6AEF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535" y="651942"/>
            <a:ext cx="4290930" cy="620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3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E6900-88B2-4BEB-A58E-6843FFD5B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641D4E8-C79F-4A41-8BF4-79F4F1557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45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56E385-ED1C-40B0-B9B0-F0EEB6329D43}"/>
              </a:ext>
            </a:extLst>
          </p:cNvPr>
          <p:cNvSpPr txBox="1"/>
          <p:nvPr/>
        </p:nvSpPr>
        <p:spPr>
          <a:xfrm>
            <a:off x="471124" y="938606"/>
            <a:ext cx="2504157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ID3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算法</a:t>
            </a: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-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小结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A5CCE2-5A6C-4C3C-B37E-D12A338AD283}"/>
              </a:ext>
            </a:extLst>
          </p:cNvPr>
          <p:cNvSpPr txBox="1"/>
          <p:nvPr/>
        </p:nvSpPr>
        <p:spPr>
          <a:xfrm>
            <a:off x="471124" y="1466857"/>
            <a:ext cx="1129539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ID3</a:t>
            </a:r>
            <a:r>
              <a:rPr lang="zh-CN" altLang="en-US" sz="2800" dirty="0"/>
              <a:t>算法的基本思想是，以</a:t>
            </a:r>
            <a:r>
              <a:rPr lang="zh-CN" altLang="en-US" sz="2800" dirty="0">
                <a:solidFill>
                  <a:srgbClr val="FF0000"/>
                </a:solidFill>
              </a:rPr>
              <a:t>信息增益</a:t>
            </a:r>
            <a:r>
              <a:rPr lang="zh-CN" altLang="en-US" sz="2800" dirty="0"/>
              <a:t>为度量，用于决策树节点的属性选择，每次优先选取</a:t>
            </a:r>
            <a:r>
              <a:rPr lang="zh-CN" altLang="en-US" sz="2800" dirty="0">
                <a:solidFill>
                  <a:srgbClr val="FF0000"/>
                </a:solidFill>
              </a:rPr>
              <a:t>信息增益</a:t>
            </a:r>
            <a:r>
              <a:rPr lang="zh-CN" altLang="en-US" sz="2800" dirty="0"/>
              <a:t>最多的属性，亦即能使熵值变为最小的属性，以构造一颗熵值下降最快的决策树，到叶子节点处的熵值为</a:t>
            </a:r>
            <a:r>
              <a:rPr lang="en-US" altLang="zh-CN" sz="2800" dirty="0"/>
              <a:t>0</a:t>
            </a:r>
            <a:r>
              <a:rPr lang="zh-CN" altLang="en-US" sz="2800" dirty="0"/>
              <a:t>。此时，每个叶子节点对应的实例集中的实例属于同一类。</a:t>
            </a:r>
          </a:p>
        </p:txBody>
      </p:sp>
    </p:spTree>
    <p:extLst>
      <p:ext uri="{BB962C8B-B14F-4D97-AF65-F5344CB8AC3E}">
        <p14:creationId xmlns:p14="http://schemas.microsoft.com/office/powerpoint/2010/main" val="325040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课上思考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46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A20F0D-18F6-8D46-B5DD-04308A33EA87}"/>
              </a:ext>
            </a:extLst>
          </p:cNvPr>
          <p:cNvSpPr/>
          <p:nvPr/>
        </p:nvSpPr>
        <p:spPr>
          <a:xfrm>
            <a:off x="1812269" y="907641"/>
            <a:ext cx="871568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342900"/>
            <a:r>
              <a:rPr lang="zh-CN" altLang="en-US" sz="32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头脑风暴</a:t>
            </a:r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67C29371-3484-A34C-A0B9-1EFCD4AFD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74" y="1767718"/>
            <a:ext cx="2983997" cy="4494645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874577FD-1557-9C48-B575-4721C6D2C216}"/>
              </a:ext>
            </a:extLst>
          </p:cNvPr>
          <p:cNvSpPr txBox="1"/>
          <p:nvPr/>
        </p:nvSpPr>
        <p:spPr>
          <a:xfrm>
            <a:off x="4166408" y="2322926"/>
            <a:ext cx="6667144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使用信息增益方法有哪些不足？</a:t>
            </a:r>
            <a:endParaRPr lang="en-CN" sz="36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266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课上思考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47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A20F0D-18F6-8D46-B5DD-04308A33EA87}"/>
              </a:ext>
            </a:extLst>
          </p:cNvPr>
          <p:cNvSpPr/>
          <p:nvPr/>
        </p:nvSpPr>
        <p:spPr>
          <a:xfrm>
            <a:off x="1812269" y="907641"/>
            <a:ext cx="871568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342900"/>
            <a:r>
              <a:rPr lang="zh-CN" altLang="en-US" sz="32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头脑风暴</a:t>
            </a:r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67C29371-3484-A34C-A0B9-1EFCD4AFD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74" y="1767718"/>
            <a:ext cx="2983997" cy="4494645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874577FD-1557-9C48-B575-4721C6D2C216}"/>
              </a:ext>
            </a:extLst>
          </p:cNvPr>
          <p:cNvSpPr txBox="1"/>
          <p:nvPr/>
        </p:nvSpPr>
        <p:spPr>
          <a:xfrm>
            <a:off x="4166408" y="2322926"/>
            <a:ext cx="6667144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使用信息增益方法有哪些不足？</a:t>
            </a:r>
            <a:endParaRPr lang="en-CN" sz="36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6E07E4-E000-46A5-A9A4-7786BB0B998B}"/>
              </a:ext>
            </a:extLst>
          </p:cNvPr>
          <p:cNvSpPr txBox="1"/>
          <p:nvPr/>
        </p:nvSpPr>
        <p:spPr>
          <a:xfrm>
            <a:off x="4166407" y="3399826"/>
            <a:ext cx="71916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以信息增益作为划分训练数据集的特征，存在偏向于选择取值较多的特征的问题</a:t>
            </a:r>
          </a:p>
        </p:txBody>
      </p:sp>
    </p:spTree>
    <p:extLst>
      <p:ext uri="{BB962C8B-B14F-4D97-AF65-F5344CB8AC3E}">
        <p14:creationId xmlns:p14="http://schemas.microsoft.com/office/powerpoint/2010/main" val="430980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90B9F-DCD4-4665-AF9A-FBB6150A3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4EC1CA2-72E8-4937-B3CB-46C3A4558A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48</a:t>
            </a:fld>
            <a:endParaRPr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C40AA6C2-CE60-44A1-9846-6D526C079471}"/>
              </a:ext>
            </a:extLst>
          </p:cNvPr>
          <p:cNvSpPr txBox="1"/>
          <p:nvPr/>
        </p:nvSpPr>
        <p:spPr>
          <a:xfrm>
            <a:off x="443543" y="828647"/>
            <a:ext cx="10515600" cy="703089"/>
          </a:xfrm>
          <a:prstGeom prst="rect">
            <a:avLst/>
          </a:prstGeom>
        </p:spPr>
        <p:txBody>
          <a:bodyPr vert="horz" lIns="9000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77"/>
            <a:r>
              <a:rPr lang="zh-CN" altLang="en-US" sz="2800" dirty="0">
                <a:solidFill>
                  <a:srgbClr val="002E73"/>
                </a:solidFill>
              </a:rPr>
              <a:t>信息增益</a:t>
            </a:r>
            <a:r>
              <a:rPr lang="ja-JP" altLang="en-US" sz="2800" dirty="0">
                <a:solidFill>
                  <a:srgbClr val="002E73"/>
                </a:solidFill>
              </a:rPr>
              <a:t>比</a:t>
            </a:r>
            <a:r>
              <a:rPr lang="zh-CN" altLang="en-US" sz="2800" dirty="0">
                <a:solidFill>
                  <a:srgbClr val="002E73"/>
                </a:solidFill>
              </a:rPr>
              <a:t>（信息增益率）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8939B6F-FCF4-4C9F-B5D7-F310CF258845}"/>
              </a:ext>
            </a:extLst>
          </p:cNvPr>
          <p:cNvSpPr txBox="1">
            <a:spLocks/>
          </p:cNvSpPr>
          <p:nvPr/>
        </p:nvSpPr>
        <p:spPr>
          <a:xfrm>
            <a:off x="476153" y="1479116"/>
            <a:ext cx="10515600" cy="4351338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以信息增益作为划分训练数据集的特征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ja-JP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存在偏向于选择取值较多的特征的问题</a:t>
            </a:r>
            <a:endParaRPr lang="en-GB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ja-JP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使用信息增益比可以对这一问题进行校正</a:t>
            </a:r>
            <a:endParaRPr lang="en-GB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ja-JP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定义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（</a:t>
            </a:r>
            <a:r>
              <a:rPr lang="ja-JP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信息增益比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）若特征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A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取值的个数为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n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，则</a:t>
            </a:r>
            <a:r>
              <a:rPr lang="ja-JP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特征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A</a:t>
            </a:r>
            <a:r>
              <a:rPr lang="ja-JP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对训练数据集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D</a:t>
            </a:r>
            <a:r>
              <a:rPr lang="ja-JP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的信息增益比定义为</a:t>
            </a:r>
            <a:r>
              <a:rPr lang="ja-JP" altLang="en-US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信息增益</a:t>
            </a:r>
            <a:r>
              <a:rPr lang="ja-JP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与训练数据集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D</a:t>
            </a:r>
            <a:r>
              <a:rPr lang="ja-JP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关于</a:t>
            </a:r>
            <a:r>
              <a:rPr lang="ja-JP" altLang="en-US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特征</a:t>
            </a:r>
            <a:r>
              <a:rPr lang="en-US" altLang="zh-CN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</a:t>
            </a:r>
            <a:r>
              <a:rPr lang="ja-JP" altLang="en-US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的值的</a:t>
            </a:r>
            <a:r>
              <a:rPr lang="zh-CN" altLang="en-US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熵</a:t>
            </a:r>
            <a:r>
              <a:rPr lang="ja-JP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之比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F10390-9D33-4D1A-9965-DD8A8D092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689" y="3859017"/>
            <a:ext cx="3834395" cy="124212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0A2BFC7-5C9C-41BB-906B-D5A87A648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18" y="5192961"/>
            <a:ext cx="4354363" cy="104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17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4D922D-EFDC-4C92-9942-6EDE31CE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D232582-A856-44BD-A4A7-A80052DC46D8}"/>
              </a:ext>
            </a:extLst>
          </p:cNvPr>
          <p:cNvSpPr txBox="1"/>
          <p:nvPr/>
        </p:nvSpPr>
        <p:spPr>
          <a:xfrm>
            <a:off x="666073" y="882832"/>
            <a:ext cx="6103736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C4.5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算法</a:t>
            </a:r>
            <a:endParaRPr lang="en-US" altLang="zh-CN" sz="2800" dirty="0">
              <a:solidFill>
                <a:srgbClr val="002E7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6533EFB-B035-4F61-9A32-57021E869F3F}"/>
              </a:ext>
            </a:extLst>
          </p:cNvPr>
          <p:cNvSpPr txBox="1"/>
          <p:nvPr/>
        </p:nvSpPr>
        <p:spPr>
          <a:xfrm>
            <a:off x="819246" y="1448290"/>
            <a:ext cx="1042253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输入：训练数据集 D，特征集 A 阈值 ε；</a:t>
            </a:r>
            <a:endParaRPr lang="en-US" altLang="zh-CN" dirty="0"/>
          </a:p>
          <a:p>
            <a:r>
              <a:rPr lang="zh-CN" altLang="en-US" dirty="0"/>
              <a:t>输出：决策树 T。</a:t>
            </a:r>
            <a:endParaRPr lang="en-US" altLang="zh-CN" dirty="0"/>
          </a:p>
          <a:p>
            <a:pPr marL="342900" indent="-342900">
              <a:buAutoNum type="arabicParenBoth"/>
            </a:pPr>
            <a:r>
              <a:rPr lang="zh-CN" altLang="en-US" dirty="0"/>
              <a:t>若 D 中所有实例属于同一类 C</a:t>
            </a:r>
            <a:r>
              <a:rPr lang="zh-CN" altLang="en-US" baseline="-25000" dirty="0"/>
              <a:t>k</a:t>
            </a:r>
            <a:r>
              <a:rPr lang="zh-CN" altLang="en-US" dirty="0"/>
              <a:t>，则 T 为单结点树，并将类 C</a:t>
            </a:r>
            <a:r>
              <a:rPr lang="zh-CN" altLang="en-US" baseline="-25000" dirty="0"/>
              <a:t>k</a:t>
            </a:r>
            <a:r>
              <a:rPr lang="zh-CN" altLang="en-US" dirty="0"/>
              <a:t> 作为该结点的类标记，返回 T；</a:t>
            </a:r>
            <a:endParaRPr lang="en-US" altLang="zh-CN" dirty="0"/>
          </a:p>
          <a:p>
            <a:pPr marL="342900" indent="-342900">
              <a:buAutoNum type="arabicParenBoth"/>
            </a:pPr>
            <a:r>
              <a:rPr lang="zh-CN" altLang="en-US" dirty="0"/>
              <a:t>若 A = ∅，则 T 为单结点树，并将 D 中实例数最大的类 C</a:t>
            </a:r>
            <a:r>
              <a:rPr lang="zh-CN" altLang="en-US" baseline="-25000" dirty="0"/>
              <a:t>k</a:t>
            </a:r>
            <a:r>
              <a:rPr lang="zh-CN" altLang="en-US" dirty="0"/>
              <a:t> 作为该结点的类标记，返回 T；</a:t>
            </a:r>
            <a:endParaRPr lang="en-US" altLang="zh-CN" dirty="0"/>
          </a:p>
          <a:p>
            <a:pPr marL="342900" indent="-342900">
              <a:buAutoNum type="arabicParenBoth"/>
            </a:pPr>
            <a:r>
              <a:rPr lang="zh-CN" altLang="en-US" dirty="0"/>
              <a:t>否则，</a:t>
            </a:r>
            <a:r>
              <a:rPr lang="zh-CN" altLang="en-US" dirty="0">
                <a:solidFill>
                  <a:srgbClr val="C00000"/>
                </a:solidFill>
              </a:rPr>
              <a:t>计算 A 中各特征对 D 的</a:t>
            </a:r>
            <a:r>
              <a:rPr lang="zh-CN" altLang="en-US" b="1" dirty="0">
                <a:solidFill>
                  <a:srgbClr val="C00000"/>
                </a:solidFill>
              </a:rPr>
              <a:t>信息增益比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AutoNum type="arabicParenBoth"/>
            </a:pPr>
            <a:r>
              <a:rPr lang="zh-CN" altLang="en-US" dirty="0"/>
              <a:t>找出</a:t>
            </a:r>
            <a:r>
              <a:rPr lang="zh-CN" altLang="en-US" b="1" dirty="0">
                <a:solidFill>
                  <a:srgbClr val="C00000"/>
                </a:solidFill>
              </a:rPr>
              <a:t>信息增益</a:t>
            </a:r>
            <a:r>
              <a:rPr lang="zh-CN" altLang="en-US" dirty="0"/>
              <a:t>高于平均水平的特征，再从中选择</a:t>
            </a:r>
            <a:r>
              <a:rPr lang="zh-CN" altLang="en-US" b="1" dirty="0">
                <a:solidFill>
                  <a:srgbClr val="C00000"/>
                </a:solidFill>
              </a:rPr>
              <a:t>信息增益比最高</a:t>
            </a:r>
            <a:r>
              <a:rPr lang="zh-CN" altLang="en-US" dirty="0"/>
              <a:t>的特征 A</a:t>
            </a:r>
            <a:r>
              <a:rPr lang="zh-CN" altLang="en-US" baseline="-25000" dirty="0"/>
              <a:t>g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(5) </a:t>
            </a:r>
            <a:r>
              <a:rPr lang="zh-CN" altLang="en-US" dirty="0"/>
              <a:t>如果 </a:t>
            </a:r>
            <a:r>
              <a:rPr lang="en-US" altLang="zh-CN" dirty="0"/>
              <a:t>A</a:t>
            </a:r>
            <a:r>
              <a:rPr lang="en-US" altLang="zh-CN" baseline="-25000" dirty="0"/>
              <a:t>g</a:t>
            </a:r>
            <a:r>
              <a:rPr lang="en-US" altLang="zh-CN" dirty="0"/>
              <a:t> </a:t>
            </a:r>
            <a:r>
              <a:rPr lang="zh-CN" altLang="en-US" dirty="0"/>
              <a:t>的信息增益比小于阈值 ε</a:t>
            </a:r>
            <a:r>
              <a:rPr lang="en-US" altLang="zh-CN" dirty="0"/>
              <a:t>, </a:t>
            </a:r>
            <a:r>
              <a:rPr lang="zh-CN" altLang="en-US" dirty="0"/>
              <a:t>则置 </a:t>
            </a:r>
            <a:r>
              <a:rPr lang="en-US" altLang="zh-CN" dirty="0"/>
              <a:t>T </a:t>
            </a:r>
            <a:r>
              <a:rPr lang="zh-CN" altLang="en-US" dirty="0"/>
              <a:t>为单结点树</a:t>
            </a:r>
            <a:r>
              <a:rPr lang="en-US" altLang="zh-CN" dirty="0"/>
              <a:t>, </a:t>
            </a:r>
            <a:r>
              <a:rPr lang="zh-CN" altLang="en-US" dirty="0"/>
              <a:t>并将 </a:t>
            </a:r>
            <a:r>
              <a:rPr lang="en-US" altLang="zh-CN" dirty="0"/>
              <a:t>D </a:t>
            </a:r>
            <a:r>
              <a:rPr lang="zh-CN" altLang="en-US" dirty="0"/>
              <a:t>中实例数最大的类 </a:t>
            </a:r>
            <a:r>
              <a:rPr lang="en-US" altLang="zh-CN" dirty="0"/>
              <a:t>C</a:t>
            </a:r>
            <a:r>
              <a:rPr lang="en-US" altLang="zh-CN" baseline="-25000" dirty="0"/>
              <a:t>k</a:t>
            </a:r>
            <a:r>
              <a:rPr lang="en-US" altLang="zh-CN" dirty="0"/>
              <a:t> </a:t>
            </a:r>
            <a:r>
              <a:rPr lang="zh-CN" altLang="en-US" dirty="0"/>
              <a:t>作为该结点的类标记</a:t>
            </a:r>
            <a:r>
              <a:rPr lang="en-US" altLang="zh-CN" dirty="0"/>
              <a:t>, </a:t>
            </a:r>
            <a:r>
              <a:rPr lang="zh-CN" altLang="en-US" dirty="0"/>
              <a:t>返回 </a:t>
            </a:r>
            <a:r>
              <a:rPr lang="en-US" altLang="zh-CN" dirty="0"/>
              <a:t>T;</a:t>
            </a:r>
          </a:p>
          <a:p>
            <a:r>
              <a:rPr lang="en-US" altLang="zh-CN" dirty="0"/>
              <a:t>(6) </a:t>
            </a:r>
            <a:r>
              <a:rPr lang="zh-CN" altLang="en-US" dirty="0"/>
              <a:t>否则</a:t>
            </a:r>
            <a:r>
              <a:rPr lang="en-US" altLang="zh-CN" dirty="0"/>
              <a:t>, </a:t>
            </a:r>
            <a:r>
              <a:rPr lang="zh-CN" altLang="en-US" dirty="0"/>
              <a:t>对 </a:t>
            </a:r>
            <a:r>
              <a:rPr lang="en-US" altLang="zh-CN" dirty="0"/>
              <a:t>A</a:t>
            </a:r>
            <a:r>
              <a:rPr lang="en-US" altLang="zh-CN" baseline="-25000" dirty="0"/>
              <a:t>g</a:t>
            </a:r>
            <a:r>
              <a:rPr lang="en-US" altLang="zh-CN" dirty="0"/>
              <a:t> </a:t>
            </a:r>
            <a:r>
              <a:rPr lang="zh-CN" altLang="en-US" dirty="0"/>
              <a:t>的每一可能值 </a:t>
            </a:r>
            <a:r>
              <a:rPr lang="en-US" altLang="zh-CN" dirty="0"/>
              <a:t>a</a:t>
            </a:r>
            <a:r>
              <a:rPr lang="en-US" altLang="zh-CN" baseline="-25000" dirty="0"/>
              <a:t>i</a:t>
            </a:r>
            <a:r>
              <a:rPr lang="en-US" altLang="zh-CN" dirty="0"/>
              <a:t>, </a:t>
            </a:r>
            <a:r>
              <a:rPr lang="zh-CN" altLang="en-US" dirty="0"/>
              <a:t>依 </a:t>
            </a:r>
            <a:r>
              <a:rPr lang="en-US" altLang="zh-CN" dirty="0"/>
              <a:t>A</a:t>
            </a:r>
            <a:r>
              <a:rPr lang="en-US" altLang="zh-CN" baseline="-25000" dirty="0"/>
              <a:t>g</a:t>
            </a:r>
            <a:r>
              <a:rPr lang="en-US" altLang="zh-CN" dirty="0"/>
              <a:t>=a</a:t>
            </a:r>
            <a:r>
              <a:rPr lang="en-US" altLang="zh-CN" baseline="-25000" dirty="0"/>
              <a:t>i</a:t>
            </a:r>
            <a:r>
              <a:rPr lang="en-US" altLang="zh-CN" dirty="0"/>
              <a:t> </a:t>
            </a:r>
            <a:r>
              <a:rPr lang="zh-CN" altLang="en-US" dirty="0"/>
              <a:t>将 </a:t>
            </a:r>
            <a:r>
              <a:rPr lang="en-US" altLang="zh-CN" dirty="0"/>
              <a:t>D </a:t>
            </a:r>
            <a:r>
              <a:rPr lang="zh-CN" altLang="en-US" dirty="0"/>
              <a:t>分割为若干非空子集 </a:t>
            </a:r>
            <a:r>
              <a:rPr lang="en-US" altLang="zh-CN" dirty="0"/>
              <a:t>D</a:t>
            </a:r>
            <a:r>
              <a:rPr lang="en-US" altLang="zh-CN" baseline="-25000" dirty="0"/>
              <a:t>i</a:t>
            </a:r>
            <a:r>
              <a:rPr lang="en-US" altLang="zh-CN" dirty="0"/>
              <a:t>, </a:t>
            </a:r>
            <a:r>
              <a:rPr lang="zh-CN" altLang="en-US" dirty="0"/>
              <a:t>将 </a:t>
            </a:r>
            <a:r>
              <a:rPr lang="en-US" altLang="zh-CN" dirty="0"/>
              <a:t>D</a:t>
            </a:r>
            <a:r>
              <a:rPr lang="en-US" altLang="zh-CN" baseline="-25000" dirty="0"/>
              <a:t>i</a:t>
            </a:r>
            <a:r>
              <a:rPr lang="en-US" altLang="zh-CN" dirty="0"/>
              <a:t> </a:t>
            </a:r>
            <a:r>
              <a:rPr lang="zh-CN" altLang="en-US" dirty="0"/>
              <a:t>中实例数最大的类作为标记</a:t>
            </a:r>
            <a:r>
              <a:rPr lang="en-US" altLang="zh-CN" dirty="0"/>
              <a:t>, </a:t>
            </a:r>
            <a:r>
              <a:rPr lang="zh-CN" altLang="en-US" dirty="0"/>
              <a:t>构建子结点</a:t>
            </a:r>
            <a:r>
              <a:rPr lang="en-US" altLang="zh-CN" dirty="0"/>
              <a:t>, </a:t>
            </a:r>
            <a:r>
              <a:rPr lang="zh-CN" altLang="en-US" dirty="0"/>
              <a:t>由结点及其子结点构成树 </a:t>
            </a:r>
            <a:r>
              <a:rPr lang="en-US" altLang="zh-CN" dirty="0"/>
              <a:t>T, </a:t>
            </a:r>
            <a:r>
              <a:rPr lang="zh-CN" altLang="en-US" dirty="0"/>
              <a:t>返回 </a:t>
            </a:r>
            <a:r>
              <a:rPr lang="en-US" altLang="zh-CN" dirty="0"/>
              <a:t>T;</a:t>
            </a:r>
          </a:p>
          <a:p>
            <a:r>
              <a:rPr lang="en-US" altLang="zh-CN" dirty="0"/>
              <a:t>(7) </a:t>
            </a:r>
            <a:r>
              <a:rPr lang="zh-CN" altLang="en-US" dirty="0"/>
              <a:t>对第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个子结点</a:t>
            </a:r>
            <a:r>
              <a:rPr lang="en-US" altLang="zh-CN" dirty="0"/>
              <a:t>, </a:t>
            </a:r>
            <a:r>
              <a:rPr lang="zh-CN" altLang="en-US" dirty="0"/>
              <a:t>以 </a:t>
            </a:r>
            <a:r>
              <a:rPr lang="en-US" altLang="zh-CN" dirty="0"/>
              <a:t>D</a:t>
            </a:r>
            <a:r>
              <a:rPr lang="en-US" altLang="zh-CN" baseline="-25000" dirty="0"/>
              <a:t>i</a:t>
            </a:r>
            <a:r>
              <a:rPr lang="en-US" altLang="zh-CN" dirty="0"/>
              <a:t> </a:t>
            </a:r>
            <a:r>
              <a:rPr lang="zh-CN" altLang="en-US" dirty="0"/>
              <a:t>为训练集</a:t>
            </a:r>
            <a:r>
              <a:rPr lang="en-US" altLang="zh-CN" dirty="0"/>
              <a:t>, </a:t>
            </a:r>
            <a:r>
              <a:rPr lang="zh-CN" altLang="en-US" dirty="0"/>
              <a:t>以 </a:t>
            </a:r>
            <a:r>
              <a:rPr lang="en-US" altLang="zh-CN" dirty="0"/>
              <a:t>A-{A</a:t>
            </a:r>
            <a:r>
              <a:rPr lang="en-US" altLang="zh-CN" baseline="-25000" dirty="0"/>
              <a:t>g</a:t>
            </a:r>
            <a:r>
              <a:rPr lang="en-US" altLang="zh-CN" dirty="0"/>
              <a:t>} </a:t>
            </a:r>
            <a:r>
              <a:rPr lang="zh-CN" altLang="en-US" dirty="0"/>
              <a:t>为特征集</a:t>
            </a:r>
            <a:r>
              <a:rPr lang="en-US" altLang="zh-CN" dirty="0"/>
              <a:t>, </a:t>
            </a:r>
            <a:r>
              <a:rPr lang="zh-CN" altLang="en-US" dirty="0"/>
              <a:t>递归地调用步 </a:t>
            </a:r>
            <a:r>
              <a:rPr lang="en-US" altLang="zh-CN" dirty="0"/>
              <a:t>(1) ~ </a:t>
            </a:r>
            <a:r>
              <a:rPr lang="zh-CN" altLang="en-US" dirty="0"/>
              <a:t>步 </a:t>
            </a:r>
            <a:r>
              <a:rPr lang="en-US" altLang="zh-CN" dirty="0"/>
              <a:t>(5), </a:t>
            </a:r>
            <a:r>
              <a:rPr lang="zh-CN" altLang="en-US" dirty="0"/>
              <a:t>得到子树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i</a:t>
            </a:r>
            <a:r>
              <a:rPr lang="en-US" altLang="zh-CN" dirty="0"/>
              <a:t>, </a:t>
            </a:r>
            <a:r>
              <a:rPr lang="zh-CN" altLang="en-US" dirty="0"/>
              <a:t>返回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i</a:t>
            </a:r>
            <a:r>
              <a:rPr lang="zh-CN" altLang="en-US" dirty="0"/>
              <a:t>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DB19B6-FB7F-4976-B127-C504158F4040}"/>
              </a:ext>
            </a:extLst>
          </p:cNvPr>
          <p:cNvSpPr txBox="1"/>
          <p:nvPr/>
        </p:nvSpPr>
        <p:spPr>
          <a:xfrm>
            <a:off x="902560" y="5342510"/>
            <a:ext cx="1033921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(3)</a:t>
            </a:r>
            <a:r>
              <a:rPr lang="zh-CN" altLang="en-US" dirty="0">
                <a:solidFill>
                  <a:srgbClr val="C00000"/>
                </a:solidFill>
              </a:rPr>
              <a:t>、</a:t>
            </a:r>
            <a:r>
              <a:rPr lang="en-US" altLang="zh-CN" dirty="0">
                <a:solidFill>
                  <a:srgbClr val="C00000"/>
                </a:solidFill>
              </a:rPr>
              <a:t> (4)</a:t>
            </a:r>
            <a:r>
              <a:rPr lang="zh-CN" altLang="en-US" dirty="0">
                <a:solidFill>
                  <a:srgbClr val="C00000"/>
                </a:solidFill>
              </a:rPr>
              <a:t>是启发式上的改进，如果直接选择信息增益比最大的特征划分，则对可取值数目较少的特征有所偏好</a:t>
            </a:r>
            <a:r>
              <a:rPr lang="zh-CN" altLang="en-US" sz="2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72288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DB419B-4C6B-47A9-B8EE-077E93BEB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D07A385-8196-4C45-B46D-23AD80377F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50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4154B0-F0F8-4CB6-A286-D38B3EADDCF0}"/>
              </a:ext>
            </a:extLst>
          </p:cNvPr>
          <p:cNvSpPr txBox="1"/>
          <p:nvPr/>
        </p:nvSpPr>
        <p:spPr>
          <a:xfrm>
            <a:off x="563956" y="1022081"/>
            <a:ext cx="7247897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CART (Classification and Regression Tree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3D5E32-3C34-44A2-8540-E02439723591}"/>
              </a:ext>
            </a:extLst>
          </p:cNvPr>
          <p:cNvSpPr txBox="1"/>
          <p:nvPr/>
        </p:nvSpPr>
        <p:spPr>
          <a:xfrm>
            <a:off x="677677" y="2119939"/>
            <a:ext cx="6103736" cy="3247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算法主要由两部分组成</a:t>
            </a:r>
            <a:r>
              <a:rPr kumimoji="1" lang="zh-CN" altLang="zh-CN" sz="2800" dirty="0"/>
              <a:t>：</a:t>
            </a:r>
            <a:endParaRPr kumimoji="1" lang="en-US" altLang="zh-CN" sz="2800" dirty="0"/>
          </a:p>
          <a:p>
            <a:pPr marL="514350" lvl="1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决策树生成</a:t>
            </a:r>
            <a:endParaRPr kumimoji="1" lang="en-US" altLang="zh-CN" sz="2800" dirty="0"/>
          </a:p>
          <a:p>
            <a:pPr marL="514350" lvl="1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决策树剪枝</a:t>
            </a:r>
            <a:endParaRPr kumimoji="1" lang="en-US" altLang="zh-CN" sz="2800" dirty="0"/>
          </a:p>
          <a:p>
            <a:pPr marL="5715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分类树：</a:t>
            </a:r>
            <a:r>
              <a:rPr kumimoji="1" lang="en-US" altLang="zh-CN" sz="2800" dirty="0"/>
              <a:t>Gini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Index</a:t>
            </a:r>
          </a:p>
          <a:p>
            <a:pPr marL="5715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回归树：平方误差最小化</a:t>
            </a:r>
            <a:endParaRPr kumimoji="1" lang="en-US" altLang="zh-CN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370B8B-3F70-4D64-AF60-BDA36F0C4398}"/>
              </a:ext>
            </a:extLst>
          </p:cNvPr>
          <p:cNvSpPr txBox="1"/>
          <p:nvPr/>
        </p:nvSpPr>
        <p:spPr>
          <a:xfrm>
            <a:off x="677677" y="1596719"/>
            <a:ext cx="1058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模型由</a:t>
            </a:r>
            <a:r>
              <a:rPr kumimoji="1" lang="en-US" altLang="zh-CN" sz="2800" dirty="0" err="1"/>
              <a:t>Breiman</a:t>
            </a:r>
            <a:r>
              <a:rPr kumimoji="1" lang="zh-CN" altLang="en-US" sz="2800" dirty="0"/>
              <a:t>等人在</a:t>
            </a:r>
            <a:r>
              <a:rPr kumimoji="1" lang="en-US" altLang="zh-CN" sz="2800" dirty="0"/>
              <a:t>1984</a:t>
            </a:r>
            <a:r>
              <a:rPr kumimoji="1" lang="zh-CN" altLang="en-US" sz="2800" dirty="0"/>
              <a:t>年提出</a:t>
            </a:r>
          </a:p>
        </p:txBody>
      </p:sp>
    </p:spTree>
    <p:extLst>
      <p:ext uri="{BB962C8B-B14F-4D97-AF65-F5344CB8AC3E}">
        <p14:creationId xmlns:p14="http://schemas.microsoft.com/office/powerpoint/2010/main" val="3198023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981AB1-C22D-4AB5-9578-05A844013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18FA9F3-A91C-4FD6-B179-97ABEF2388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51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26D6835-230D-4B33-A5C1-F26CAF4B335C}"/>
              </a:ext>
            </a:extLst>
          </p:cNvPr>
          <p:cNvSpPr txBox="1"/>
          <p:nvPr/>
        </p:nvSpPr>
        <p:spPr>
          <a:xfrm>
            <a:off x="563956" y="1022081"/>
            <a:ext cx="7247897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CART 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算法中分类树的生成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216204-0A67-477D-A8B6-3EACB72FBB55}"/>
              </a:ext>
            </a:extLst>
          </p:cNvPr>
          <p:cNvSpPr txBox="1"/>
          <p:nvPr/>
        </p:nvSpPr>
        <p:spPr>
          <a:xfrm>
            <a:off x="626620" y="1502212"/>
            <a:ext cx="10861400" cy="518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基尼指数</a:t>
            </a:r>
          </a:p>
          <a:p>
            <a:pPr marL="5715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分类问题中，假设有</a:t>
            </a:r>
            <a:r>
              <a:rPr kumimoji="1" lang="en-US" altLang="zh-CN" sz="2800" dirty="0"/>
              <a:t>k</a:t>
            </a:r>
            <a:r>
              <a:rPr kumimoji="1" lang="zh-CN" altLang="en-US" sz="2800" dirty="0"/>
              <a:t>个类，样本点属于</a:t>
            </a:r>
            <a:r>
              <a:rPr kumimoji="1" lang="en-US" altLang="zh-CN" sz="2800" dirty="0"/>
              <a:t>k</a:t>
            </a:r>
            <a:r>
              <a:rPr kumimoji="1" lang="zh-CN" altLang="en-US" sz="2800" dirty="0"/>
              <a:t>的概率</a:t>
            </a:r>
            <a:r>
              <a:rPr kumimoji="1" lang="en-US" altLang="zh-CN" sz="2800" dirty="0"/>
              <a:t>Pk</a:t>
            </a:r>
            <a:r>
              <a:rPr kumimoji="1" lang="zh-CN" altLang="en-US" sz="2800" dirty="0"/>
              <a:t>，则概率分布的基尼指数：</a:t>
            </a:r>
            <a:endParaRPr kumimoji="1" lang="en-US" altLang="zh-CN" sz="2800" dirty="0"/>
          </a:p>
          <a:p>
            <a:pPr marL="5715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二分类问题：</a:t>
            </a:r>
          </a:p>
          <a:p>
            <a:pPr marL="5715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对给定的样本集合</a:t>
            </a:r>
            <a:r>
              <a:rPr kumimoji="1" lang="en-US" altLang="zh-CN" sz="2800" dirty="0"/>
              <a:t>D</a:t>
            </a:r>
            <a:r>
              <a:rPr kumimoji="1" lang="zh-CN" altLang="en-US" sz="2800" dirty="0"/>
              <a:t>，基尼指数：</a:t>
            </a:r>
          </a:p>
          <a:p>
            <a:pPr marL="5715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直观来说，基尼指数衡量的是数据集</a:t>
            </a:r>
            <a:r>
              <a:rPr kumimoji="1" lang="en-US" altLang="zh-CN" sz="2800" dirty="0"/>
              <a:t>D</a:t>
            </a:r>
            <a:r>
              <a:rPr kumimoji="1" lang="zh-CN" altLang="en-US" sz="2800" dirty="0"/>
              <a:t>的纯度（即一个数据集中样本类别的一致性程度‌），反映了从数据集</a:t>
            </a:r>
            <a:r>
              <a:rPr kumimoji="1" lang="en-US" altLang="zh-CN" sz="2800" dirty="0"/>
              <a:t>D</a:t>
            </a:r>
            <a:r>
              <a:rPr kumimoji="1" lang="zh-CN" altLang="en-US" sz="2800" dirty="0"/>
              <a:t>中随机抽取两个样本，其类别标记不一致的概率。因此，</a:t>
            </a:r>
            <a:r>
              <a:rPr kumimoji="1" lang="zh-CN" altLang="en-US" sz="2800" dirty="0">
                <a:solidFill>
                  <a:srgbClr val="C00000"/>
                </a:solidFill>
              </a:rPr>
              <a:t>基尼指数越小，数据集</a:t>
            </a:r>
            <a:r>
              <a:rPr kumimoji="1" lang="en-US" altLang="zh-CN" sz="2800" dirty="0">
                <a:solidFill>
                  <a:srgbClr val="C00000"/>
                </a:solidFill>
              </a:rPr>
              <a:t>D</a:t>
            </a:r>
            <a:r>
              <a:rPr kumimoji="1" lang="zh-CN" altLang="en-US" sz="2800" dirty="0">
                <a:solidFill>
                  <a:srgbClr val="C00000"/>
                </a:solidFill>
              </a:rPr>
              <a:t>的纯度越高</a:t>
            </a:r>
            <a:r>
              <a:rPr kumimoji="1" lang="zh-CN" altLang="en-US" sz="2800" dirty="0"/>
              <a:t>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B291690-4E04-4093-B735-901179E83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144" y="2858458"/>
            <a:ext cx="4344536" cy="75941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8A4B805-FB11-416C-B0F9-D86BFC957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878" y="3617869"/>
            <a:ext cx="3078122" cy="50210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5571D8D-CB71-43DD-9BDC-A54EC7815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672" y="3903404"/>
            <a:ext cx="3240361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217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0C8AA-82A8-4DB6-AD25-69E2B567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44B7949-7133-4306-97A0-56CDA743CA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52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781225-EAFD-4F9B-BD09-6EC08061BA01}"/>
              </a:ext>
            </a:extLst>
          </p:cNvPr>
          <p:cNvSpPr txBox="1"/>
          <p:nvPr/>
        </p:nvSpPr>
        <p:spPr>
          <a:xfrm>
            <a:off x="563956" y="1022081"/>
            <a:ext cx="456503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CART 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算法中分类树的生成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ACEEEDB-EC12-4064-B3A8-1DE22BE75AE1}"/>
              </a:ext>
            </a:extLst>
          </p:cNvPr>
          <p:cNvSpPr txBox="1">
            <a:spLocks/>
          </p:cNvSpPr>
          <p:nvPr/>
        </p:nvSpPr>
        <p:spPr>
          <a:xfrm>
            <a:off x="570035" y="1664855"/>
            <a:ext cx="10193215" cy="5373216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如果样本集合</a:t>
            </a:r>
            <a:r>
              <a:rPr kumimoji="1" lang="en-US" altLang="zh-CN" dirty="0"/>
              <a:t>D</a:t>
            </a:r>
            <a:r>
              <a:rPr kumimoji="1" lang="zh-CN" altLang="en-US" dirty="0"/>
              <a:t>根据特征</a:t>
            </a:r>
            <a:r>
              <a:rPr kumimoji="1" lang="en-US" altLang="zh-CN" dirty="0"/>
              <a:t>A</a:t>
            </a:r>
            <a:r>
              <a:rPr kumimoji="1" lang="zh-CN" altLang="en-US" dirty="0"/>
              <a:t>是否为</a:t>
            </a:r>
            <a:r>
              <a:rPr kumimoji="1" lang="en-US" altLang="zh-CN" dirty="0"/>
              <a:t>a</a:t>
            </a:r>
            <a:r>
              <a:rPr kumimoji="1" lang="zh-CN" altLang="en-US" dirty="0"/>
              <a:t>被分割成</a:t>
            </a:r>
            <a:r>
              <a:rPr kumimoji="1" lang="en-US" altLang="zh-CN" dirty="0"/>
              <a:t>D1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D2</a:t>
            </a:r>
            <a:r>
              <a:rPr kumimoji="1" lang="zh-CN" altLang="en-US" dirty="0"/>
              <a:t>，即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则在特征</a:t>
            </a:r>
            <a:r>
              <a:rPr kumimoji="1" lang="en-US" altLang="zh-CN" dirty="0"/>
              <a:t>A</a:t>
            </a:r>
            <a:r>
              <a:rPr kumimoji="1" lang="zh-CN" altLang="en-US" dirty="0"/>
              <a:t>的条件下，集合</a:t>
            </a:r>
            <a:r>
              <a:rPr kumimoji="1" lang="en-US" altLang="zh-CN" dirty="0"/>
              <a:t>D</a:t>
            </a:r>
            <a:r>
              <a:rPr kumimoji="1" lang="zh-CN" altLang="en-US" dirty="0"/>
              <a:t>的基尼指数：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8BD8567-8B98-4C0D-922F-25AA1CA1C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92" y="2147547"/>
            <a:ext cx="5968113" cy="4290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6E48597-5CFB-42FB-9C18-85E9E771D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592" y="3145637"/>
            <a:ext cx="4844867" cy="77189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1D04930-EB52-498E-9BAD-990F8A086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6459" y="3946037"/>
            <a:ext cx="4173158" cy="215352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F8B2962-5476-4B54-91F2-BBBD0795FA0F}"/>
              </a:ext>
            </a:extLst>
          </p:cNvPr>
          <p:cNvSpPr txBox="1"/>
          <p:nvPr/>
        </p:nvSpPr>
        <p:spPr>
          <a:xfrm>
            <a:off x="7927626" y="6108319"/>
            <a:ext cx="41219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40403E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</a:t>
            </a:r>
            <a:r>
              <a:rPr lang="zh-CN" altLang="en-US" sz="1400" dirty="0">
                <a:solidFill>
                  <a:srgbClr val="27272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类分类中基尼指数、熵之半和分类误差率的关系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2D2884-16AC-456A-B7AE-BC3F94C9B817}"/>
              </a:ext>
            </a:extLst>
          </p:cNvPr>
          <p:cNvSpPr txBox="1"/>
          <p:nvPr/>
        </p:nvSpPr>
        <p:spPr>
          <a:xfrm>
            <a:off x="680582" y="4144350"/>
            <a:ext cx="7136497" cy="195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dirty="0"/>
              <a:t>二类分类问题中基尼指数</a:t>
            </a:r>
            <a:r>
              <a:rPr kumimoji="1" lang="en-US" altLang="zh-CN" sz="2800" dirty="0"/>
              <a:t>Gini(p)</a:t>
            </a:r>
            <a:r>
              <a:rPr kumimoji="1" lang="zh-CN" altLang="en-US" sz="2800" dirty="0"/>
              <a:t>、熵</a:t>
            </a:r>
            <a:r>
              <a:rPr kumimoji="1" lang="en-US" altLang="zh-CN" sz="2800" dirty="0"/>
              <a:t>(</a:t>
            </a:r>
            <a:r>
              <a:rPr kumimoji="1" lang="zh-CN" altLang="en-US" sz="2800" dirty="0"/>
              <a:t>单位比特</a:t>
            </a:r>
            <a:r>
              <a:rPr kumimoji="1" lang="en-US" altLang="zh-CN" sz="2800" dirty="0"/>
              <a:t>)</a:t>
            </a:r>
            <a:r>
              <a:rPr kumimoji="1" lang="zh-CN" altLang="en-US" sz="2800" dirty="0"/>
              <a:t>之半</a:t>
            </a:r>
            <a:r>
              <a:rPr kumimoji="1" lang="en-US" altLang="zh-CN" sz="2800" dirty="0"/>
              <a:t>H(p)/2</a:t>
            </a:r>
            <a:r>
              <a:rPr kumimoji="1" lang="zh-CN" altLang="en-US" sz="2800" dirty="0"/>
              <a:t>和分类误差率的关系。横坐标表示概率</a:t>
            </a:r>
            <a:r>
              <a:rPr kumimoji="1" lang="en-US" altLang="zh-CN" sz="2800" dirty="0"/>
              <a:t>p, </a:t>
            </a:r>
            <a:r>
              <a:rPr kumimoji="1" lang="zh-CN" altLang="en-US" sz="2800" dirty="0"/>
              <a:t>纵坐标表示损失。</a:t>
            </a:r>
          </a:p>
        </p:txBody>
      </p:sp>
    </p:spTree>
    <p:extLst>
      <p:ext uri="{BB962C8B-B14F-4D97-AF65-F5344CB8AC3E}">
        <p14:creationId xmlns:p14="http://schemas.microsoft.com/office/powerpoint/2010/main" val="1809684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课上思考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53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A20F0D-18F6-8D46-B5DD-04308A33EA87}"/>
              </a:ext>
            </a:extLst>
          </p:cNvPr>
          <p:cNvSpPr/>
          <p:nvPr/>
        </p:nvSpPr>
        <p:spPr>
          <a:xfrm>
            <a:off x="1812269" y="907641"/>
            <a:ext cx="871568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342900"/>
            <a:r>
              <a:rPr lang="zh-CN" altLang="en-US" sz="32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头脑风暴</a:t>
            </a:r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67C29371-3484-A34C-A0B9-1EFCD4AFD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74" y="1767718"/>
            <a:ext cx="2983997" cy="4494645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874577FD-1557-9C48-B575-4721C6D2C216}"/>
              </a:ext>
            </a:extLst>
          </p:cNvPr>
          <p:cNvSpPr txBox="1"/>
          <p:nvPr/>
        </p:nvSpPr>
        <p:spPr>
          <a:xfrm>
            <a:off x="4161767" y="2044428"/>
            <a:ext cx="6667144" cy="1830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4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基尼指数比信息增益比的优势是什么呢？</a:t>
            </a:r>
            <a:endParaRPr lang="en-CN" sz="4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2163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课上思考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54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A20F0D-18F6-8D46-B5DD-04308A33EA87}"/>
              </a:ext>
            </a:extLst>
          </p:cNvPr>
          <p:cNvSpPr/>
          <p:nvPr/>
        </p:nvSpPr>
        <p:spPr>
          <a:xfrm>
            <a:off x="1812269" y="907641"/>
            <a:ext cx="871568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342900"/>
            <a:r>
              <a:rPr lang="zh-CN" altLang="en-US" sz="32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头脑风暴</a:t>
            </a:r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67C29371-3484-A34C-A0B9-1EFCD4AFD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74" y="1767718"/>
            <a:ext cx="2983997" cy="4494645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874577FD-1557-9C48-B575-4721C6D2C216}"/>
              </a:ext>
            </a:extLst>
          </p:cNvPr>
          <p:cNvSpPr txBox="1"/>
          <p:nvPr/>
        </p:nvSpPr>
        <p:spPr>
          <a:xfrm>
            <a:off x="4161767" y="2044428"/>
            <a:ext cx="6667144" cy="1830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4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基尼指数比信息增益比的优势是什么呢？</a:t>
            </a:r>
            <a:endParaRPr lang="en-CN" sz="4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80C84B-9425-47AF-93A8-72C16F9DDE03}"/>
              </a:ext>
            </a:extLst>
          </p:cNvPr>
          <p:cNvSpPr txBox="1"/>
          <p:nvPr/>
        </p:nvSpPr>
        <p:spPr>
          <a:xfrm>
            <a:off x="4203540" y="4015040"/>
            <a:ext cx="71916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基尼指数省略了对数计算，计算效率更高</a:t>
            </a:r>
          </a:p>
        </p:txBody>
      </p:sp>
    </p:spTree>
    <p:extLst>
      <p:ext uri="{BB962C8B-B14F-4D97-AF65-F5344CB8AC3E}">
        <p14:creationId xmlns:p14="http://schemas.microsoft.com/office/powerpoint/2010/main" val="158348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0C8AA-82A8-4DB6-AD25-69E2B567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44B7949-7133-4306-97A0-56CDA743CA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55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781225-EAFD-4F9B-BD09-6EC08061BA01}"/>
              </a:ext>
            </a:extLst>
          </p:cNvPr>
          <p:cNvSpPr txBox="1"/>
          <p:nvPr/>
        </p:nvSpPr>
        <p:spPr>
          <a:xfrm>
            <a:off x="563956" y="1022081"/>
            <a:ext cx="456503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CART 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算法中分类树的生成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ACEEEDB-EC12-4064-B3A8-1DE22BE75AE1}"/>
              </a:ext>
            </a:extLst>
          </p:cNvPr>
          <p:cNvSpPr txBox="1">
            <a:spLocks/>
          </p:cNvSpPr>
          <p:nvPr/>
        </p:nvSpPr>
        <p:spPr>
          <a:xfrm>
            <a:off x="570035" y="1664855"/>
            <a:ext cx="10193215" cy="5373216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如果样本集合</a:t>
            </a:r>
            <a:r>
              <a:rPr kumimoji="1" lang="en-US" altLang="zh-CN" dirty="0"/>
              <a:t>D</a:t>
            </a:r>
            <a:r>
              <a:rPr kumimoji="1" lang="zh-CN" altLang="en-US" dirty="0"/>
              <a:t>根据特征</a:t>
            </a:r>
            <a:r>
              <a:rPr kumimoji="1" lang="en-US" altLang="zh-CN" dirty="0"/>
              <a:t>A</a:t>
            </a:r>
            <a:r>
              <a:rPr kumimoji="1" lang="zh-CN" altLang="en-US" dirty="0"/>
              <a:t>是否为</a:t>
            </a:r>
            <a:r>
              <a:rPr kumimoji="1" lang="en-US" altLang="zh-CN" dirty="0"/>
              <a:t>a</a:t>
            </a:r>
            <a:r>
              <a:rPr kumimoji="1" lang="zh-CN" altLang="en-US" dirty="0"/>
              <a:t>被分割成</a:t>
            </a:r>
            <a:r>
              <a:rPr kumimoji="1" lang="en-US" altLang="zh-CN" dirty="0"/>
              <a:t>D1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D2</a:t>
            </a:r>
            <a:r>
              <a:rPr kumimoji="1" lang="zh-CN" altLang="en-US" dirty="0"/>
              <a:t>，即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则在特征</a:t>
            </a:r>
            <a:r>
              <a:rPr kumimoji="1" lang="en-US" altLang="zh-CN" dirty="0"/>
              <a:t>A</a:t>
            </a:r>
            <a:r>
              <a:rPr kumimoji="1" lang="zh-CN" altLang="en-US" dirty="0"/>
              <a:t>的条件下，集合</a:t>
            </a:r>
            <a:r>
              <a:rPr kumimoji="1" lang="en-US" altLang="zh-CN" dirty="0"/>
              <a:t>D</a:t>
            </a:r>
            <a:r>
              <a:rPr kumimoji="1" lang="zh-CN" altLang="en-US" dirty="0"/>
              <a:t>的基尼指数：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8BD8567-8B98-4C0D-922F-25AA1CA1C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92" y="2147547"/>
            <a:ext cx="5968113" cy="4290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6E48597-5CFB-42FB-9C18-85E9E771D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592" y="3145637"/>
            <a:ext cx="4844867" cy="77189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1D04930-EB52-498E-9BAD-990F8A086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6459" y="3946037"/>
            <a:ext cx="4173158" cy="215352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F8B2962-5476-4B54-91F2-BBBD0795FA0F}"/>
              </a:ext>
            </a:extLst>
          </p:cNvPr>
          <p:cNvSpPr txBox="1"/>
          <p:nvPr/>
        </p:nvSpPr>
        <p:spPr>
          <a:xfrm>
            <a:off x="7927626" y="6108319"/>
            <a:ext cx="41219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40403E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</a:t>
            </a:r>
            <a:r>
              <a:rPr lang="zh-CN" altLang="en-US" sz="1400" dirty="0">
                <a:solidFill>
                  <a:srgbClr val="27272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类分类中基尼指数、熵之半和分类误差率的关系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2D2884-16AC-456A-B7AE-BC3F94C9B817}"/>
              </a:ext>
            </a:extLst>
          </p:cNvPr>
          <p:cNvSpPr txBox="1"/>
          <p:nvPr/>
        </p:nvSpPr>
        <p:spPr>
          <a:xfrm>
            <a:off x="680582" y="4144350"/>
            <a:ext cx="7136497" cy="195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dirty="0"/>
              <a:t>二类分类问题中基尼指数</a:t>
            </a:r>
            <a:r>
              <a:rPr kumimoji="1" lang="en-US" altLang="zh-CN" sz="2800" dirty="0"/>
              <a:t>Gini(p)</a:t>
            </a:r>
            <a:r>
              <a:rPr kumimoji="1" lang="zh-CN" altLang="en-US" sz="2800" dirty="0"/>
              <a:t>、熵</a:t>
            </a:r>
            <a:r>
              <a:rPr kumimoji="1" lang="en-US" altLang="zh-CN" sz="2800" dirty="0"/>
              <a:t>(</a:t>
            </a:r>
            <a:r>
              <a:rPr kumimoji="1" lang="zh-CN" altLang="en-US" sz="2800" dirty="0"/>
              <a:t>单位比特</a:t>
            </a:r>
            <a:r>
              <a:rPr kumimoji="1" lang="en-US" altLang="zh-CN" sz="2800" dirty="0"/>
              <a:t>)</a:t>
            </a:r>
            <a:r>
              <a:rPr kumimoji="1" lang="zh-CN" altLang="en-US" sz="2800" dirty="0"/>
              <a:t>之半</a:t>
            </a:r>
            <a:r>
              <a:rPr kumimoji="1" lang="en-US" altLang="zh-CN" sz="2800" dirty="0"/>
              <a:t>H(p)/2</a:t>
            </a:r>
            <a:r>
              <a:rPr kumimoji="1" lang="zh-CN" altLang="en-US" sz="2800" dirty="0"/>
              <a:t>和分类误差率的关系。横坐标表示概率</a:t>
            </a:r>
            <a:r>
              <a:rPr kumimoji="1" lang="en-US" altLang="zh-CN" sz="2800" dirty="0"/>
              <a:t>p, </a:t>
            </a:r>
            <a:r>
              <a:rPr kumimoji="1" lang="zh-CN" altLang="en-US" sz="2800" dirty="0"/>
              <a:t>纵坐标表示损失。</a:t>
            </a:r>
          </a:p>
        </p:txBody>
      </p:sp>
    </p:spTree>
    <p:extLst>
      <p:ext uri="{BB962C8B-B14F-4D97-AF65-F5344CB8AC3E}">
        <p14:creationId xmlns:p14="http://schemas.microsoft.com/office/powerpoint/2010/main" val="228196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94509-EF02-4B42-934E-E63B9990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6E1320B-7E2C-42D4-B58B-1C080E7E6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56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D880EA-69F7-4787-9A73-06B4FF6F9532}"/>
              </a:ext>
            </a:extLst>
          </p:cNvPr>
          <p:cNvSpPr txBox="1"/>
          <p:nvPr/>
        </p:nvSpPr>
        <p:spPr>
          <a:xfrm>
            <a:off x="563956" y="1022081"/>
            <a:ext cx="456503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CART 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算法中分类树的生成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E10144-07D1-4058-95CA-866F8AE6FCE5}"/>
              </a:ext>
            </a:extLst>
          </p:cNvPr>
          <p:cNvSpPr txBox="1"/>
          <p:nvPr/>
        </p:nvSpPr>
        <p:spPr>
          <a:xfrm>
            <a:off x="624298" y="1581253"/>
            <a:ext cx="10812664" cy="4351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 defTabSz="914377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输入：训练数据集</a:t>
            </a: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</a:rPr>
              <a:t>D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，停止计算条件</a:t>
            </a:r>
            <a:endParaRPr lang="en-US" altLang="zh-CN" sz="2800" dirty="0">
              <a:solidFill>
                <a:schemeClr val="bg2">
                  <a:lumMod val="10000"/>
                </a:schemeClr>
              </a:solidFill>
            </a:endParaRPr>
          </a:p>
          <a:p>
            <a:pPr marL="228594" indent="-228594" defTabSz="914377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输出：</a:t>
            </a: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</a:rPr>
              <a:t>CART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决策树</a:t>
            </a:r>
            <a:endParaRPr lang="en-US" altLang="zh-CN" sz="2800" dirty="0">
              <a:solidFill>
                <a:schemeClr val="bg2">
                  <a:lumMod val="10000"/>
                </a:schemeClr>
              </a:solidFill>
            </a:endParaRPr>
          </a:p>
          <a:p>
            <a:pPr marL="228594" indent="-228594" defTabSz="914377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从根节点开始，递归对每个结点操作，构建二叉决策树：</a:t>
            </a:r>
            <a:endParaRPr lang="en-US" altLang="zh-CN" sz="2800" dirty="0">
              <a:solidFill>
                <a:schemeClr val="bg2">
                  <a:lumMod val="10000"/>
                </a:schemeClr>
              </a:solidFill>
            </a:endParaRPr>
          </a:p>
          <a:p>
            <a:pPr marL="228594" indent="-228594" defTabSz="914377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2800" dirty="0">
                <a:solidFill>
                  <a:schemeClr val="bg2">
                    <a:lumMod val="10000"/>
                  </a:schemeClr>
                </a:solidFill>
              </a:rPr>
              <a:t>1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、设结点数据集为</a:t>
            </a: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</a:rPr>
              <a:t>D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，对每个特征</a:t>
            </a: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，对其每个值</a:t>
            </a: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，根据样本点对</a:t>
            </a: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</a:rPr>
              <a:t>A=a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的测试为是或否，将</a:t>
            </a: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</a:rPr>
              <a:t>D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分为</a:t>
            </a: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</a:rPr>
              <a:t>D1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，</a:t>
            </a: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</a:rPr>
              <a:t>D2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，计算</a:t>
            </a: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</a:rPr>
              <a:t>A=a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的基尼指数</a:t>
            </a:r>
            <a:endParaRPr lang="en-US" altLang="zh-CN" sz="2800" dirty="0">
              <a:solidFill>
                <a:schemeClr val="bg2">
                  <a:lumMod val="10000"/>
                </a:schemeClr>
              </a:solidFill>
            </a:endParaRPr>
          </a:p>
          <a:p>
            <a:pPr marL="228594" indent="-228594" defTabSz="914377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2800" dirty="0">
                <a:solidFill>
                  <a:schemeClr val="bg2">
                    <a:lumMod val="10000"/>
                  </a:schemeClr>
                </a:solidFill>
              </a:rPr>
              <a:t>2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、在所有的特征</a:t>
            </a: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以及所有可能的切分点</a:t>
            </a: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</a:rPr>
              <a:t>a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中，选择</a:t>
            </a:r>
            <a:r>
              <a:rPr lang="zh-CN" altLang="en-US" sz="2800" dirty="0">
                <a:solidFill>
                  <a:srgbClr val="C00000"/>
                </a:solidFill>
              </a:rPr>
              <a:t>基尼指数最小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的特征和切分点，将数据集分配到</a:t>
            </a:r>
            <a:r>
              <a:rPr lang="zh-CN" altLang="en-US" sz="2800" dirty="0">
                <a:solidFill>
                  <a:srgbClr val="C00000"/>
                </a:solidFill>
              </a:rPr>
              <a:t>两个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子结点中。</a:t>
            </a:r>
            <a:endParaRPr lang="en-US" altLang="zh-CN" sz="2800" dirty="0">
              <a:solidFill>
                <a:schemeClr val="bg2">
                  <a:lumMod val="10000"/>
                </a:schemeClr>
              </a:solidFill>
            </a:endParaRPr>
          </a:p>
          <a:p>
            <a:pPr marL="228594" indent="-228594" defTabSz="914377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2800" dirty="0">
                <a:solidFill>
                  <a:schemeClr val="bg2">
                    <a:lumMod val="10000"/>
                  </a:schemeClr>
                </a:solidFill>
              </a:rPr>
              <a:t>3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、对两个子结点递归调用</a:t>
            </a: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</a:rPr>
              <a:t>1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，</a:t>
            </a: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</a:rPr>
              <a:t>2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步骤</a:t>
            </a:r>
            <a:endParaRPr lang="en-US" altLang="zh-CN" sz="2800" dirty="0">
              <a:solidFill>
                <a:schemeClr val="bg2">
                  <a:lumMod val="10000"/>
                </a:schemeClr>
              </a:solidFill>
            </a:endParaRPr>
          </a:p>
          <a:p>
            <a:pPr marL="228594" indent="-228594" defTabSz="914377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2800" dirty="0">
                <a:solidFill>
                  <a:schemeClr val="bg2">
                    <a:lumMod val="10000"/>
                  </a:schemeClr>
                </a:solidFill>
              </a:rPr>
              <a:t>4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、生成</a:t>
            </a: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</a:rPr>
              <a:t>CART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树</a:t>
            </a:r>
          </a:p>
        </p:txBody>
      </p:sp>
    </p:spTree>
    <p:extLst>
      <p:ext uri="{BB962C8B-B14F-4D97-AF65-F5344CB8AC3E}">
        <p14:creationId xmlns:p14="http://schemas.microsoft.com/office/powerpoint/2010/main" val="3238763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9FC36-1527-4819-A9B3-D545720E5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4F233EF-62F3-4A0D-8E61-E48C72762B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C704868-1DFC-4A3B-8F75-02813A3DC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533" y="1370098"/>
            <a:ext cx="9146717" cy="52959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99C683F-1209-488B-B3DC-D988CA8842F9}"/>
              </a:ext>
            </a:extLst>
          </p:cNvPr>
          <p:cNvSpPr txBox="1"/>
          <p:nvPr/>
        </p:nvSpPr>
        <p:spPr>
          <a:xfrm>
            <a:off x="563957" y="882243"/>
            <a:ext cx="7507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根据如下贷款数据集，计算基尼指数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2178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6ED93-29F8-4AAF-ABBB-2A272CF9A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CEFC8AE-E19E-49A3-8A72-F920B780E7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58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234328-6763-4880-9785-5A54D6D7CF51}"/>
              </a:ext>
            </a:extLst>
          </p:cNvPr>
          <p:cNvSpPr txBox="1"/>
          <p:nvPr/>
        </p:nvSpPr>
        <p:spPr>
          <a:xfrm>
            <a:off x="563957" y="882243"/>
            <a:ext cx="109379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解：首先计算各特征的基尼指数，选择最优特征以及其最优切分点。分别以</a:t>
            </a:r>
            <a:r>
              <a:rPr lang="en-US" altLang="zh-CN" sz="18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800" baseline="-250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1,</a:t>
            </a:r>
            <a:r>
              <a:rPr lang="en-US" altLang="zh-CN" sz="18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</a:t>
            </a:r>
            <a:r>
              <a:rPr lang="en-US" altLang="zh-CN" baseline="-250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800" baseline="-250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</a:t>
            </a:r>
            <a:r>
              <a:rPr lang="en-US" altLang="zh-CN" baseline="-250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1800" baseline="-250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</a:t>
            </a:r>
            <a:r>
              <a:rPr lang="en-US" altLang="zh-CN" baseline="-250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en-US" altLang="zh-CN" sz="1800" baseline="-250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表示年龄</a:t>
            </a:r>
            <a:r>
              <a:rPr lang="zh-CN" altLang="en-US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、有工作、有自己的房子和信贷情况</a:t>
            </a:r>
            <a:r>
              <a:rPr lang="en-US" altLang="zh-CN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个特征，并以</a:t>
            </a:r>
            <a:r>
              <a:rPr lang="en-US" altLang="zh-CN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1, 2, 3 </a:t>
            </a:r>
            <a:r>
              <a:rPr lang="zh-CN" altLang="en-US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表示年龄的值为青年、中年和老年，以</a:t>
            </a:r>
            <a:r>
              <a:rPr lang="en-US" altLang="zh-CN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1, 2 </a:t>
            </a:r>
            <a:r>
              <a:rPr lang="zh-CN" altLang="en-US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表示有工作和有自己的房子的值为是和否，以</a:t>
            </a:r>
            <a:r>
              <a:rPr lang="en-US" altLang="zh-CN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1, 2, 3 </a:t>
            </a:r>
            <a:r>
              <a:rPr lang="zh-CN" altLang="en-US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表示信贷情况的值为非常好、好和一般。</a:t>
            </a:r>
            <a:endParaRPr lang="zh-CN" altLang="en-US" sz="1800" dirty="0">
              <a:solidFill>
                <a:srgbClr val="2C2C2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求特征</a:t>
            </a:r>
            <a:r>
              <a:rPr lang="en-US" altLang="zh-CN" sz="18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800" baseline="-250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的基尼指数：</a:t>
            </a:r>
            <a:endParaRPr lang="en-US" altLang="zh-CN" sz="1800" dirty="0">
              <a:solidFill>
                <a:srgbClr val="2C2C2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8A1653-DD46-423A-B466-671ED6DFB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263" y="3865649"/>
            <a:ext cx="4836573" cy="28003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3718795-279F-4898-937E-0B5350056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140" y="2096518"/>
            <a:ext cx="7162026" cy="58578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77B74B5-147B-4C97-B3B0-FF1C77B2D97B}"/>
              </a:ext>
            </a:extLst>
          </p:cNvPr>
          <p:cNvSpPr txBox="1"/>
          <p:nvPr/>
        </p:nvSpPr>
        <p:spPr>
          <a:xfrm>
            <a:off x="1049007" y="2682301"/>
            <a:ext cx="7301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Gini(</a:t>
            </a:r>
            <a:r>
              <a:rPr lang="en-US" altLang="zh-CN" sz="16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600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2) = 0.48</a:t>
            </a:r>
          </a:p>
          <a:p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Gini(</a:t>
            </a:r>
            <a:r>
              <a:rPr lang="en-US" altLang="zh-CN" sz="16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600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3) = 0.44</a:t>
            </a:r>
            <a:endParaRPr lang="zh-CN" altLang="en-US" sz="16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E6C3E85-CCFB-41CB-A9A0-3EFA8BD1CE59}"/>
              </a:ext>
            </a:extLst>
          </p:cNvPr>
          <p:cNvSpPr txBox="1"/>
          <p:nvPr/>
        </p:nvSpPr>
        <p:spPr>
          <a:xfrm>
            <a:off x="986345" y="3280874"/>
            <a:ext cx="104227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由于</a:t>
            </a:r>
            <a:r>
              <a:rPr lang="en-US" altLang="zh-CN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Gini(</a:t>
            </a:r>
            <a:r>
              <a:rPr lang="en-US" altLang="zh-CN" sz="18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800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1)</a:t>
            </a:r>
            <a:r>
              <a:rPr lang="zh-CN" altLang="en-US" sz="20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Gini(</a:t>
            </a:r>
            <a:r>
              <a:rPr lang="en-US" altLang="zh-CN" sz="18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800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3) = 0.44</a:t>
            </a:r>
            <a:r>
              <a:rPr lang="zh-CN" altLang="en-US" sz="20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相等，且最小，所以</a:t>
            </a:r>
            <a:r>
              <a:rPr lang="en-US" altLang="zh-CN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800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4544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18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zh-CN" altLang="en-US" sz="20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 </a:t>
            </a:r>
            <a:r>
              <a:rPr lang="en-US" altLang="zh-CN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800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4544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18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 </a:t>
            </a:r>
            <a:r>
              <a:rPr lang="zh-CN" altLang="en-US" sz="20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都可以选作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2C2C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的最优切分点。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FF609A1-F140-4724-9A8E-DE5F0F1F1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007" y="5674890"/>
            <a:ext cx="4976582" cy="792879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FCBA520-F1B8-44D9-9B0B-2FDC3255A3E7}"/>
              </a:ext>
            </a:extLst>
          </p:cNvPr>
          <p:cNvCxnSpPr>
            <a:cxnSpLocks/>
          </p:cNvCxnSpPr>
          <p:nvPr/>
        </p:nvCxnSpPr>
        <p:spPr>
          <a:xfrm>
            <a:off x="6809263" y="4910839"/>
            <a:ext cx="4823999" cy="0"/>
          </a:xfrm>
          <a:prstGeom prst="line">
            <a:avLst/>
          </a:prstGeom>
          <a:ln>
            <a:headEnd type="none"/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C8131418-ACB4-4202-9108-E779F22874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007" y="4117183"/>
            <a:ext cx="2744586" cy="79288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AAA75AB-10D0-4BB3-8AFF-5064DFB0F9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345" y="5001265"/>
            <a:ext cx="5408769" cy="52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20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6ED93-29F8-4AAF-ABBB-2A272CF9A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CEFC8AE-E19E-49A3-8A72-F920B780E7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59</a:t>
            </a:fld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92EB55-E9B7-4461-9698-BE0D8D5B7E08}"/>
              </a:ext>
            </a:extLst>
          </p:cNvPr>
          <p:cNvSpPr txBox="1"/>
          <p:nvPr/>
        </p:nvSpPr>
        <p:spPr>
          <a:xfrm>
            <a:off x="624298" y="859554"/>
            <a:ext cx="11035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3332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求特征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3332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rgbClr val="3332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的基尼指数：</a:t>
            </a:r>
            <a:endParaRPr lang="en-US" altLang="zh-CN" sz="2400" dirty="0">
              <a:solidFill>
                <a:srgbClr val="3332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D0EB218-6118-48BF-95AD-BAADCD1AF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466" y="1332183"/>
            <a:ext cx="2594619" cy="79704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7579F72-2BBC-46DB-AA27-2B1878410000}"/>
              </a:ext>
            </a:extLst>
          </p:cNvPr>
          <p:cNvSpPr txBox="1"/>
          <p:nvPr/>
        </p:nvSpPr>
        <p:spPr>
          <a:xfrm>
            <a:off x="674582" y="2101625"/>
            <a:ext cx="11035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3332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求特征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solidFill>
                  <a:srgbClr val="3332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的基尼指数：</a:t>
            </a:r>
            <a:endParaRPr lang="en-US" altLang="zh-CN" sz="2400" dirty="0">
              <a:solidFill>
                <a:srgbClr val="3332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0542279-98D6-4A2C-8AE4-80199E718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853" y="2679730"/>
            <a:ext cx="2642232" cy="1157901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258A5A14-D7B4-4355-9A53-B1D0AFB65CCC}"/>
              </a:ext>
            </a:extLst>
          </p:cNvPr>
          <p:cNvSpPr txBox="1"/>
          <p:nvPr/>
        </p:nvSpPr>
        <p:spPr>
          <a:xfrm>
            <a:off x="735698" y="3982142"/>
            <a:ext cx="1042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Gini(</a:t>
            </a:r>
            <a:r>
              <a:rPr lang="en-US" altLang="zh-CN" sz="20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3)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3332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最小，所以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aseline="-25000" dirty="0">
                <a:solidFill>
                  <a:srgbClr val="33322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3332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 3</a:t>
            </a:r>
            <a:r>
              <a:rPr lang="zh-CN" altLang="en-US" sz="2400" dirty="0">
                <a:solidFill>
                  <a:srgbClr val="3332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solidFill>
                  <a:srgbClr val="3332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的最优分割点。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B704242-3BAB-4485-A9F2-17FCA9BB6C74}"/>
              </a:ext>
            </a:extLst>
          </p:cNvPr>
          <p:cNvSpPr txBox="1"/>
          <p:nvPr/>
        </p:nvSpPr>
        <p:spPr>
          <a:xfrm>
            <a:off x="735697" y="4382252"/>
            <a:ext cx="111932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3332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i="1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i="1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altLang="zh-CN" sz="2000" i="1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i="1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solidFill>
                  <a:srgbClr val="3332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几个特征中，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Gini(</a:t>
            </a:r>
            <a:r>
              <a:rPr lang="en-US" altLang="zh-CN" sz="20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1) </a:t>
            </a:r>
            <a:r>
              <a:rPr lang="it-IT" altLang="zh-CN" sz="2000" dirty="0">
                <a:solidFill>
                  <a:srgbClr val="3332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 0.27</a:t>
            </a:r>
            <a:r>
              <a:rPr lang="zh-CN" altLang="en-US" sz="2400" dirty="0">
                <a:solidFill>
                  <a:srgbClr val="3332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最小，所以选择特征</a:t>
            </a:r>
            <a:r>
              <a:rPr lang="en-US" altLang="zh-CN" sz="20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rgbClr val="3332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为最优特征，</a:t>
            </a:r>
            <a:r>
              <a:rPr lang="en-US" altLang="zh-CN" sz="20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altLang="zh-CN" sz="2000" i="1" baseline="-25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solidFill>
                  <a:srgbClr val="3332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1 </a:t>
            </a:r>
            <a:r>
              <a:rPr lang="zh-CN" altLang="en-US" sz="2400" dirty="0">
                <a:solidFill>
                  <a:srgbClr val="3332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为当前最优切分点。</a:t>
            </a:r>
            <a:endParaRPr lang="zh-CN" altLang="en-US" sz="2400" i="0" dirty="0">
              <a:solidFill>
                <a:srgbClr val="3332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796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94509-EF02-4B42-934E-E63B9990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6E1320B-7E2C-42D4-B58B-1C080E7E6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60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D880EA-69F7-4787-9A73-06B4FF6F9532}"/>
              </a:ext>
            </a:extLst>
          </p:cNvPr>
          <p:cNvSpPr txBox="1"/>
          <p:nvPr/>
        </p:nvSpPr>
        <p:spPr>
          <a:xfrm>
            <a:off x="563955" y="860168"/>
            <a:ext cx="456503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CART 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剪支算法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2C8B1E-2792-4EE5-82BD-67883FF203D2}"/>
              </a:ext>
            </a:extLst>
          </p:cNvPr>
          <p:cNvSpPr txBox="1"/>
          <p:nvPr/>
        </p:nvSpPr>
        <p:spPr>
          <a:xfrm>
            <a:off x="563955" y="1410070"/>
            <a:ext cx="1059450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CART</a:t>
            </a:r>
            <a:r>
              <a:rPr lang="zh-CN" altLang="en-US" sz="2800" dirty="0">
                <a:solidFill>
                  <a:srgbClr val="002E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剪枝算法从</a:t>
            </a:r>
            <a:r>
              <a:rPr lang="en-US" altLang="zh-CN" sz="2800" dirty="0">
                <a:solidFill>
                  <a:srgbClr val="002E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800" dirty="0">
                <a:solidFill>
                  <a:srgbClr val="002E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完全生长”的决策树的底端剪去一些子树，</a:t>
            </a:r>
            <a:r>
              <a:rPr lang="zh-CN" altLang="en-US" sz="28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使决策树变小</a:t>
            </a:r>
            <a:r>
              <a:rPr lang="en-US" altLang="zh-CN" sz="2800" dirty="0">
                <a:solidFill>
                  <a:srgbClr val="002E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solidFill>
                  <a:srgbClr val="002E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模型变简单</a:t>
            </a:r>
            <a:r>
              <a:rPr lang="en-US" altLang="zh-CN" sz="2800" dirty="0">
                <a:solidFill>
                  <a:srgbClr val="002E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800" dirty="0">
                <a:solidFill>
                  <a:srgbClr val="002E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，从而能够对未知数据有更好的泛化性。</a:t>
            </a:r>
            <a:endParaRPr lang="en-US" altLang="zh-CN" sz="2800" dirty="0">
              <a:solidFill>
                <a:srgbClr val="002E7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剪枝</a:t>
            </a:r>
            <a:r>
              <a:rPr lang="en-US" altLang="zh-CN" sz="2800" dirty="0">
                <a:solidFill>
                  <a:srgbClr val="002E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(pruning)</a:t>
            </a:r>
            <a:r>
              <a:rPr lang="zh-CN" altLang="en-US" sz="2800" dirty="0">
                <a:solidFill>
                  <a:srgbClr val="002E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是决策树对付“过拟合”的主要手段！在数据带噪时甚至可能将泛化性能提升约</a:t>
            </a:r>
            <a:r>
              <a:rPr lang="en-US" altLang="zh-CN" sz="2800" dirty="0">
                <a:solidFill>
                  <a:srgbClr val="002E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25%</a:t>
            </a:r>
            <a:endParaRPr lang="zh-CN" altLang="en-US" sz="2800" dirty="0">
              <a:solidFill>
                <a:srgbClr val="002E7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800" dirty="0">
              <a:solidFill>
                <a:srgbClr val="002E7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829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94509-EF02-4B42-934E-E63B9990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6E1320B-7E2C-42D4-B58B-1C080E7E6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61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D880EA-69F7-4787-9A73-06B4FF6F9532}"/>
              </a:ext>
            </a:extLst>
          </p:cNvPr>
          <p:cNvSpPr txBox="1"/>
          <p:nvPr/>
        </p:nvSpPr>
        <p:spPr>
          <a:xfrm>
            <a:off x="563955" y="860168"/>
            <a:ext cx="456503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预剪枝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BF35E35-B22A-4E41-8EEE-4E05E9626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64" y="1610027"/>
            <a:ext cx="6052307" cy="3932072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24B7AE4E-18C1-4FC7-B03A-81652ED20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875" y="1531921"/>
            <a:ext cx="5565177" cy="406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310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94509-EF02-4B42-934E-E63B9990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6E1320B-7E2C-42D4-B58B-1C080E7E6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62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D880EA-69F7-4787-9A73-06B4FF6F9532}"/>
              </a:ext>
            </a:extLst>
          </p:cNvPr>
          <p:cNvSpPr txBox="1"/>
          <p:nvPr/>
        </p:nvSpPr>
        <p:spPr>
          <a:xfrm>
            <a:off x="563955" y="860168"/>
            <a:ext cx="456503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预剪枝</a:t>
            </a: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-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不划分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C2862ECC-F095-4EF2-9CEA-5F9030245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55" y="1340299"/>
            <a:ext cx="4968460" cy="2494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ACFD69C-9CB7-478E-B1FF-D2F029992E2C}"/>
              </a:ext>
            </a:extLst>
          </p:cNvPr>
          <p:cNvSpPr txBox="1"/>
          <p:nvPr/>
        </p:nvSpPr>
        <p:spPr>
          <a:xfrm>
            <a:off x="283139" y="3864704"/>
            <a:ext cx="6103736" cy="647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800"/>
              </a:lnSpc>
              <a:tabLst>
                <a:tab pos="1866900" algn="l"/>
              </a:tabLst>
              <a:defRPr/>
            </a:pPr>
            <a:r>
              <a:rPr lang="zh-CN" altLang="en-US" dirty="0">
                <a:solidFill>
                  <a:srgbClr val="FF0000"/>
                </a:solidFill>
                <a:latin typeface="微软雅黑"/>
              </a:rPr>
              <a:t>验证集精度</a:t>
            </a:r>
          </a:p>
          <a:p>
            <a:pPr lvl="0">
              <a:lnSpc>
                <a:spcPts val="2767"/>
              </a:lnSpc>
              <a:tabLst>
                <a:tab pos="1866900" algn="l"/>
              </a:tabLst>
              <a:defRPr/>
            </a:pPr>
            <a:r>
              <a:rPr lang="zh-CN" altLang="en-US" dirty="0">
                <a:solidFill>
                  <a:srgbClr val="FF0000"/>
                </a:solidFill>
                <a:latin typeface="微软雅黑"/>
              </a:rPr>
              <a:t>“脐部</a:t>
            </a:r>
            <a:r>
              <a:rPr lang="en-US" altLang="zh-CN" dirty="0">
                <a:solidFill>
                  <a:srgbClr val="FF0000"/>
                </a:solidFill>
                <a:latin typeface="微软雅黑"/>
              </a:rPr>
              <a:t>=?” </a:t>
            </a:r>
            <a:r>
              <a:rPr lang="zh-CN" altLang="en-US" dirty="0">
                <a:solidFill>
                  <a:srgbClr val="FF0000"/>
                </a:solidFill>
                <a:latin typeface="微软雅黑"/>
              </a:rPr>
              <a:t>划分前</a:t>
            </a:r>
            <a:r>
              <a:rPr lang="en-US" altLang="zh-CN" dirty="0">
                <a:solidFill>
                  <a:srgbClr val="FF0000"/>
                </a:solidFill>
                <a:latin typeface="微软雅黑"/>
              </a:rPr>
              <a:t>: </a:t>
            </a:r>
            <a:r>
              <a:rPr lang="zh-CN" altLang="en-US" dirty="0">
                <a:solidFill>
                  <a:srgbClr val="0000FF"/>
                </a:solidFill>
                <a:latin typeface="微软雅黑"/>
              </a:rPr>
              <a:t>３</a:t>
            </a:r>
            <a:r>
              <a:rPr lang="zh-CN" altLang="en-US" dirty="0">
                <a:solidFill>
                  <a:srgbClr val="FF0000"/>
                </a:solidFill>
                <a:latin typeface="微软雅黑"/>
              </a:rPr>
              <a:t>／７＝</a:t>
            </a:r>
            <a:r>
              <a:rPr lang="en-US" altLang="zh-CN" dirty="0">
                <a:solidFill>
                  <a:srgbClr val="FF0000"/>
                </a:solidFill>
                <a:latin typeface="微软雅黑"/>
              </a:rPr>
              <a:t>42.9%</a:t>
            </a:r>
            <a:endParaRPr lang="zh-CN" altLang="en-US" dirty="0">
              <a:solidFill>
                <a:srgbClr val="FF0000"/>
              </a:solidFill>
              <a:latin typeface="微软雅黑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8AAA0B8-B751-4554-A32D-D8C96D9FE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22" y="4512125"/>
            <a:ext cx="4951612" cy="234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2FEFA32A-C6BD-4FE9-BBB4-E3151471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415" y="1662915"/>
            <a:ext cx="6438334" cy="469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F8F20503-10F8-448D-93AF-C499FC918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699" y="2645726"/>
            <a:ext cx="423650" cy="439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4B0783BF-9F54-471F-93A3-8CB9AEED3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2761" y="2645725"/>
            <a:ext cx="423650" cy="439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231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2F329-2056-40D2-AB7A-270520A9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0121B68-2F42-451D-B6D9-2FCFF81AE8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63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37DD4D-B072-47AA-90A1-C78A419E3B07}"/>
              </a:ext>
            </a:extLst>
          </p:cNvPr>
          <p:cNvSpPr txBox="1"/>
          <p:nvPr/>
        </p:nvSpPr>
        <p:spPr>
          <a:xfrm>
            <a:off x="563955" y="860168"/>
            <a:ext cx="456503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预剪枝</a:t>
            </a: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-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划分后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EF467C0-63D8-4917-9F6A-750CA09CB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55" y="1270674"/>
            <a:ext cx="4992069" cy="2510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13DC754D-3AD4-4677-B46D-0C8EAC55A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03" y="4950771"/>
            <a:ext cx="5039821" cy="1907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8D74437-21D5-4B8C-93DD-DDB5A341DD1D}"/>
              </a:ext>
            </a:extLst>
          </p:cNvPr>
          <p:cNvSpPr/>
          <p:nvPr/>
        </p:nvSpPr>
        <p:spPr>
          <a:xfrm>
            <a:off x="563955" y="3894801"/>
            <a:ext cx="3977872" cy="1365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800"/>
              </a:lnSpc>
              <a:tabLst>
                <a:tab pos="1866900" algn="l"/>
              </a:tabLst>
              <a:defRPr/>
            </a:pPr>
            <a:r>
              <a:rPr lang="zh-CN" altLang="en-US" dirty="0">
                <a:solidFill>
                  <a:srgbClr val="FF0000"/>
                </a:solidFill>
                <a:latin typeface="微软雅黑"/>
              </a:rPr>
              <a:t>验证集精度（“脐部</a:t>
            </a:r>
            <a:r>
              <a:rPr lang="en-US" altLang="zh-CN" dirty="0">
                <a:solidFill>
                  <a:srgbClr val="FF0000"/>
                </a:solidFill>
                <a:latin typeface="微软雅黑"/>
              </a:rPr>
              <a:t>=?” </a:t>
            </a:r>
            <a:r>
              <a:rPr lang="zh-CN" altLang="en-US" dirty="0">
                <a:solidFill>
                  <a:srgbClr val="FF0000"/>
                </a:solidFill>
                <a:latin typeface="微软雅黑"/>
              </a:rPr>
              <a:t>）</a:t>
            </a:r>
            <a:endParaRPr lang="en-US" altLang="zh-CN" dirty="0">
              <a:solidFill>
                <a:srgbClr val="FF0000"/>
              </a:solidFill>
              <a:latin typeface="微软雅黑"/>
            </a:endParaRPr>
          </a:p>
          <a:p>
            <a:pPr lvl="0">
              <a:lnSpc>
                <a:spcPts val="2767"/>
              </a:lnSpc>
              <a:tabLst>
                <a:tab pos="1866900" algn="l"/>
              </a:tabLst>
              <a:defRPr/>
            </a:pPr>
            <a:r>
              <a:rPr lang="zh-CN" altLang="en-US" dirty="0">
                <a:solidFill>
                  <a:srgbClr val="FF0000"/>
                </a:solidFill>
                <a:latin typeface="微软雅黑"/>
              </a:rPr>
              <a:t>划分前</a:t>
            </a:r>
            <a:r>
              <a:rPr lang="en-US" altLang="zh-CN" dirty="0">
                <a:solidFill>
                  <a:srgbClr val="FF0000"/>
                </a:solidFill>
                <a:latin typeface="微软雅黑"/>
              </a:rPr>
              <a:t>: </a:t>
            </a:r>
            <a:r>
              <a:rPr lang="zh-CN" altLang="en-US" dirty="0">
                <a:solidFill>
                  <a:srgbClr val="0000FF"/>
                </a:solidFill>
                <a:latin typeface="微软雅黑"/>
              </a:rPr>
              <a:t>３</a:t>
            </a:r>
            <a:r>
              <a:rPr lang="zh-CN" altLang="en-US" dirty="0">
                <a:solidFill>
                  <a:srgbClr val="FF0000"/>
                </a:solidFill>
                <a:latin typeface="微软雅黑"/>
              </a:rPr>
              <a:t>／７＝</a:t>
            </a:r>
            <a:r>
              <a:rPr lang="en-US" altLang="zh-CN" dirty="0">
                <a:solidFill>
                  <a:srgbClr val="FF0000"/>
                </a:solidFill>
                <a:latin typeface="微软雅黑"/>
              </a:rPr>
              <a:t>42.9%</a:t>
            </a:r>
          </a:p>
          <a:p>
            <a:pPr>
              <a:lnSpc>
                <a:spcPts val="2767"/>
              </a:lnSpc>
              <a:tabLst>
                <a:tab pos="1866900" algn="l"/>
              </a:tabLst>
              <a:defRPr/>
            </a:pPr>
            <a:r>
              <a:rPr lang="zh-CN" altLang="en-US" dirty="0">
                <a:solidFill>
                  <a:srgbClr val="FF0000"/>
                </a:solidFill>
                <a:latin typeface="微软雅黑"/>
              </a:rPr>
              <a:t>划分后</a:t>
            </a:r>
            <a:r>
              <a:rPr lang="en-US" altLang="zh-CN" dirty="0">
                <a:solidFill>
                  <a:srgbClr val="FF0000"/>
                </a:solidFill>
                <a:latin typeface="微软雅黑"/>
              </a:rPr>
              <a:t>: </a:t>
            </a:r>
            <a:r>
              <a:rPr lang="zh-CN" altLang="en-US" dirty="0">
                <a:solidFill>
                  <a:srgbClr val="0000FF"/>
                </a:solidFill>
                <a:latin typeface="微软雅黑"/>
              </a:rPr>
              <a:t>５</a:t>
            </a:r>
            <a:r>
              <a:rPr lang="zh-CN" altLang="en-US" dirty="0">
                <a:solidFill>
                  <a:srgbClr val="FF0000"/>
                </a:solidFill>
                <a:latin typeface="微软雅黑"/>
              </a:rPr>
              <a:t>／７＝７１．４</a:t>
            </a:r>
            <a:r>
              <a:rPr lang="en-US" altLang="zh-CN" dirty="0">
                <a:solidFill>
                  <a:srgbClr val="FF0000"/>
                </a:solidFill>
                <a:latin typeface="微软雅黑"/>
              </a:rPr>
              <a:t>%</a:t>
            </a:r>
          </a:p>
          <a:p>
            <a:pPr lvl="0">
              <a:lnSpc>
                <a:spcPts val="2767"/>
              </a:lnSpc>
              <a:tabLst>
                <a:tab pos="1866900" algn="l"/>
              </a:tabLst>
              <a:defRPr/>
            </a:pPr>
            <a:endParaRPr lang="zh-CN" altLang="en-US" dirty="0">
              <a:solidFill>
                <a:srgbClr val="FF0000"/>
              </a:solidFill>
              <a:latin typeface="微软雅黑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0096001-34C2-4582-A86F-220D5958E8C0}"/>
              </a:ext>
            </a:extLst>
          </p:cNvPr>
          <p:cNvSpPr txBox="1"/>
          <p:nvPr/>
        </p:nvSpPr>
        <p:spPr>
          <a:xfrm>
            <a:off x="4136434" y="3904141"/>
            <a:ext cx="1288132" cy="9233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/>
              <a:t>结论：</a:t>
            </a:r>
            <a:endParaRPr lang="en-US" altLang="zh-CN"/>
          </a:p>
          <a:p>
            <a:r>
              <a:rPr lang="zh-CN" altLang="en-US"/>
              <a:t>保留划分，不剪枝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53F04828-03A3-441D-BAF0-7F66FB9A3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154" y="654861"/>
            <a:ext cx="4189858" cy="1370875"/>
          </a:xfrm>
          <a:prstGeom prst="rect">
            <a:avLst/>
          </a:prstGeom>
        </p:spPr>
      </p:pic>
      <p:grpSp>
        <p:nvGrpSpPr>
          <p:cNvPr id="31" name="组合 30">
            <a:extLst>
              <a:ext uri="{FF2B5EF4-FFF2-40B4-BE49-F238E27FC236}">
                <a16:creationId xmlns:a16="http://schemas.microsoft.com/office/drawing/2014/main" id="{77104B39-5AC7-44E2-92A7-0C1A080F631E}"/>
              </a:ext>
            </a:extLst>
          </p:cNvPr>
          <p:cNvGrpSpPr/>
          <p:nvPr/>
        </p:nvGrpSpPr>
        <p:grpSpPr>
          <a:xfrm>
            <a:off x="5603776" y="2121290"/>
            <a:ext cx="6438334" cy="4699750"/>
            <a:chOff x="5603776" y="1155043"/>
            <a:chExt cx="6438334" cy="4699750"/>
          </a:xfrm>
        </p:grpSpPr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A7F11892-5143-4259-9012-EB82E5AF2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3776" y="1155043"/>
              <a:ext cx="6438334" cy="4699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32DBBE31-D343-48F0-8DDF-CD6178AA86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3060" y="2137854"/>
              <a:ext cx="423650" cy="439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0CBEC5AF-771A-4127-AC99-D14E9DA240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44122" y="2137853"/>
              <a:ext cx="423650" cy="439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8128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2F329-2056-40D2-AB7A-270520A9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0121B68-2F42-451D-B6D9-2FCFF81AE8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64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37DD4D-B072-47AA-90A1-C78A419E3B07}"/>
              </a:ext>
            </a:extLst>
          </p:cNvPr>
          <p:cNvSpPr txBox="1"/>
          <p:nvPr/>
        </p:nvSpPr>
        <p:spPr>
          <a:xfrm>
            <a:off x="563955" y="860168"/>
            <a:ext cx="456503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预剪枝</a:t>
            </a: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-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划分后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EF467C0-63D8-4917-9F6A-750CA09CB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55" y="1270674"/>
            <a:ext cx="4992069" cy="2510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13DC754D-3AD4-4677-B46D-0C8EAC55A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03" y="4950771"/>
            <a:ext cx="5039821" cy="1907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8D74437-21D5-4B8C-93DD-DDB5A341DD1D}"/>
              </a:ext>
            </a:extLst>
          </p:cNvPr>
          <p:cNvSpPr/>
          <p:nvPr/>
        </p:nvSpPr>
        <p:spPr>
          <a:xfrm>
            <a:off x="563955" y="3894801"/>
            <a:ext cx="3977872" cy="1365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800"/>
              </a:lnSpc>
              <a:tabLst>
                <a:tab pos="1866900" algn="l"/>
              </a:tabLst>
              <a:defRPr/>
            </a:pPr>
            <a:r>
              <a:rPr lang="zh-CN" altLang="en-US" dirty="0">
                <a:solidFill>
                  <a:srgbClr val="FF0000"/>
                </a:solidFill>
                <a:latin typeface="微软雅黑"/>
              </a:rPr>
              <a:t>验证集精度（“脐部</a:t>
            </a:r>
            <a:r>
              <a:rPr lang="en-US" altLang="zh-CN" dirty="0">
                <a:solidFill>
                  <a:srgbClr val="FF0000"/>
                </a:solidFill>
                <a:latin typeface="微软雅黑"/>
              </a:rPr>
              <a:t>=?” </a:t>
            </a:r>
            <a:r>
              <a:rPr lang="zh-CN" altLang="en-US" dirty="0">
                <a:solidFill>
                  <a:srgbClr val="FF0000"/>
                </a:solidFill>
                <a:latin typeface="微软雅黑"/>
              </a:rPr>
              <a:t>）</a:t>
            </a:r>
            <a:endParaRPr lang="en-US" altLang="zh-CN" dirty="0">
              <a:solidFill>
                <a:srgbClr val="FF0000"/>
              </a:solidFill>
              <a:latin typeface="微软雅黑"/>
            </a:endParaRPr>
          </a:p>
          <a:p>
            <a:pPr lvl="0">
              <a:lnSpc>
                <a:spcPts val="2767"/>
              </a:lnSpc>
              <a:tabLst>
                <a:tab pos="1866900" algn="l"/>
              </a:tabLst>
              <a:defRPr/>
            </a:pPr>
            <a:r>
              <a:rPr lang="zh-CN" altLang="en-US" dirty="0">
                <a:solidFill>
                  <a:srgbClr val="FF0000"/>
                </a:solidFill>
                <a:latin typeface="微软雅黑"/>
              </a:rPr>
              <a:t>划分前</a:t>
            </a:r>
            <a:r>
              <a:rPr lang="en-US" altLang="zh-CN" dirty="0">
                <a:solidFill>
                  <a:srgbClr val="FF0000"/>
                </a:solidFill>
                <a:latin typeface="微软雅黑"/>
              </a:rPr>
              <a:t>: </a:t>
            </a:r>
            <a:r>
              <a:rPr lang="zh-CN" altLang="en-US" dirty="0">
                <a:solidFill>
                  <a:srgbClr val="0000FF"/>
                </a:solidFill>
                <a:latin typeface="微软雅黑"/>
              </a:rPr>
              <a:t>３</a:t>
            </a:r>
            <a:r>
              <a:rPr lang="zh-CN" altLang="en-US" dirty="0">
                <a:solidFill>
                  <a:srgbClr val="FF0000"/>
                </a:solidFill>
                <a:latin typeface="微软雅黑"/>
              </a:rPr>
              <a:t>／７＝</a:t>
            </a:r>
            <a:r>
              <a:rPr lang="en-US" altLang="zh-CN" dirty="0">
                <a:solidFill>
                  <a:srgbClr val="FF0000"/>
                </a:solidFill>
                <a:latin typeface="微软雅黑"/>
              </a:rPr>
              <a:t>42.9%</a:t>
            </a:r>
          </a:p>
          <a:p>
            <a:pPr>
              <a:lnSpc>
                <a:spcPts val="2767"/>
              </a:lnSpc>
              <a:tabLst>
                <a:tab pos="1866900" algn="l"/>
              </a:tabLst>
              <a:defRPr/>
            </a:pPr>
            <a:r>
              <a:rPr lang="zh-CN" altLang="en-US" dirty="0">
                <a:solidFill>
                  <a:srgbClr val="FF0000"/>
                </a:solidFill>
                <a:latin typeface="微软雅黑"/>
              </a:rPr>
              <a:t>划分后</a:t>
            </a:r>
            <a:r>
              <a:rPr lang="en-US" altLang="zh-CN" dirty="0">
                <a:solidFill>
                  <a:srgbClr val="FF0000"/>
                </a:solidFill>
                <a:latin typeface="微软雅黑"/>
              </a:rPr>
              <a:t>: </a:t>
            </a:r>
            <a:r>
              <a:rPr lang="zh-CN" altLang="en-US" dirty="0">
                <a:solidFill>
                  <a:srgbClr val="0000FF"/>
                </a:solidFill>
                <a:latin typeface="微软雅黑"/>
              </a:rPr>
              <a:t>５</a:t>
            </a:r>
            <a:r>
              <a:rPr lang="zh-CN" altLang="en-US" dirty="0">
                <a:solidFill>
                  <a:srgbClr val="FF0000"/>
                </a:solidFill>
                <a:latin typeface="微软雅黑"/>
              </a:rPr>
              <a:t>／７＝７１．４</a:t>
            </a:r>
            <a:r>
              <a:rPr lang="en-US" altLang="zh-CN" dirty="0">
                <a:solidFill>
                  <a:srgbClr val="FF0000"/>
                </a:solidFill>
                <a:latin typeface="微软雅黑"/>
              </a:rPr>
              <a:t>%</a:t>
            </a:r>
          </a:p>
          <a:p>
            <a:pPr lvl="0">
              <a:lnSpc>
                <a:spcPts val="2767"/>
              </a:lnSpc>
              <a:tabLst>
                <a:tab pos="1866900" algn="l"/>
              </a:tabLst>
              <a:defRPr/>
            </a:pPr>
            <a:endParaRPr lang="zh-CN" altLang="en-US" dirty="0">
              <a:solidFill>
                <a:srgbClr val="FF0000"/>
              </a:solidFill>
              <a:latin typeface="微软雅黑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0096001-34C2-4582-A86F-220D5958E8C0}"/>
              </a:ext>
            </a:extLst>
          </p:cNvPr>
          <p:cNvSpPr txBox="1"/>
          <p:nvPr/>
        </p:nvSpPr>
        <p:spPr>
          <a:xfrm>
            <a:off x="4136434" y="3904141"/>
            <a:ext cx="1288132" cy="9233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/>
              <a:t>结论：</a:t>
            </a:r>
            <a:endParaRPr lang="en-US" altLang="zh-CN"/>
          </a:p>
          <a:p>
            <a:r>
              <a:rPr lang="zh-CN" altLang="en-US"/>
              <a:t>保留划分，不剪枝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53F04828-03A3-441D-BAF0-7F66FB9A3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154" y="654861"/>
            <a:ext cx="4189858" cy="1370875"/>
          </a:xfrm>
          <a:prstGeom prst="rect">
            <a:avLst/>
          </a:prstGeom>
        </p:spPr>
      </p:pic>
      <p:grpSp>
        <p:nvGrpSpPr>
          <p:cNvPr id="31" name="组合 30">
            <a:extLst>
              <a:ext uri="{FF2B5EF4-FFF2-40B4-BE49-F238E27FC236}">
                <a16:creationId xmlns:a16="http://schemas.microsoft.com/office/drawing/2014/main" id="{77104B39-5AC7-44E2-92A7-0C1A080F631E}"/>
              </a:ext>
            </a:extLst>
          </p:cNvPr>
          <p:cNvGrpSpPr/>
          <p:nvPr/>
        </p:nvGrpSpPr>
        <p:grpSpPr>
          <a:xfrm>
            <a:off x="5603776" y="2121290"/>
            <a:ext cx="6438334" cy="4699750"/>
            <a:chOff x="5603776" y="1155043"/>
            <a:chExt cx="6438334" cy="4699750"/>
          </a:xfrm>
        </p:grpSpPr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A7F11892-5143-4259-9012-EB82E5AF2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3776" y="1155043"/>
              <a:ext cx="6438334" cy="4699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32DBBE31-D343-48F0-8DDF-CD6178AA86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3060" y="2137854"/>
              <a:ext cx="423650" cy="439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0CBEC5AF-771A-4127-AC99-D14E9DA240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44122" y="2137853"/>
              <a:ext cx="423650" cy="439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563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2F329-2056-40D2-AB7A-270520A9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0121B68-2F42-451D-B6D9-2FCFF81AE8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65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37DD4D-B072-47AA-90A1-C78A419E3B07}"/>
              </a:ext>
            </a:extLst>
          </p:cNvPr>
          <p:cNvSpPr txBox="1"/>
          <p:nvPr/>
        </p:nvSpPr>
        <p:spPr>
          <a:xfrm>
            <a:off x="563955" y="860168"/>
            <a:ext cx="456503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预剪枝</a:t>
            </a: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-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划分后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7104B39-5AC7-44E2-92A7-0C1A080F631E}"/>
              </a:ext>
            </a:extLst>
          </p:cNvPr>
          <p:cNvGrpSpPr/>
          <p:nvPr/>
        </p:nvGrpSpPr>
        <p:grpSpPr>
          <a:xfrm>
            <a:off x="6331176" y="717622"/>
            <a:ext cx="5627385" cy="5669253"/>
            <a:chOff x="5603776" y="1155043"/>
            <a:chExt cx="6438334" cy="4699750"/>
          </a:xfrm>
        </p:grpSpPr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A7F11892-5143-4259-9012-EB82E5AF2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3776" y="1155043"/>
              <a:ext cx="6438334" cy="4699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32DBBE31-D343-48F0-8DDF-CD6178AA86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3060" y="2137854"/>
              <a:ext cx="423650" cy="439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0CBEC5AF-771A-4127-AC99-D14E9DA240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44122" y="2137853"/>
              <a:ext cx="423650" cy="439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9269DC88-BC3E-4EBD-9B59-B04539EA0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3" y="1521836"/>
            <a:ext cx="6312725" cy="2602615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B926D674-D911-438C-8DBA-289DBDD2DB97}"/>
              </a:ext>
            </a:extLst>
          </p:cNvPr>
          <p:cNvSpPr txBox="1"/>
          <p:nvPr/>
        </p:nvSpPr>
        <p:spPr>
          <a:xfrm>
            <a:off x="233439" y="4297464"/>
            <a:ext cx="72627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预剪枝使得决策树的很多分支都没有“展开”, 这不仅</a:t>
            </a:r>
            <a:r>
              <a:rPr lang="zh-CN" altLang="en-US" b="1" dirty="0">
                <a:solidFill>
                  <a:srgbClr val="C00000"/>
                </a:solidFill>
              </a:rPr>
              <a:t>降低</a:t>
            </a:r>
            <a:r>
              <a:rPr lang="zh-CN" altLang="en-US" dirty="0"/>
              <a:t>了</a:t>
            </a:r>
            <a:r>
              <a:rPr lang="zh-CN" altLang="en-US" b="1" dirty="0">
                <a:solidFill>
                  <a:srgbClr val="C00000"/>
                </a:solidFill>
              </a:rPr>
              <a:t>过拟合</a:t>
            </a:r>
            <a:r>
              <a:rPr lang="zh-CN" altLang="en-US" dirty="0"/>
              <a:t>的风险, 还显著</a:t>
            </a:r>
            <a:r>
              <a:rPr lang="zh-CN" altLang="en-US" b="1" dirty="0">
                <a:solidFill>
                  <a:srgbClr val="C00000"/>
                </a:solidFill>
              </a:rPr>
              <a:t>减少</a:t>
            </a:r>
            <a:r>
              <a:rPr lang="zh-CN" altLang="en-US" dirty="0"/>
              <a:t>了决策树的</a:t>
            </a:r>
            <a:r>
              <a:rPr lang="zh-CN" altLang="en-US" b="1" dirty="0">
                <a:solidFill>
                  <a:srgbClr val="C00000"/>
                </a:solidFill>
              </a:rPr>
              <a:t>训练时间开销和测试时间开销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但另一方面, 有些分支的当前划分虽不能提升泛化性能、甚至可能导致泛化性能暂时下降, 但在其基础上进行的后续划分却有可能导致性能显著提高；</a:t>
            </a:r>
            <a:endParaRPr lang="en-US" altLang="zh-CN" dirty="0"/>
          </a:p>
          <a:p>
            <a:r>
              <a:rPr lang="zh-CN" altLang="en-US" dirty="0"/>
              <a:t>预剪枝基于</a:t>
            </a:r>
            <a:r>
              <a:rPr lang="zh-CN" altLang="en-US" b="1" dirty="0">
                <a:solidFill>
                  <a:srgbClr val="C00000"/>
                </a:solidFill>
              </a:rPr>
              <a:t>“贪心”</a:t>
            </a:r>
            <a:r>
              <a:rPr lang="zh-CN" altLang="en-US" dirty="0"/>
              <a:t>本质禁止这些分支展开, 给预剪枝决策树带来了</a:t>
            </a:r>
            <a:r>
              <a:rPr lang="zh-CN" altLang="en-US" b="1" dirty="0">
                <a:solidFill>
                  <a:srgbClr val="C00000"/>
                </a:solidFill>
              </a:rPr>
              <a:t>欠拟合</a:t>
            </a:r>
            <a:r>
              <a:rPr lang="zh-CN" altLang="en-US" dirty="0"/>
              <a:t>的风险.</a:t>
            </a:r>
          </a:p>
        </p:txBody>
      </p:sp>
    </p:spTree>
    <p:extLst>
      <p:ext uri="{BB962C8B-B14F-4D97-AF65-F5344CB8AC3E}">
        <p14:creationId xmlns:p14="http://schemas.microsoft.com/office/powerpoint/2010/main" val="371957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94509-EF02-4B42-934E-E63B9990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6E1320B-7E2C-42D4-B58B-1C080E7E6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66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D880EA-69F7-4787-9A73-06B4FF6F9532}"/>
              </a:ext>
            </a:extLst>
          </p:cNvPr>
          <p:cNvSpPr txBox="1"/>
          <p:nvPr/>
        </p:nvSpPr>
        <p:spPr>
          <a:xfrm>
            <a:off x="563955" y="860168"/>
            <a:ext cx="505241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CART 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剪支算法（后剪枝策略）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451EF0-81CF-4F49-8A25-4F6A0305E268}"/>
              </a:ext>
            </a:extLst>
          </p:cNvPr>
          <p:cNvSpPr txBox="1"/>
          <p:nvPr/>
        </p:nvSpPr>
        <p:spPr>
          <a:xfrm>
            <a:off x="563955" y="2433948"/>
            <a:ext cx="10594507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两步</a:t>
            </a:r>
            <a:endParaRPr kumimoji="1"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zh-CN" sz="2400" dirty="0"/>
              <a:t>1</a:t>
            </a:r>
            <a:r>
              <a:rPr kumimoji="1" lang="zh-CN" altLang="en-US" sz="2400" dirty="0"/>
              <a:t>、从生成算法产生的决策树</a:t>
            </a:r>
            <a:r>
              <a:rPr kumimoji="1" lang="en-US" altLang="zh-CN" sz="2400" dirty="0"/>
              <a:t>T</a:t>
            </a:r>
            <a:r>
              <a:rPr kumimoji="1" lang="en-US" altLang="zh-CN" sz="2400" baseline="-25000" dirty="0"/>
              <a:t>0</a:t>
            </a:r>
            <a:r>
              <a:rPr kumimoji="1" lang="zh-CN" altLang="en-US" sz="2400" dirty="0"/>
              <a:t>底端开始不断剪枝，直到</a:t>
            </a:r>
            <a:r>
              <a:rPr kumimoji="1" lang="en-US" altLang="zh-CN" sz="2400" dirty="0"/>
              <a:t>T</a:t>
            </a:r>
            <a:r>
              <a:rPr kumimoji="1" lang="en-US" altLang="zh-CN" sz="2400" baseline="-25000" dirty="0"/>
              <a:t>0</a:t>
            </a:r>
            <a:r>
              <a:rPr kumimoji="1" lang="zh-CN" altLang="en-US" sz="2400" dirty="0"/>
              <a:t>的根结点，形成子树序列</a:t>
            </a:r>
            <a:r>
              <a:rPr kumimoji="1" lang="en-US" altLang="zh-CN" sz="2400" dirty="0"/>
              <a:t>{T</a:t>
            </a:r>
            <a:r>
              <a:rPr kumimoji="1" lang="en-US" altLang="zh-CN" sz="2400" baseline="-25000" dirty="0"/>
              <a:t>0</a:t>
            </a:r>
            <a:r>
              <a:rPr kumimoji="1" lang="en-US" altLang="zh-CN" sz="2400" dirty="0"/>
              <a:t>,T</a:t>
            </a:r>
            <a:r>
              <a:rPr kumimoji="1" lang="en-US" altLang="zh-CN" sz="2400" baseline="-25000" dirty="0"/>
              <a:t>1</a:t>
            </a:r>
            <a:r>
              <a:rPr kumimoji="1" lang="en-US" altLang="zh-CN" sz="2400" dirty="0"/>
              <a:t>,…,T</a:t>
            </a:r>
            <a:r>
              <a:rPr kumimoji="1" lang="en-US" altLang="zh-CN" sz="2400" baseline="-25000" dirty="0"/>
              <a:t>n</a:t>
            </a:r>
            <a:r>
              <a:rPr kumimoji="1" lang="en-US" altLang="zh-CN" sz="2400" dirty="0"/>
              <a:t>}</a:t>
            </a:r>
            <a:r>
              <a:rPr kumimoji="1" lang="zh-CN" altLang="en-US" sz="2400" dirty="0"/>
              <a:t>；</a:t>
            </a:r>
            <a:endParaRPr kumimoji="1"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zh-CN" sz="2400" dirty="0"/>
              <a:t>2</a:t>
            </a:r>
            <a:r>
              <a:rPr kumimoji="1" lang="zh-CN" altLang="en-US" sz="2400" dirty="0"/>
              <a:t>、通过交叉验证法在</a:t>
            </a:r>
            <a:r>
              <a:rPr kumimoji="1" lang="zh-CN" altLang="en-US" sz="2400" b="1" dirty="0">
                <a:solidFill>
                  <a:srgbClr val="C00000"/>
                </a:solidFill>
              </a:rPr>
              <a:t>独立的验证数据集</a:t>
            </a:r>
            <a:r>
              <a:rPr kumimoji="1" lang="zh-CN" altLang="en-US" sz="2400" dirty="0"/>
              <a:t>上对子树序列进行测试，从中选择最优子树。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2C8B1E-2792-4EE5-82BD-67883FF203D2}"/>
              </a:ext>
            </a:extLst>
          </p:cNvPr>
          <p:cNvSpPr txBox="1"/>
          <p:nvPr/>
        </p:nvSpPr>
        <p:spPr>
          <a:xfrm>
            <a:off x="563955" y="1410070"/>
            <a:ext cx="1059450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CART</a:t>
            </a:r>
            <a:r>
              <a:rPr lang="zh-CN" altLang="en-US" sz="2800" dirty="0">
                <a:solidFill>
                  <a:srgbClr val="002E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剪枝算法从</a:t>
            </a:r>
            <a:r>
              <a:rPr lang="en-US" altLang="zh-CN" sz="2800" dirty="0">
                <a:solidFill>
                  <a:srgbClr val="002E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800" dirty="0">
                <a:solidFill>
                  <a:srgbClr val="002E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完全生长”的决策树的底端剪去一些子树，</a:t>
            </a:r>
            <a:r>
              <a:rPr lang="zh-CN" altLang="en-US" sz="28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使决策树变小</a:t>
            </a:r>
            <a:r>
              <a:rPr lang="en-US" altLang="zh-CN" sz="2800" dirty="0">
                <a:solidFill>
                  <a:srgbClr val="002E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solidFill>
                  <a:srgbClr val="002E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模型变简单</a:t>
            </a:r>
            <a:r>
              <a:rPr lang="en-US" altLang="zh-CN" sz="2800" dirty="0">
                <a:solidFill>
                  <a:srgbClr val="002E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800" dirty="0">
                <a:solidFill>
                  <a:srgbClr val="002E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，从而能够对未知数据有更好的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泛化性</a:t>
            </a:r>
            <a:r>
              <a:rPr lang="zh-CN" altLang="en-US" sz="2800" dirty="0">
                <a:solidFill>
                  <a:srgbClr val="002E7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52734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94509-EF02-4B42-934E-E63B9990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6E1320B-7E2C-42D4-B58B-1C080E7E6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67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D880EA-69F7-4787-9A73-06B4FF6F9532}"/>
              </a:ext>
            </a:extLst>
          </p:cNvPr>
          <p:cNvSpPr txBox="1"/>
          <p:nvPr/>
        </p:nvSpPr>
        <p:spPr>
          <a:xfrm>
            <a:off x="563956" y="1022081"/>
            <a:ext cx="456503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CART 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剪支算法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451EF0-81CF-4F49-8A25-4F6A0305E268}"/>
              </a:ext>
            </a:extLst>
          </p:cNvPr>
          <p:cNvSpPr txBox="1"/>
          <p:nvPr/>
        </p:nvSpPr>
        <p:spPr>
          <a:xfrm>
            <a:off x="647506" y="1698188"/>
            <a:ext cx="1059450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/>
              <a:t>1</a:t>
            </a:r>
            <a:r>
              <a:rPr kumimoji="1" lang="zh-CN" altLang="en-US" sz="2400" dirty="0"/>
              <a:t>、剪枝，形成子树序列</a:t>
            </a: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剪枝过程中，计算子树的损失函数：</a:t>
            </a: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CN" sz="2400" dirty="0"/>
          </a:p>
          <a:p>
            <a:r>
              <a:rPr kumimoji="1" lang="zh-CN" altLang="en-US" sz="2400" dirty="0"/>
              <a:t>其中</a:t>
            </a:r>
            <a:r>
              <a:rPr kumimoji="1" lang="en-US" altLang="zh-CN" sz="2400" i="1" dirty="0"/>
              <a:t>T</a:t>
            </a:r>
            <a:r>
              <a:rPr kumimoji="1" lang="zh-CN" altLang="en-US" sz="2400" dirty="0"/>
              <a:t>为任意子树，</a:t>
            </a:r>
            <a:r>
              <a:rPr kumimoji="1" lang="en-US" altLang="zh-CN" sz="2400" i="1" dirty="0"/>
              <a:t>C(T)</a:t>
            </a:r>
            <a:r>
              <a:rPr kumimoji="1" lang="zh-CN" altLang="en-US" sz="2400" dirty="0"/>
              <a:t>为对训练数据的预测误差</a:t>
            </a:r>
            <a:r>
              <a:rPr kumimoji="1" lang="en-US" altLang="zh-CN" sz="2400" dirty="0"/>
              <a:t>(</a:t>
            </a:r>
            <a:r>
              <a:rPr kumimoji="1" lang="zh-CN" altLang="en-US" sz="2400" dirty="0"/>
              <a:t>如基尼指数</a:t>
            </a:r>
            <a:r>
              <a:rPr kumimoji="1" lang="en-US" altLang="zh-CN" sz="2400" dirty="0"/>
              <a:t>)</a:t>
            </a:r>
            <a:r>
              <a:rPr kumimoji="1" lang="zh-CN" altLang="en-US" sz="2400" dirty="0"/>
              <a:t>，</a:t>
            </a:r>
            <a:r>
              <a:rPr kumimoji="1" lang="en-US" altLang="zh-CN" sz="2400" dirty="0"/>
              <a:t>|</a:t>
            </a:r>
            <a:r>
              <a:rPr kumimoji="1" lang="en-US" altLang="zh-CN" sz="2400" i="1" dirty="0"/>
              <a:t>T </a:t>
            </a:r>
            <a:r>
              <a:rPr kumimoji="1" lang="en-US" altLang="zh-CN" sz="2400" dirty="0"/>
              <a:t>|</a:t>
            </a:r>
            <a:r>
              <a:rPr kumimoji="1" lang="zh-CN" altLang="en-US" sz="2400" dirty="0"/>
              <a:t>为子树的叶结点个数，</a:t>
            </a:r>
            <a:r>
              <a:rPr kumimoji="1" lang="en-US" altLang="zh-CN" sz="2400" dirty="0"/>
              <a:t>a &gt;= 0 </a:t>
            </a:r>
            <a:r>
              <a:rPr kumimoji="1" lang="zh-CN" altLang="en-US" sz="2400" dirty="0"/>
              <a:t>为参数，以</a:t>
            </a:r>
            <a:r>
              <a:rPr kumimoji="1" lang="en-US" altLang="zh-CN" sz="2400" i="1" dirty="0"/>
              <a:t>C</a:t>
            </a:r>
            <a:r>
              <a:rPr kumimoji="1" lang="en-US" altLang="zh-CN" sz="2400" i="1" baseline="-25000" dirty="0"/>
              <a:t>a</a:t>
            </a:r>
            <a:r>
              <a:rPr kumimoji="1" lang="en-US" altLang="zh-CN" sz="2400" dirty="0"/>
              <a:t>(</a:t>
            </a:r>
            <a:r>
              <a:rPr kumimoji="1" lang="en-US" altLang="zh-CN" sz="2400" i="1" dirty="0"/>
              <a:t>T </a:t>
            </a:r>
            <a:r>
              <a:rPr kumimoji="1" lang="en-US" altLang="zh-CN" sz="2400" dirty="0"/>
              <a:t>) </a:t>
            </a:r>
            <a:r>
              <a:rPr kumimoji="1" lang="zh-CN" altLang="en-US" sz="2400" dirty="0"/>
              <a:t>为参数是</a:t>
            </a:r>
            <a:r>
              <a:rPr kumimoji="1" lang="en-US" altLang="zh-CN" sz="2400" i="1" dirty="0"/>
              <a:t>a </a:t>
            </a:r>
            <a:r>
              <a:rPr kumimoji="1" lang="zh-CN" altLang="en-US" sz="2400" dirty="0"/>
              <a:t>时的子树</a:t>
            </a:r>
            <a:r>
              <a:rPr kumimoji="1" lang="en-US" altLang="zh-CN" sz="2400" i="1" dirty="0"/>
              <a:t>T </a:t>
            </a:r>
            <a:r>
              <a:rPr kumimoji="1" lang="zh-CN" altLang="en-US" sz="2400" dirty="0"/>
              <a:t>的整体损失。参数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权衡训练数据的拟合程度与模型的复杂度。</a:t>
            </a: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对固定的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一定存在损失函数最小的子树，表示为</a:t>
            </a:r>
            <a:r>
              <a:rPr kumimoji="1" lang="en-US" altLang="zh-CN" sz="2400" dirty="0"/>
              <a:t>Ta</a:t>
            </a:r>
            <a:r>
              <a:rPr kumimoji="1" lang="zh-CN" altLang="en-US" sz="2400" dirty="0"/>
              <a:t>。</a:t>
            </a:r>
            <a:r>
              <a:rPr kumimoji="1" lang="en-US" altLang="zh-CN" sz="2400" dirty="0"/>
              <a:t>Ta</a:t>
            </a:r>
            <a:r>
              <a:rPr kumimoji="1" lang="zh-CN" altLang="en-US" sz="2400" dirty="0"/>
              <a:t>在损失函数</a:t>
            </a:r>
            <a:r>
              <a:rPr kumimoji="1" lang="en-US" altLang="zh-CN" sz="2400" i="1" dirty="0"/>
              <a:t>C</a:t>
            </a:r>
            <a:r>
              <a:rPr kumimoji="1" lang="en-US" altLang="zh-CN" sz="2400" i="1" baseline="-25000" dirty="0"/>
              <a:t>a</a:t>
            </a:r>
            <a:r>
              <a:rPr kumimoji="1" lang="en-US" altLang="zh-CN" sz="2400" dirty="0"/>
              <a:t>(</a:t>
            </a:r>
            <a:r>
              <a:rPr kumimoji="1" lang="en-US" altLang="zh-CN" sz="2400" i="1" dirty="0"/>
              <a:t>T </a:t>
            </a:r>
            <a:r>
              <a:rPr kumimoji="1" lang="en-US" altLang="zh-CN" sz="2400" dirty="0"/>
              <a:t>) </a:t>
            </a:r>
            <a:r>
              <a:rPr kumimoji="1" lang="zh-CN" altLang="en-US" sz="2400" dirty="0"/>
              <a:t>最小的意义下是最优的；</a:t>
            </a: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当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大的时候，最优子树</a:t>
            </a:r>
            <a:r>
              <a:rPr kumimoji="1" lang="en-US" altLang="zh-CN" sz="2400" dirty="0"/>
              <a:t>Ta</a:t>
            </a:r>
            <a:r>
              <a:rPr kumimoji="1" lang="zh-CN" altLang="en-US" sz="2400" dirty="0"/>
              <a:t>偏小；当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小的时候，最优子树</a:t>
            </a:r>
            <a:r>
              <a:rPr kumimoji="1" lang="en-US" altLang="zh-CN" sz="2400" dirty="0"/>
              <a:t>Ta</a:t>
            </a:r>
            <a:r>
              <a:rPr kumimoji="1" lang="zh-CN" altLang="en-US" sz="2400" dirty="0"/>
              <a:t>偏大；</a:t>
            </a: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rgbClr val="C00000"/>
                </a:solidFill>
              </a:rPr>
              <a:t>极端情况</a:t>
            </a:r>
            <a:r>
              <a:rPr kumimoji="1" lang="zh-CN" altLang="en-US" sz="2400" dirty="0"/>
              <a:t>，</a:t>
            </a:r>
            <a:r>
              <a:rPr kumimoji="1" lang="en-US" altLang="zh-CN" sz="2400" dirty="0"/>
              <a:t>a=0</a:t>
            </a:r>
            <a:r>
              <a:rPr kumimoji="1" lang="zh-CN" altLang="en-US" sz="2400" dirty="0"/>
              <a:t>时，整体树是最优的，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趋于无穷大时，根结点组成的单结点树是最优的。</a:t>
            </a: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将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从小增大，</a:t>
            </a:r>
            <a:r>
              <a:rPr kumimoji="1" lang="en-US" altLang="zh-CN" sz="2400" dirty="0"/>
              <a:t>0=a</a:t>
            </a:r>
            <a:r>
              <a:rPr kumimoji="1" lang="en-US" altLang="zh-CN" sz="2400" baseline="-25000" dirty="0"/>
              <a:t>0</a:t>
            </a:r>
            <a:r>
              <a:rPr kumimoji="1" lang="en-US" altLang="zh-CN" sz="2400" dirty="0"/>
              <a:t>&lt;a</a:t>
            </a:r>
            <a:r>
              <a:rPr kumimoji="1" lang="en-US" altLang="zh-CN" sz="2400" baseline="-25000" dirty="0"/>
              <a:t>1</a:t>
            </a:r>
            <a:r>
              <a:rPr kumimoji="1" lang="en-US" altLang="zh-CN" sz="2400" dirty="0"/>
              <a:t> …&lt;a</a:t>
            </a:r>
            <a:r>
              <a:rPr kumimoji="1" lang="en-US" altLang="zh-CN" sz="2400" baseline="-25000" dirty="0"/>
              <a:t>n</a:t>
            </a:r>
            <a:r>
              <a:rPr kumimoji="1" lang="en-US" altLang="zh-CN" sz="2400" dirty="0"/>
              <a:t>&lt;+</a:t>
            </a:r>
            <a:r>
              <a:rPr kumimoji="1" lang="zh-CN" altLang="en-US" sz="2400" dirty="0"/>
              <a:t>∞，得到最优子树序列</a:t>
            </a:r>
            <a:r>
              <a:rPr kumimoji="1" lang="en-US" altLang="zh-CN" sz="2400" dirty="0"/>
              <a:t>{T</a:t>
            </a:r>
            <a:r>
              <a:rPr kumimoji="1" lang="en-US" altLang="zh-CN" sz="2400" baseline="-25000" dirty="0"/>
              <a:t>0</a:t>
            </a:r>
            <a:r>
              <a:rPr kumimoji="1" lang="en-US" altLang="zh-CN" sz="2400" dirty="0"/>
              <a:t>,T</a:t>
            </a:r>
            <a:r>
              <a:rPr kumimoji="1" lang="en-US" altLang="zh-CN" sz="2400" baseline="-25000" dirty="0"/>
              <a:t>1</a:t>
            </a:r>
            <a:r>
              <a:rPr kumimoji="1" lang="en-US" altLang="zh-CN" sz="2400" dirty="0"/>
              <a:t>,…,T</a:t>
            </a:r>
            <a:r>
              <a:rPr kumimoji="1" lang="en-US" altLang="zh-CN" sz="2400" baseline="-25000" dirty="0"/>
              <a:t>n</a:t>
            </a:r>
            <a:r>
              <a:rPr kumimoji="1" lang="en-US" altLang="zh-CN" sz="2400" dirty="0"/>
              <a:t>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74FD3AB-91B0-41F2-BDA7-D82441B6A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71" y="2609960"/>
            <a:ext cx="2862318" cy="36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09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94509-EF02-4B42-934E-E63B9990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6E1320B-7E2C-42D4-B58B-1C080E7E6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68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D880EA-69F7-4787-9A73-06B4FF6F9532}"/>
              </a:ext>
            </a:extLst>
          </p:cNvPr>
          <p:cNvSpPr txBox="1"/>
          <p:nvPr/>
        </p:nvSpPr>
        <p:spPr>
          <a:xfrm>
            <a:off x="563956" y="1022081"/>
            <a:ext cx="456503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CART 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剪支算法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1CFC415-C574-478C-9D99-1376778D922E}"/>
              </a:ext>
            </a:extLst>
          </p:cNvPr>
          <p:cNvSpPr txBox="1"/>
          <p:nvPr/>
        </p:nvSpPr>
        <p:spPr>
          <a:xfrm>
            <a:off x="605731" y="1640527"/>
            <a:ext cx="1134645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dirty="0" err="1"/>
              <a:t>Breiman</a:t>
            </a:r>
            <a:r>
              <a:rPr kumimoji="1" lang="zh-CN" altLang="en-US" sz="2400" dirty="0"/>
              <a:t>等人证明：可以用递归的方法对树进行剪枝。将 </a:t>
            </a:r>
            <a:r>
              <a:rPr kumimoji="1" lang="en-US" altLang="zh-CN" sz="2400" dirty="0"/>
              <a:t>a </a:t>
            </a:r>
            <a:r>
              <a:rPr kumimoji="1" lang="zh-CN" altLang="en-US" sz="2400" dirty="0"/>
              <a:t>从小增大，</a:t>
            </a:r>
            <a:r>
              <a:rPr kumimoji="1" lang="en-US" altLang="zh-CN" sz="2400" dirty="0"/>
              <a:t> 0=a</a:t>
            </a:r>
            <a:r>
              <a:rPr kumimoji="1" lang="en-US" altLang="zh-CN" sz="2400" baseline="-25000" dirty="0"/>
              <a:t>0</a:t>
            </a:r>
            <a:r>
              <a:rPr kumimoji="1" lang="en-US" altLang="zh-CN" sz="2400" dirty="0"/>
              <a:t>&lt;a</a:t>
            </a:r>
            <a:r>
              <a:rPr kumimoji="1" lang="en-US" altLang="zh-CN" sz="2400" baseline="-25000" dirty="0"/>
              <a:t>1</a:t>
            </a:r>
            <a:r>
              <a:rPr kumimoji="1" lang="en-US" altLang="zh-CN" sz="2400" dirty="0"/>
              <a:t> …&lt;a</a:t>
            </a:r>
            <a:r>
              <a:rPr kumimoji="1" lang="en-US" altLang="zh-CN" sz="2400" baseline="-25000" dirty="0"/>
              <a:t>n</a:t>
            </a:r>
            <a:r>
              <a:rPr kumimoji="1" lang="en-US" altLang="zh-CN" sz="2400" dirty="0"/>
              <a:t>&lt;+</a:t>
            </a:r>
            <a:r>
              <a:rPr kumimoji="1" lang="zh-CN" altLang="en-US" sz="2400" dirty="0"/>
              <a:t>∞</a:t>
            </a:r>
            <a:r>
              <a:rPr kumimoji="1" lang="en-US" altLang="zh-CN" sz="2400" dirty="0"/>
              <a:t>,</a:t>
            </a:r>
            <a:r>
              <a:rPr kumimoji="1" lang="zh-CN" altLang="en-US" sz="2400" dirty="0"/>
              <a:t>产生一系列的区间［</a:t>
            </a:r>
            <a:r>
              <a:rPr kumimoji="1" lang="en-US" altLang="zh-CN" sz="2400" dirty="0"/>
              <a:t>a</a:t>
            </a:r>
            <a:r>
              <a:rPr kumimoji="1"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/>
              <a:t>, a</a:t>
            </a:r>
            <a:r>
              <a:rPr kumimoji="1"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aseline="-25000" dirty="0"/>
              <a:t>+1</a:t>
            </a:r>
            <a:r>
              <a:rPr kumimoji="1" lang="en-US" altLang="zh-CN" sz="2400" dirty="0"/>
              <a:t>), </a:t>
            </a:r>
            <a:r>
              <a:rPr kumimoji="1"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/>
              <a:t>= 0,1,… ,n</a:t>
            </a:r>
            <a:r>
              <a:rPr kumimoji="1" lang="zh-CN" altLang="en-US" sz="2400" dirty="0"/>
              <a:t>；剪枝得到的子树序列对应着区间</a:t>
            </a:r>
            <a:r>
              <a:rPr kumimoji="1" lang="en-US" altLang="zh-CN" sz="2400" dirty="0"/>
              <a:t>a </a:t>
            </a:r>
            <a:r>
              <a:rPr kumimoji="1" lang="zh-CN" altLang="en-US" sz="2400" dirty="0"/>
              <a:t>∈ </a:t>
            </a:r>
            <a:r>
              <a:rPr kumimoji="1" lang="en-US" altLang="zh-CN" sz="2400" dirty="0"/>
              <a:t>[a</a:t>
            </a:r>
            <a:r>
              <a:rPr kumimoji="1"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/>
              <a:t>, a</a:t>
            </a:r>
            <a:r>
              <a:rPr kumimoji="1"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aseline="-25000" dirty="0"/>
              <a:t>+1</a:t>
            </a:r>
            <a:r>
              <a:rPr kumimoji="1" lang="en-US" altLang="zh-CN" sz="2400" dirty="0"/>
              <a:t>), </a:t>
            </a:r>
            <a:r>
              <a:rPr kumimoji="1"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/>
              <a:t>= 0,1,… ,n</a:t>
            </a:r>
            <a:r>
              <a:rPr kumimoji="1" lang="zh-CN" altLang="en-US" sz="2400" dirty="0"/>
              <a:t>的</a:t>
            </a:r>
            <a:r>
              <a:rPr kumimoji="1" lang="zh-CN" altLang="en-US" sz="2400" b="1" dirty="0">
                <a:solidFill>
                  <a:srgbClr val="C00000"/>
                </a:solidFill>
              </a:rPr>
              <a:t>最优</a:t>
            </a:r>
            <a:r>
              <a:rPr kumimoji="1" lang="zh-CN" altLang="en-US" sz="2400" dirty="0"/>
              <a:t>子树序列</a:t>
            </a:r>
            <a:r>
              <a:rPr kumimoji="1" lang="en-US" altLang="zh-CN" sz="2400" dirty="0"/>
              <a:t>{T</a:t>
            </a:r>
            <a:r>
              <a:rPr kumimoji="1" lang="en-US" altLang="zh-CN" sz="2400" baseline="-25000" dirty="0"/>
              <a:t>0</a:t>
            </a:r>
            <a:r>
              <a:rPr kumimoji="1" lang="en-US" altLang="zh-CN" sz="2400" dirty="0"/>
              <a:t>,T</a:t>
            </a:r>
            <a:r>
              <a:rPr kumimoji="1" lang="en-US" altLang="zh-CN" sz="2400" baseline="-25000" dirty="0"/>
              <a:t>1,…,</a:t>
            </a:r>
            <a:r>
              <a:rPr kumimoji="1" lang="en-US" altLang="zh-CN" sz="2400" dirty="0"/>
              <a:t>T</a:t>
            </a:r>
            <a:r>
              <a:rPr kumimoji="1" lang="en-US" altLang="zh-CN" sz="2400" baseline="-25000" dirty="0"/>
              <a:t>n</a:t>
            </a:r>
            <a:r>
              <a:rPr kumimoji="1" lang="en-US" altLang="zh-CN" sz="2400" dirty="0"/>
              <a:t>},</a:t>
            </a:r>
            <a:r>
              <a:rPr kumimoji="1" lang="zh-CN" altLang="en-US" sz="2400" b="1" dirty="0"/>
              <a:t>序列中的子树是嵌套的。</a:t>
            </a:r>
            <a:endParaRPr kumimoji="1" lang="en-US" altLang="zh-CN" sz="2400" b="1" dirty="0"/>
          </a:p>
          <a:p>
            <a:endParaRPr kumimoji="1" lang="en-US" altLang="zh-C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具体：从</a:t>
            </a:r>
            <a:r>
              <a:rPr kumimoji="1" lang="en-US" altLang="zh-CN" sz="2400" dirty="0"/>
              <a:t>T0</a:t>
            </a:r>
            <a:r>
              <a:rPr kumimoji="1" lang="zh-CN" altLang="en-US" sz="2400" dirty="0"/>
              <a:t>开始剪枝，以</a:t>
            </a:r>
            <a:r>
              <a:rPr kumimoji="1" lang="en-US" altLang="zh-CN" sz="2400" dirty="0"/>
              <a:t>t</a:t>
            </a:r>
            <a:r>
              <a:rPr kumimoji="1" lang="zh-CN" altLang="en-US" sz="2400" dirty="0"/>
              <a:t>为</a:t>
            </a:r>
            <a:r>
              <a:rPr kumimoji="1" lang="zh-CN" altLang="en-US" sz="2400" b="1" dirty="0"/>
              <a:t>单结点</a:t>
            </a:r>
            <a:r>
              <a:rPr kumimoji="1" lang="zh-CN" altLang="en-US" sz="2400" dirty="0"/>
              <a:t>树的损失函数：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以</a:t>
            </a:r>
            <a:r>
              <a:rPr kumimoji="1" lang="en-US" altLang="zh-CN" sz="2400" dirty="0"/>
              <a:t>t</a:t>
            </a:r>
            <a:r>
              <a:rPr kumimoji="1" lang="zh-CN" altLang="en-US" sz="2400" dirty="0"/>
              <a:t>为根结点的子树</a:t>
            </a:r>
            <a:r>
              <a:rPr kumimoji="1" lang="en-US" altLang="zh-CN" sz="2400" dirty="0"/>
              <a:t>T</a:t>
            </a:r>
            <a:r>
              <a:rPr kumimoji="1" lang="en-US" altLang="zh-CN" sz="2400" baseline="-25000" dirty="0"/>
              <a:t>t</a:t>
            </a:r>
            <a:r>
              <a:rPr kumimoji="1" lang="zh-CN" altLang="en-US" sz="2400" dirty="0"/>
              <a:t>的损失函数：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当</a:t>
            </a:r>
            <a:r>
              <a:rPr kumimoji="1" lang="en-US" altLang="zh-CN" sz="2400" dirty="0"/>
              <a:t>a=0</a:t>
            </a:r>
            <a:r>
              <a:rPr kumimoji="1" lang="zh-CN" altLang="en-US" sz="2400" dirty="0"/>
              <a:t>及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很小时，</a:t>
            </a: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不断增大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，当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/>
              <a:t>Tt</a:t>
            </a:r>
            <a:r>
              <a:rPr kumimoji="1" lang="zh-CN" altLang="en-US" sz="2400" dirty="0"/>
              <a:t>与</a:t>
            </a:r>
            <a:r>
              <a:rPr kumimoji="1" lang="en-US" altLang="zh-CN" sz="2400" dirty="0"/>
              <a:t>t</a:t>
            </a:r>
            <a:r>
              <a:rPr kumimoji="1" lang="zh-CN" altLang="en-US" sz="2400" dirty="0"/>
              <a:t>有相同损失函数值，但</a:t>
            </a:r>
            <a:r>
              <a:rPr kumimoji="1" lang="en-US" altLang="zh-CN" sz="2400" dirty="0"/>
              <a:t>t</a:t>
            </a:r>
            <a:r>
              <a:rPr kumimoji="1" lang="zh-CN" altLang="en-US" sz="2400" dirty="0"/>
              <a:t>结点更少，所以剪枝</a:t>
            </a:r>
            <a:r>
              <a:rPr kumimoji="1" lang="en-US" altLang="zh-CN" sz="2400" dirty="0"/>
              <a:t>Tt</a:t>
            </a:r>
            <a:r>
              <a:rPr kumimoji="1" lang="zh-CN" altLang="en-US" sz="2400" dirty="0"/>
              <a:t>。</a:t>
            </a:r>
            <a:endParaRPr kumimoji="1" lang="en-US" altLang="zh-CN" sz="2400" dirty="0"/>
          </a:p>
          <a:p>
            <a:endParaRPr kumimoji="1" lang="zh-CN" altLang="en-US" sz="24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4D00D88-4E89-4965-9795-58E19166A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376" y="3521833"/>
            <a:ext cx="2216594" cy="43204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0C722D5-9EE8-4622-96FD-61E39B787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9607" y="4272016"/>
            <a:ext cx="2880320" cy="36882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2DC5737-9A7B-4FE2-BA16-01764D5995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2239" y="4986371"/>
            <a:ext cx="1944217" cy="37457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043B513-4519-4E1C-A369-05F04B2E80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2342" y="5422560"/>
            <a:ext cx="2062047" cy="43204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C89B990-E3CF-403D-8F70-3465C10E42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9983" y="5274308"/>
            <a:ext cx="2016224" cy="72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0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94509-EF02-4B42-934E-E63B9990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6E1320B-7E2C-42D4-B58B-1C080E7E6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69</a:t>
            </a:fld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E77054F-E466-4A12-BDC8-2EE21A04DA41}"/>
              </a:ext>
            </a:extLst>
          </p:cNvPr>
          <p:cNvSpPr txBox="1"/>
          <p:nvPr/>
        </p:nvSpPr>
        <p:spPr>
          <a:xfrm>
            <a:off x="512900" y="957173"/>
            <a:ext cx="6103736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CART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剪枝算法</a:t>
            </a:r>
            <a:endParaRPr lang="en-US" altLang="zh-CN" sz="2800" dirty="0">
              <a:solidFill>
                <a:srgbClr val="002E73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62611FD-FC7A-4E2A-B2C4-3BA7544AA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475" y="1397537"/>
            <a:ext cx="7007595" cy="546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756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96C135-9CC1-4A08-A8F0-A2DD9B622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84D74D2-E086-41EF-8259-E225BB1D5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70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5BE233-6734-4CA1-B70C-1996CB3A8986}"/>
              </a:ext>
            </a:extLst>
          </p:cNvPr>
          <p:cNvSpPr txBox="1"/>
          <p:nvPr/>
        </p:nvSpPr>
        <p:spPr>
          <a:xfrm>
            <a:off x="364368" y="943173"/>
            <a:ext cx="6103736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CART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算法</a:t>
            </a: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-</a:t>
            </a: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回归</a:t>
            </a:r>
            <a:endParaRPr lang="en-US" altLang="zh-CN" sz="2800" dirty="0">
              <a:solidFill>
                <a:srgbClr val="002E7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5D9DE5-650D-40E6-9AFD-B090C9995825}"/>
              </a:ext>
            </a:extLst>
          </p:cNvPr>
          <p:cNvSpPr txBox="1"/>
          <p:nvPr/>
        </p:nvSpPr>
        <p:spPr>
          <a:xfrm>
            <a:off x="624298" y="1456678"/>
            <a:ext cx="1010713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回归树的生成</a:t>
            </a: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设</a:t>
            </a:r>
            <a:r>
              <a:rPr kumimoji="1" lang="en-US" altLang="zh-CN" sz="2400" dirty="0"/>
              <a:t>Y</a:t>
            </a:r>
            <a:r>
              <a:rPr kumimoji="1" lang="zh-CN" altLang="en-US" sz="2400" dirty="0"/>
              <a:t>是连续变量，给定训练数据集：</a:t>
            </a: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假设已将输入空间划分为</a:t>
            </a:r>
            <a:r>
              <a:rPr kumimoji="1" lang="en-US" altLang="zh-CN" sz="2400" dirty="0"/>
              <a:t>M</a:t>
            </a:r>
            <a:r>
              <a:rPr kumimoji="1" lang="zh-CN" altLang="en-US" sz="2400" dirty="0"/>
              <a:t>个单元</a:t>
            </a:r>
            <a:r>
              <a:rPr kumimoji="1" lang="en-US" altLang="zh-CN" sz="2400" dirty="0"/>
              <a:t>R</a:t>
            </a:r>
            <a:r>
              <a:rPr kumimoji="1" lang="en-US" altLang="zh-CN" sz="2400" baseline="-25000" dirty="0"/>
              <a:t>1</a:t>
            </a:r>
            <a:r>
              <a:rPr kumimoji="1" lang="en-US" altLang="zh-CN" sz="2400" dirty="0"/>
              <a:t>,R</a:t>
            </a:r>
            <a:r>
              <a:rPr kumimoji="1" lang="en-US" altLang="zh-CN" sz="2400" baseline="-25000" dirty="0"/>
              <a:t>2</a:t>
            </a:r>
            <a:r>
              <a:rPr kumimoji="1" lang="en-US" altLang="zh-CN" sz="2400" dirty="0"/>
              <a:t>,…,R</a:t>
            </a:r>
            <a:r>
              <a:rPr kumimoji="1" lang="en-US" altLang="zh-CN" sz="2400" baseline="-25000" dirty="0"/>
              <a:t>m</a:t>
            </a:r>
            <a:r>
              <a:rPr kumimoji="1" lang="en-US" altLang="zh-CN" sz="2400" dirty="0"/>
              <a:t>,</a:t>
            </a:r>
            <a:r>
              <a:rPr kumimoji="1" lang="zh-CN" altLang="en-US" sz="2400" dirty="0"/>
              <a:t>并且每个单元</a:t>
            </a:r>
            <a:r>
              <a:rPr kumimoji="1" lang="en-US" altLang="zh-CN" sz="2400" dirty="0"/>
              <a:t>R</a:t>
            </a:r>
            <a:r>
              <a:rPr kumimoji="1" lang="en-US" altLang="zh-CN" sz="2400" baseline="-25000" dirty="0"/>
              <a:t>m</a:t>
            </a:r>
            <a:r>
              <a:rPr kumimoji="1" lang="zh-CN" altLang="en-US" sz="2400" dirty="0"/>
              <a:t>上有一个固定的输出</a:t>
            </a:r>
            <a:r>
              <a:rPr kumimoji="1" lang="en-US" altLang="zh-CN" sz="2400" dirty="0"/>
              <a:t>c</a:t>
            </a:r>
            <a:r>
              <a:rPr kumimoji="1" lang="en-US" altLang="zh-CN" sz="2400" baseline="-25000" dirty="0"/>
              <a:t>m</a:t>
            </a:r>
            <a:r>
              <a:rPr kumimoji="1" lang="zh-CN" altLang="en-US" sz="2400" dirty="0"/>
              <a:t>，回归树表示为：</a:t>
            </a: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平方误差来表示预测误差，用平方误差最小准则求解每个单元上的最优输出值</a:t>
            </a: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400" dirty="0"/>
              <a:t>R</a:t>
            </a:r>
            <a:r>
              <a:rPr kumimoji="1" lang="en-US" altLang="zh-CN" sz="2400" baseline="-25000" dirty="0"/>
              <a:t>m</a:t>
            </a:r>
            <a:r>
              <a:rPr kumimoji="1" lang="zh-CN" altLang="en-US" sz="2400" dirty="0"/>
              <a:t>上的</a:t>
            </a:r>
            <a:r>
              <a:rPr kumimoji="1" lang="en-US" altLang="zh-CN" sz="2400" dirty="0"/>
              <a:t>C</a:t>
            </a:r>
            <a:r>
              <a:rPr kumimoji="1" lang="en-US" altLang="zh-CN" sz="2400" baseline="-25000" dirty="0"/>
              <a:t>m</a:t>
            </a:r>
            <a:r>
              <a:rPr kumimoji="1" lang="zh-CN" altLang="en-US" sz="2400" dirty="0"/>
              <a:t>的最优值：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A1C9EB3-3DAF-4DED-9CDE-A463DEADB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405" y="1870086"/>
            <a:ext cx="4518680" cy="41945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C70BEB4-560F-4273-B8F4-5811EF7D4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791" y="3032956"/>
            <a:ext cx="2855201" cy="79208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FA2B53C-354E-4B70-BAD0-46FCF9208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150" y="4568458"/>
            <a:ext cx="2776213" cy="83286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8EB990-1B63-4BE9-B08D-EACD90691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9849" y="5478142"/>
            <a:ext cx="3260248" cy="53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66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C1FED-22D5-4317-B985-E63503F1F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663FFA2-11BB-4738-9404-2CF41A8191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71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641FE1-396D-4D99-817D-678B3CF68EA3}"/>
              </a:ext>
            </a:extLst>
          </p:cNvPr>
          <p:cNvSpPr txBox="1"/>
          <p:nvPr/>
        </p:nvSpPr>
        <p:spPr>
          <a:xfrm>
            <a:off x="531466" y="806102"/>
            <a:ext cx="1137894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问题：如何对输入空间进行划分？</a:t>
            </a: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启发式：选择第</a:t>
            </a:r>
            <a:r>
              <a:rPr kumimoji="1" lang="en-US" altLang="zh-CN" sz="2400" dirty="0"/>
              <a:t>j</a:t>
            </a:r>
            <a:r>
              <a:rPr kumimoji="1" lang="zh-CN" altLang="en-US" sz="2400" dirty="0"/>
              <a:t>个变量</a:t>
            </a:r>
            <a:r>
              <a:rPr kumimoji="1" lang="en-US" altLang="zh-CN" sz="2400" dirty="0"/>
              <a:t>x</a:t>
            </a:r>
            <a:r>
              <a:rPr kumimoji="1" lang="en-US" altLang="zh-CN" sz="2400" baseline="30000" dirty="0"/>
              <a:t>(j)</a:t>
            </a:r>
            <a:r>
              <a:rPr kumimoji="1" lang="zh-CN" altLang="en-US" sz="2400" dirty="0"/>
              <a:t>和它取的值</a:t>
            </a:r>
            <a:r>
              <a:rPr kumimoji="1" lang="en-US" altLang="zh-CN" sz="2400" dirty="0"/>
              <a:t>s</a:t>
            </a:r>
            <a:r>
              <a:rPr kumimoji="1" lang="zh-CN" altLang="en-US" sz="2400" dirty="0"/>
              <a:t>，作为切分变量和切分点，定义两个区域：</a:t>
            </a: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然后寻找最优切分变量和切分点：</a:t>
            </a: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且：</a:t>
            </a: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再对两个区域重复上述划分，直到满足停止条件。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9E3D00A-02D2-4660-A0F7-51F5D5FBF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978" y="1717569"/>
            <a:ext cx="6048672" cy="4320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174B380-2317-4741-AEDB-D3FDA046E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4481" y="2639350"/>
            <a:ext cx="4583789" cy="75295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8BF4768-BF22-4044-ADAE-4E59210B6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2593" y="3429000"/>
            <a:ext cx="7416824" cy="5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21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068F4D-A3C8-41E8-B3BE-46184E7DD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F0BD388-CC5A-4AFD-8F59-22F465BB90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72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2364D4-2C5C-4A00-93BD-254BE905D367}"/>
              </a:ext>
            </a:extLst>
          </p:cNvPr>
          <p:cNvSpPr txBox="1"/>
          <p:nvPr/>
        </p:nvSpPr>
        <p:spPr>
          <a:xfrm>
            <a:off x="480408" y="882907"/>
            <a:ext cx="4305107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最小二乘回归树生成算法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7BF95FC-2F1E-4795-8D09-56A0F055C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256" y="1415767"/>
            <a:ext cx="6131487" cy="544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547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-127000"/>
            <a:ext cx="12192000" cy="6985001"/>
            <a:chOff x="0" y="-127000"/>
            <a:chExt cx="12192000" cy="6985001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 5">
              <a:extLst>
                <a:ext uri="{FF2B5EF4-FFF2-40B4-BE49-F238E27FC236}">
                  <a16:creationId xmlns:a16="http://schemas.microsoft.com/office/drawing/2014/main" id="{683F9A17-5372-4D20-B984-AEEE30D4E8ED}"/>
                </a:ext>
              </a:extLst>
            </p:cNvPr>
            <p:cNvSpPr/>
            <p:nvPr/>
          </p:nvSpPr>
          <p:spPr>
            <a:xfrm flipH="1">
              <a:off x="1651519" y="990601"/>
              <a:ext cx="3046301" cy="916025"/>
            </a:xfrm>
            <a:custGeom>
              <a:avLst/>
              <a:gdLst>
                <a:gd name="connsiteX0" fmla="*/ 3548448 w 4378443"/>
                <a:gd name="connsiteY0" fmla="*/ 0 h 1659990"/>
                <a:gd name="connsiteX1" fmla="*/ 0 w 4378443"/>
                <a:gd name="connsiteY1" fmla="*/ 0 h 1659990"/>
                <a:gd name="connsiteX2" fmla="*/ 0 w 4378443"/>
                <a:gd name="connsiteY2" fmla="*/ 1659990 h 1659990"/>
                <a:gd name="connsiteX3" fmla="*/ 3548447 w 4378443"/>
                <a:gd name="connsiteY3" fmla="*/ 1659990 h 1659990"/>
                <a:gd name="connsiteX4" fmla="*/ 4378442 w 4378443"/>
                <a:gd name="connsiteY4" fmla="*/ 829995 h 1659990"/>
                <a:gd name="connsiteX5" fmla="*/ 4378443 w 4378443"/>
                <a:gd name="connsiteY5" fmla="*/ 829995 h 1659990"/>
                <a:gd name="connsiteX6" fmla="*/ 3548448 w 4378443"/>
                <a:gd name="connsiteY6" fmla="*/ 0 h 16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8443" h="1659990">
                  <a:moveTo>
                    <a:pt x="3548448" y="0"/>
                  </a:moveTo>
                  <a:lnTo>
                    <a:pt x="0" y="0"/>
                  </a:lnTo>
                  <a:lnTo>
                    <a:pt x="0" y="1659990"/>
                  </a:lnTo>
                  <a:lnTo>
                    <a:pt x="3548447" y="1659990"/>
                  </a:lnTo>
                  <a:cubicBezTo>
                    <a:pt x="4006841" y="1659990"/>
                    <a:pt x="4378442" y="1288389"/>
                    <a:pt x="4378442" y="829995"/>
                  </a:cubicBezTo>
                  <a:lnTo>
                    <a:pt x="4378443" y="829995"/>
                  </a:lnTo>
                  <a:cubicBezTo>
                    <a:pt x="4378443" y="371601"/>
                    <a:pt x="4006842" y="0"/>
                    <a:pt x="3548448" y="0"/>
                  </a:cubicBezTo>
                  <a:close/>
                </a:path>
              </a:pathLst>
            </a:custGeom>
            <a:solidFill>
              <a:srgbClr val="213F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200C103-E212-4C79-9ADB-9CF7394DABAA}"/>
                </a:ext>
              </a:extLst>
            </p:cNvPr>
            <p:cNvGrpSpPr/>
            <p:nvPr/>
          </p:nvGrpSpPr>
          <p:grpSpPr>
            <a:xfrm>
              <a:off x="4095487" y="-127000"/>
              <a:ext cx="602335" cy="5812453"/>
              <a:chOff x="7636995" y="1679426"/>
              <a:chExt cx="421216" cy="4092334"/>
            </a:xfrm>
          </p:grpSpPr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A07D4936-ED15-4494-A02F-C2411B992F9B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rcRect t="76775"/>
              <a:stretch/>
            </p:blipFill>
            <p:spPr>
              <a:xfrm rot="16200000" flipV="1">
                <a:off x="5801436" y="3514985"/>
                <a:ext cx="4092334" cy="421216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19C4510A-8E52-4E6D-ABC3-8F5193067839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rcRect t="76775"/>
              <a:stretch/>
            </p:blipFill>
            <p:spPr>
              <a:xfrm rot="16200000" flipV="1">
                <a:off x="5801436" y="3514985"/>
                <a:ext cx="4092334" cy="421216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8" name="直角三角形 7">
              <a:extLst>
                <a:ext uri="{FF2B5EF4-FFF2-40B4-BE49-F238E27FC236}">
                  <a16:creationId xmlns:a16="http://schemas.microsoft.com/office/drawing/2014/main" id="{99A2EC02-BD58-46AF-A84F-156DCC33EE05}"/>
                </a:ext>
              </a:extLst>
            </p:cNvPr>
            <p:cNvSpPr/>
            <p:nvPr/>
          </p:nvSpPr>
          <p:spPr>
            <a:xfrm flipH="1" flipV="1">
              <a:off x="3785126" y="3950674"/>
              <a:ext cx="913719" cy="432309"/>
            </a:xfrm>
            <a:prstGeom prst="rtTriangle">
              <a:avLst/>
            </a:prstGeom>
            <a:solidFill>
              <a:srgbClr val="213F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" name="任意多边形 8">
              <a:extLst>
                <a:ext uri="{FF2B5EF4-FFF2-40B4-BE49-F238E27FC236}">
                  <a16:creationId xmlns:a16="http://schemas.microsoft.com/office/drawing/2014/main" id="{23158547-6A0B-4618-8FF8-0A8B69708EC6}"/>
                </a:ext>
              </a:extLst>
            </p:cNvPr>
            <p:cNvSpPr/>
            <p:nvPr/>
          </p:nvSpPr>
          <p:spPr>
            <a:xfrm>
              <a:off x="3794643" y="2362673"/>
              <a:ext cx="6466957" cy="1592519"/>
            </a:xfrm>
            <a:custGeom>
              <a:avLst/>
              <a:gdLst>
                <a:gd name="connsiteX0" fmla="*/ 0 w 5229817"/>
                <a:gd name="connsiteY0" fmla="*/ 0 h 1429030"/>
                <a:gd name="connsiteX1" fmla="*/ 4515302 w 5229817"/>
                <a:gd name="connsiteY1" fmla="*/ 0 h 1429030"/>
                <a:gd name="connsiteX2" fmla="*/ 5229817 w 5229817"/>
                <a:gd name="connsiteY2" fmla="*/ 714515 h 1429030"/>
                <a:gd name="connsiteX3" fmla="*/ 5229816 w 5229817"/>
                <a:gd name="connsiteY3" fmla="*/ 714515 h 1429030"/>
                <a:gd name="connsiteX4" fmla="*/ 4515301 w 5229817"/>
                <a:gd name="connsiteY4" fmla="*/ 1429030 h 1429030"/>
                <a:gd name="connsiteX5" fmla="*/ 0 w 5229817"/>
                <a:gd name="connsiteY5" fmla="*/ 1429029 h 142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29817" h="1429030">
                  <a:moveTo>
                    <a:pt x="0" y="0"/>
                  </a:moveTo>
                  <a:lnTo>
                    <a:pt x="4515302" y="0"/>
                  </a:lnTo>
                  <a:cubicBezTo>
                    <a:pt x="4909918" y="0"/>
                    <a:pt x="5229817" y="319899"/>
                    <a:pt x="5229817" y="714515"/>
                  </a:cubicBezTo>
                  <a:lnTo>
                    <a:pt x="5229816" y="714515"/>
                  </a:lnTo>
                  <a:cubicBezTo>
                    <a:pt x="5229816" y="1109131"/>
                    <a:pt x="4909917" y="1429030"/>
                    <a:pt x="4515301" y="1429030"/>
                  </a:cubicBezTo>
                  <a:lnTo>
                    <a:pt x="0" y="1429029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" name="文本框 61">
              <a:extLst>
                <a:ext uri="{FF2B5EF4-FFF2-40B4-BE49-F238E27FC236}">
                  <a16:creationId xmlns:a16="http://schemas.microsoft.com/office/drawing/2014/main" id="{8EFA2E3D-1349-4611-858A-C5CD9EC762AE}"/>
                </a:ext>
              </a:extLst>
            </p:cNvPr>
            <p:cNvSpPr txBox="1"/>
            <p:nvPr/>
          </p:nvSpPr>
          <p:spPr>
            <a:xfrm>
              <a:off x="4248597" y="2585793"/>
              <a:ext cx="5401012" cy="101566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600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集成学习</a:t>
              </a:r>
            </a:p>
          </p:txBody>
        </p:sp>
        <p:sp>
          <p:nvSpPr>
            <p:cNvPr id="11" name="文本框 62">
              <a:extLst>
                <a:ext uri="{FF2B5EF4-FFF2-40B4-BE49-F238E27FC236}">
                  <a16:creationId xmlns:a16="http://schemas.microsoft.com/office/drawing/2014/main" id="{60BBD27F-574E-483D-98AD-863290A27093}"/>
                </a:ext>
              </a:extLst>
            </p:cNvPr>
            <p:cNvSpPr txBox="1"/>
            <p:nvPr/>
          </p:nvSpPr>
          <p:spPr>
            <a:xfrm>
              <a:off x="2090544" y="1121713"/>
              <a:ext cx="21609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PART  3</a:t>
              </a:r>
              <a:endParaRPr lang="zh-CN" altLang="en-US" sz="4000" b="1" dirty="0">
                <a:solidFill>
                  <a:prstClr val="white"/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33AE577-F75A-49A4-AF49-6C3DFB8BA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3838768"/>
              <a:ext cx="4992468" cy="3019233"/>
            </a:xfrm>
            <a:custGeom>
              <a:avLst/>
              <a:gdLst>
                <a:gd name="T0" fmla="*/ 0 w 2348"/>
                <a:gd name="T1" fmla="*/ 0 h 1407"/>
                <a:gd name="T2" fmla="*/ 2348 w 2348"/>
                <a:gd name="T3" fmla="*/ 1407 h 1407"/>
                <a:gd name="T4" fmla="*/ 0 w 2348"/>
                <a:gd name="T5" fmla="*/ 1407 h 1407"/>
                <a:gd name="T6" fmla="*/ 0 w 2348"/>
                <a:gd name="T7" fmla="*/ 0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8" h="1407">
                  <a:moveTo>
                    <a:pt x="0" y="0"/>
                  </a:moveTo>
                  <a:lnTo>
                    <a:pt x="2348" y="1407"/>
                  </a:lnTo>
                  <a:lnTo>
                    <a:pt x="0" y="1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F7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62551" tIns="81275" rIns="162551" bIns="81275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155895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276">
                <a:solidFill>
                  <a:srgbClr val="000000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BA162EA-CEA0-4726-8F4B-BB627F8D0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059" y="4356933"/>
              <a:ext cx="9361941" cy="2501068"/>
            </a:xfrm>
            <a:custGeom>
              <a:avLst/>
              <a:gdLst>
                <a:gd name="T0" fmla="*/ 4403 w 4403"/>
                <a:gd name="T1" fmla="*/ 0 h 1161"/>
                <a:gd name="T2" fmla="*/ 4403 w 4403"/>
                <a:gd name="T3" fmla="*/ 1161 h 1161"/>
                <a:gd name="T4" fmla="*/ 0 w 4403"/>
                <a:gd name="T5" fmla="*/ 1161 h 1161"/>
                <a:gd name="T6" fmla="*/ 4403 w 4403"/>
                <a:gd name="T7" fmla="*/ 0 h 1161"/>
                <a:gd name="connsiteX0" fmla="*/ 10000 w 10000"/>
                <a:gd name="connsiteY0" fmla="*/ 0 h 10039"/>
                <a:gd name="connsiteX1" fmla="*/ 10000 w 10000"/>
                <a:gd name="connsiteY1" fmla="*/ 10039 h 10039"/>
                <a:gd name="connsiteX2" fmla="*/ 0 w 10000"/>
                <a:gd name="connsiteY2" fmla="*/ 10039 h 10039"/>
                <a:gd name="connsiteX3" fmla="*/ 10000 w 10000"/>
                <a:gd name="connsiteY3" fmla="*/ 0 h 1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39">
                  <a:moveTo>
                    <a:pt x="10000" y="0"/>
                  </a:moveTo>
                  <a:lnTo>
                    <a:pt x="10000" y="10039"/>
                  </a:lnTo>
                  <a:lnTo>
                    <a:pt x="0" y="10039"/>
                  </a:lnTo>
                  <a:lnTo>
                    <a:pt x="10000" y="0"/>
                  </a:lnTo>
                  <a:close/>
                </a:path>
              </a:pathLst>
            </a:custGeom>
            <a:solidFill>
              <a:srgbClr val="4472C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62551" tIns="81275" rIns="162551" bIns="81275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155895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276">
                <a:solidFill>
                  <a:srgbClr val="000000"/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schemeClr val="bg1"/>
                </a:solidFill>
              </a:rPr>
              <a:pPr/>
              <a:t>73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498" y="0"/>
            <a:ext cx="1355352" cy="752437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580" y="42293"/>
            <a:ext cx="666768" cy="66785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74037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068F4D-A3C8-41E8-B3BE-46184E7DD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集成学习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F0BD388-CC5A-4AFD-8F59-22F465BB90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74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70D59F-C532-4AD3-9E83-7AF347FE1CB8}"/>
              </a:ext>
            </a:extLst>
          </p:cNvPr>
          <p:cNvSpPr txBox="1"/>
          <p:nvPr/>
        </p:nvSpPr>
        <p:spPr>
          <a:xfrm>
            <a:off x="443275" y="943998"/>
            <a:ext cx="11207202" cy="5596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集成学习</a:t>
            </a:r>
            <a:r>
              <a:rPr lang="en-US" altLang="zh-CN" sz="2800" dirty="0">
                <a:solidFill>
                  <a:srgbClr val="002E73"/>
                </a:solidFill>
                <a:latin typeface="+mj-lt"/>
                <a:ea typeface="+mj-ea"/>
                <a:cs typeface="+mj-cs"/>
              </a:rPr>
              <a:t>(ensemble learning)</a:t>
            </a:r>
          </a:p>
          <a:p>
            <a:pPr indent="-3587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通过构建并结合多个学习器来提升性能</a:t>
            </a:r>
            <a:endParaRPr lang="en-US" altLang="zh-CN" sz="2400" dirty="0"/>
          </a:p>
          <a:p>
            <a:pPr indent="-3587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集成学习的一般结构</a:t>
            </a:r>
            <a:r>
              <a:rPr lang="en-US" altLang="zh-CN" sz="2400" dirty="0"/>
              <a:t>:</a:t>
            </a:r>
            <a:r>
              <a:rPr lang="zh-CN" altLang="en-US" sz="2400" dirty="0"/>
              <a:t>先产生一组</a:t>
            </a:r>
            <a:r>
              <a:rPr lang="en-US" altLang="zh-CN" sz="2400" dirty="0"/>
              <a:t>"</a:t>
            </a:r>
            <a:r>
              <a:rPr lang="zh-CN" altLang="en-US" sz="2400" dirty="0"/>
              <a:t>个体学习器</a:t>
            </a:r>
            <a:r>
              <a:rPr lang="en-US" altLang="zh-CN" sz="2400" dirty="0"/>
              <a:t>" (individual learner)</a:t>
            </a:r>
            <a:r>
              <a:rPr lang="zh-CN" altLang="en-US" sz="2400" dirty="0"/>
              <a:t>，再用某种策略将它们结合起来</a:t>
            </a:r>
            <a:endParaRPr lang="en-US" altLang="zh-CN" sz="2400" dirty="0"/>
          </a:p>
          <a:p>
            <a:pPr indent="-3587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indent="-3587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 indent="-3587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同质</a:t>
            </a:r>
            <a:r>
              <a:rPr lang="en-US" altLang="zh-CN" sz="2000" dirty="0"/>
              <a:t>(homogeneous)</a:t>
            </a:r>
            <a:r>
              <a:rPr lang="zh-CN" altLang="en-US" sz="2000" dirty="0"/>
              <a:t>集成（如：</a:t>
            </a:r>
            <a:r>
              <a:rPr lang="en-US" altLang="zh-CN" sz="2000" dirty="0"/>
              <a:t>C4.5</a:t>
            </a:r>
            <a:r>
              <a:rPr lang="zh-CN" altLang="en-US" sz="2000" dirty="0"/>
              <a:t>，</a:t>
            </a:r>
            <a:r>
              <a:rPr lang="en-US" altLang="zh-CN" sz="2000" dirty="0"/>
              <a:t>BP</a:t>
            </a:r>
            <a:r>
              <a:rPr lang="zh-CN" altLang="en-US" sz="2000" dirty="0"/>
              <a:t>等）：同质集成中的个体学习器亦称</a:t>
            </a:r>
            <a:r>
              <a:rPr lang="en-US" altLang="zh-CN" sz="2000" dirty="0"/>
              <a:t>"</a:t>
            </a:r>
            <a:r>
              <a:rPr lang="zh-CN" altLang="en-US" sz="2000" dirty="0"/>
              <a:t>基学习器</a:t>
            </a:r>
            <a:r>
              <a:rPr lang="en-US" altLang="zh-CN" sz="2000" dirty="0"/>
              <a:t>" (base learner), </a:t>
            </a:r>
            <a:r>
              <a:rPr lang="zh-CN" altLang="en-US" sz="2000" dirty="0"/>
              <a:t>相应的学习算法称为</a:t>
            </a:r>
            <a:r>
              <a:rPr lang="en-US" altLang="zh-CN" sz="2000" dirty="0"/>
              <a:t>"</a:t>
            </a:r>
            <a:r>
              <a:rPr lang="zh-CN" altLang="en-US" sz="2000" dirty="0"/>
              <a:t>基学习算法</a:t>
            </a:r>
            <a:r>
              <a:rPr lang="en-US" altLang="zh-CN" sz="2000" dirty="0"/>
              <a:t>" (base learning algorithm).</a:t>
            </a:r>
          </a:p>
          <a:p>
            <a:pPr indent="-3587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异质</a:t>
            </a:r>
            <a:r>
              <a:rPr lang="en-US" altLang="zh-CN" sz="2000" dirty="0"/>
              <a:t>(homogeneous)</a:t>
            </a:r>
            <a:r>
              <a:rPr lang="zh-CN" altLang="en-US" sz="2000" dirty="0"/>
              <a:t>集成：异质集成中的个体学习器由不同的学习算法生成，相应的，个体学习器一般不称为基学习器，常称为</a:t>
            </a:r>
            <a:r>
              <a:rPr lang="en-US" altLang="zh-CN" sz="2000" dirty="0"/>
              <a:t>"</a:t>
            </a:r>
            <a:r>
              <a:rPr lang="zh-CN" altLang="en-US" sz="2000" dirty="0"/>
              <a:t>组件学习器</a:t>
            </a:r>
            <a:r>
              <a:rPr lang="en-US" altLang="zh-CN" sz="2000" dirty="0"/>
              <a:t>" (component learner)</a:t>
            </a:r>
            <a:r>
              <a:rPr lang="zh-CN" altLang="en-US" sz="2000" dirty="0"/>
              <a:t>或直接称为个体学习器</a:t>
            </a:r>
            <a:r>
              <a:rPr lang="en-US" altLang="zh-CN" sz="2000" dirty="0"/>
              <a:t>.</a:t>
            </a:r>
            <a:endParaRPr lang="zh-CN" altLang="en-US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AB41F3C-25C4-4239-8F7D-46D14F98B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712" y="2626482"/>
            <a:ext cx="4574576" cy="1950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9832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CFAC79-4D33-4192-9C29-6D7B84811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集成学习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F07638D-576D-47F7-A8C6-419A30F230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75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BA985C-3779-4A28-B08F-4720FCDD3016}"/>
              </a:ext>
            </a:extLst>
          </p:cNvPr>
          <p:cNvSpPr txBox="1"/>
          <p:nvPr/>
        </p:nvSpPr>
        <p:spPr>
          <a:xfrm>
            <a:off x="433991" y="1088637"/>
            <a:ext cx="114160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58775">
              <a:buFont typeface="Arial" panose="020B0604020202020204" pitchFamily="34" charset="0"/>
              <a:buChar char="•"/>
            </a:pPr>
            <a:r>
              <a:rPr lang="zh-CN" altLang="en-US" sz="2000" dirty="0"/>
              <a:t>考虑一个简单的例子，在</a:t>
            </a:r>
            <a:r>
              <a:rPr lang="zh-CN" altLang="en-US" sz="2000" b="1" dirty="0"/>
              <a:t>二分类</a:t>
            </a:r>
            <a:r>
              <a:rPr lang="zh-CN" altLang="en-US" sz="2000" dirty="0"/>
              <a:t>问题中，假定</a:t>
            </a:r>
            <a:r>
              <a:rPr lang="en-US" altLang="zh-CN" sz="2000" dirty="0"/>
              <a:t>3</a:t>
            </a:r>
            <a:r>
              <a:rPr lang="zh-CN" altLang="en-US" sz="2000" dirty="0"/>
              <a:t>个分类器在三个样本中的表现如下图所示，其中√ 表示分类正确，</a:t>
            </a:r>
            <a:r>
              <a:rPr lang="en-US" altLang="zh-CN" sz="2000" dirty="0"/>
              <a:t>X</a:t>
            </a:r>
            <a:r>
              <a:rPr lang="zh-CN" altLang="en-US" sz="2000" dirty="0"/>
              <a:t> 号表示分类错误，集成的结果通过</a:t>
            </a:r>
            <a:r>
              <a:rPr lang="zh-CN" altLang="en-US" sz="2000" dirty="0">
                <a:solidFill>
                  <a:srgbClr val="C00000"/>
                </a:solidFill>
              </a:rPr>
              <a:t>投票</a:t>
            </a:r>
            <a:r>
              <a:rPr lang="zh-CN" altLang="en-US" sz="2000" dirty="0"/>
              <a:t>产生，即</a:t>
            </a:r>
            <a:r>
              <a:rPr lang="en-US" altLang="zh-CN" sz="2000" dirty="0"/>
              <a:t>“</a:t>
            </a:r>
            <a:r>
              <a:rPr lang="zh-CN" altLang="en-US" sz="2000" dirty="0"/>
              <a:t>少数服从多数”。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24B91F1-FF6B-4058-B94F-44C0DD3F3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348" y="1841195"/>
            <a:ext cx="9391650" cy="213064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C6D06E6-074B-48F1-87C6-BB47FEBA5B73}"/>
              </a:ext>
            </a:extLst>
          </p:cNvPr>
          <p:cNvSpPr txBox="1"/>
          <p:nvPr/>
        </p:nvSpPr>
        <p:spPr>
          <a:xfrm>
            <a:off x="610373" y="4118045"/>
            <a:ext cx="111839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dirty="0"/>
              <a:t>集成个体应：“好而不同”，即学习器不能太坏（个体学习器至少不差于</a:t>
            </a:r>
            <a:r>
              <a:rPr lang="zh-CN" altLang="en-US" sz="2000" b="1" dirty="0">
                <a:solidFill>
                  <a:srgbClr val="C00000"/>
                </a:solidFill>
              </a:rPr>
              <a:t>弱学习器</a:t>
            </a:r>
            <a:r>
              <a:rPr lang="zh-CN" altLang="en-US" sz="2000" dirty="0"/>
              <a:t>），且要有“多样性”。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58516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BA9AD-398D-461B-A7D5-B0FFEC42C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集成学习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2E503AE-0E8B-4767-BB8F-8B506808E7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76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6DA2E5-E8BC-4C3A-8498-306A77A26EDE}"/>
              </a:ext>
            </a:extLst>
          </p:cNvPr>
          <p:cNvSpPr txBox="1"/>
          <p:nvPr/>
        </p:nvSpPr>
        <p:spPr>
          <a:xfrm>
            <a:off x="540748" y="1036080"/>
            <a:ext cx="78327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考虑二分类问题，假设基分类器的错误率为：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DE2411D-A7BE-4E68-BF69-CD4D870C5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058" y="1550298"/>
            <a:ext cx="26828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3B05FC5-5E68-4C7A-98C3-E4DE6CC57C48}"/>
              </a:ext>
            </a:extLst>
          </p:cNvPr>
          <p:cNvSpPr txBox="1"/>
          <p:nvPr/>
        </p:nvSpPr>
        <p:spPr>
          <a:xfrm>
            <a:off x="540749" y="2071163"/>
            <a:ext cx="111143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假设集成通过简单投票法结合</a:t>
            </a:r>
            <a:r>
              <a:rPr lang="en-US" altLang="zh-CN" sz="2400" i="1" dirty="0"/>
              <a:t>T</a:t>
            </a:r>
            <a:r>
              <a:rPr lang="zh-CN" altLang="en-US" sz="2400" dirty="0"/>
              <a:t>个分类器，若有超过半数的基分类器正确则分类就正确：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985E446-93A0-4C3C-BF0D-1C74BF5C9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132" y="2695722"/>
            <a:ext cx="2947392" cy="84055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2BEAC41-A301-417F-9004-9CBE288DF687}"/>
              </a:ext>
            </a:extLst>
          </p:cNvPr>
          <p:cNvSpPr txBox="1"/>
          <p:nvPr/>
        </p:nvSpPr>
        <p:spPr>
          <a:xfrm>
            <a:off x="540748" y="3609690"/>
            <a:ext cx="11165429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400" dirty="0"/>
              <a:t>假设基分类器的错误率相互独立，则由</a:t>
            </a:r>
            <a:r>
              <a:rPr lang="en-US" altLang="zh-CN" sz="2400" dirty="0" err="1"/>
              <a:t>Hoeffding</a:t>
            </a:r>
            <a:r>
              <a:rPr lang="zh-CN" altLang="en-US" sz="2400" dirty="0"/>
              <a:t>不等式可得集成的错误率为：</a:t>
            </a:r>
            <a:endParaRPr lang="en-US" altLang="en-US" sz="24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4C38280-8E9A-461C-9C3B-86DE9ADAE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606" y="4047512"/>
            <a:ext cx="5071883" cy="187118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2C608275-A206-41A9-8A88-2E8A2CD31E59}"/>
              </a:ext>
            </a:extLst>
          </p:cNvPr>
          <p:cNvSpPr txBox="1"/>
          <p:nvPr/>
        </p:nvSpPr>
        <p:spPr>
          <a:xfrm>
            <a:off x="638223" y="6011027"/>
            <a:ext cx="10882289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400" dirty="0"/>
              <a:t>在一定条件下，随着集成分类器数目的增加，集成的错误率将指数级下降，最终趋向于</a:t>
            </a:r>
            <a:r>
              <a:rPr lang="en-US" altLang="zh-CN" sz="2400" dirty="0"/>
              <a:t>0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7660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BA9AD-398D-461B-A7D5-B0FFEC42C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集成学习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2E503AE-0E8B-4767-BB8F-8B506808E7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77</a:t>
            </a:fld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DE58DB-4EA0-44C0-A9B1-B9614E7D88E7}"/>
              </a:ext>
            </a:extLst>
          </p:cNvPr>
          <p:cNvSpPr txBox="1"/>
          <p:nvPr/>
        </p:nvSpPr>
        <p:spPr>
          <a:xfrm>
            <a:off x="605732" y="951490"/>
            <a:ext cx="113000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58775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上面的分析有一个关键假设：基学习器的误差相互独立</a:t>
            </a:r>
          </a:p>
          <a:p>
            <a:pPr indent="-358775">
              <a:buFont typeface="Arial" panose="020B0604020202020204" pitchFamily="34" charset="0"/>
              <a:buChar char="•"/>
            </a:pPr>
            <a:endParaRPr kumimoji="1" lang="zh-CN" altLang="en-US" sz="2400" dirty="0"/>
          </a:p>
          <a:p>
            <a:pPr indent="-358775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现实任务中，个体学习器是为解决同一个问题训练出来的，显然不可能互相独立</a:t>
            </a:r>
          </a:p>
          <a:p>
            <a:pPr indent="-358775">
              <a:buFont typeface="Arial" panose="020B0604020202020204" pitchFamily="34" charset="0"/>
              <a:buChar char="•"/>
            </a:pPr>
            <a:endParaRPr kumimoji="1" lang="zh-CN" altLang="en-US" sz="2400" dirty="0"/>
          </a:p>
          <a:p>
            <a:pPr indent="-358775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事实上，个体学习器的“准确性”和“多样性”本身就存在冲突</a:t>
            </a:r>
          </a:p>
          <a:p>
            <a:pPr indent="-358775">
              <a:buFont typeface="Arial" panose="020B0604020202020204" pitchFamily="34" charset="0"/>
              <a:buChar char="•"/>
            </a:pPr>
            <a:endParaRPr kumimoji="1" lang="zh-CN" altLang="en-US" sz="2400" dirty="0"/>
          </a:p>
          <a:p>
            <a:pPr indent="-358775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如何产生“好而不同”的个体学习器是集成学习研究的核心</a:t>
            </a:r>
          </a:p>
          <a:p>
            <a:pPr indent="-358775">
              <a:buFont typeface="Arial" panose="020B0604020202020204" pitchFamily="34" charset="0"/>
              <a:buChar char="•"/>
            </a:pPr>
            <a:endParaRPr kumimoji="1" lang="zh-CN" altLang="en-US" sz="2400" dirty="0"/>
          </a:p>
          <a:p>
            <a:pPr indent="-358775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集成学习大致可分为两大类：</a:t>
            </a:r>
            <a:r>
              <a:rPr kumimoji="1" lang="en-US" altLang="zh-CN" sz="2400" dirty="0"/>
              <a:t>Bagging</a:t>
            </a:r>
            <a:r>
              <a:rPr kumimoji="1" lang="zh-CN" altLang="en-US" sz="2400" dirty="0"/>
              <a:t>和</a:t>
            </a:r>
            <a:r>
              <a:rPr lang="en-US" altLang="zh-CN" sz="2400" dirty="0">
                <a:latin typeface="+mn-ea"/>
                <a:ea typeface="+mn-ea"/>
              </a:rPr>
              <a:t>Boosting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504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BA9AD-398D-461B-A7D5-B0FFEC42C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集成学习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2E503AE-0E8B-4767-BB8F-8B506808E7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78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05214F-6329-422D-A912-92E3F3965906}"/>
              </a:ext>
            </a:extLst>
          </p:cNvPr>
          <p:cNvSpPr txBox="1"/>
          <p:nvPr/>
        </p:nvSpPr>
        <p:spPr>
          <a:xfrm>
            <a:off x="517540" y="975739"/>
            <a:ext cx="6103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ea"/>
              </a:rPr>
              <a:t>Bagging (</a:t>
            </a:r>
            <a:r>
              <a:rPr lang="en-US" altLang="zh-CN" sz="2400" dirty="0">
                <a:solidFill>
                  <a:srgbClr val="C00000"/>
                </a:solidFill>
                <a:latin typeface="+mn-ea"/>
              </a:rPr>
              <a:t>B</a:t>
            </a:r>
            <a:r>
              <a:rPr lang="en-US" altLang="zh-CN" sz="2400" dirty="0">
                <a:latin typeface="+mn-ea"/>
              </a:rPr>
              <a:t>ootstrap 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</a:rPr>
              <a:t>AGG</a:t>
            </a:r>
            <a:r>
              <a:rPr lang="en-US" altLang="zh-CN" sz="2400" dirty="0" err="1">
                <a:latin typeface="+mn-ea"/>
              </a:rPr>
              <a:t>regat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</a:rPr>
              <a:t>lNG</a:t>
            </a:r>
            <a:r>
              <a:rPr lang="en-US" altLang="zh-CN" sz="2400" dirty="0">
                <a:latin typeface="+mn-ea"/>
              </a:rPr>
              <a:t>)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F07537-B106-416F-92AE-435887AC44EA}"/>
              </a:ext>
            </a:extLst>
          </p:cNvPr>
          <p:cNvSpPr txBox="1"/>
          <p:nvPr/>
        </p:nvSpPr>
        <p:spPr>
          <a:xfrm>
            <a:off x="517540" y="1511024"/>
            <a:ext cx="6103736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587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个体学习器不存在强依赖关系</a:t>
            </a:r>
          </a:p>
          <a:p>
            <a:pPr indent="-3587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并行化生成</a:t>
            </a:r>
          </a:p>
          <a:p>
            <a:pPr indent="-3587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自助采样法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3C6837E-261A-444F-AB2F-EC057213D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009" y="3156363"/>
            <a:ext cx="7009982" cy="298297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8D76EEC-1706-4BDF-9F6B-ADBF85C22F80}"/>
              </a:ext>
            </a:extLst>
          </p:cNvPr>
          <p:cNvSpPr txBox="1"/>
          <p:nvPr/>
        </p:nvSpPr>
        <p:spPr>
          <a:xfrm>
            <a:off x="5878617" y="4810706"/>
            <a:ext cx="6103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是自助采样产生的样本分布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85B11B6-F06C-47A0-82E6-A4FCF74A9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467" y="4845415"/>
            <a:ext cx="473779" cy="29991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F7840F6-E387-42FB-A32F-C5D068BB0BBE}"/>
              </a:ext>
            </a:extLst>
          </p:cNvPr>
          <p:cNvSpPr/>
          <p:nvPr/>
        </p:nvSpPr>
        <p:spPr>
          <a:xfrm>
            <a:off x="5445467" y="4845415"/>
            <a:ext cx="3313278" cy="299915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09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BA9AD-398D-461B-A7D5-B0FFEC42C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集成学习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2E503AE-0E8B-4767-BB8F-8B506808E7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79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05214F-6329-422D-A912-92E3F3965906}"/>
              </a:ext>
            </a:extLst>
          </p:cNvPr>
          <p:cNvSpPr txBox="1"/>
          <p:nvPr/>
        </p:nvSpPr>
        <p:spPr>
          <a:xfrm>
            <a:off x="517540" y="975739"/>
            <a:ext cx="6103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n-ea"/>
              </a:rPr>
              <a:t>随机森林</a:t>
            </a:r>
            <a:r>
              <a:rPr lang="en-US" altLang="zh-CN" sz="2400" dirty="0">
                <a:latin typeface="+mn-ea"/>
              </a:rPr>
              <a:t>(Random Forest</a:t>
            </a:r>
            <a:r>
              <a:rPr lang="zh-CN" altLang="en-US" sz="2400" dirty="0">
                <a:latin typeface="+mn-ea"/>
              </a:rPr>
              <a:t>，简称 </a:t>
            </a:r>
            <a:r>
              <a:rPr lang="en-US" altLang="zh-CN" sz="2400" dirty="0">
                <a:latin typeface="+mn-ea"/>
              </a:rPr>
              <a:t>RF)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7D205-EF3E-4F5C-8062-61E157A2F810}"/>
              </a:ext>
            </a:extLst>
          </p:cNvPr>
          <p:cNvSpPr txBox="1"/>
          <p:nvPr/>
        </p:nvSpPr>
        <p:spPr>
          <a:xfrm>
            <a:off x="517539" y="1527198"/>
            <a:ext cx="1143000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RF</a:t>
            </a:r>
            <a:r>
              <a:rPr lang="zh-CN" altLang="en-US" sz="2400" dirty="0"/>
              <a:t>在以</a:t>
            </a:r>
            <a:r>
              <a:rPr lang="zh-CN" altLang="en-US" sz="2400" b="1" dirty="0"/>
              <a:t>决策树</a:t>
            </a:r>
            <a:r>
              <a:rPr lang="zh-CN" altLang="en-US" sz="2400" dirty="0"/>
              <a:t>为基学习器构建 </a:t>
            </a:r>
            <a:r>
              <a:rPr lang="en-US" altLang="zh-CN" sz="2400" dirty="0"/>
              <a:t>Bagging </a:t>
            </a:r>
            <a:r>
              <a:rPr lang="zh-CN" altLang="en-US" sz="2400" dirty="0"/>
              <a:t>集成的基础上，进一步在决策树的训练过程中引入了随机属性选择</a:t>
            </a:r>
            <a:r>
              <a:rPr lang="en-US" altLang="zh-CN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具体来说，传统决策树在选择划分属性时是在当前结点的属性集合</a:t>
            </a:r>
            <a:r>
              <a:rPr lang="en-US" altLang="zh-CN" sz="2400" dirty="0"/>
              <a:t>(</a:t>
            </a:r>
            <a:r>
              <a:rPr lang="zh-CN" altLang="en-US" sz="2400" dirty="0"/>
              <a:t>假定有 </a:t>
            </a:r>
            <a:r>
              <a:rPr lang="en-US" altLang="zh-CN" sz="2400" dirty="0"/>
              <a:t>d</a:t>
            </a:r>
            <a:r>
              <a:rPr lang="zh-CN" altLang="en-US" sz="2400" dirty="0"/>
              <a:t>个属性</a:t>
            </a:r>
            <a:r>
              <a:rPr lang="en-US" altLang="zh-CN" sz="2400" dirty="0"/>
              <a:t>)</a:t>
            </a:r>
            <a:r>
              <a:rPr lang="zh-CN" altLang="en-US" sz="2400" dirty="0"/>
              <a:t>中选择一个最优属性</a:t>
            </a:r>
            <a:r>
              <a:rPr lang="en-US" altLang="zh-CN" sz="2400" dirty="0"/>
              <a:t>;</a:t>
            </a:r>
            <a:r>
              <a:rPr lang="zh-CN" altLang="en-US" sz="2400" dirty="0"/>
              <a:t>而在 </a:t>
            </a:r>
            <a:r>
              <a:rPr lang="en-US" altLang="zh-CN" sz="2400" dirty="0"/>
              <a:t>RF </a:t>
            </a:r>
            <a:r>
              <a:rPr lang="zh-CN" altLang="en-US" sz="2400" dirty="0"/>
              <a:t>中，对基决策树的每个结点，先从该结点的属性集合中随机选择一个包含 </a:t>
            </a:r>
            <a:r>
              <a:rPr lang="en-US" altLang="zh-CN" sz="2400" dirty="0"/>
              <a:t>k</a:t>
            </a:r>
            <a:r>
              <a:rPr lang="zh-CN" altLang="en-US" sz="2400" dirty="0"/>
              <a:t>个属性的子集，然后再从这个子集中选择一个最优属性用于划分</a:t>
            </a:r>
            <a:r>
              <a:rPr lang="en-US" altLang="zh-CN" sz="2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000000"/>
              </a:solidFill>
              <a:latin typeface="HiddenHorzOC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参数</a:t>
            </a:r>
            <a:r>
              <a:rPr lang="en-US" altLang="zh-CN" sz="2400" dirty="0"/>
              <a:t>k </a:t>
            </a:r>
            <a:r>
              <a:rPr lang="zh-CN" altLang="en-US" sz="2400" dirty="0"/>
              <a:t>控制了随机性的引入程度</a:t>
            </a:r>
            <a:r>
              <a:rPr lang="en-US" altLang="zh-CN" sz="2400" dirty="0"/>
              <a:t>;</a:t>
            </a:r>
            <a:r>
              <a:rPr lang="zh-CN" altLang="en-US" sz="2400" dirty="0"/>
              <a:t>若令 </a:t>
            </a:r>
            <a:r>
              <a:rPr lang="en-US" altLang="zh-CN" sz="2400" dirty="0"/>
              <a:t>k = d</a:t>
            </a:r>
            <a:r>
              <a:rPr lang="zh-CN" altLang="en-US" sz="2400" dirty="0"/>
              <a:t>， 则基决策树的构建与传统决策树相同</a:t>
            </a:r>
            <a:r>
              <a:rPr lang="en-US" altLang="zh-CN" sz="2400" dirty="0"/>
              <a:t>;</a:t>
            </a:r>
            <a:r>
              <a:rPr lang="zh-CN" altLang="en-US" sz="2400" dirty="0"/>
              <a:t>若令 </a:t>
            </a:r>
            <a:r>
              <a:rPr lang="en-US" altLang="zh-CN" sz="2400" dirty="0"/>
              <a:t>k = 1</a:t>
            </a:r>
            <a:r>
              <a:rPr lang="zh-CN" altLang="en-US" sz="2400" dirty="0"/>
              <a:t>， 则是随机选择一个属性用于划分</a:t>
            </a:r>
            <a:r>
              <a:rPr lang="en-US" altLang="zh-CN" sz="2400" dirty="0"/>
              <a:t>; </a:t>
            </a:r>
            <a:r>
              <a:rPr lang="zh-CN" altLang="en-US" sz="2400" dirty="0"/>
              <a:t>一般情况下，推荐值</a:t>
            </a:r>
            <a:r>
              <a:rPr lang="en-US" altLang="zh-CN" sz="2400" dirty="0"/>
              <a:t>k=log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d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9688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BA9AD-398D-461B-A7D5-B0FFEC42C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集成学习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2E503AE-0E8B-4767-BB8F-8B506808E7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80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05214F-6329-422D-A912-92E3F3965906}"/>
              </a:ext>
            </a:extLst>
          </p:cNvPr>
          <p:cNvSpPr txBox="1"/>
          <p:nvPr/>
        </p:nvSpPr>
        <p:spPr>
          <a:xfrm>
            <a:off x="517540" y="975739"/>
            <a:ext cx="6103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ea"/>
              </a:rPr>
              <a:t>Boosting</a:t>
            </a:r>
            <a:endParaRPr lang="zh-CN" altLang="en-US" sz="2400" dirty="0"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F07537-B106-416F-92AE-435887AC44EA}"/>
              </a:ext>
            </a:extLst>
          </p:cNvPr>
          <p:cNvSpPr txBox="1"/>
          <p:nvPr/>
        </p:nvSpPr>
        <p:spPr>
          <a:xfrm>
            <a:off x="517540" y="1511024"/>
            <a:ext cx="6103736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587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个体学习器存在强依赖关系，</a:t>
            </a:r>
          </a:p>
          <a:p>
            <a:pPr indent="-3587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串行生成</a:t>
            </a:r>
          </a:p>
          <a:p>
            <a:pPr indent="-3587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每次调整训练数据的样本分布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63FCFB-4FF6-421F-B7EC-26E61F3DD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74" y="3122353"/>
            <a:ext cx="4183727" cy="3026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AE89E66-BF20-4E58-B050-F2F106B39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077" y="3200076"/>
            <a:ext cx="6559383" cy="278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66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21214"/>
            <a:ext cx="12249510" cy="688784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34506" y="4038600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1727202" y="4494863"/>
            <a:ext cx="8871438" cy="830997"/>
          </a:xfrm>
          <a:prstGeom prst="rect">
            <a:avLst/>
          </a:prstGeom>
          <a:noFill/>
          <a:ln w="12700">
            <a:noFill/>
            <a:miter lim="400000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en-US" altLang="zh-CN" sz="4800" b="1" dirty="0" err="1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ThankS</a:t>
            </a:r>
            <a:endParaRPr lang="en-US" altLang="zh-CN" sz="4800" b="1" dirty="0">
              <a:solidFill>
                <a:prstClr val="white"/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9" name="组合 45"/>
          <p:cNvGrpSpPr/>
          <p:nvPr/>
        </p:nvGrpSpPr>
        <p:grpSpPr>
          <a:xfrm>
            <a:off x="2153052" y="5359400"/>
            <a:ext cx="7946680" cy="961289"/>
            <a:chOff x="2002264" y="3258103"/>
            <a:chExt cx="8187473" cy="961286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866722" y="3258103"/>
              <a:ext cx="4395931" cy="961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吉林大学人工智能学院</a:t>
              </a:r>
              <a:endParaRPr lang="en-US" altLang="zh-CN" sz="2000" b="1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刘兆赓</a:t>
              </a:r>
              <a:endParaRPr lang="en-US" altLang="zh-CN" sz="2000" b="1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prstClr val="white"/>
                </a:solidFill>
              </a:rPr>
              <a:pPr/>
              <a:t>81</a:t>
            </a:fld>
            <a:endParaRPr lang="zh-CN" altLang="en-US" dirty="0">
              <a:solidFill>
                <a:prstClr val="white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321" r="16752"/>
          <a:stretch/>
        </p:blipFill>
        <p:spPr>
          <a:xfrm>
            <a:off x="8580033" y="0"/>
            <a:ext cx="3634971" cy="330446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84261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24-浅色-办公趣味-多彩">
  <a:themeElements>
    <a:clrScheme name="CLASSIC - Standart Office">
      <a:dk1>
        <a:srgbClr val="44546A"/>
      </a:dk1>
      <a:lt1>
        <a:sysClr val="window" lastClr="FFFFFF"/>
      </a:lt1>
      <a:dk2>
        <a:srgbClr val="8496B0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方正兰亭粗黑简体"/>
        <a:cs typeface=""/>
      </a:majorFont>
      <a:minorFont>
        <a:latin typeface="微软雅黑"/>
        <a:ea typeface="微软雅黑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>
              <a:lumMod val="60000"/>
              <a:lumOff val="40000"/>
            </a:schemeClr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23721</TotalTime>
  <Words>8159</Words>
  <Application>Microsoft Office PowerPoint</Application>
  <PresentationFormat>宽屏</PresentationFormat>
  <Paragraphs>2231</Paragraphs>
  <Slides>81</Slides>
  <Notes>48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81</vt:i4>
      </vt:variant>
    </vt:vector>
  </HeadingPairs>
  <TitlesOfParts>
    <vt:vector size="101" baseType="lpstr">
      <vt:lpstr>HiddenHorzOCR</vt:lpstr>
      <vt:lpstr>KaTeX_Main</vt:lpstr>
      <vt:lpstr>KaTeX_Math</vt:lpstr>
      <vt:lpstr>PingFang SC</vt:lpstr>
      <vt:lpstr>DengXian</vt:lpstr>
      <vt:lpstr>DengXian</vt:lpstr>
      <vt:lpstr>方正粗黑宋简体</vt:lpstr>
      <vt:lpstr>方正兰亭粗黑简体</vt:lpstr>
      <vt:lpstr>方正兰亭特黑简体</vt:lpstr>
      <vt:lpstr>华文新魏</vt:lpstr>
      <vt:lpstr>宋体</vt:lpstr>
      <vt:lpstr>Microsoft YaHei</vt:lpstr>
      <vt:lpstr>Microsoft YaHei</vt:lpstr>
      <vt:lpstr>Arial</vt:lpstr>
      <vt:lpstr>Arial Black</vt:lpstr>
      <vt:lpstr>Calibri</vt:lpstr>
      <vt:lpstr>Times New Roman</vt:lpstr>
      <vt:lpstr>Wingdings</vt:lpstr>
      <vt:lpstr>24-浅色-办公趣味-多彩</vt:lpstr>
      <vt:lpstr>公式</vt:lpstr>
      <vt:lpstr>PowerPoint 演示文稿</vt:lpstr>
      <vt:lpstr>PowerPoint 演示文稿</vt:lpstr>
      <vt:lpstr>PowerPoint 演示文稿</vt:lpstr>
      <vt:lpstr>决策树</vt:lpstr>
      <vt:lpstr>决策树</vt:lpstr>
      <vt:lpstr>决策树</vt:lpstr>
      <vt:lpstr>PowerPoint 演示文稿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课上思考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课上思考</vt:lpstr>
      <vt:lpstr>课上思考</vt:lpstr>
      <vt:lpstr>决策树</vt:lpstr>
      <vt:lpstr>决策树</vt:lpstr>
      <vt:lpstr>决策树</vt:lpstr>
      <vt:lpstr>决策树</vt:lpstr>
      <vt:lpstr>决策树</vt:lpstr>
      <vt:lpstr>课上思考</vt:lpstr>
      <vt:lpstr>课上思考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决策树</vt:lpstr>
      <vt:lpstr>PowerPoint 演示文稿</vt:lpstr>
      <vt:lpstr>集成学习</vt:lpstr>
      <vt:lpstr>集成学习</vt:lpstr>
      <vt:lpstr>集成学习</vt:lpstr>
      <vt:lpstr>集成学习</vt:lpstr>
      <vt:lpstr>集成学习</vt:lpstr>
      <vt:lpstr>集成学习</vt:lpstr>
      <vt:lpstr>集成学习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宋 高峰</dc:creator>
  <cp:lastModifiedBy>兆赓 刘</cp:lastModifiedBy>
  <cp:revision>1283</cp:revision>
  <dcterms:created xsi:type="dcterms:W3CDTF">2019-06-06T12:37:51Z</dcterms:created>
  <dcterms:modified xsi:type="dcterms:W3CDTF">2026-06-28T01:12:58Z</dcterms:modified>
</cp:coreProperties>
</file>
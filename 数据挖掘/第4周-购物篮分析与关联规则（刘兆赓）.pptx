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52"/>
  </p:notesMasterIdLst>
  <p:sldIdLst>
    <p:sldId id="267" r:id="rId2"/>
    <p:sldId id="275" r:id="rId3"/>
    <p:sldId id="273" r:id="rId4"/>
    <p:sldId id="930" r:id="rId5"/>
    <p:sldId id="929" r:id="rId6"/>
    <p:sldId id="892" r:id="rId7"/>
    <p:sldId id="893" r:id="rId8"/>
    <p:sldId id="895" r:id="rId9"/>
    <p:sldId id="891" r:id="rId10"/>
    <p:sldId id="896" r:id="rId11"/>
    <p:sldId id="897" r:id="rId12"/>
    <p:sldId id="898" r:id="rId13"/>
    <p:sldId id="899" r:id="rId14"/>
    <p:sldId id="904" r:id="rId15"/>
    <p:sldId id="905" r:id="rId16"/>
    <p:sldId id="944" r:id="rId17"/>
    <p:sldId id="902" r:id="rId18"/>
    <p:sldId id="945" r:id="rId19"/>
    <p:sldId id="903" r:id="rId20"/>
    <p:sldId id="906" r:id="rId21"/>
    <p:sldId id="908" r:id="rId22"/>
    <p:sldId id="909" r:id="rId23"/>
    <p:sldId id="910" r:id="rId24"/>
    <p:sldId id="911" r:id="rId25"/>
    <p:sldId id="912" r:id="rId26"/>
    <p:sldId id="947" r:id="rId27"/>
    <p:sldId id="948" r:id="rId28"/>
    <p:sldId id="949" r:id="rId29"/>
    <p:sldId id="950" r:id="rId30"/>
    <p:sldId id="951" r:id="rId31"/>
    <p:sldId id="952" r:id="rId32"/>
    <p:sldId id="953" r:id="rId33"/>
    <p:sldId id="954" r:id="rId34"/>
    <p:sldId id="955" r:id="rId35"/>
    <p:sldId id="956" r:id="rId36"/>
    <p:sldId id="957" r:id="rId37"/>
    <p:sldId id="958" r:id="rId38"/>
    <p:sldId id="923" r:id="rId39"/>
    <p:sldId id="925" r:id="rId40"/>
    <p:sldId id="927" r:id="rId41"/>
    <p:sldId id="863" r:id="rId42"/>
    <p:sldId id="914" r:id="rId43"/>
    <p:sldId id="915" r:id="rId44"/>
    <p:sldId id="916" r:id="rId45"/>
    <p:sldId id="917" r:id="rId46"/>
    <p:sldId id="918" r:id="rId47"/>
    <p:sldId id="919" r:id="rId48"/>
    <p:sldId id="920" r:id="rId49"/>
    <p:sldId id="921" r:id="rId50"/>
    <p:sldId id="922" r:id="rId5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E73"/>
    <a:srgbClr val="576C87"/>
    <a:srgbClr val="39DDE6"/>
    <a:srgbClr val="E1E1E1"/>
    <a:srgbClr val="FFCC00"/>
    <a:srgbClr val="FFDE02"/>
    <a:srgbClr val="2E75B6"/>
    <a:srgbClr val="44546A"/>
    <a:srgbClr val="FDCB5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37" autoAdjust="0"/>
    <p:restoredTop sz="84117" autoAdjust="0"/>
  </p:normalViewPr>
  <p:slideViewPr>
    <p:cSldViewPr snapToGrid="0" showGuides="1">
      <p:cViewPr varScale="1">
        <p:scale>
          <a:sx n="137" d="100"/>
          <a:sy n="137" d="100"/>
        </p:scale>
        <p:origin x="100" y="84"/>
      </p:cViewPr>
      <p:guideLst>
        <p:guide orient="horz" pos="89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0D5374-CAC2-4A99-BAFC-4FD9D64443F4}" type="datetimeFigureOut">
              <a:rPr lang="zh-CN" altLang="en-US" smtClean="0"/>
              <a:pPr/>
              <a:t>2026/5/14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A6A5EB-DBDD-4BB6-B956-8F5082F9751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666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A3554-0430-45DB-BDFE-3C446509E54A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348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158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啤酒与尿布案例是数据挖掘领域最著名的案例之一，它生动展示了关联规则挖掘的商业价值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81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啤酒与尿布案例是数据挖掘领域最著名的案例之一，它生动展示了关联规则挖掘的商业价值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882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给出频繁项集和关联规则的一般形式，作为总体介绍。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50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751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61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结构模式：单反相机镜头。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2758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3295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200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7786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3427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4486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b="0" i="0" dirty="0">
                    <a:solidFill>
                      <a:srgbClr val="374151"/>
                    </a:solidFill>
                    <a:effectLst/>
                    <a:latin typeface="Inter"/>
                  </a:rPr>
                  <a:t>真子集的符号通常用“⊊”来表示。真超项集符号</a:t>
                </a:r>
                <a:r>
                  <a:rPr lang="en-US" altLang="zh-CN" b="0" i="0" dirty="0">
                    <a:solidFill>
                      <a:srgbClr val="374151"/>
                    </a:solidFill>
                    <a:effectLst/>
                    <a:latin typeface="Inter"/>
                  </a:rPr>
                  <a:t>”</a:t>
                </a:r>
                <a:r>
                  <a:rPr lang="zh-CN" altLang="en-US" b="0" i="0" dirty="0">
                    <a:solidFill>
                      <a:srgbClr val="374151"/>
                    </a:solidFill>
                    <a:effectLst/>
                    <a:latin typeface="Inter"/>
                  </a:rPr>
                  <a:t>⊋“， </a:t>
                </a:r>
                <a:r>
                  <a:rPr lang="en-US" altLang="zh-CN" b="0" i="0" dirty="0">
                    <a:solidFill>
                      <a:srgbClr val="374151"/>
                    </a:solidFill>
                    <a:effectLst/>
                    <a:latin typeface="Inter"/>
                  </a:rPr>
                  <a:t>Y </a:t>
                </a:r>
                <a:r>
                  <a:rPr lang="zh-CN" altLang="en-US" b="0" i="0" dirty="0">
                    <a:solidFill>
                      <a:srgbClr val="374151"/>
                    </a:solidFill>
                    <a:effectLst/>
                    <a:latin typeface="Inter"/>
                  </a:rPr>
                  <a:t>⊋ </a:t>
                </a:r>
                <a:r>
                  <a:rPr lang="en-US" altLang="zh-CN" b="0" i="0" dirty="0">
                    <a:solidFill>
                      <a:srgbClr val="374151"/>
                    </a:solidFill>
                    <a:effectLst/>
                    <a:latin typeface="Inter"/>
                  </a:rPr>
                  <a:t>X </a:t>
                </a:r>
                <a:r>
                  <a:rPr lang="zh-CN" altLang="en-US" b="0" i="0" dirty="0">
                    <a:solidFill>
                      <a:srgbClr val="374151"/>
                    </a:solidFill>
                    <a:effectLst/>
                    <a:latin typeface="Inter"/>
                  </a:rPr>
                  <a:t>表示 </a:t>
                </a:r>
                <a:r>
                  <a:rPr lang="en-US" altLang="zh-CN" b="0" i="0" dirty="0">
                    <a:solidFill>
                      <a:srgbClr val="374151"/>
                    </a:solidFill>
                    <a:effectLst/>
                    <a:latin typeface="Inter"/>
                  </a:rPr>
                  <a:t>Y</a:t>
                </a:r>
                <a:r>
                  <a:rPr lang="zh-CN" altLang="en-US" b="0" i="0" dirty="0">
                    <a:solidFill>
                      <a:srgbClr val="374151"/>
                    </a:solidFill>
                    <a:effectLst/>
                    <a:latin typeface="Inter"/>
                  </a:rPr>
                  <a:t>是</a:t>
                </a:r>
                <a:r>
                  <a:rPr lang="en-US" altLang="zh-CN" b="0" i="0" dirty="0">
                    <a:solidFill>
                      <a:srgbClr val="374151"/>
                    </a:solidFill>
                    <a:effectLst/>
                    <a:latin typeface="Inter"/>
                  </a:rPr>
                  <a:t>X</a:t>
                </a:r>
                <a:r>
                  <a:rPr lang="zh-CN" altLang="en-US" b="0" i="0" dirty="0">
                    <a:solidFill>
                      <a:srgbClr val="374151"/>
                    </a:solidFill>
                    <a:effectLst/>
                    <a:latin typeface="Inter"/>
                  </a:rPr>
                  <a:t>的真超项集，</a:t>
                </a:r>
                <a:r>
                  <a:rPr lang="en-US" altLang="zh-CN" b="0" i="0" dirty="0">
                    <a:solidFill>
                      <a:srgbClr val="374151"/>
                    </a:solidFill>
                    <a:effectLst/>
                    <a:latin typeface="Inter"/>
                  </a:rPr>
                  <a:t>X </a:t>
                </a:r>
                <a:r>
                  <a:rPr lang="zh-CN" altLang="en-US" b="0" i="0" dirty="0">
                    <a:solidFill>
                      <a:srgbClr val="374151"/>
                    </a:solidFill>
                    <a:effectLst/>
                    <a:latin typeface="Inter"/>
                  </a:rPr>
                  <a:t>⊊ </a:t>
                </a:r>
                <a:r>
                  <a:rPr lang="en-US" altLang="zh-CN" b="0" i="0" dirty="0">
                    <a:solidFill>
                      <a:srgbClr val="374151"/>
                    </a:solidFill>
                    <a:effectLst/>
                    <a:latin typeface="Inter"/>
                  </a:rPr>
                  <a:t>Y </a:t>
                </a:r>
                <a:r>
                  <a:rPr lang="zh-CN" altLang="en-US" b="0" i="0" dirty="0">
                    <a:solidFill>
                      <a:srgbClr val="374151"/>
                    </a:solidFill>
                    <a:effectLst/>
                    <a:latin typeface="Inter"/>
                  </a:rPr>
                  <a:t>表示 </a:t>
                </a:r>
                <a:r>
                  <a:rPr lang="en-US" altLang="zh-CN" b="0" i="0" dirty="0">
                    <a:solidFill>
                      <a:srgbClr val="374151"/>
                    </a:solidFill>
                    <a:effectLst/>
                    <a:latin typeface="Inter"/>
                  </a:rPr>
                  <a:t>X</a:t>
                </a:r>
                <a:r>
                  <a:rPr lang="zh-CN" altLang="en-US" b="0" i="0" dirty="0">
                    <a:solidFill>
                      <a:srgbClr val="374151"/>
                    </a:solidFill>
                    <a:effectLst/>
                    <a:latin typeface="Inter"/>
                  </a:rPr>
                  <a:t>是</a:t>
                </a:r>
                <a:r>
                  <a:rPr lang="en-US" altLang="zh-CN" b="0" i="0" dirty="0">
                    <a:solidFill>
                      <a:srgbClr val="374151"/>
                    </a:solidFill>
                    <a:effectLst/>
                    <a:latin typeface="Inter"/>
                  </a:rPr>
                  <a:t>Y</a:t>
                </a:r>
                <a:r>
                  <a:rPr lang="zh-CN" altLang="en-US" b="0" i="0" dirty="0">
                    <a:solidFill>
                      <a:srgbClr val="374151"/>
                    </a:solidFill>
                    <a:effectLst/>
                    <a:latin typeface="Inter"/>
                  </a:rPr>
                  <a:t>的真子集。</a:t>
                </a:r>
                <a:endParaRPr lang="en-US" altLang="zh-CN" b="0" i="0" dirty="0">
                  <a:solidFill>
                    <a:srgbClr val="374151"/>
                  </a:solidFill>
                  <a:effectLst/>
                  <a:latin typeface="Inter"/>
                </a:endParaRPr>
              </a:p>
              <a:p>
                <a:endParaRPr lang="en-US" altLang="zh-CN" b="0" i="0" dirty="0">
                  <a:solidFill>
                    <a:srgbClr val="374151"/>
                  </a:solidFill>
                  <a:effectLst/>
                  <a:latin typeface="Inter"/>
                </a:endParaRPr>
              </a:p>
              <a:p>
                <a:endParaRPr lang="en-US" altLang="zh-CN" b="0" i="0" dirty="0">
                  <a:solidFill>
                    <a:srgbClr val="374151"/>
                  </a:solidFill>
                  <a:effectLst/>
                  <a:latin typeface="Inter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𝑠𝑢𝑝𝑝𝑜𝑟𝑡</m:t>
                    </m:r>
                    <m:d>
                      <m:d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zh-CN" altLang="en-US" dirty="0"/>
                  <a:t> ≠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𝑠𝑢𝑝𝑝𝑜𝑟𝑡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zh-CN" altLang="en-US" dirty="0"/>
                  <a:t> ，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是闭的</a:t>
                </a:r>
              </a:p>
              <a:p>
                <a:endParaRPr lang="en-US" altLang="zh-CN" sz="12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𝑠𝑢𝑝𝑝𝑜𝑟𝑡</m:t>
                    </m:r>
                    <m:d>
                      <m:d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𝑠𝑢𝑝𝑝𝑜𝑟𝑡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zh-CN" altLang="en-US" dirty="0"/>
                  <a:t> ，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不是闭的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b="0" i="0" dirty="0">
                    <a:solidFill>
                      <a:srgbClr val="374151"/>
                    </a:solidFill>
                    <a:effectLst/>
                    <a:latin typeface="Inter"/>
                  </a:rPr>
                  <a:t>真子集的符号通常用“⊊”来表示。真超项集符号</a:t>
                </a:r>
                <a:r>
                  <a:rPr lang="en-US" altLang="zh-CN" b="0" i="0" dirty="0">
                    <a:solidFill>
                      <a:srgbClr val="374151"/>
                    </a:solidFill>
                    <a:effectLst/>
                    <a:latin typeface="Inter"/>
                  </a:rPr>
                  <a:t>”</a:t>
                </a:r>
                <a:r>
                  <a:rPr lang="zh-CN" altLang="en-US" b="0" i="0" dirty="0">
                    <a:solidFill>
                      <a:srgbClr val="374151"/>
                    </a:solidFill>
                    <a:effectLst/>
                    <a:latin typeface="Inter"/>
                  </a:rPr>
                  <a:t>⊋“， </a:t>
                </a:r>
                <a:r>
                  <a:rPr lang="en-US" altLang="zh-CN" b="0" i="0" dirty="0">
                    <a:solidFill>
                      <a:srgbClr val="374151"/>
                    </a:solidFill>
                    <a:effectLst/>
                    <a:latin typeface="Inter"/>
                  </a:rPr>
                  <a:t>Y </a:t>
                </a:r>
                <a:r>
                  <a:rPr lang="zh-CN" altLang="en-US" b="0" i="0" dirty="0">
                    <a:solidFill>
                      <a:srgbClr val="374151"/>
                    </a:solidFill>
                    <a:effectLst/>
                    <a:latin typeface="Inter"/>
                  </a:rPr>
                  <a:t>⊋ </a:t>
                </a:r>
                <a:r>
                  <a:rPr lang="en-US" altLang="zh-CN" b="0" i="0" dirty="0">
                    <a:solidFill>
                      <a:srgbClr val="374151"/>
                    </a:solidFill>
                    <a:effectLst/>
                    <a:latin typeface="Inter"/>
                  </a:rPr>
                  <a:t>X </a:t>
                </a:r>
                <a:r>
                  <a:rPr lang="zh-CN" altLang="en-US" b="0" i="0" dirty="0">
                    <a:solidFill>
                      <a:srgbClr val="374151"/>
                    </a:solidFill>
                    <a:effectLst/>
                    <a:latin typeface="Inter"/>
                  </a:rPr>
                  <a:t>表示 </a:t>
                </a:r>
                <a:r>
                  <a:rPr lang="en-US" altLang="zh-CN" b="0" i="0" dirty="0">
                    <a:solidFill>
                      <a:srgbClr val="374151"/>
                    </a:solidFill>
                    <a:effectLst/>
                    <a:latin typeface="Inter"/>
                  </a:rPr>
                  <a:t>Y</a:t>
                </a:r>
                <a:r>
                  <a:rPr lang="zh-CN" altLang="en-US" b="0" i="0" dirty="0">
                    <a:solidFill>
                      <a:srgbClr val="374151"/>
                    </a:solidFill>
                    <a:effectLst/>
                    <a:latin typeface="Inter"/>
                  </a:rPr>
                  <a:t>是</a:t>
                </a:r>
                <a:r>
                  <a:rPr lang="en-US" altLang="zh-CN" b="0" i="0" dirty="0">
                    <a:solidFill>
                      <a:srgbClr val="374151"/>
                    </a:solidFill>
                    <a:effectLst/>
                    <a:latin typeface="Inter"/>
                  </a:rPr>
                  <a:t>X</a:t>
                </a:r>
                <a:r>
                  <a:rPr lang="zh-CN" altLang="en-US" b="0" i="0" dirty="0">
                    <a:solidFill>
                      <a:srgbClr val="374151"/>
                    </a:solidFill>
                    <a:effectLst/>
                    <a:latin typeface="Inter"/>
                  </a:rPr>
                  <a:t>的真超项集，</a:t>
                </a:r>
                <a:r>
                  <a:rPr lang="en-US" altLang="zh-CN" b="0" i="0" dirty="0">
                    <a:solidFill>
                      <a:srgbClr val="374151"/>
                    </a:solidFill>
                    <a:effectLst/>
                    <a:latin typeface="Inter"/>
                  </a:rPr>
                  <a:t>X </a:t>
                </a:r>
                <a:r>
                  <a:rPr lang="zh-CN" altLang="en-US" b="0" i="0" dirty="0">
                    <a:solidFill>
                      <a:srgbClr val="374151"/>
                    </a:solidFill>
                    <a:effectLst/>
                    <a:latin typeface="Inter"/>
                  </a:rPr>
                  <a:t>⊊ </a:t>
                </a:r>
                <a:r>
                  <a:rPr lang="en-US" altLang="zh-CN" b="0" i="0" dirty="0">
                    <a:solidFill>
                      <a:srgbClr val="374151"/>
                    </a:solidFill>
                    <a:effectLst/>
                    <a:latin typeface="Inter"/>
                  </a:rPr>
                  <a:t>Y </a:t>
                </a:r>
                <a:r>
                  <a:rPr lang="zh-CN" altLang="en-US" b="0" i="0" dirty="0">
                    <a:solidFill>
                      <a:srgbClr val="374151"/>
                    </a:solidFill>
                    <a:effectLst/>
                    <a:latin typeface="Inter"/>
                  </a:rPr>
                  <a:t>表示 </a:t>
                </a:r>
                <a:r>
                  <a:rPr lang="en-US" altLang="zh-CN" b="0" i="0" dirty="0">
                    <a:solidFill>
                      <a:srgbClr val="374151"/>
                    </a:solidFill>
                    <a:effectLst/>
                    <a:latin typeface="Inter"/>
                  </a:rPr>
                  <a:t>X</a:t>
                </a:r>
                <a:r>
                  <a:rPr lang="zh-CN" altLang="en-US" b="0" i="0" dirty="0">
                    <a:solidFill>
                      <a:srgbClr val="374151"/>
                    </a:solidFill>
                    <a:effectLst/>
                    <a:latin typeface="Inter"/>
                  </a:rPr>
                  <a:t>是</a:t>
                </a:r>
                <a:r>
                  <a:rPr lang="en-US" altLang="zh-CN" b="0" i="0" dirty="0">
                    <a:solidFill>
                      <a:srgbClr val="374151"/>
                    </a:solidFill>
                    <a:effectLst/>
                    <a:latin typeface="Inter"/>
                  </a:rPr>
                  <a:t>Y</a:t>
                </a:r>
                <a:r>
                  <a:rPr lang="zh-CN" altLang="en-US" b="0" i="0" dirty="0">
                    <a:solidFill>
                      <a:srgbClr val="374151"/>
                    </a:solidFill>
                    <a:effectLst/>
                    <a:latin typeface="Inter"/>
                  </a:rPr>
                  <a:t>的真子集。</a:t>
                </a:r>
                <a:endParaRPr lang="en-US" altLang="zh-CN" b="0" i="0" dirty="0">
                  <a:solidFill>
                    <a:srgbClr val="374151"/>
                  </a:solidFill>
                  <a:effectLst/>
                  <a:latin typeface="Inter"/>
                </a:endParaRPr>
              </a:p>
              <a:p>
                <a:endParaRPr lang="en-US" altLang="zh-CN" b="0" i="0" dirty="0">
                  <a:solidFill>
                    <a:srgbClr val="374151"/>
                  </a:solidFill>
                  <a:effectLst/>
                  <a:latin typeface="Inter"/>
                </a:endParaRPr>
              </a:p>
              <a:p>
                <a:endParaRPr lang="en-US" altLang="zh-CN" b="0" i="0" dirty="0">
                  <a:solidFill>
                    <a:srgbClr val="374151"/>
                  </a:solidFill>
                  <a:effectLst/>
                  <a:latin typeface="Inter"/>
                </a:endParaRPr>
              </a:p>
              <a:p>
                <a:r>
                  <a:rPr lang="en-US" altLang="zh-CN" sz="1200" b="0" i="0">
                    <a:latin typeface="Cambria Math" panose="02040503050406030204" pitchFamily="18" charset="0"/>
                  </a:rPr>
                  <a:t>𝑠𝑢𝑝𝑝𝑜𝑟𝑡(</a:t>
                </a:r>
                <a:r>
                  <a:rPr lang="en-US" altLang="zh-CN" i="0">
                    <a:latin typeface="Cambria Math" panose="02040503050406030204" pitchFamily="18" charset="0"/>
                  </a:rPr>
                  <a:t>𝑋)</a:t>
                </a:r>
                <a:r>
                  <a:rPr lang="zh-CN" altLang="en-US" dirty="0"/>
                  <a:t> ≠</a:t>
                </a:r>
                <a:r>
                  <a:rPr lang="en-US" altLang="zh-CN" dirty="0"/>
                  <a:t> </a:t>
                </a:r>
                <a:r>
                  <a:rPr lang="en-US" altLang="zh-CN" i="0">
                    <a:latin typeface="Cambria Math" panose="02040503050406030204" pitchFamily="18" charset="0"/>
                  </a:rPr>
                  <a:t>𝑠𝑢𝑝𝑝𝑜𝑟𝑡(𝑌)</a:t>
                </a:r>
                <a:r>
                  <a:rPr lang="zh-CN" altLang="en-US" dirty="0"/>
                  <a:t> ，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是闭的</a:t>
                </a:r>
              </a:p>
              <a:p>
                <a:endParaRPr lang="en-US" altLang="zh-CN" sz="1200" b="0" i="1" dirty="0">
                  <a:latin typeface="Cambria Math" panose="02040503050406030204" pitchFamily="18" charset="0"/>
                </a:endParaRPr>
              </a:p>
              <a:p>
                <a:r>
                  <a:rPr lang="en-US" altLang="zh-CN" sz="1200" b="0" i="0">
                    <a:latin typeface="Cambria Math" panose="02040503050406030204" pitchFamily="18" charset="0"/>
                  </a:rPr>
                  <a:t>𝑠𝑢𝑝𝑝𝑜𝑟𝑡(</a:t>
                </a:r>
                <a:r>
                  <a:rPr lang="en-US" altLang="zh-CN" i="0">
                    <a:latin typeface="Cambria Math" panose="02040503050406030204" pitchFamily="18" charset="0"/>
                  </a:rPr>
                  <a:t>𝑋)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= </a:t>
                </a:r>
                <a:r>
                  <a:rPr lang="en-US" altLang="zh-CN" i="0">
                    <a:latin typeface="Cambria Math" panose="02040503050406030204" pitchFamily="18" charset="0"/>
                  </a:rPr>
                  <a:t>𝑠𝑢𝑝𝑝𝑜𝑟𝑡(𝑌)</a:t>
                </a:r>
                <a:r>
                  <a:rPr lang="zh-CN" altLang="en-US" dirty="0"/>
                  <a:t> ，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不是闭的</a:t>
                </a:r>
                <a:endParaRPr lang="en-US" altLang="zh-CN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5137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例</a:t>
            </a:r>
            <a:r>
              <a:rPr lang="en-US" altLang="zh-CN" dirty="0"/>
              <a:t>6.2</a:t>
            </a:r>
            <a:r>
              <a:rPr lang="zh-CN" altLang="en-US" dirty="0"/>
              <a:t>，</a:t>
            </a:r>
            <a:r>
              <a:rPr lang="zh-CN" altLang="en-US" b="1" i="0" dirty="0">
                <a:solidFill>
                  <a:srgbClr val="374151"/>
                </a:solidFill>
                <a:effectLst/>
                <a:latin typeface="Inter"/>
              </a:rPr>
              <a:t>闭且是极大的频繁项集的支持度和它的子集的支持度是相等的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6188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我们刚才讲到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5237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注：该算法需要上机实现，交代码。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7057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4622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相对支持度和绝对支持度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4866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1261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2780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9220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3261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4821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8349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最小支持度 </a:t>
            </a:r>
            <a:r>
              <a:rPr lang="en-US" altLang="zh-CN" b="1" dirty="0"/>
              <a:t>= floor(5 * 50%) = 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7170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7905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en-US" altLang="zh-CN" baseline="0" dirty="0"/>
              <a:t>2</a:t>
            </a:r>
            <a:r>
              <a:rPr lang="zh-CN" altLang="en-US" baseline="0" dirty="0"/>
              <a:t>由</a:t>
            </a:r>
            <a:r>
              <a:rPr lang="en-US" altLang="zh-CN" baseline="0" dirty="0"/>
              <a:t>L</a:t>
            </a:r>
            <a:r>
              <a:rPr lang="en-US" altLang="zh-CN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baseline="0" dirty="0"/>
              <a:t>和</a:t>
            </a:r>
            <a:r>
              <a:rPr lang="en-US" altLang="zh-CN" baseline="0" dirty="0"/>
              <a:t>L</a:t>
            </a:r>
            <a:r>
              <a:rPr lang="en-US" altLang="zh-CN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baseline="0" dirty="0"/>
              <a:t>自关联产生的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91175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2722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9632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1479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405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I-S</a:t>
            </a:r>
            <a:r>
              <a:rPr lang="zh-CN" altLang="en-US" dirty="0"/>
              <a:t>：</a:t>
            </a:r>
            <a:r>
              <a:rPr lang="en-US" altLang="zh-CN" dirty="0"/>
              <a:t>I</a:t>
            </a:r>
            <a:r>
              <a:rPr lang="zh-CN" altLang="en-US" dirty="0"/>
              <a:t>与</a:t>
            </a:r>
            <a:r>
              <a:rPr lang="en-US" altLang="zh-CN" dirty="0"/>
              <a:t>S</a:t>
            </a:r>
            <a:r>
              <a:rPr lang="zh-CN" altLang="en-US" dirty="0"/>
              <a:t>的差集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0519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244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3572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6635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7798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A3554-0430-45DB-BDFE-3C446509E54A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16068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*</a:t>
            </a:r>
            <a:r>
              <a:rPr lang="en-CN" sz="1200" dirty="0"/>
              <a:t>课上作业</a:t>
            </a:r>
            <a:r>
              <a:rPr lang="zh-CN" altLang="en-US" sz="1200" dirty="0"/>
              <a:t>，最小支持度为</a:t>
            </a:r>
            <a:r>
              <a:rPr lang="en-US" altLang="zh-CN" sz="1200" dirty="0"/>
              <a:t>3</a:t>
            </a:r>
            <a:r>
              <a:rPr lang="zh-CN" altLang="en-US" sz="1200" dirty="0"/>
              <a:t>时给出频繁项集的查找过程。</a:t>
            </a:r>
            <a:endParaRPr lang="en-US" altLang="zh-CN" sz="1200" dirty="0"/>
          </a:p>
          <a:p>
            <a:r>
              <a:rPr lang="zh-CN" altLang="en-US" sz="1200" dirty="0"/>
              <a:t>并给出关联规则的蕴含关系</a:t>
            </a:r>
            <a:endParaRPr lang="en-US" altLang="zh-CN" sz="1200" dirty="0"/>
          </a:p>
          <a:p>
            <a:r>
              <a:rPr lang="zh-CN" altLang="en-US" sz="1200" dirty="0"/>
              <a:t>下次课需要带电脑，编程序，实现。给出一个表格，算出关联规则</a:t>
            </a:r>
            <a:endParaRPr lang="en-US" altLang="zh-CN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8348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91311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43498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7970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事务压缩，动态计数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17938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68998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10262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8892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872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0" y="52363"/>
            <a:ext cx="1445387" cy="80242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69467" y="127668"/>
            <a:ext cx="10422533" cy="4209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83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0" y="52363"/>
            <a:ext cx="1445387" cy="80242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324080" y="590440"/>
            <a:ext cx="11867920" cy="3401"/>
          </a:xfrm>
          <a:prstGeom prst="line">
            <a:avLst/>
          </a:prstGeom>
          <a:ln w="28575">
            <a:solidFill>
              <a:srgbClr val="16407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769467" y="192002"/>
            <a:ext cx="10422533" cy="3984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E73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674" y="97631"/>
            <a:ext cx="290095" cy="52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385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788336" y="1584605"/>
            <a:ext cx="4307664" cy="430766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012267" y="3732107"/>
            <a:ext cx="2157984" cy="215798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170251" y="3732107"/>
            <a:ext cx="2157984" cy="215798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57432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524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6096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810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382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6000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2438400" y="134112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7315200" y="134112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0" y="316992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876800" y="316992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753600" y="316992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8206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13411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2438400" y="13411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876800" y="13411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7315200" y="13411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9753600" y="13411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0" y="31699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2438400" y="31699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876800" y="31699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7315200" y="31699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753600" y="31699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9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  <p:sp>
        <p:nvSpPr>
          <p:cNvPr id="17" name="矩形 7"/>
          <p:cNvSpPr/>
          <p:nvPr userDrawn="1"/>
        </p:nvSpPr>
        <p:spPr>
          <a:xfrm>
            <a:off x="1" y="762862"/>
            <a:ext cx="12184067" cy="45708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1" tIns="60940" rIns="121881" bIns="60940" anchor="ctr"/>
          <a:lstStyle/>
          <a:p>
            <a:pPr algn="ctr">
              <a:defRPr/>
            </a:pPr>
            <a:endParaRPr lang="zh-CN" alt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43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2438400" y="20066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7315200" y="20066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0" y="38354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876800" y="38354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753600" y="38354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4492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0" y="19050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2438400" y="19050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4876800" y="19050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7315200" y="19050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9753600" y="19050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0" y="3733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2438400" y="3733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876800" y="3733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7315200" y="3733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753600" y="3733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4620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524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3810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6096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8382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524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810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096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382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21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620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ECAS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524000" y="1341120"/>
            <a:ext cx="2286000" cy="45720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3810000" y="1341120"/>
            <a:ext cx="4572000" cy="22860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8382000" y="1341120"/>
            <a:ext cx="2286000" cy="22860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810000" y="3627120"/>
            <a:ext cx="2286000" cy="22860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096000" y="3627120"/>
            <a:ext cx="4572000" cy="22860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88870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225157" y="1594192"/>
            <a:ext cx="4307664" cy="430766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898016" y="2669032"/>
            <a:ext cx="2157984" cy="215798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061587" y="2669032"/>
            <a:ext cx="2157984" cy="215798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42188" y="2669032"/>
            <a:ext cx="2157984" cy="215798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3979164" y="3748024"/>
            <a:ext cx="2157984" cy="215798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043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524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6096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524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096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125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3810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6096000" y="1341120"/>
            <a:ext cx="4572000" cy="4572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524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27989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53440" y="1341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2377440" y="1341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901440" y="1341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853440" y="2865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2377440" y="2865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3901440" y="2865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53440" y="4389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2377440" y="4389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901440" y="4389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20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62771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524000" y="3169920"/>
            <a:ext cx="1828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7010400" y="1341120"/>
            <a:ext cx="3657600" cy="3657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352800" y="3169920"/>
            <a:ext cx="1828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181600" y="3169920"/>
            <a:ext cx="1828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4636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254350" y="1651001"/>
            <a:ext cx="6032500" cy="40005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/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34719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60407" y="1651001"/>
            <a:ext cx="6032500" cy="40005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/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87353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914400" y="1341120"/>
            <a:ext cx="4876800" cy="36576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400800" y="1341120"/>
            <a:ext cx="4876800" cy="36576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636804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8200" y="1341120"/>
            <a:ext cx="3352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001000" y="1341120"/>
            <a:ext cx="3352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419600" y="1341120"/>
            <a:ext cx="3352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7398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8200" y="1341120"/>
            <a:ext cx="3352800" cy="33528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001000" y="1341120"/>
            <a:ext cx="3352800" cy="33528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419600" y="1341120"/>
            <a:ext cx="3352800" cy="33528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02763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8200" y="1828800"/>
            <a:ext cx="3352800" cy="42672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001000" y="1828800"/>
            <a:ext cx="3352800" cy="42672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419600" y="1828800"/>
            <a:ext cx="3352800" cy="42672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45709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53440" y="1341120"/>
            <a:ext cx="2133600" cy="4572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048000" y="1341120"/>
            <a:ext cx="2133600" cy="4572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242560" y="1341120"/>
            <a:ext cx="2133600" cy="4572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76340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8200" y="1341120"/>
            <a:ext cx="2438400" cy="3352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530600" y="1341120"/>
            <a:ext cx="2438400" cy="3352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23000" y="1341120"/>
            <a:ext cx="2438400" cy="3352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8915400" y="1341120"/>
            <a:ext cx="2438400" cy="3352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86434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8200" y="170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530600" y="170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23000" y="170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8915400" y="170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752900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/>
          <a:p>
            <a:fld id="{EFAF4AA5-1B32-4B1D-9466-74C2062FAF79}" type="slidenum">
              <a:rPr lang="uk-UA">
                <a:solidFill>
                  <a:srgbClr val="44546A"/>
                </a:solidFill>
              </a:rPr>
              <a:pPr/>
              <a:t>‹#›</a:t>
            </a:fld>
            <a:endParaRPr lang="uk-UA" dirty="0">
              <a:solidFill>
                <a:srgbClr val="44546A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8200" y="172212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38200" y="40386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23000" y="172212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223000" y="40386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0262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/>
          <a:p>
            <a:fld id="{EFAF4AA5-1B32-4B1D-9466-74C2062FAF79}" type="slidenum">
              <a:rPr lang="uk-UA">
                <a:solidFill>
                  <a:srgbClr val="44546A"/>
                </a:solidFill>
              </a:rPr>
              <a:pPr/>
              <a:t>‹#›</a:t>
            </a:fld>
            <a:endParaRPr lang="uk-UA">
              <a:solidFill>
                <a:srgbClr val="44546A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92480" y="1722120"/>
            <a:ext cx="2133600" cy="2133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92480" y="4038600"/>
            <a:ext cx="2133600" cy="2133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108960" y="1722120"/>
            <a:ext cx="2133600" cy="2133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3108960" y="4038600"/>
            <a:ext cx="2133600" cy="2133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2474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8200" y="1640840"/>
            <a:ext cx="3352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001000" y="1640840"/>
            <a:ext cx="3352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419600" y="1640840"/>
            <a:ext cx="3352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838200" y="4140200"/>
            <a:ext cx="3352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8001000" y="4140200"/>
            <a:ext cx="3352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419600" y="4140200"/>
            <a:ext cx="3352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5117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63600" y="1718056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556000" y="1718056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48400" y="1718056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8940800" y="1718056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863600" y="424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3556000" y="424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6248400" y="424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8940800" y="424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3319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914400" y="1803400"/>
            <a:ext cx="10363200" cy="18288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14400" y="3937000"/>
            <a:ext cx="1828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448800" y="3937000"/>
            <a:ext cx="1828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315200" y="3937000"/>
            <a:ext cx="1828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181600" y="3937000"/>
            <a:ext cx="1828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3048000" y="3937000"/>
            <a:ext cx="1828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80102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-MEDIA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/>
          <p:cNvSpPr>
            <a:spLocks noGrp="1"/>
          </p:cNvSpPr>
          <p:nvPr>
            <p:ph type="media" sz="quarter" idx="12" hasCustomPrompt="1"/>
          </p:nvPr>
        </p:nvSpPr>
        <p:spPr>
          <a:xfrm>
            <a:off x="838200" y="1558798"/>
            <a:ext cx="7326941" cy="4121405"/>
          </a:xfrm>
          <a:prstGeom prst="rect">
            <a:avLst/>
          </a:prstGeom>
        </p:spPr>
        <p:txBody>
          <a:bodyPr lIns="45720" tIns="22860" rIns="45720" bIns="22860"/>
          <a:lstStyle/>
          <a:p>
            <a:r>
              <a:rPr lang="en-US" dirty="0"/>
              <a:t>Click icon to add media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41754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78573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625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883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391650" y="64193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9BDA83F4-0262-4454-9773-6006B56D6F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375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705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8" r:id="rId32"/>
    <p:sldLayoutId id="2147483709" r:id="rId33"/>
  </p:sldLayoutIdLst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microsoft.com/office/2007/relationships/hdphoto" Target="../media/hdphoto4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microsoft.com/office/2007/relationships/hdphoto" Target="../media/hdphoto3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" t="-376" r="1097" b="376"/>
          <a:stretch/>
        </p:blipFill>
        <p:spPr>
          <a:xfrm>
            <a:off x="-34506" y="-61546"/>
            <a:ext cx="12249510" cy="692817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34506" y="4038600"/>
            <a:ext cx="12249510" cy="28280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0" name="Shape 45"/>
          <p:cNvSpPr/>
          <p:nvPr/>
        </p:nvSpPr>
        <p:spPr>
          <a:xfrm>
            <a:off x="388189" y="4089276"/>
            <a:ext cx="11437227" cy="1462516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45720" tIns="45720" rIns="45720" bIns="4572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en-US" altLang="zh-CN" sz="36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《</a:t>
            </a:r>
            <a:r>
              <a:rPr lang="zh-CN" altLang="en-US" sz="36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数据挖掘</a:t>
            </a:r>
            <a:r>
              <a:rPr lang="en-US" altLang="zh-CN" sz="36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》</a:t>
            </a:r>
          </a:p>
          <a:p>
            <a:pPr algn="ctr">
              <a:lnSpc>
                <a:spcPct val="130000"/>
              </a:lnSpc>
            </a:pPr>
            <a:r>
              <a:rPr lang="zh-CN" altLang="en-US" sz="36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购物篮分析与关联规则</a:t>
            </a:r>
          </a:p>
        </p:txBody>
      </p:sp>
      <p:grpSp>
        <p:nvGrpSpPr>
          <p:cNvPr id="9" name="组合 45"/>
          <p:cNvGrpSpPr/>
          <p:nvPr/>
        </p:nvGrpSpPr>
        <p:grpSpPr>
          <a:xfrm>
            <a:off x="2153052" y="5655967"/>
            <a:ext cx="7946680" cy="961289"/>
            <a:chOff x="2002264" y="3258103"/>
            <a:chExt cx="8187473" cy="961286"/>
          </a:xfrm>
        </p:grpSpPr>
        <p:sp>
          <p:nvSpPr>
            <p:cNvPr id="17" name="矩形 17"/>
            <p:cNvSpPr>
              <a:spLocks noChangeArrowheads="1"/>
            </p:cNvSpPr>
            <p:nvPr/>
          </p:nvSpPr>
          <p:spPr bwMode="auto">
            <a:xfrm>
              <a:off x="3866722" y="3258103"/>
              <a:ext cx="4395931" cy="961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000" b="1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吉林大学人工智能学院</a:t>
              </a:r>
              <a:endParaRPr lang="en-US" altLang="zh-CN" sz="2000" b="1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2000" b="1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刘兆赓</a:t>
              </a:r>
              <a:endParaRPr lang="en-US" altLang="zh-CN" sz="2000" b="1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</p:txBody>
        </p:sp>
        <p:cxnSp>
          <p:nvCxnSpPr>
            <p:cNvPr id="18" name="直接连接符 13"/>
            <p:cNvCxnSpPr/>
            <p:nvPr/>
          </p:nvCxnSpPr>
          <p:spPr bwMode="auto">
            <a:xfrm>
              <a:off x="2002264" y="3705778"/>
              <a:ext cx="2329187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  <p:cxnSp>
          <p:nvCxnSpPr>
            <p:cNvPr id="19" name="直接连接符 14"/>
            <p:cNvCxnSpPr/>
            <p:nvPr/>
          </p:nvCxnSpPr>
          <p:spPr bwMode="auto">
            <a:xfrm>
              <a:off x="7828119" y="3705778"/>
              <a:ext cx="2361618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8" r="55688" b="42178"/>
          <a:stretch/>
        </p:blipFill>
        <p:spPr>
          <a:xfrm flipH="1">
            <a:off x="1727201" y="685800"/>
            <a:ext cx="1118396" cy="1422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40799" r="31019" b="39942"/>
          <a:stretch/>
        </p:blipFill>
        <p:spPr>
          <a:xfrm>
            <a:off x="7874000" y="1348059"/>
            <a:ext cx="3048000" cy="1320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505178" y="1026073"/>
            <a:ext cx="1137053" cy="4857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9956800" y="2935491"/>
            <a:ext cx="1137053" cy="4857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389" y="943829"/>
            <a:ext cx="5228265" cy="2902521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71" t="23333" r="16751"/>
          <a:stretch/>
        </p:blipFill>
        <p:spPr>
          <a:xfrm>
            <a:off x="8683551" y="-43132"/>
            <a:ext cx="3531454" cy="334759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0" cstate="print">
            <a:grayscl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412" y="639326"/>
            <a:ext cx="931677" cy="93318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schemeClr val="bg1"/>
                </a:solidFill>
              </a:rPr>
              <a:pPr/>
              <a:t>1</a:t>
            </a:fld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051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1" y="359231"/>
            <a:ext cx="121919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4D4A09-68C4-4AE7-97EE-BDCF5450C8C6}"/>
              </a:ext>
            </a:extLst>
          </p:cNvPr>
          <p:cNvSpPr/>
          <p:nvPr/>
        </p:nvSpPr>
        <p:spPr>
          <a:xfrm>
            <a:off x="1" y="-5688"/>
            <a:ext cx="5603233" cy="68636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2400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" name="任意多边形 4">
            <a:extLst>
              <a:ext uri="{FF2B5EF4-FFF2-40B4-BE49-F238E27FC236}">
                <a16:creationId xmlns:a16="http://schemas.microsoft.com/office/drawing/2014/main" id="{F9A28B36-7688-4864-9316-78C5A8E62467}"/>
              </a:ext>
            </a:extLst>
          </p:cNvPr>
          <p:cNvSpPr/>
          <p:nvPr/>
        </p:nvSpPr>
        <p:spPr>
          <a:xfrm flipH="1">
            <a:off x="960611" y="2624805"/>
            <a:ext cx="4009095" cy="1661367"/>
          </a:xfrm>
          <a:custGeom>
            <a:avLst/>
            <a:gdLst>
              <a:gd name="connsiteX0" fmla="*/ 3548448 w 4378443"/>
              <a:gd name="connsiteY0" fmla="*/ 0 h 1659990"/>
              <a:gd name="connsiteX1" fmla="*/ 0 w 4378443"/>
              <a:gd name="connsiteY1" fmla="*/ 0 h 1659990"/>
              <a:gd name="connsiteX2" fmla="*/ 0 w 4378443"/>
              <a:gd name="connsiteY2" fmla="*/ 1659990 h 1659990"/>
              <a:gd name="connsiteX3" fmla="*/ 3548447 w 4378443"/>
              <a:gd name="connsiteY3" fmla="*/ 1659990 h 1659990"/>
              <a:gd name="connsiteX4" fmla="*/ 4378442 w 4378443"/>
              <a:gd name="connsiteY4" fmla="*/ 829995 h 1659990"/>
              <a:gd name="connsiteX5" fmla="*/ 4378443 w 4378443"/>
              <a:gd name="connsiteY5" fmla="*/ 829995 h 1659990"/>
              <a:gd name="connsiteX6" fmla="*/ 3548448 w 4378443"/>
              <a:gd name="connsiteY6" fmla="*/ 0 h 1659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78443" h="1659990">
                <a:moveTo>
                  <a:pt x="3548448" y="0"/>
                </a:moveTo>
                <a:lnTo>
                  <a:pt x="0" y="0"/>
                </a:lnTo>
                <a:lnTo>
                  <a:pt x="0" y="1659990"/>
                </a:lnTo>
                <a:lnTo>
                  <a:pt x="3548447" y="1659990"/>
                </a:lnTo>
                <a:cubicBezTo>
                  <a:pt x="4006841" y="1659990"/>
                  <a:pt x="4378442" y="1288389"/>
                  <a:pt x="4378442" y="829995"/>
                </a:cubicBezTo>
                <a:lnTo>
                  <a:pt x="4378443" y="829995"/>
                </a:lnTo>
                <a:cubicBezTo>
                  <a:pt x="4378443" y="371601"/>
                  <a:pt x="4006842" y="0"/>
                  <a:pt x="3548448" y="0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innerShdw blurRad="63500" dist="177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2400" dirty="0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29BCB0F-8C63-4136-B68A-A85B4A9A9EC9}"/>
              </a:ext>
            </a:extLst>
          </p:cNvPr>
          <p:cNvGrpSpPr/>
          <p:nvPr/>
        </p:nvGrpSpPr>
        <p:grpSpPr>
          <a:xfrm>
            <a:off x="4418182" y="1632893"/>
            <a:ext cx="551524" cy="4095728"/>
            <a:chOff x="7636995" y="1679426"/>
            <a:chExt cx="421216" cy="4092334"/>
          </a:xfrm>
          <a:effectLst>
            <a:outerShdw blurRad="228600" dist="101600" dir="10800000" algn="r" rotWithShape="0">
              <a:prstClr val="black">
                <a:alpha val="40000"/>
              </a:prstClr>
            </a:outerShdw>
          </a:effectLst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F09E467-F76A-4847-833D-EDCF7250EADF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/>
          </p:blipFill>
          <p:spPr>
            <a:xfrm rot="16200000" flipV="1">
              <a:off x="5801436" y="3514985"/>
              <a:ext cx="4092334" cy="42121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D3D7AC9F-FF99-4D97-9D74-EDE4D99C1206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/>
          </p:blipFill>
          <p:spPr>
            <a:xfrm rot="16200000" flipV="1">
              <a:off x="5801436" y="3514985"/>
              <a:ext cx="4092334" cy="421216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9" name="文本框 32">
            <a:extLst>
              <a:ext uri="{FF2B5EF4-FFF2-40B4-BE49-F238E27FC236}">
                <a16:creationId xmlns:a16="http://schemas.microsoft.com/office/drawing/2014/main" id="{09249BDD-30DD-4BE9-9195-D1BAB9FEC693}"/>
              </a:ext>
            </a:extLst>
          </p:cNvPr>
          <p:cNvSpPr txBox="1"/>
          <p:nvPr/>
        </p:nvSpPr>
        <p:spPr>
          <a:xfrm>
            <a:off x="1380290" y="3659768"/>
            <a:ext cx="3567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en-US" altLang="zh-CN" sz="3200" b="1" dirty="0">
                <a:solidFill>
                  <a:prstClr val="white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CONTENTS</a:t>
            </a:r>
            <a:endParaRPr lang="zh-CN" altLang="en-US" sz="3200" b="1" dirty="0">
              <a:solidFill>
                <a:prstClr val="white"/>
              </a:solidFill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910218" y="2673464"/>
            <a:ext cx="25511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prstClr val="white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目  录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498" y="0"/>
            <a:ext cx="1355352" cy="752437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580" y="42293"/>
            <a:ext cx="666768" cy="66785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grpSp>
        <p:nvGrpSpPr>
          <p:cNvPr id="13" name="组合 12"/>
          <p:cNvGrpSpPr/>
          <p:nvPr/>
        </p:nvGrpSpPr>
        <p:grpSpPr>
          <a:xfrm>
            <a:off x="5739015" y="1385488"/>
            <a:ext cx="3050722" cy="771736"/>
            <a:chOff x="6447320" y="2108200"/>
            <a:chExt cx="3050722" cy="771736"/>
          </a:xfrm>
        </p:grpSpPr>
        <p:sp>
          <p:nvSpPr>
            <p:cNvPr id="20" name="文本框 47">
              <a:extLst>
                <a:ext uri="{FF2B5EF4-FFF2-40B4-BE49-F238E27FC236}">
                  <a16:creationId xmlns:a16="http://schemas.microsoft.com/office/drawing/2014/main" id="{957966FD-5517-4D7F-A25C-3CB74BD62251}"/>
                </a:ext>
              </a:extLst>
            </p:cNvPr>
            <p:cNvSpPr txBox="1"/>
            <p:nvPr/>
          </p:nvSpPr>
          <p:spPr>
            <a:xfrm>
              <a:off x="7466717" y="2162031"/>
              <a:ext cx="20313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3600" b="1" dirty="0">
                  <a:solidFill>
                    <a:srgbClr val="213F79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基本概念</a:t>
              </a:r>
              <a:endParaRPr lang="en-US" altLang="zh-CN" sz="3600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6447320" y="2108200"/>
              <a:ext cx="771736" cy="771736"/>
            </a:xfrm>
            <a:prstGeom prst="ellipse">
              <a:avLst/>
            </a:prstGeom>
            <a:solidFill>
              <a:srgbClr val="213F79"/>
            </a:solidFill>
            <a:ln>
              <a:noFill/>
            </a:ln>
            <a:effectLst>
              <a:innerShdw blurRad="63500" dist="114300" dir="108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prstClr val="white"/>
                  </a:solidFill>
                  <a:latin typeface="Arial Black" panose="020B0A04020102020204" pitchFamily="34" charset="0"/>
                  <a:ea typeface="方正兰亭特黑简体" panose="02000000000000000000" pitchFamily="2" charset="-122"/>
                </a:rPr>
                <a:t>1</a:t>
              </a:r>
              <a:endParaRPr lang="zh-CN" altLang="en-US" sz="2800" b="1" dirty="0">
                <a:solidFill>
                  <a:prstClr val="white"/>
                </a:solidFill>
                <a:latin typeface="Arial Black" panose="020B0A04020102020204" pitchFamily="34" charset="0"/>
                <a:ea typeface="方正兰亭特黑简体" panose="020000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739015" y="2878349"/>
            <a:ext cx="4998371" cy="771736"/>
            <a:chOff x="6447320" y="3214692"/>
            <a:chExt cx="4998371" cy="771736"/>
          </a:xfrm>
        </p:grpSpPr>
        <p:sp>
          <p:nvSpPr>
            <p:cNvPr id="18" name="文本框 48">
              <a:extLst>
                <a:ext uri="{FF2B5EF4-FFF2-40B4-BE49-F238E27FC236}">
                  <a16:creationId xmlns:a16="http://schemas.microsoft.com/office/drawing/2014/main" id="{3CDCCE53-36A4-4D9C-A9A8-A527E7E391E9}"/>
                </a:ext>
              </a:extLst>
            </p:cNvPr>
            <p:cNvSpPr txBox="1"/>
            <p:nvPr/>
          </p:nvSpPr>
          <p:spPr>
            <a:xfrm>
              <a:off x="7466717" y="3241968"/>
              <a:ext cx="39789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3600" b="1" dirty="0">
                  <a:solidFill>
                    <a:srgbClr val="4472C4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频繁项集挖掘方法</a:t>
              </a:r>
            </a:p>
          </p:txBody>
        </p:sp>
        <p:sp>
          <p:nvSpPr>
            <p:cNvPr id="19" name="椭圆 18"/>
            <p:cNvSpPr/>
            <p:nvPr/>
          </p:nvSpPr>
          <p:spPr>
            <a:xfrm>
              <a:off x="6447320" y="3214692"/>
              <a:ext cx="771736" cy="771736"/>
            </a:xfrm>
            <a:prstGeom prst="ellipse">
              <a:avLst/>
            </a:prstGeom>
            <a:solidFill>
              <a:srgbClr val="4472C4"/>
            </a:solidFill>
            <a:ln>
              <a:noFill/>
            </a:ln>
            <a:effectLst>
              <a:innerShdw blurRad="63500" dist="114300" dir="108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prstClr val="white"/>
                  </a:solidFill>
                  <a:latin typeface="Arial Black" panose="020B0A04020102020204" pitchFamily="34" charset="0"/>
                  <a:ea typeface="方正兰亭特黑简体" panose="02000000000000000000" pitchFamily="2" charset="-122"/>
                </a:rPr>
                <a:t>2</a:t>
              </a:r>
              <a:endParaRPr lang="zh-CN" altLang="en-US" sz="2800" b="1" dirty="0">
                <a:solidFill>
                  <a:prstClr val="white"/>
                </a:solidFill>
                <a:latin typeface="Arial Black" panose="020B0A04020102020204" pitchFamily="34" charset="0"/>
                <a:ea typeface="方正兰亭特黑简体" panose="02000000000000000000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739015" y="4330146"/>
            <a:ext cx="3050721" cy="771736"/>
            <a:chOff x="6447320" y="4280120"/>
            <a:chExt cx="3050721" cy="771736"/>
          </a:xfrm>
        </p:grpSpPr>
        <p:sp>
          <p:nvSpPr>
            <p:cNvPr id="16" name="文本框 49">
              <a:extLst>
                <a:ext uri="{FF2B5EF4-FFF2-40B4-BE49-F238E27FC236}">
                  <a16:creationId xmlns:a16="http://schemas.microsoft.com/office/drawing/2014/main" id="{C70D3AA2-E94E-4687-82A9-82DCCCB8B239}"/>
                </a:ext>
              </a:extLst>
            </p:cNvPr>
            <p:cNvSpPr txBox="1"/>
            <p:nvPr/>
          </p:nvSpPr>
          <p:spPr>
            <a:xfrm>
              <a:off x="7466716" y="4301919"/>
              <a:ext cx="20313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3600" b="1" dirty="0">
                  <a:solidFill>
                    <a:srgbClr val="213F79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模式评估</a:t>
              </a:r>
            </a:p>
          </p:txBody>
        </p:sp>
        <p:sp>
          <p:nvSpPr>
            <p:cNvPr id="17" name="椭圆 16"/>
            <p:cNvSpPr/>
            <p:nvPr/>
          </p:nvSpPr>
          <p:spPr>
            <a:xfrm>
              <a:off x="6447320" y="4280120"/>
              <a:ext cx="771736" cy="771736"/>
            </a:xfrm>
            <a:prstGeom prst="ellipse">
              <a:avLst/>
            </a:prstGeom>
            <a:solidFill>
              <a:srgbClr val="213F79"/>
            </a:solidFill>
            <a:ln>
              <a:noFill/>
            </a:ln>
            <a:effectLst>
              <a:innerShdw blurRad="63500" dist="114300" dir="108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prstClr val="white"/>
                  </a:solidFill>
                  <a:latin typeface="Arial Black" panose="020B0A04020102020204" pitchFamily="34" charset="0"/>
                  <a:ea typeface="方正兰亭特黑简体" panose="02000000000000000000" pitchFamily="2" charset="-122"/>
                </a:rPr>
                <a:t>3</a:t>
              </a:r>
              <a:endParaRPr lang="zh-CN" altLang="en-US" sz="2800" b="1" dirty="0">
                <a:solidFill>
                  <a:prstClr val="white"/>
                </a:solidFill>
                <a:latin typeface="Arial Black" panose="020B0A04020102020204" pitchFamily="34" charset="0"/>
                <a:ea typeface="方正兰亭特黑简体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7838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-127000"/>
            <a:ext cx="12192000" cy="6985001"/>
            <a:chOff x="0" y="-127000"/>
            <a:chExt cx="12192000" cy="6985001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 5">
              <a:extLst>
                <a:ext uri="{FF2B5EF4-FFF2-40B4-BE49-F238E27FC236}">
                  <a16:creationId xmlns:a16="http://schemas.microsoft.com/office/drawing/2014/main" id="{683F9A17-5372-4D20-B984-AEEE30D4E8ED}"/>
                </a:ext>
              </a:extLst>
            </p:cNvPr>
            <p:cNvSpPr/>
            <p:nvPr/>
          </p:nvSpPr>
          <p:spPr>
            <a:xfrm flipH="1">
              <a:off x="1651519" y="990601"/>
              <a:ext cx="3046301" cy="916025"/>
            </a:xfrm>
            <a:custGeom>
              <a:avLst/>
              <a:gdLst>
                <a:gd name="connsiteX0" fmla="*/ 3548448 w 4378443"/>
                <a:gd name="connsiteY0" fmla="*/ 0 h 1659990"/>
                <a:gd name="connsiteX1" fmla="*/ 0 w 4378443"/>
                <a:gd name="connsiteY1" fmla="*/ 0 h 1659990"/>
                <a:gd name="connsiteX2" fmla="*/ 0 w 4378443"/>
                <a:gd name="connsiteY2" fmla="*/ 1659990 h 1659990"/>
                <a:gd name="connsiteX3" fmla="*/ 3548447 w 4378443"/>
                <a:gd name="connsiteY3" fmla="*/ 1659990 h 1659990"/>
                <a:gd name="connsiteX4" fmla="*/ 4378442 w 4378443"/>
                <a:gd name="connsiteY4" fmla="*/ 829995 h 1659990"/>
                <a:gd name="connsiteX5" fmla="*/ 4378443 w 4378443"/>
                <a:gd name="connsiteY5" fmla="*/ 829995 h 1659990"/>
                <a:gd name="connsiteX6" fmla="*/ 3548448 w 4378443"/>
                <a:gd name="connsiteY6" fmla="*/ 0 h 165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8443" h="1659990">
                  <a:moveTo>
                    <a:pt x="3548448" y="0"/>
                  </a:moveTo>
                  <a:lnTo>
                    <a:pt x="0" y="0"/>
                  </a:lnTo>
                  <a:lnTo>
                    <a:pt x="0" y="1659990"/>
                  </a:lnTo>
                  <a:lnTo>
                    <a:pt x="3548447" y="1659990"/>
                  </a:lnTo>
                  <a:cubicBezTo>
                    <a:pt x="4006841" y="1659990"/>
                    <a:pt x="4378442" y="1288389"/>
                    <a:pt x="4378442" y="829995"/>
                  </a:cubicBezTo>
                  <a:lnTo>
                    <a:pt x="4378443" y="829995"/>
                  </a:lnTo>
                  <a:cubicBezTo>
                    <a:pt x="4378443" y="371601"/>
                    <a:pt x="4006842" y="0"/>
                    <a:pt x="3548448" y="0"/>
                  </a:cubicBezTo>
                  <a:close/>
                </a:path>
              </a:pathLst>
            </a:custGeom>
            <a:solidFill>
              <a:srgbClr val="213F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200C103-E212-4C79-9ADB-9CF7394DABAA}"/>
                </a:ext>
              </a:extLst>
            </p:cNvPr>
            <p:cNvGrpSpPr/>
            <p:nvPr/>
          </p:nvGrpSpPr>
          <p:grpSpPr>
            <a:xfrm>
              <a:off x="4095487" y="-127000"/>
              <a:ext cx="602335" cy="5812453"/>
              <a:chOff x="7636995" y="1679426"/>
              <a:chExt cx="421216" cy="4092334"/>
            </a:xfrm>
          </p:grpSpPr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A07D4936-ED15-4494-A02F-C2411B992F9B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66000"/>
                        </a14:imgEffect>
                      </a14:imgLayer>
                    </a14:imgProps>
                  </a:ext>
                </a:extLst>
              </a:blip>
              <a:srcRect t="76775"/>
              <a:stretch/>
            </p:blipFill>
            <p:spPr>
              <a:xfrm rot="16200000" flipV="1">
                <a:off x="5801436" y="3514985"/>
                <a:ext cx="4092334" cy="421216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19C4510A-8E52-4E6D-ABC3-8F5193067839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66000"/>
                        </a14:imgEffect>
                      </a14:imgLayer>
                    </a14:imgProps>
                  </a:ext>
                </a:extLst>
              </a:blip>
              <a:srcRect t="76775"/>
              <a:stretch/>
            </p:blipFill>
            <p:spPr>
              <a:xfrm rot="16200000" flipV="1">
                <a:off x="5801436" y="3514985"/>
                <a:ext cx="4092334" cy="421216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8" name="直角三角形 7">
              <a:extLst>
                <a:ext uri="{FF2B5EF4-FFF2-40B4-BE49-F238E27FC236}">
                  <a16:creationId xmlns:a16="http://schemas.microsoft.com/office/drawing/2014/main" id="{99A2EC02-BD58-46AF-A84F-156DCC33EE05}"/>
                </a:ext>
              </a:extLst>
            </p:cNvPr>
            <p:cNvSpPr/>
            <p:nvPr/>
          </p:nvSpPr>
          <p:spPr>
            <a:xfrm flipH="1" flipV="1">
              <a:off x="3785126" y="3950674"/>
              <a:ext cx="913719" cy="432309"/>
            </a:xfrm>
            <a:prstGeom prst="rtTriangle">
              <a:avLst/>
            </a:prstGeom>
            <a:solidFill>
              <a:srgbClr val="213F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" name="任意多边形 8">
              <a:extLst>
                <a:ext uri="{FF2B5EF4-FFF2-40B4-BE49-F238E27FC236}">
                  <a16:creationId xmlns:a16="http://schemas.microsoft.com/office/drawing/2014/main" id="{23158547-6A0B-4618-8FF8-0A8B69708EC6}"/>
                </a:ext>
              </a:extLst>
            </p:cNvPr>
            <p:cNvSpPr/>
            <p:nvPr/>
          </p:nvSpPr>
          <p:spPr>
            <a:xfrm>
              <a:off x="3794643" y="2362673"/>
              <a:ext cx="6466957" cy="1592519"/>
            </a:xfrm>
            <a:custGeom>
              <a:avLst/>
              <a:gdLst>
                <a:gd name="connsiteX0" fmla="*/ 0 w 5229817"/>
                <a:gd name="connsiteY0" fmla="*/ 0 h 1429030"/>
                <a:gd name="connsiteX1" fmla="*/ 4515302 w 5229817"/>
                <a:gd name="connsiteY1" fmla="*/ 0 h 1429030"/>
                <a:gd name="connsiteX2" fmla="*/ 5229817 w 5229817"/>
                <a:gd name="connsiteY2" fmla="*/ 714515 h 1429030"/>
                <a:gd name="connsiteX3" fmla="*/ 5229816 w 5229817"/>
                <a:gd name="connsiteY3" fmla="*/ 714515 h 1429030"/>
                <a:gd name="connsiteX4" fmla="*/ 4515301 w 5229817"/>
                <a:gd name="connsiteY4" fmla="*/ 1429030 h 1429030"/>
                <a:gd name="connsiteX5" fmla="*/ 0 w 5229817"/>
                <a:gd name="connsiteY5" fmla="*/ 1429029 h 142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29817" h="1429030">
                  <a:moveTo>
                    <a:pt x="0" y="0"/>
                  </a:moveTo>
                  <a:lnTo>
                    <a:pt x="4515302" y="0"/>
                  </a:lnTo>
                  <a:cubicBezTo>
                    <a:pt x="4909918" y="0"/>
                    <a:pt x="5229817" y="319899"/>
                    <a:pt x="5229817" y="714515"/>
                  </a:cubicBezTo>
                  <a:lnTo>
                    <a:pt x="5229816" y="714515"/>
                  </a:lnTo>
                  <a:cubicBezTo>
                    <a:pt x="5229816" y="1109131"/>
                    <a:pt x="4909917" y="1429030"/>
                    <a:pt x="4515301" y="1429030"/>
                  </a:cubicBezTo>
                  <a:lnTo>
                    <a:pt x="0" y="1429029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" name="文本框 61">
              <a:extLst>
                <a:ext uri="{FF2B5EF4-FFF2-40B4-BE49-F238E27FC236}">
                  <a16:creationId xmlns:a16="http://schemas.microsoft.com/office/drawing/2014/main" id="{8EFA2E3D-1349-4611-858A-C5CD9EC762AE}"/>
                </a:ext>
              </a:extLst>
            </p:cNvPr>
            <p:cNvSpPr txBox="1"/>
            <p:nvPr/>
          </p:nvSpPr>
          <p:spPr>
            <a:xfrm>
              <a:off x="4248597" y="2585793"/>
              <a:ext cx="5401012" cy="101566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600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基本概念</a:t>
              </a:r>
            </a:p>
          </p:txBody>
        </p:sp>
        <p:sp>
          <p:nvSpPr>
            <p:cNvPr id="11" name="文本框 62">
              <a:extLst>
                <a:ext uri="{FF2B5EF4-FFF2-40B4-BE49-F238E27FC236}">
                  <a16:creationId xmlns:a16="http://schemas.microsoft.com/office/drawing/2014/main" id="{60BBD27F-574E-483D-98AD-863290A27093}"/>
                </a:ext>
              </a:extLst>
            </p:cNvPr>
            <p:cNvSpPr txBox="1"/>
            <p:nvPr/>
          </p:nvSpPr>
          <p:spPr>
            <a:xfrm>
              <a:off x="2090544" y="1121713"/>
              <a:ext cx="16647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PART  1</a:t>
              </a:r>
              <a:endParaRPr lang="zh-CN" altLang="en-US" sz="4000" b="1" dirty="0">
                <a:solidFill>
                  <a:prstClr val="white"/>
                </a:solidFill>
                <a:latin typeface="方正兰亭特黑简体" panose="02000000000000000000" pitchFamily="2" charset="-122"/>
                <a:ea typeface="方正兰亭特黑简体" panose="02000000000000000000" pitchFamily="2" charset="-122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633AE577-F75A-49A4-AF49-6C3DFB8BA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3838768"/>
              <a:ext cx="4992468" cy="3019233"/>
            </a:xfrm>
            <a:custGeom>
              <a:avLst/>
              <a:gdLst>
                <a:gd name="T0" fmla="*/ 0 w 2348"/>
                <a:gd name="T1" fmla="*/ 0 h 1407"/>
                <a:gd name="T2" fmla="*/ 2348 w 2348"/>
                <a:gd name="T3" fmla="*/ 1407 h 1407"/>
                <a:gd name="T4" fmla="*/ 0 w 2348"/>
                <a:gd name="T5" fmla="*/ 1407 h 1407"/>
                <a:gd name="T6" fmla="*/ 0 w 2348"/>
                <a:gd name="T7" fmla="*/ 0 h 1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8" h="1407">
                  <a:moveTo>
                    <a:pt x="0" y="0"/>
                  </a:moveTo>
                  <a:lnTo>
                    <a:pt x="2348" y="1407"/>
                  </a:lnTo>
                  <a:lnTo>
                    <a:pt x="0" y="14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F7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62551" tIns="81275" rIns="162551" bIns="81275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155895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276">
                <a:solidFill>
                  <a:srgbClr val="000000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3BA162EA-CEA0-4726-8F4B-BB627F8D0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059" y="4356933"/>
              <a:ext cx="9361941" cy="2501068"/>
            </a:xfrm>
            <a:custGeom>
              <a:avLst/>
              <a:gdLst>
                <a:gd name="T0" fmla="*/ 4403 w 4403"/>
                <a:gd name="T1" fmla="*/ 0 h 1161"/>
                <a:gd name="T2" fmla="*/ 4403 w 4403"/>
                <a:gd name="T3" fmla="*/ 1161 h 1161"/>
                <a:gd name="T4" fmla="*/ 0 w 4403"/>
                <a:gd name="T5" fmla="*/ 1161 h 1161"/>
                <a:gd name="T6" fmla="*/ 4403 w 4403"/>
                <a:gd name="T7" fmla="*/ 0 h 1161"/>
                <a:gd name="connsiteX0" fmla="*/ 10000 w 10000"/>
                <a:gd name="connsiteY0" fmla="*/ 0 h 10039"/>
                <a:gd name="connsiteX1" fmla="*/ 10000 w 10000"/>
                <a:gd name="connsiteY1" fmla="*/ 10039 h 10039"/>
                <a:gd name="connsiteX2" fmla="*/ 0 w 10000"/>
                <a:gd name="connsiteY2" fmla="*/ 10039 h 10039"/>
                <a:gd name="connsiteX3" fmla="*/ 10000 w 10000"/>
                <a:gd name="connsiteY3" fmla="*/ 0 h 1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39">
                  <a:moveTo>
                    <a:pt x="10000" y="0"/>
                  </a:moveTo>
                  <a:lnTo>
                    <a:pt x="10000" y="10039"/>
                  </a:lnTo>
                  <a:lnTo>
                    <a:pt x="0" y="10039"/>
                  </a:lnTo>
                  <a:lnTo>
                    <a:pt x="10000" y="0"/>
                  </a:lnTo>
                  <a:close/>
                </a:path>
              </a:pathLst>
            </a:custGeom>
            <a:solidFill>
              <a:srgbClr val="4472C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62551" tIns="81275" rIns="162551" bIns="81275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155895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276">
                <a:solidFill>
                  <a:srgbClr val="000000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schemeClr val="bg1"/>
                </a:solidFill>
              </a:rPr>
              <a:pPr/>
              <a:t>3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498" y="0"/>
            <a:ext cx="1355352" cy="752437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580" y="42293"/>
            <a:ext cx="666768" cy="66785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153171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FDA3AE-7617-4A02-8C98-625A871D7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典型案例：啤酒与尿布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0BD0AFC-1DC1-4258-8B08-6D440A8317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68BBC02-E5A0-48B3-B6A5-C8DDD8B64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355" y="1315554"/>
            <a:ext cx="4120046" cy="4120046"/>
          </a:xfrm>
          <a:prstGeom prst="rect">
            <a:avLst/>
          </a:prstGeom>
        </p:spPr>
      </p:pic>
      <p:sp>
        <p:nvSpPr>
          <p:cNvPr id="8" name="Text1">
            <a:extLst>
              <a:ext uri="{FF2B5EF4-FFF2-40B4-BE49-F238E27FC236}">
                <a16:creationId xmlns:a16="http://schemas.microsoft.com/office/drawing/2014/main" id="{F4D08C28-A6EF-2784-4461-04CEEF4B005B}"/>
              </a:ext>
            </a:extLst>
          </p:cNvPr>
          <p:cNvSpPr txBox="1"/>
          <p:nvPr/>
        </p:nvSpPr>
        <p:spPr>
          <a:xfrm>
            <a:off x="287781" y="897484"/>
            <a:ext cx="7535419" cy="5661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6" rIns="60950" bIns="30466" anchor="t" anchorCtr="0">
            <a:normAutofit fontScale="92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zh-CN" altLang="en-US" sz="2600" b="1" dirty="0">
                <a:solidFill>
                  <a:srgbClr val="002E73"/>
                </a:solidFill>
                <a:sym typeface="思源黑体 CN" panose="020B0500000000000000" pitchFamily="34" charset="-122"/>
              </a:rPr>
              <a:t>案例起源：一个意外的发现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6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思源黑体 CN" panose="020B0500000000000000" pitchFamily="34" charset="-122"/>
              </a:rPr>
              <a:t>时间与地点：</a:t>
            </a:r>
            <a:r>
              <a:rPr lang="en-US" altLang="zh-CN" sz="26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思源黑体 CN" panose="020B0500000000000000" pitchFamily="34" charset="-122"/>
              </a:rPr>
              <a:t>20</a:t>
            </a:r>
            <a:r>
              <a:rPr lang="zh-CN" altLang="en-US" sz="26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思源黑体 CN" panose="020B0500000000000000" pitchFamily="34" charset="-122"/>
              </a:rPr>
              <a:t>世纪</a:t>
            </a:r>
            <a:r>
              <a:rPr lang="en-US" altLang="zh-CN" sz="26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思源黑体 CN" panose="020B0500000000000000" pitchFamily="34" charset="-122"/>
              </a:rPr>
              <a:t>90</a:t>
            </a:r>
            <a:r>
              <a:rPr lang="zh-CN" altLang="en-US" sz="26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思源黑体 CN" panose="020B0500000000000000" pitchFamily="34" charset="-122"/>
              </a:rPr>
              <a:t>年代，美国零售巨头沃尔玛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6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思源黑体 CN" panose="020B0500000000000000" pitchFamily="34" charset="-122"/>
              </a:rPr>
              <a:t>发现：周末期间，啤酒与婴儿尿布频繁出现在同一购物篮中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6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思源黑体 CN" panose="020B0500000000000000" pitchFamily="34" charset="-122"/>
              </a:rPr>
              <a:t>初步反应：认为是系统误差，但数据持续出现不合理的商品组合</a:t>
            </a:r>
            <a:endParaRPr lang="en-US" altLang="zh-CN" sz="26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思源黑体 CN" panose="020B0500000000000000" pitchFamily="34" charset="-122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zh-CN" altLang="en-US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思源黑体 CN" panose="020B0500000000000000" pitchFamily="34" charset="-122"/>
            </a:endParaRPr>
          </a:p>
          <a:p>
            <a:pPr marL="342900" indent="-342900" algn="just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  <a:defRPr/>
            </a:pPr>
            <a:r>
              <a:rPr lang="zh-CN" altLang="en-US" sz="2600" b="1" dirty="0">
                <a:solidFill>
                  <a:srgbClr val="002E73"/>
                </a:solidFill>
                <a:sym typeface="思源黑体 CN" panose="020B0500000000000000" pitchFamily="34" charset="-122"/>
              </a:rPr>
              <a:t>深度洞察：隐含的消费逻辑</a:t>
            </a:r>
          </a:p>
          <a:p>
            <a:pPr marL="342900" indent="-342900" algn="just">
              <a:spcBef>
                <a:spcPts val="14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6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消费者角色：年轻父亲作为家庭购物的</a:t>
            </a:r>
            <a:r>
              <a:rPr lang="en-US" altLang="zh-CN" sz="26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"</a:t>
            </a:r>
            <a:r>
              <a:rPr lang="zh-CN" altLang="en-US" sz="26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任务执行者</a:t>
            </a:r>
            <a:r>
              <a:rPr lang="en-US" altLang="zh-CN" sz="26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"</a:t>
            </a:r>
          </a:p>
          <a:p>
            <a:pPr marL="342900" indent="-342900" algn="just">
              <a:spcBef>
                <a:spcPts val="14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6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行为特征：顺便购买，目标明确但易受即时需求影响</a:t>
            </a:r>
          </a:p>
          <a:p>
            <a:pPr marL="342900" indent="-342900" algn="just">
              <a:spcBef>
                <a:spcPts val="14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6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场景依赖性：关联消费集中在周末傍晚时段</a:t>
            </a:r>
          </a:p>
        </p:txBody>
      </p:sp>
    </p:spTree>
    <p:extLst>
      <p:ext uri="{BB962C8B-B14F-4D97-AF65-F5344CB8AC3E}">
        <p14:creationId xmlns:p14="http://schemas.microsoft.com/office/powerpoint/2010/main" val="155577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FDA3AE-7617-4A02-8C98-625A871D7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典型案例：啤酒与尿布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0BD0AFC-1DC1-4258-8B08-6D440A8317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68BBC02-E5A0-48B3-B6A5-C8DDD8B640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1575" y="1449760"/>
            <a:ext cx="4356912" cy="4356912"/>
          </a:xfrm>
          <a:prstGeom prst="rect">
            <a:avLst/>
          </a:prstGeom>
        </p:spPr>
      </p:pic>
      <p:sp>
        <p:nvSpPr>
          <p:cNvPr id="8" name="Text1">
            <a:extLst>
              <a:ext uri="{FF2B5EF4-FFF2-40B4-BE49-F238E27FC236}">
                <a16:creationId xmlns:a16="http://schemas.microsoft.com/office/drawing/2014/main" id="{F4D08C28-A6EF-2784-4461-04CEEF4B005B}"/>
              </a:ext>
            </a:extLst>
          </p:cNvPr>
          <p:cNvSpPr txBox="1"/>
          <p:nvPr/>
        </p:nvSpPr>
        <p:spPr>
          <a:xfrm>
            <a:off x="301705" y="835494"/>
            <a:ext cx="8359566" cy="6166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6" rIns="60950" bIns="30466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defRPr/>
            </a:pPr>
            <a:r>
              <a:rPr lang="zh-CN" altLang="en-US" sz="2400" b="1" dirty="0">
                <a:solidFill>
                  <a:srgbClr val="002E73"/>
                </a:solidFill>
                <a:sym typeface="思源黑体 CN" panose="020B0500000000000000" pitchFamily="34" charset="-122"/>
              </a:rPr>
              <a:t>商业决策：从数据到行动</a:t>
            </a:r>
            <a:endParaRPr lang="zh-CN" altLang="en-US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思源黑体 CN" panose="020B0500000000000000" pitchFamily="34" charset="-122"/>
            </a:endParaRPr>
          </a:p>
          <a:p>
            <a:pPr marL="800100" lvl="1" indent="-342900" algn="just">
              <a:spcBef>
                <a:spcPts val="14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思源黑体 CN" panose="020B0500000000000000" pitchFamily="34" charset="-122"/>
              </a:rPr>
              <a:t>在婴儿用品区旁增设啤酒货架</a:t>
            </a:r>
          </a:p>
          <a:p>
            <a:pPr marL="800100" lvl="1" indent="-342900" algn="just">
              <a:spcBef>
                <a:spcPts val="14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思源黑体 CN" panose="020B0500000000000000" pitchFamily="34" charset="-122"/>
              </a:rPr>
              <a:t>根据门店顾客画像调整啤酒品牌陈列</a:t>
            </a:r>
            <a:endParaRPr lang="zh-CN" altLang="en-US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 algn="just">
              <a:spcBef>
                <a:spcPts val="14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推出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"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周末家庭套餐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"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，尿布购买赠送啤酒优惠券</a:t>
            </a:r>
          </a:p>
          <a:p>
            <a:pPr marL="800100" lvl="1" indent="-342900" algn="just">
              <a:spcBef>
                <a:spcPts val="14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设置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"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父亲购物快速通道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"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以增强场景关联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 algn="just">
              <a:spcBef>
                <a:spcPts val="14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zh-CN" altLang="en-US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思源黑体 CN" panose="020B0500000000000000" pitchFamily="34" charset="-122"/>
            </a:endParaRPr>
          </a:p>
          <a:p>
            <a:pPr marL="342900" indent="-342900" algn="just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  <a:defRPr/>
            </a:pPr>
            <a:r>
              <a:rPr lang="zh-CN" altLang="en-US" sz="2400" b="1" dirty="0">
                <a:solidFill>
                  <a:srgbClr val="002E73"/>
                </a:solidFill>
                <a:sym typeface="思源黑体 CN" panose="020B0500000000000000" pitchFamily="34" charset="-122"/>
              </a:rPr>
              <a:t>价值延伸：数据思维的商业革命</a:t>
            </a:r>
            <a:endParaRPr lang="zh-CN" altLang="en-US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 algn="just">
              <a:spcBef>
                <a:spcPts val="14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实现两位数的销量增长</a:t>
            </a:r>
          </a:p>
          <a:p>
            <a:pPr marL="800100" lvl="1" indent="-342900" algn="just">
              <a:spcBef>
                <a:spcPts val="14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引发零售行业的数据思维革命</a:t>
            </a:r>
          </a:p>
          <a:p>
            <a:pPr marL="800100" lvl="1" indent="-342900" algn="just">
              <a:spcBef>
                <a:spcPts val="14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证明购物篮分析的商业价值</a:t>
            </a:r>
          </a:p>
          <a:p>
            <a:pPr marL="800100" lvl="1" indent="-342900" algn="just">
              <a:spcBef>
                <a:spcPts val="14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推动数据挖掘技术在多个行业的应用</a:t>
            </a:r>
          </a:p>
        </p:txBody>
      </p:sp>
    </p:spTree>
    <p:extLst>
      <p:ext uri="{BB962C8B-B14F-4D97-AF65-F5344CB8AC3E}">
        <p14:creationId xmlns:p14="http://schemas.microsoft.com/office/powerpoint/2010/main" val="1927471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典型案例：购物篮分析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DE3F3E9-D605-84E2-F271-C91EEBC8CB6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09"/>
          <a:stretch/>
        </p:blipFill>
        <p:spPr>
          <a:xfrm>
            <a:off x="827798" y="1640618"/>
            <a:ext cx="2127803" cy="140819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9B51C49-B9E0-989A-1235-9D49A520DE06}"/>
              </a:ext>
            </a:extLst>
          </p:cNvPr>
          <p:cNvSpPr txBox="1"/>
          <p:nvPr/>
        </p:nvSpPr>
        <p:spPr>
          <a:xfrm>
            <a:off x="931801" y="1391743"/>
            <a:ext cx="9204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牛奶  </a:t>
            </a:r>
          </a:p>
        </p:txBody>
      </p:sp>
      <p:sp>
        <p:nvSpPr>
          <p:cNvPr id="7" name="文本框 7">
            <a:extLst>
              <a:ext uri="{FF2B5EF4-FFF2-40B4-BE49-F238E27FC236}">
                <a16:creationId xmlns:a16="http://schemas.microsoft.com/office/drawing/2014/main" id="{E7F72BFD-DFDB-0A15-7327-7E0C5A6501FC}"/>
              </a:ext>
            </a:extLst>
          </p:cNvPr>
          <p:cNvSpPr txBox="1"/>
          <p:nvPr/>
        </p:nvSpPr>
        <p:spPr>
          <a:xfrm>
            <a:off x="1792251" y="1247992"/>
            <a:ext cx="9204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面包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麦片  </a:t>
            </a:r>
          </a:p>
        </p:txBody>
      </p:sp>
      <p:pic>
        <p:nvPicPr>
          <p:cNvPr id="8" name="图片 8">
            <a:extLst>
              <a:ext uri="{FF2B5EF4-FFF2-40B4-BE49-F238E27FC236}">
                <a16:creationId xmlns:a16="http://schemas.microsoft.com/office/drawing/2014/main" id="{3E87B602-4987-FEC1-E0EE-D0365CDAF85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09"/>
          <a:stretch/>
        </p:blipFill>
        <p:spPr>
          <a:xfrm>
            <a:off x="3951023" y="1655873"/>
            <a:ext cx="2127803" cy="1408199"/>
          </a:xfrm>
          <a:prstGeom prst="rect">
            <a:avLst/>
          </a:prstGeom>
        </p:spPr>
      </p:pic>
      <p:sp>
        <p:nvSpPr>
          <p:cNvPr id="9" name="文本框 9">
            <a:extLst>
              <a:ext uri="{FF2B5EF4-FFF2-40B4-BE49-F238E27FC236}">
                <a16:creationId xmlns:a16="http://schemas.microsoft.com/office/drawing/2014/main" id="{FF0EAC52-CC26-823F-F40C-1146EE2CE480}"/>
              </a:ext>
            </a:extLst>
          </p:cNvPr>
          <p:cNvSpPr txBox="1"/>
          <p:nvPr/>
        </p:nvSpPr>
        <p:spPr>
          <a:xfrm>
            <a:off x="4029268" y="1247992"/>
            <a:ext cx="9204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牛奶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糖  </a:t>
            </a:r>
          </a:p>
        </p:txBody>
      </p:sp>
      <p:sp>
        <p:nvSpPr>
          <p:cNvPr id="10" name="文本框 10">
            <a:extLst>
              <a:ext uri="{FF2B5EF4-FFF2-40B4-BE49-F238E27FC236}">
                <a16:creationId xmlns:a16="http://schemas.microsoft.com/office/drawing/2014/main" id="{AA9DD5EE-6F48-AC17-EAAD-88D6715E4F7B}"/>
              </a:ext>
            </a:extLst>
          </p:cNvPr>
          <p:cNvSpPr txBox="1"/>
          <p:nvPr/>
        </p:nvSpPr>
        <p:spPr>
          <a:xfrm>
            <a:off x="4954113" y="1247992"/>
            <a:ext cx="9204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面包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麦片  </a:t>
            </a:r>
          </a:p>
        </p:txBody>
      </p:sp>
      <p:pic>
        <p:nvPicPr>
          <p:cNvPr id="11" name="图片 11">
            <a:extLst>
              <a:ext uri="{FF2B5EF4-FFF2-40B4-BE49-F238E27FC236}">
                <a16:creationId xmlns:a16="http://schemas.microsoft.com/office/drawing/2014/main" id="{85985C50-7755-6BEE-C7C9-D121F1105DA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09"/>
          <a:stretch/>
        </p:blipFill>
        <p:spPr>
          <a:xfrm>
            <a:off x="1935582" y="3971692"/>
            <a:ext cx="2127803" cy="1408199"/>
          </a:xfrm>
          <a:prstGeom prst="rect">
            <a:avLst/>
          </a:prstGeom>
        </p:spPr>
      </p:pic>
      <p:sp>
        <p:nvSpPr>
          <p:cNvPr id="12" name="文本框 12">
            <a:extLst>
              <a:ext uri="{FF2B5EF4-FFF2-40B4-BE49-F238E27FC236}">
                <a16:creationId xmlns:a16="http://schemas.microsoft.com/office/drawing/2014/main" id="{10E5F46A-6F77-1202-6E4C-24ED9CC8F897}"/>
              </a:ext>
            </a:extLst>
          </p:cNvPr>
          <p:cNvSpPr txBox="1"/>
          <p:nvPr/>
        </p:nvSpPr>
        <p:spPr>
          <a:xfrm>
            <a:off x="2026706" y="3722817"/>
            <a:ext cx="9204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牛奶  </a:t>
            </a:r>
          </a:p>
        </p:txBody>
      </p:sp>
      <p:sp>
        <p:nvSpPr>
          <p:cNvPr id="13" name="文本框 13">
            <a:extLst>
              <a:ext uri="{FF2B5EF4-FFF2-40B4-BE49-F238E27FC236}">
                <a16:creationId xmlns:a16="http://schemas.microsoft.com/office/drawing/2014/main" id="{DACED424-B3BB-9755-21AB-0C17EBFBBC2F}"/>
              </a:ext>
            </a:extLst>
          </p:cNvPr>
          <p:cNvSpPr txBox="1"/>
          <p:nvPr/>
        </p:nvSpPr>
        <p:spPr>
          <a:xfrm>
            <a:off x="2912914" y="3591945"/>
            <a:ext cx="9204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面包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黄油  </a:t>
            </a:r>
          </a:p>
        </p:txBody>
      </p:sp>
      <p:pic>
        <p:nvPicPr>
          <p:cNvPr id="14" name="图片 14">
            <a:extLst>
              <a:ext uri="{FF2B5EF4-FFF2-40B4-BE49-F238E27FC236}">
                <a16:creationId xmlns:a16="http://schemas.microsoft.com/office/drawing/2014/main" id="{A128F51F-0DD7-7E53-F693-C17D1FE2418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09"/>
          <a:stretch/>
        </p:blipFill>
        <p:spPr>
          <a:xfrm>
            <a:off x="5097248" y="4010613"/>
            <a:ext cx="2127803" cy="1408199"/>
          </a:xfrm>
          <a:prstGeom prst="rect">
            <a:avLst/>
          </a:prstGeom>
        </p:spPr>
      </p:pic>
      <p:sp>
        <p:nvSpPr>
          <p:cNvPr id="15" name="文本框 15">
            <a:extLst>
              <a:ext uri="{FF2B5EF4-FFF2-40B4-BE49-F238E27FC236}">
                <a16:creationId xmlns:a16="http://schemas.microsoft.com/office/drawing/2014/main" id="{6503087A-92FE-5373-BE79-9C1B551F2181}"/>
              </a:ext>
            </a:extLst>
          </p:cNvPr>
          <p:cNvSpPr txBox="1"/>
          <p:nvPr/>
        </p:nvSpPr>
        <p:spPr>
          <a:xfrm>
            <a:off x="5175493" y="3724593"/>
            <a:ext cx="9204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糖  </a:t>
            </a: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4BC3D158-C758-8EA3-68CE-FAB4F13C0928}"/>
              </a:ext>
            </a:extLst>
          </p:cNvPr>
          <p:cNvSpPr txBox="1"/>
          <p:nvPr/>
        </p:nvSpPr>
        <p:spPr>
          <a:xfrm>
            <a:off x="5997306" y="3746194"/>
            <a:ext cx="9204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鸡蛋  </a:t>
            </a:r>
          </a:p>
        </p:txBody>
      </p:sp>
      <p:sp>
        <p:nvSpPr>
          <p:cNvPr id="17" name="文本框 6">
            <a:extLst>
              <a:ext uri="{FF2B5EF4-FFF2-40B4-BE49-F238E27FC236}">
                <a16:creationId xmlns:a16="http://schemas.microsoft.com/office/drawing/2014/main" id="{56FC78B3-F85A-2B5C-3E14-2AA006B3F7FE}"/>
              </a:ext>
            </a:extLst>
          </p:cNvPr>
          <p:cNvSpPr txBox="1"/>
          <p:nvPr/>
        </p:nvSpPr>
        <p:spPr>
          <a:xfrm>
            <a:off x="1441650" y="3113026"/>
            <a:ext cx="1073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顾客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20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8">
            <a:extLst>
              <a:ext uri="{FF2B5EF4-FFF2-40B4-BE49-F238E27FC236}">
                <a16:creationId xmlns:a16="http://schemas.microsoft.com/office/drawing/2014/main" id="{CA3120A6-1064-BD7C-28CD-4766E9EB157E}"/>
              </a:ext>
            </a:extLst>
          </p:cNvPr>
          <p:cNvSpPr txBox="1"/>
          <p:nvPr/>
        </p:nvSpPr>
        <p:spPr>
          <a:xfrm>
            <a:off x="4590633" y="3099642"/>
            <a:ext cx="1073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顾客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20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9">
            <a:extLst>
              <a:ext uri="{FF2B5EF4-FFF2-40B4-BE49-F238E27FC236}">
                <a16:creationId xmlns:a16="http://schemas.microsoft.com/office/drawing/2014/main" id="{038A8BA1-6CED-C7FC-3F4E-0CDF03185B35}"/>
              </a:ext>
            </a:extLst>
          </p:cNvPr>
          <p:cNvSpPr txBox="1"/>
          <p:nvPr/>
        </p:nvSpPr>
        <p:spPr>
          <a:xfrm>
            <a:off x="2575192" y="5379891"/>
            <a:ext cx="1073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顾客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20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20">
            <a:extLst>
              <a:ext uri="{FF2B5EF4-FFF2-40B4-BE49-F238E27FC236}">
                <a16:creationId xmlns:a16="http://schemas.microsoft.com/office/drawing/2014/main" id="{14DEB3F5-DF00-0BAA-847A-583473673D1B}"/>
              </a:ext>
            </a:extLst>
          </p:cNvPr>
          <p:cNvSpPr txBox="1"/>
          <p:nvPr/>
        </p:nvSpPr>
        <p:spPr>
          <a:xfrm>
            <a:off x="5601338" y="5429106"/>
            <a:ext cx="1377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顾客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endParaRPr lang="zh-CN" altLang="en-US" sz="20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1" name="图片 26">
            <a:extLst>
              <a:ext uri="{FF2B5EF4-FFF2-40B4-BE49-F238E27FC236}">
                <a16:creationId xmlns:a16="http://schemas.microsoft.com/office/drawing/2014/main" id="{6D167483-36E3-6274-1620-60FB909CD66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08" r="20744"/>
          <a:stretch/>
        </p:blipFill>
        <p:spPr>
          <a:xfrm>
            <a:off x="8607360" y="1758660"/>
            <a:ext cx="2918944" cy="4523120"/>
          </a:xfrm>
          <a:prstGeom prst="rect">
            <a:avLst/>
          </a:prstGeom>
        </p:spPr>
      </p:pic>
      <p:sp>
        <p:nvSpPr>
          <p:cNvPr id="22" name="Cloud Callout 21">
            <a:extLst>
              <a:ext uri="{FF2B5EF4-FFF2-40B4-BE49-F238E27FC236}">
                <a16:creationId xmlns:a16="http://schemas.microsoft.com/office/drawing/2014/main" id="{EE916457-6774-33F7-3A1B-58BB449B0F4C}"/>
              </a:ext>
            </a:extLst>
          </p:cNvPr>
          <p:cNvSpPr/>
          <p:nvPr/>
        </p:nvSpPr>
        <p:spPr>
          <a:xfrm>
            <a:off x="6113176" y="854859"/>
            <a:ext cx="3597494" cy="1149532"/>
          </a:xfrm>
          <a:prstGeom prst="cloudCallout">
            <a:avLst>
              <a:gd name="adj1" fmla="val 61258"/>
              <a:gd name="adj2" fmla="val 72583"/>
            </a:avLst>
          </a:prstGeom>
          <a:noFill/>
          <a:ln w="25400">
            <a:solidFill>
              <a:srgbClr val="002E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884ACB-8DAD-82B2-933A-66A4F308BDA4}"/>
              </a:ext>
            </a:extLst>
          </p:cNvPr>
          <p:cNvSpPr txBox="1"/>
          <p:nvPr/>
        </p:nvSpPr>
        <p:spPr>
          <a:xfrm>
            <a:off x="6612578" y="1033777"/>
            <a:ext cx="26908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哪些商品频繁地被顾客同时购买？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BFD50E-4D31-FCEE-CCA1-6F4C4C3E31C8}"/>
              </a:ext>
            </a:extLst>
          </p:cNvPr>
          <p:cNvSpPr txBox="1"/>
          <p:nvPr/>
        </p:nvSpPr>
        <p:spPr>
          <a:xfrm>
            <a:off x="965915" y="5962918"/>
            <a:ext cx="43909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/>
              <a:t>频繁项集</a:t>
            </a:r>
            <a:r>
              <a:rPr lang="zh-CN" altLang="en-US" sz="2000" dirty="0"/>
              <a:t>：</a:t>
            </a:r>
            <a:r>
              <a:rPr lang="en-US" altLang="zh-CN" sz="2000" dirty="0"/>
              <a:t>{</a:t>
            </a:r>
            <a:r>
              <a:rPr lang="zh-CN" altLang="en-US" sz="2000" dirty="0"/>
              <a:t>牛奶</a:t>
            </a:r>
            <a:r>
              <a:rPr lang="en-US" altLang="zh-CN" sz="2000" dirty="0"/>
              <a:t>, </a:t>
            </a:r>
            <a:r>
              <a:rPr lang="zh-CN" altLang="en-US" sz="2000" dirty="0"/>
              <a:t>面包</a:t>
            </a:r>
            <a:r>
              <a:rPr lang="en-US" altLang="zh-CN" sz="2000" dirty="0"/>
              <a:t>}</a:t>
            </a:r>
            <a:r>
              <a:rPr lang="zh-CN" altLang="en-US" sz="2000" dirty="0"/>
              <a:t>，</a:t>
            </a:r>
            <a:r>
              <a:rPr lang="en-US" altLang="zh-CN" sz="2000" dirty="0"/>
              <a:t>{</a:t>
            </a:r>
            <a:r>
              <a:rPr lang="zh-CN" altLang="en-US" sz="2000" dirty="0"/>
              <a:t>牛奶</a:t>
            </a:r>
            <a:r>
              <a:rPr lang="en-US" altLang="zh-CN" sz="2000" dirty="0"/>
              <a:t>, </a:t>
            </a:r>
            <a:r>
              <a:rPr lang="zh-CN" altLang="en-US" sz="2000" dirty="0"/>
              <a:t>麦片</a:t>
            </a:r>
            <a:r>
              <a:rPr lang="en-US" altLang="zh-CN" sz="2000" dirty="0"/>
              <a:t>}</a:t>
            </a:r>
          </a:p>
          <a:p>
            <a:r>
              <a:rPr lang="zh-CN" altLang="en-US" sz="2000" dirty="0"/>
              <a:t>关联规则：</a:t>
            </a:r>
            <a:r>
              <a:rPr lang="en-US" altLang="zh-CN" sz="2000" dirty="0"/>
              <a:t>{</a:t>
            </a:r>
            <a:r>
              <a:rPr lang="zh-CN" altLang="en-US" sz="2000" dirty="0"/>
              <a:t>牛奶</a:t>
            </a:r>
            <a:r>
              <a:rPr lang="en-US" altLang="zh-CN" sz="2000" dirty="0"/>
              <a:t>, </a:t>
            </a:r>
            <a:r>
              <a:rPr lang="zh-CN" altLang="en-US" sz="2000" dirty="0"/>
              <a:t>麦片</a:t>
            </a:r>
            <a:r>
              <a:rPr lang="en-US" altLang="zh-CN" sz="2000" dirty="0"/>
              <a:t>}=&gt;{</a:t>
            </a:r>
            <a:r>
              <a:rPr lang="zh-CN" altLang="en-US" sz="2000" dirty="0"/>
              <a:t>面包</a:t>
            </a:r>
            <a:r>
              <a:rPr lang="en-US" altLang="zh-CN" sz="2000" dirty="0"/>
              <a:t>}</a:t>
            </a:r>
            <a:endParaRPr lang="en-CN" sz="2000" dirty="0"/>
          </a:p>
        </p:txBody>
      </p:sp>
    </p:spTree>
    <p:extLst>
      <p:ext uri="{BB962C8B-B14F-4D97-AF65-F5344CB8AC3E}">
        <p14:creationId xmlns:p14="http://schemas.microsoft.com/office/powerpoint/2010/main" val="2958641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典型案例：购物篮分析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57E7E-B778-0A41-8101-9E8FC81D1346}"/>
              </a:ext>
            </a:extLst>
          </p:cNvPr>
          <p:cNvSpPr txBox="1"/>
          <p:nvPr/>
        </p:nvSpPr>
        <p:spPr>
          <a:xfrm>
            <a:off x="645459" y="2107092"/>
            <a:ext cx="10936942" cy="1944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02E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布局策略一</a:t>
            </a:r>
            <a:endParaRPr lang="en-US" altLang="zh-CN" sz="2400" b="1" dirty="0">
              <a:solidFill>
                <a:srgbClr val="002E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经常同时购买的商品可以摆放</a:t>
            </a:r>
            <a:r>
              <a:rPr lang="zh-CN" altLang="en-US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近一些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，以便进一步刺激这些商品同时销售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124100" lvl="1" indent="-342900" algn="just">
              <a:lnSpc>
                <a:spcPct val="130000"/>
              </a:lnSpc>
              <a:buFont typeface="Wingdings" pitchFamily="2" charset="2"/>
              <a:buChar char="§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例如：如果购买计算机的顾客也倾向于同时购买杀毒软件，则把硬件摆放离软件陈列近一点，可能有助于增加这两种商品的销售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AA1F4-2168-7447-B901-7AAC3FEE095D}"/>
              </a:ext>
            </a:extLst>
          </p:cNvPr>
          <p:cNvSpPr txBox="1"/>
          <p:nvPr/>
        </p:nvSpPr>
        <p:spPr>
          <a:xfrm>
            <a:off x="645459" y="4250364"/>
            <a:ext cx="10936942" cy="1944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02E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布局策略二</a:t>
            </a:r>
            <a:endParaRPr lang="en-US" altLang="zh-CN" sz="2400" b="1" dirty="0">
              <a:solidFill>
                <a:srgbClr val="002E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把硬件和软件摆放在商店</a:t>
            </a:r>
            <a:r>
              <a:rPr lang="zh-CN" altLang="en-US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两端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，可能诱发这些商品的顾客一路挑选其它商品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124100" lvl="1" indent="-342900" algn="just">
              <a:lnSpc>
                <a:spcPct val="130000"/>
              </a:lnSpc>
              <a:buFont typeface="Wingdings" pitchFamily="2" charset="2"/>
              <a:buChar char="§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例如：在决定购买一台很贵的计算机后，去看软件陈列，购买杀毒软件，途中看到销售安全系统，可能会决定也买家庭安全系统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36E581-0679-2285-75EB-960C1C0E9F17}"/>
              </a:ext>
            </a:extLst>
          </p:cNvPr>
          <p:cNvSpPr txBox="1"/>
          <p:nvPr/>
        </p:nvSpPr>
        <p:spPr>
          <a:xfrm>
            <a:off x="645459" y="896477"/>
            <a:ext cx="10936942" cy="100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02E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购物篮分析的作用</a:t>
            </a:r>
            <a:endParaRPr lang="en-US" altLang="zh-CN" sz="2400" b="1" dirty="0">
              <a:solidFill>
                <a:srgbClr val="002E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可用于营销规划、广告策划，或新的分类设计等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189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古今对话</a:t>
            </a:r>
            <a:br>
              <a:rPr lang="en-US" altLang="zh-CN" b="1" dirty="0"/>
            </a:br>
            <a:endParaRPr lang="zh-CN" altLang="en-US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97FE876-0EF6-6089-A4C9-3A7CC213C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051" y="1004550"/>
            <a:ext cx="7519996" cy="5416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025F7E-BC6F-8A77-AFE8-FA34E93C4C55}"/>
              </a:ext>
            </a:extLst>
          </p:cNvPr>
          <p:cNvSpPr txBox="1"/>
          <p:nvPr/>
        </p:nvSpPr>
        <p:spPr>
          <a:xfrm>
            <a:off x="7894749" y="1619689"/>
            <a:ext cx="3876541" cy="2278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800" b="1" dirty="0">
                <a:solidFill>
                  <a:srgbClr val="002E73"/>
                </a:solidFill>
                <a:cs typeface="Times New Roman" panose="02020603050405020304" pitchFamily="18" charset="0"/>
              </a:rPr>
              <a:t>其实地上本没有路，走的人多了，也便成了路</a:t>
            </a:r>
            <a:endParaRPr lang="en-US" altLang="zh-CN" sz="2800" b="1" dirty="0">
              <a:solidFill>
                <a:srgbClr val="002E73"/>
              </a:solidFill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en-US" altLang="zh-CN" sz="2800" b="1" dirty="0">
              <a:solidFill>
                <a:srgbClr val="002E73"/>
              </a:solidFill>
              <a:cs typeface="Times New Roman" panose="02020603050405020304" pitchFamily="18" charset="0"/>
            </a:endParaRPr>
          </a:p>
          <a:p>
            <a:pPr algn="r">
              <a:lnSpc>
                <a:spcPct val="130000"/>
              </a:lnSpc>
            </a:pPr>
            <a:r>
              <a:rPr lang="en-US" altLang="zh-CN" sz="2800" b="1" dirty="0">
                <a:solidFill>
                  <a:srgbClr val="002E73"/>
                </a:solidFill>
                <a:cs typeface="Times New Roman" panose="02020603050405020304" pitchFamily="18" charset="0"/>
              </a:rPr>
              <a:t>------</a:t>
            </a:r>
            <a:r>
              <a:rPr lang="zh-CN" altLang="en-US" sz="2800" b="1" dirty="0">
                <a:solidFill>
                  <a:srgbClr val="002E73"/>
                </a:solidFill>
                <a:cs typeface="Times New Roman" panose="02020603050405020304" pitchFamily="18" charset="0"/>
              </a:rPr>
              <a:t> 鲁迅</a:t>
            </a:r>
            <a:endParaRPr lang="en-US" altLang="zh-CN" sz="2800" b="1" dirty="0">
              <a:solidFill>
                <a:srgbClr val="002E73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97D953-7BD6-72F9-2365-6EBE72D6CBCD}"/>
              </a:ext>
            </a:extLst>
          </p:cNvPr>
          <p:cNvSpPr txBox="1"/>
          <p:nvPr/>
        </p:nvSpPr>
        <p:spPr>
          <a:xfrm>
            <a:off x="7976398" y="4371909"/>
            <a:ext cx="3876541" cy="1718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b="1" dirty="0">
                <a:solidFill>
                  <a:srgbClr val="002E7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频繁项集</a:t>
            </a:r>
            <a:endParaRPr lang="en-US" altLang="zh-CN" sz="2800" b="1" dirty="0">
              <a:solidFill>
                <a:srgbClr val="002E73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ct val="130000"/>
              </a:lnSpc>
            </a:pPr>
            <a:r>
              <a:rPr lang="zh-CN" altLang="en-US" sz="2800" b="1" dirty="0">
                <a:solidFill>
                  <a:srgbClr val="002E7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序列模式</a:t>
            </a:r>
            <a:endParaRPr lang="en-US" altLang="zh-CN" sz="2800" b="1" dirty="0">
              <a:solidFill>
                <a:srgbClr val="002E73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ct val="130000"/>
              </a:lnSpc>
            </a:pPr>
            <a:r>
              <a:rPr lang="zh-CN" altLang="en-US" sz="2800" b="1" dirty="0">
                <a:solidFill>
                  <a:srgbClr val="002E7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结构模式</a:t>
            </a:r>
            <a:endParaRPr lang="en-US" altLang="zh-CN" sz="2800" b="1" dirty="0">
              <a:solidFill>
                <a:srgbClr val="002E73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708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频繁模式 </a:t>
            </a:r>
            <a:r>
              <a:rPr lang="en-US" altLang="zh-CN" b="1" dirty="0"/>
              <a:t>VS</a:t>
            </a:r>
            <a:r>
              <a:rPr lang="zh-CN" altLang="en-US" b="1" dirty="0"/>
              <a:t> 关联规则</a:t>
            </a:r>
            <a:br>
              <a:rPr lang="en-US" altLang="zh-CN" b="1" dirty="0"/>
            </a:br>
            <a:endParaRPr lang="zh-CN" altLang="en-US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57E7E-B778-0A41-8101-9E8FC81D1346}"/>
              </a:ext>
            </a:extLst>
          </p:cNvPr>
          <p:cNvSpPr txBox="1"/>
          <p:nvPr/>
        </p:nvSpPr>
        <p:spPr>
          <a:xfrm>
            <a:off x="645459" y="2042696"/>
            <a:ext cx="10936942" cy="100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02E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频繁项集</a:t>
            </a:r>
            <a:endParaRPr lang="en-US" altLang="zh-CN" sz="2400" b="1" dirty="0">
              <a:solidFill>
                <a:srgbClr val="002E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频繁的同时出现在交易数据集中的</a:t>
            </a:r>
            <a:r>
              <a:rPr lang="zh-CN" altLang="en-US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商品集合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，如牛奶和面包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AA1F4-2168-7447-B901-7AAC3FEE095D}"/>
              </a:ext>
            </a:extLst>
          </p:cNvPr>
          <p:cNvSpPr txBox="1"/>
          <p:nvPr/>
        </p:nvSpPr>
        <p:spPr>
          <a:xfrm>
            <a:off x="645459" y="3271566"/>
            <a:ext cx="10936942" cy="148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02E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序列模式</a:t>
            </a:r>
            <a:endParaRPr lang="en-US" altLang="zh-CN" sz="2400" b="1" dirty="0">
              <a:solidFill>
                <a:srgbClr val="002E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一个子序列，如首先购买</a:t>
            </a:r>
            <a:r>
              <a:rPr lang="zh-CN" altLang="en-US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手机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，然后是</a:t>
            </a:r>
            <a:r>
              <a:rPr lang="zh-CN" altLang="en-US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耳机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，再然后是</a:t>
            </a:r>
            <a:r>
              <a:rPr lang="zh-CN" altLang="en-US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充电宝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，如果它</a:t>
            </a: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频繁地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出现在购物历史数据中，则称它为一个频繁的序列模式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A6E389-5E16-2E6C-8EB4-6238FBA6043C}"/>
              </a:ext>
            </a:extLst>
          </p:cNvPr>
          <p:cNvSpPr txBox="1"/>
          <p:nvPr/>
        </p:nvSpPr>
        <p:spPr>
          <a:xfrm>
            <a:off x="669701" y="1043189"/>
            <a:ext cx="109369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CN" sz="2400" b="1" dirty="0">
                <a:solidFill>
                  <a:srgbClr val="002E73"/>
                </a:solidFill>
              </a:rPr>
              <a:t>频繁模式</a:t>
            </a:r>
            <a:r>
              <a:rPr lang="zh-CN" altLang="en-US" sz="2400" b="1" dirty="0">
                <a:solidFill>
                  <a:srgbClr val="002E73"/>
                </a:solidFill>
              </a:rPr>
              <a:t>（</a:t>
            </a:r>
            <a:r>
              <a:rPr lang="en-US" altLang="zh-CN" sz="2400" b="1" dirty="0">
                <a:solidFill>
                  <a:srgbClr val="002E73"/>
                </a:solidFill>
              </a:rPr>
              <a:t>frequent pattern</a:t>
            </a:r>
            <a:r>
              <a:rPr lang="zh-CN" altLang="en-US" sz="2400" b="1" dirty="0">
                <a:solidFill>
                  <a:srgbClr val="002E73"/>
                </a:solidFill>
              </a:rPr>
              <a:t>）：</a:t>
            </a:r>
            <a:r>
              <a:rPr lang="zh-CN" altLang="en-US" sz="2400" dirty="0"/>
              <a:t>是频繁地出的在数据中的模式，如项集、子序列或子结构</a:t>
            </a:r>
            <a:endParaRPr lang="en-C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4C1CED-2F00-CC3C-F937-56184900D4F8}"/>
              </a:ext>
            </a:extLst>
          </p:cNvPr>
          <p:cNvSpPr txBox="1"/>
          <p:nvPr/>
        </p:nvSpPr>
        <p:spPr>
          <a:xfrm>
            <a:off x="643311" y="4930795"/>
            <a:ext cx="10936942" cy="148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02E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结构模式</a:t>
            </a:r>
            <a:endParaRPr lang="en-US" altLang="zh-CN" sz="2400" b="1" dirty="0">
              <a:solidFill>
                <a:srgbClr val="002E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一个子结构可能涉及不同的结构形式，如</a:t>
            </a:r>
            <a:r>
              <a:rPr lang="zh-CN" altLang="en-US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子图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子树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zh-CN" altLang="en-US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子格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，它可能与项集或子序列结合在一起，如果一个子结构频繁地出现，则称为频繁的结构模式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33587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关联规则（</a:t>
            </a:r>
            <a:r>
              <a:rPr lang="en-US" altLang="zh-CN" b="1" dirty="0"/>
              <a:t>association rule</a:t>
            </a:r>
            <a:r>
              <a:rPr lang="zh-CN" altLang="en-US" b="1" dirty="0"/>
              <a:t>）</a:t>
            </a:r>
            <a:br>
              <a:rPr lang="en-US" altLang="zh-CN" b="1" dirty="0"/>
            </a:br>
            <a:endParaRPr lang="zh-CN" altLang="en-US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57E7E-B778-0A41-8101-9E8FC81D1346}"/>
              </a:ext>
            </a:extLst>
          </p:cNvPr>
          <p:cNvSpPr txBox="1"/>
          <p:nvPr/>
        </p:nvSpPr>
        <p:spPr>
          <a:xfrm>
            <a:off x="645459" y="896477"/>
            <a:ext cx="10936942" cy="100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02E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关联规则（</a:t>
            </a:r>
            <a:r>
              <a:rPr lang="en-US" altLang="zh-CN" sz="2400" b="1" dirty="0">
                <a:solidFill>
                  <a:srgbClr val="002E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association rule</a:t>
            </a:r>
            <a:r>
              <a:rPr lang="zh-CN" altLang="en-US" sz="2400" b="1" dirty="0">
                <a:solidFill>
                  <a:srgbClr val="002E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400" b="1" dirty="0">
              <a:solidFill>
                <a:srgbClr val="002E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商品的频繁关联或同时购买模式可以通过关联规则表示，如下：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AA1F4-2168-7447-B901-7AAC3FEE095D}"/>
              </a:ext>
            </a:extLst>
          </p:cNvPr>
          <p:cNvSpPr txBox="1"/>
          <p:nvPr/>
        </p:nvSpPr>
        <p:spPr>
          <a:xfrm>
            <a:off x="645459" y="3400356"/>
            <a:ext cx="10936942" cy="1966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支持度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support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）：反映发现规则的有用性，关联规划的支持度为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2%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，意味所分析的所有事务的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2%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显示计算机和杀毒软件被同时购买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置信度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confidence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）：反映发现规则的</a:t>
            </a:r>
            <a:r>
              <a:rPr lang="zh-CN" altLang="en-US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置信度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，置信度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60%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意味购买计算机（</a:t>
            </a:r>
            <a:r>
              <a:rPr lang="zh-CN" altLang="en-US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</a:t>
            </a:r>
            <a:r>
              <a:rPr lang="en-US" altLang="zh-CN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）的顾客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60%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也购买了杀毒软件（</a:t>
            </a:r>
            <a:r>
              <a:rPr lang="zh-CN" altLang="en-US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</a:t>
            </a:r>
            <a:r>
              <a:rPr lang="en-US" altLang="zh-CN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A78A1F-7F87-D7D6-A959-3F7C38838E2F}"/>
              </a:ext>
            </a:extLst>
          </p:cNvPr>
          <p:cNvSpPr txBox="1"/>
          <p:nvPr/>
        </p:nvSpPr>
        <p:spPr>
          <a:xfrm>
            <a:off x="1876780" y="2072235"/>
            <a:ext cx="84742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CN" sz="32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omputer </a:t>
            </a:r>
            <a:r>
              <a:rPr lang="en-CN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en-CN" sz="32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antivirus</a:t>
            </a:r>
            <a:r>
              <a:rPr lang="en-CN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CN" sz="32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CN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CN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CN" sz="32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en-CN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2%; </a:t>
            </a:r>
            <a:r>
              <a:rPr lang="en-CN" sz="32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</a:t>
            </a:r>
            <a:r>
              <a:rPr lang="en-CN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60%]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9605FE-7E74-864B-E28B-03C2034DE312}"/>
              </a:ext>
            </a:extLst>
          </p:cNvPr>
          <p:cNvSpPr txBox="1"/>
          <p:nvPr/>
        </p:nvSpPr>
        <p:spPr>
          <a:xfrm>
            <a:off x="10763250" y="2533039"/>
            <a:ext cx="7184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>
                <a:solidFill>
                  <a:schemeClr val="bg2">
                    <a:lumMod val="10000"/>
                  </a:schemeClr>
                </a:solidFill>
              </a:rPr>
              <a:t>(6.1)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7180D70E-722A-FE1F-D4E0-0F21A3C6724E}"/>
              </a:ext>
            </a:extLst>
          </p:cNvPr>
          <p:cNvSpPr txBox="1"/>
          <p:nvPr/>
        </p:nvSpPr>
        <p:spPr>
          <a:xfrm>
            <a:off x="645459" y="5656915"/>
            <a:ext cx="10836257" cy="461665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solidFill>
                  <a:srgbClr val="002E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有趣关联规划：</a:t>
            </a: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同时满足最小支持度阈值和最小置信度阈值的关联规划</a:t>
            </a:r>
          </a:p>
        </p:txBody>
      </p:sp>
    </p:spTree>
    <p:extLst>
      <p:ext uri="{BB962C8B-B14F-4D97-AF65-F5344CB8AC3E}">
        <p14:creationId xmlns:p14="http://schemas.microsoft.com/office/powerpoint/2010/main" val="925474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频繁项集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11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E57E7E-B778-0A41-8101-9E8FC81D1346}"/>
                  </a:ext>
                </a:extLst>
              </p:cNvPr>
              <p:cNvSpPr txBox="1"/>
              <p:nvPr/>
            </p:nvSpPr>
            <p:spPr>
              <a:xfrm>
                <a:off x="645459" y="896477"/>
                <a:ext cx="10936942" cy="3734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lnSpc>
                    <a:spcPct val="130000"/>
                  </a:lnSpc>
                  <a:buFont typeface="Wingdings" pitchFamily="2" charset="2"/>
                  <a:buChar char="q"/>
                </a:pPr>
                <a:r>
                  <a:rPr lang="zh-CN" altLang="en-US" sz="24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关联规则是形如</a:t>
                </a:r>
                <a:r>
                  <a:rPr lang="en-US" altLang="zh-CN" sz="24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</a:t>
                </a:r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altLang="zh-CN" sz="24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</a:t>
                </a:r>
                <a:r>
                  <a:rPr lang="zh-CN" altLang="en-US" sz="24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的蕴涵式，相关定义如下：</a:t>
                </a:r>
                <a:endParaRPr lang="en-US" altLang="zh-CN" sz="2400" dirty="0">
                  <a:solidFill>
                    <a:schemeClr val="bg2">
                      <a:lumMod val="1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666900" indent="-342900" algn="just">
                  <a:lnSpc>
                    <a:spcPct val="130000"/>
                  </a:lnSpc>
                  <a:buFont typeface="Wingdings" pitchFamily="2" charset="2"/>
                  <a:buChar char="ü"/>
                </a:pP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设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I</a:t>
                </a:r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={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I</a:t>
                </a:r>
                <a:r>
                  <a:rPr lang="en-US" altLang="zh-CN" sz="2000" baseline="-25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</a:t>
                </a:r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, 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I</a:t>
                </a:r>
                <a:r>
                  <a:rPr lang="en-US" altLang="zh-CN" sz="2000" baseline="-25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</a:t>
                </a:r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, …, </a:t>
                </a:r>
                <a:r>
                  <a:rPr lang="en-US" altLang="zh-CN" sz="2000" i="1" dirty="0" err="1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I</a:t>
                </a:r>
                <a:r>
                  <a:rPr lang="en-US" altLang="zh-CN" sz="2000" baseline="-25000" dirty="0" err="1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m</a:t>
                </a:r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}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是项的集合</a:t>
                </a:r>
                <a:endParaRPr lang="en-US" altLang="zh-CN" sz="2000" dirty="0">
                  <a:solidFill>
                    <a:schemeClr val="bg2">
                      <a:lumMod val="1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666900" indent="-342900" algn="just">
                  <a:lnSpc>
                    <a:spcPct val="130000"/>
                  </a:lnSpc>
                  <a:buFont typeface="Wingdings" pitchFamily="2" charset="2"/>
                  <a:buChar char="ü"/>
                </a:pP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设任务相关的数据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D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是数据库事务的集合，事务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T</a:t>
                </a:r>
                <a:r>
                  <a:rPr lang="zh-CN" altLang="en-US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为非空项集，即：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T</a:t>
                </a:r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⊆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I</a:t>
                </a:r>
              </a:p>
              <a:p>
                <a:pPr marL="666900" indent="-342900" algn="just">
                  <a:lnSpc>
                    <a:spcPct val="130000"/>
                  </a:lnSpc>
                  <a:buFont typeface="Wingdings" pitchFamily="2" charset="2"/>
                  <a:buChar char="ü"/>
                </a:pP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每个事务的标识为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TID</a:t>
                </a:r>
                <a:r>
                  <a:rPr lang="zh-CN" altLang="en-US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是一个项集，事务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T</a:t>
                </a:r>
                <a:r>
                  <a:rPr lang="zh-CN" altLang="en-US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包含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，当且仅当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</a:t>
                </a:r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⊆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T</a:t>
                </a:r>
              </a:p>
              <a:p>
                <a:pPr marL="666900" indent="-342900" algn="just">
                  <a:lnSpc>
                    <a:spcPct val="130000"/>
                  </a:lnSpc>
                  <a:buFont typeface="Wingdings" pitchFamily="2" charset="2"/>
                  <a:buChar char="ü"/>
                </a:pP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</a:t>
                </a:r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⊆ 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I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</a:t>
                </a:r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⊆ 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I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</a:t>
                </a:r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≠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Ø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</a:t>
                </a:r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≠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Ø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，并且</a:t>
                </a:r>
                <a:r>
                  <a:rPr lang="en-US" altLang="zh-CN" sz="2000" i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</a:t>
                </a:r>
                <a:r>
                  <a:rPr lang="en-CN" sz="2000" b="0" i="0" dirty="0">
                    <a:solidFill>
                      <a:srgbClr val="C00000"/>
                    </a:solidFill>
                    <a:effectLst/>
                    <a:latin typeface="Arial" panose="020B0604020202020204" pitchFamily="34" charset="0"/>
                  </a:rPr>
                  <a:t>∩</a:t>
                </a:r>
                <a:r>
                  <a:rPr lang="en-US" altLang="zh-CN" sz="2000" i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=</a:t>
                </a:r>
                <a:r>
                  <a:rPr lang="en-US" altLang="zh-CN" sz="2000" i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en-US" altLang="zh-CN" sz="2000" i="1" dirty="0" err="1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Ø</a:t>
                </a:r>
                <a:endParaRPr lang="en-US" altLang="zh-CN" sz="2000" i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666900" indent="-342900" algn="just">
                  <a:lnSpc>
                    <a:spcPct val="130000"/>
                  </a:lnSpc>
                  <a:buFont typeface="Wingdings" pitchFamily="2" charset="2"/>
                  <a:buChar char="ü"/>
                </a:pP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规则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</a:t>
                </a:r>
                <a:r>
                  <a:rPr lang="en-US" altLang="zh-CN" sz="20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在事务集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D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中成立，具有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支持度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，其中，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 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D 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中事务集包含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</a:t>
                </a:r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∪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 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的百分比，即概率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P(</a:t>
                </a:r>
                <a:r>
                  <a:rPr lang="en-US" altLang="zh-CN" sz="2000" i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∪</a:t>
                </a:r>
                <a:r>
                  <a:rPr lang="en-US" altLang="zh-CN" sz="2000" i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)</a:t>
                </a:r>
              </a:p>
              <a:p>
                <a:pPr marL="666900" indent="-342900" algn="just">
                  <a:lnSpc>
                    <a:spcPct val="130000"/>
                  </a:lnSpc>
                  <a:buFont typeface="Wingdings" pitchFamily="2" charset="2"/>
                  <a:buChar char="ü"/>
                </a:pP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规则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</a:t>
                </a:r>
                <a:r>
                  <a:rPr lang="en-US" altLang="zh-CN" sz="20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在事务集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D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中具有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置信度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c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，其中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c 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D 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中包含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的事务同时也包含</a:t>
                </a:r>
                <a:r>
                  <a:rPr lang="en-US" altLang="zh-CN" sz="2000" i="1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的事务的百分比，即条件概率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P(</a:t>
                </a:r>
                <a:r>
                  <a:rPr lang="en-US" altLang="zh-CN" sz="2000" i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|</a:t>
                </a:r>
                <a:r>
                  <a:rPr lang="en-US" altLang="zh-CN" sz="2000" i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E57E7E-B778-0A41-8101-9E8FC81D1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59" y="896477"/>
                <a:ext cx="10936942" cy="3734292"/>
              </a:xfrm>
              <a:prstGeom prst="rect">
                <a:avLst/>
              </a:prstGeom>
              <a:blipFill>
                <a:blip r:embed="rId3"/>
                <a:stretch>
                  <a:fillRect l="-780" r="-557" b="-19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B2AA1F4-2168-7447-B901-7AAC3FEE095D}"/>
              </a:ext>
            </a:extLst>
          </p:cNvPr>
          <p:cNvSpPr txBox="1"/>
          <p:nvPr/>
        </p:nvSpPr>
        <p:spPr>
          <a:xfrm>
            <a:off x="645459" y="5770067"/>
            <a:ext cx="10936942" cy="453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同时满足最小支持度阈值（</a:t>
            </a:r>
            <a:r>
              <a:rPr lang="en-US" altLang="zh-CN" sz="2000" dirty="0" err="1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min_sup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）和最小置信度阈值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altLang="zh-CN" sz="2000" dirty="0" err="1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min_conf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的规则称为强规则</a:t>
            </a:r>
            <a:endParaRPr lang="en-US" altLang="zh-CN" sz="20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D55588-025A-CC56-2AD6-401584B592C9}"/>
                  </a:ext>
                </a:extLst>
              </p:cNvPr>
              <p:cNvSpPr txBox="1"/>
              <p:nvPr/>
            </p:nvSpPr>
            <p:spPr>
              <a:xfrm>
                <a:off x="4439136" y="4656527"/>
                <a:ext cx="3506088" cy="9612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000" i="1" dirty="0"/>
                  <a:t>s</a:t>
                </a:r>
                <a:r>
                  <a:rPr lang="en-CN" sz="2000" i="1" dirty="0"/>
                  <a:t>upport</a:t>
                </a:r>
                <a:r>
                  <a:rPr lang="en-US" sz="2000" i="1" dirty="0"/>
                  <a:t> </a:t>
                </a:r>
                <a:r>
                  <a:rPr lang="en-US" sz="2000" dirty="0"/>
                  <a:t>(</a:t>
                </a:r>
                <a:r>
                  <a:rPr lang="en-US" sz="2000" i="1" dirty="0"/>
                  <a:t>A</a:t>
                </a:r>
                <a:r>
                  <a:rPr lang="en-US" altLang="zh-CN" sz="20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sz="2000" i="1" dirty="0"/>
                  <a:t>B</a:t>
                </a:r>
                <a:r>
                  <a:rPr lang="en-US" sz="2000" dirty="0"/>
                  <a:t>) =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P(</a:t>
                </a:r>
                <a:r>
                  <a:rPr lang="en-US" altLang="zh-CN" sz="2000" i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∪</a:t>
                </a:r>
                <a:r>
                  <a:rPr lang="en-US" altLang="zh-CN" sz="2000" i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)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i="1" dirty="0"/>
                  <a:t>confidence</a:t>
                </a:r>
                <a:r>
                  <a:rPr lang="en-US" sz="2000" dirty="0"/>
                  <a:t>(</a:t>
                </a:r>
                <a:r>
                  <a:rPr lang="en-US" sz="2000" i="1" dirty="0"/>
                  <a:t>A</a:t>
                </a:r>
                <a:r>
                  <a:rPr lang="en-US" altLang="zh-CN" sz="20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sz="2000" i="1" dirty="0"/>
                  <a:t>B</a:t>
                </a:r>
                <a:r>
                  <a:rPr lang="en-US" sz="2000" dirty="0"/>
                  <a:t>) =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P(</a:t>
                </a:r>
                <a:r>
                  <a:rPr lang="en-US" altLang="zh-CN" sz="2000" i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|</a:t>
                </a:r>
                <a:r>
                  <a:rPr lang="en-US" altLang="zh-CN" sz="2000" i="1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)</a:t>
                </a:r>
                <a:endParaRPr lang="en-CN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D55588-025A-CC56-2AD6-401584B59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136" y="4656527"/>
                <a:ext cx="3506088" cy="961225"/>
              </a:xfrm>
              <a:prstGeom prst="rect">
                <a:avLst/>
              </a:prstGeom>
              <a:blipFill>
                <a:blip r:embed="rId4"/>
                <a:stretch>
                  <a:fillRect l="-1043" r="-1043" b="-10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9266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b="1" dirty="0"/>
              <a:t>频繁</a:t>
            </a:r>
            <a:r>
              <a:rPr lang="zh-CN" altLang="en-US" b="1" dirty="0"/>
              <a:t>项集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57E7E-B778-0A41-8101-9E8FC81D1346}"/>
              </a:ext>
            </a:extLst>
          </p:cNvPr>
          <p:cNvSpPr txBox="1"/>
          <p:nvPr/>
        </p:nvSpPr>
        <p:spPr>
          <a:xfrm>
            <a:off x="645459" y="896477"/>
            <a:ext cx="10936942" cy="100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：项的集合称为项集，包含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个项的集合称为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例如：集合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{computer, </a:t>
            </a:r>
            <a:r>
              <a:rPr lang="en-US" altLang="zh-CN" sz="2400" dirty="0" err="1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antivirus_software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}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是一个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AA1F4-2168-7447-B901-7AAC3FEE095D}"/>
              </a:ext>
            </a:extLst>
          </p:cNvPr>
          <p:cNvSpPr txBox="1"/>
          <p:nvPr/>
        </p:nvSpPr>
        <p:spPr>
          <a:xfrm>
            <a:off x="645459" y="5177641"/>
            <a:ext cx="10936942" cy="148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上式表明，规则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=&gt;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的置信度容易从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∪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的支持度计数推出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一旦得到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∪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的支持度计数，则导出对应的关联规则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=&gt;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=&gt;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，可直接检查它们是否是强规则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73E67F-44A7-35FC-48C6-43EB83128A90}"/>
                  </a:ext>
                </a:extLst>
              </p:cNvPr>
              <p:cNvSpPr txBox="1"/>
              <p:nvPr/>
            </p:nvSpPr>
            <p:spPr>
              <a:xfrm>
                <a:off x="1904660" y="4293915"/>
                <a:ext cx="8501302" cy="6519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m:rPr>
                          <m:sty m:val="p"/>
                        </m:rPr>
                        <a:rPr lang="en-US" sz="2000" i="1" smtClean="0">
                          <a:latin typeface="Cambria Math" panose="02040503050406030204" pitchFamily="18" charset="0"/>
                        </a:rPr>
                        <m:t>on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𝑓𝑖𝑑𝑒𝑛𝑐𝑒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𝑠𝑢𝑝𝑝𝑜𝑟𝑡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𝑠𝑢𝑝𝑝𝑜𝑟𝑡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𝑠𝑢𝑝𝑝𝑜𝑟𝑡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𝑠𝑢𝑝𝑝𝑜𝑟𝑡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CN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73E67F-44A7-35FC-48C6-43EB83128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660" y="4293915"/>
                <a:ext cx="8501302" cy="651910"/>
              </a:xfrm>
              <a:prstGeom prst="rect">
                <a:avLst/>
              </a:prstGeom>
              <a:blipFill>
                <a:blip r:embed="rId3"/>
                <a:stretch>
                  <a:fillRect t="-1887" b="-1509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F48EFB7-AF0D-84A9-EE94-B42952F2B5DC}"/>
              </a:ext>
            </a:extLst>
          </p:cNvPr>
          <p:cNvSpPr txBox="1"/>
          <p:nvPr/>
        </p:nvSpPr>
        <p:spPr>
          <a:xfrm>
            <a:off x="10899538" y="4432694"/>
            <a:ext cx="7184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/>
              <a:t>(6.4)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05E2C1-1E6D-F930-5960-0823BFBB106B}"/>
              </a:ext>
            </a:extLst>
          </p:cNvPr>
          <p:cNvSpPr txBox="1"/>
          <p:nvPr/>
        </p:nvSpPr>
        <p:spPr>
          <a:xfrm>
            <a:off x="643311" y="1924641"/>
            <a:ext cx="10936942" cy="100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频度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：项集出现的频度是包含项集的事务数，也称为</a:t>
            </a:r>
            <a:r>
              <a:rPr lang="zh-CN" altLang="en-US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频度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支持度计数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zh-CN" altLang="en-US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计数</a:t>
            </a:r>
            <a:endParaRPr lang="en-US" altLang="zh-CN" sz="24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例如：项集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{computer, </a:t>
            </a:r>
            <a:r>
              <a:rPr lang="en-US" altLang="zh-CN" sz="2400" dirty="0" err="1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antivirus_software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}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出现过两次，则频度为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0324BA-2331-D2A4-6182-8C6B94374384}"/>
              </a:ext>
            </a:extLst>
          </p:cNvPr>
          <p:cNvSpPr txBox="1"/>
          <p:nvPr/>
        </p:nvSpPr>
        <p:spPr>
          <a:xfrm>
            <a:off x="654042" y="3017197"/>
            <a:ext cx="10936942" cy="100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频繁项集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：如果项集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的相对支持度满足预定义的最小支持度阈值，即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的绝对支持度满足对应的最小支持度计数阈值，则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是频繁项集</a:t>
            </a:r>
            <a:endParaRPr lang="en-US" altLang="zh-CN" sz="24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956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b="1" dirty="0"/>
              <a:t>关联</a:t>
            </a:r>
            <a:r>
              <a:rPr lang="zh-CN" altLang="en-US" b="1" dirty="0"/>
              <a:t>规则挖掘过程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57E7E-B778-0A41-8101-9E8FC81D1346}"/>
              </a:ext>
            </a:extLst>
          </p:cNvPr>
          <p:cNvSpPr txBox="1"/>
          <p:nvPr/>
        </p:nvSpPr>
        <p:spPr>
          <a:xfrm>
            <a:off x="645459" y="1926788"/>
            <a:ext cx="10936942" cy="148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02E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步骤一：找出所有的频繁项集</a:t>
            </a:r>
            <a:endParaRPr lang="en-US" altLang="zh-CN" sz="2400" b="1" dirty="0">
              <a:solidFill>
                <a:srgbClr val="002E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根据定义，这些项集的每一个频繁出现的次数至少与预定义的最小支持计数</a:t>
            </a:r>
            <a:r>
              <a:rPr lang="en-US" altLang="zh-CN" sz="2400" dirty="0" err="1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min_sup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一样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AA1F4-2168-7447-B901-7AAC3FEE095D}"/>
              </a:ext>
            </a:extLst>
          </p:cNvPr>
          <p:cNvSpPr txBox="1"/>
          <p:nvPr/>
        </p:nvSpPr>
        <p:spPr>
          <a:xfrm>
            <a:off x="645459" y="4276120"/>
            <a:ext cx="10936942" cy="100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02E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步骤二：由频繁项集产生强关联规则</a:t>
            </a:r>
            <a:endParaRPr lang="en-US" altLang="zh-CN" sz="2400" b="1" dirty="0">
              <a:solidFill>
                <a:srgbClr val="002E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根据定义，这些规则必须满足最小支持度和最小置信度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3DB43B-D8C6-2806-228E-F97FB05D15BA}"/>
              </a:ext>
            </a:extLst>
          </p:cNvPr>
          <p:cNvSpPr txBox="1"/>
          <p:nvPr/>
        </p:nvSpPr>
        <p:spPr>
          <a:xfrm>
            <a:off x="627529" y="980763"/>
            <a:ext cx="10936942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一般而言，关联规则的挖掘需要两个步骤：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214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课上思考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A20F0D-18F6-8D46-B5DD-04308A33EA87}"/>
              </a:ext>
            </a:extLst>
          </p:cNvPr>
          <p:cNvSpPr/>
          <p:nvPr/>
        </p:nvSpPr>
        <p:spPr>
          <a:xfrm>
            <a:off x="1812269" y="907641"/>
            <a:ext cx="871568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342900"/>
            <a:r>
              <a:rPr lang="zh-CN" altLang="en-US" sz="32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头脑风暴</a:t>
            </a:r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67C29371-3484-A34C-A0B9-1EFCD4AFD8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74" y="1767718"/>
            <a:ext cx="2983997" cy="4494645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874577FD-1557-9C48-B575-4721C6D2C216}"/>
              </a:ext>
            </a:extLst>
          </p:cNvPr>
          <p:cNvSpPr txBox="1"/>
          <p:nvPr/>
        </p:nvSpPr>
        <p:spPr>
          <a:xfrm>
            <a:off x="4551455" y="1937889"/>
            <a:ext cx="5940081" cy="1830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CN" sz="4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挖掘</a:t>
            </a:r>
            <a:r>
              <a:rPr lang="zh-CN" altLang="en-US" sz="4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频繁项集存在的问题是什么？</a:t>
            </a:r>
            <a:endParaRPr lang="en-CN" sz="4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CB6A92-7D87-89BF-900F-167D2DD60470}"/>
              </a:ext>
            </a:extLst>
          </p:cNvPr>
          <p:cNvSpPr txBox="1"/>
          <p:nvPr/>
        </p:nvSpPr>
        <p:spPr>
          <a:xfrm>
            <a:off x="4636394" y="4262907"/>
            <a:ext cx="55098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/>
              <a:t>一个长度为</a:t>
            </a:r>
            <a:r>
              <a:rPr lang="en-US" altLang="zh-CN" sz="2000" dirty="0"/>
              <a:t>100</a:t>
            </a:r>
            <a:r>
              <a:rPr lang="zh-CN" altLang="en-US" sz="2000" dirty="0"/>
              <a:t>的项集，频繁项集的总个数为：</a:t>
            </a:r>
            <a:endParaRPr lang="en-C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2D9EFC-361C-BCC6-C4CB-FF2840E3DD29}"/>
                  </a:ext>
                </a:extLst>
              </p:cNvPr>
              <p:cNvSpPr txBox="1"/>
              <p:nvPr/>
            </p:nvSpPr>
            <p:spPr>
              <a:xfrm>
                <a:off x="4481847" y="5022759"/>
                <a:ext cx="5882251" cy="4080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CN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CN" sz="20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+</a:t>
                </a:r>
                <a:r>
                  <a:rPr lang="en-CN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CN" sz="20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+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…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+</a:t>
                </a:r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CN" sz="20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p>
                    </m:sSubSup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=</a:t>
                </a:r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-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1</a:t>
                </a:r>
                <a:r>
                  <a:rPr lang="zh-CN" altLang="en-US" sz="2000" dirty="0"/>
                  <a:t> ≈ </a:t>
                </a:r>
                <a:r>
                  <a:rPr lang="en-US" altLang="zh-CN" sz="2000" b="1" dirty="0">
                    <a:solidFill>
                      <a:srgbClr val="C00000"/>
                    </a:solidFill>
                  </a:rPr>
                  <a:t>1.27</a:t>
                </a:r>
                <a:r>
                  <a:rPr lang="zh-CN" altLang="en-US" sz="2000" b="1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sz="2000" b="1" dirty="0">
                    <a:solidFill>
                      <a:srgbClr val="C00000"/>
                    </a:solidFill>
                  </a:rPr>
                  <a:t>×</a:t>
                </a:r>
                <a:r>
                  <a:rPr lang="zh-CN" altLang="en-US" sz="2000" b="1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sz="2000" b="1" dirty="0">
                    <a:solidFill>
                      <a:srgbClr val="C00000"/>
                    </a:solidFill>
                  </a:rPr>
                  <a:t>10</a:t>
                </a:r>
                <a:r>
                  <a:rPr lang="en-US" altLang="zh-CN" sz="2000" b="1" baseline="30000" dirty="0">
                    <a:solidFill>
                      <a:srgbClr val="C00000"/>
                    </a:solidFill>
                  </a:rPr>
                  <a:t>30</a:t>
                </a:r>
                <a:endParaRPr lang="en-CN" sz="2000" b="1" baseline="30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2D9EFC-361C-BCC6-C4CB-FF2840E3D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847" y="5022759"/>
                <a:ext cx="5882251" cy="408060"/>
              </a:xfrm>
              <a:prstGeom prst="rect">
                <a:avLst/>
              </a:prstGeom>
              <a:blipFill>
                <a:blip r:embed="rId4"/>
                <a:stretch>
                  <a:fillRect t="-3030" b="-2727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122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b="1" dirty="0"/>
              <a:t>闭</a:t>
            </a:r>
            <a:r>
              <a:rPr lang="zh-CN" altLang="en-US" b="1" dirty="0"/>
              <a:t>频繁项集和极大频繁项集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57E7E-B778-0A41-8101-9E8FC81D1346}"/>
              </a:ext>
            </a:extLst>
          </p:cNvPr>
          <p:cNvSpPr txBox="1"/>
          <p:nvPr/>
        </p:nvSpPr>
        <p:spPr>
          <a:xfrm>
            <a:off x="650101" y="1141178"/>
            <a:ext cx="10936942" cy="2926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闭频繁项集</a:t>
            </a:r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</a:t>
            </a:r>
            <a:r>
              <a:rPr lang="en-US" altLang="zh-CN" sz="2400" i="1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在数据集</a:t>
            </a:r>
            <a:r>
              <a:rPr lang="en-US" altLang="zh-CN" sz="2400" i="1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中是</a:t>
            </a:r>
            <a:r>
              <a:rPr lang="zh-CN" altLang="en-US" sz="2400" b="1" spc="3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闭的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closed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）：如果不存在真超项集</a:t>
            </a:r>
            <a:r>
              <a:rPr lang="en-US" altLang="zh-CN" sz="2400" i="1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使得</a:t>
            </a:r>
            <a:r>
              <a:rPr lang="en-US" altLang="zh-CN" sz="2400" i="1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</a:t>
            </a:r>
            <a:r>
              <a:rPr lang="en-US" altLang="zh-CN" sz="2400" i="1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altLang="zh-CN" sz="2400" i="1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中具有相同的支持度计数。</a:t>
            </a:r>
            <a:endParaRPr lang="en-US" altLang="zh-CN" sz="2400" spc="3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</a:t>
            </a:r>
            <a:r>
              <a:rPr lang="en-US" altLang="zh-CN" sz="2400" i="1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是数据集</a:t>
            </a:r>
            <a:r>
              <a:rPr lang="en-US" altLang="zh-CN" sz="2400" i="1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中的</a:t>
            </a: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闭频繁项集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closed  frequent itemset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）：</a:t>
            </a:r>
            <a:r>
              <a:rPr lang="en-US" altLang="zh-CN" sz="2400" i="1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altLang="zh-CN" sz="2400" i="1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中是闭的和频繁的。</a:t>
            </a:r>
            <a:endParaRPr lang="en-US" altLang="zh-CN" sz="2400" spc="3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120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b="1" dirty="0"/>
              <a:t>闭</a:t>
            </a:r>
            <a:r>
              <a:rPr lang="zh-CN" altLang="en-US" b="1" dirty="0"/>
              <a:t>频繁项集和极大频繁项集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AA1F4-2168-7447-B901-7AAC3FEE095D}"/>
              </a:ext>
            </a:extLst>
          </p:cNvPr>
          <p:cNvSpPr txBox="1"/>
          <p:nvPr/>
        </p:nvSpPr>
        <p:spPr>
          <a:xfrm>
            <a:off x="627529" y="982818"/>
            <a:ext cx="10936942" cy="388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极大频繁项集</a:t>
            </a:r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如果</a:t>
            </a:r>
            <a:r>
              <a:rPr lang="en-US" altLang="zh-CN" sz="2400" i="1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是频繁的，不存在超项集</a:t>
            </a:r>
            <a:r>
              <a:rPr lang="en-US" altLang="zh-CN" sz="2400" i="1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使得</a:t>
            </a:r>
            <a:r>
              <a:rPr lang="en-US" altLang="zh-CN" sz="2400" i="1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en-US" altLang="zh-CN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⊂</a:t>
            </a:r>
            <a:r>
              <a:rPr lang="en-US" altLang="zh-CN" sz="2400" i="1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并且</a:t>
            </a:r>
            <a:r>
              <a:rPr lang="en-US" altLang="zh-CN" sz="2400" i="1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altLang="zh-CN" sz="2400" i="1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中是频繁的，则项集</a:t>
            </a:r>
            <a:r>
              <a:rPr lang="en-US" altLang="zh-CN" sz="2400" i="1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</a:t>
            </a:r>
            <a:r>
              <a:rPr lang="en-US" altLang="zh-CN" sz="2400" i="1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中的</a:t>
            </a:r>
            <a:r>
              <a:rPr lang="zh-CN" altLang="en-US" sz="2400" b="1" spc="3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极大频繁项集</a:t>
            </a:r>
            <a:r>
              <a:rPr lang="en-US" altLang="zh-CN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(maximal frequent itemset)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或极大项集</a:t>
            </a:r>
            <a:r>
              <a:rPr lang="en-US" altLang="zh-CN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(max-itemset)</a:t>
            </a:r>
          </a:p>
          <a:p>
            <a:pPr marL="1124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即：没有比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X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更大的项集是频繁项集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666900" indent="-342900"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如果一个项集是极大频繁的，那么它一定是</a:t>
            </a:r>
            <a:r>
              <a:rPr lang="zh-CN" altLang="en-US" sz="2400" b="1" spc="3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闭的</a:t>
            </a:r>
            <a:r>
              <a:rPr lang="zh-CN" altLang="en-US" sz="2400" spc="3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（因为没有超集是频繁的，更不可能有支持度相等的超集），所以‌极大频繁项集 ⊆ 闭频繁项集‌。</a:t>
            </a:r>
            <a:endParaRPr lang="en-US" altLang="zh-CN" sz="2400" spc="3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8437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-127000"/>
            <a:ext cx="12192000" cy="6985001"/>
            <a:chOff x="0" y="-127000"/>
            <a:chExt cx="12192000" cy="6985001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 5">
              <a:extLst>
                <a:ext uri="{FF2B5EF4-FFF2-40B4-BE49-F238E27FC236}">
                  <a16:creationId xmlns:a16="http://schemas.microsoft.com/office/drawing/2014/main" id="{683F9A17-5372-4D20-B984-AEEE30D4E8ED}"/>
                </a:ext>
              </a:extLst>
            </p:cNvPr>
            <p:cNvSpPr/>
            <p:nvPr/>
          </p:nvSpPr>
          <p:spPr>
            <a:xfrm flipH="1">
              <a:off x="1651519" y="990601"/>
              <a:ext cx="3046301" cy="916025"/>
            </a:xfrm>
            <a:custGeom>
              <a:avLst/>
              <a:gdLst>
                <a:gd name="connsiteX0" fmla="*/ 3548448 w 4378443"/>
                <a:gd name="connsiteY0" fmla="*/ 0 h 1659990"/>
                <a:gd name="connsiteX1" fmla="*/ 0 w 4378443"/>
                <a:gd name="connsiteY1" fmla="*/ 0 h 1659990"/>
                <a:gd name="connsiteX2" fmla="*/ 0 w 4378443"/>
                <a:gd name="connsiteY2" fmla="*/ 1659990 h 1659990"/>
                <a:gd name="connsiteX3" fmla="*/ 3548447 w 4378443"/>
                <a:gd name="connsiteY3" fmla="*/ 1659990 h 1659990"/>
                <a:gd name="connsiteX4" fmla="*/ 4378442 w 4378443"/>
                <a:gd name="connsiteY4" fmla="*/ 829995 h 1659990"/>
                <a:gd name="connsiteX5" fmla="*/ 4378443 w 4378443"/>
                <a:gd name="connsiteY5" fmla="*/ 829995 h 1659990"/>
                <a:gd name="connsiteX6" fmla="*/ 3548448 w 4378443"/>
                <a:gd name="connsiteY6" fmla="*/ 0 h 165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8443" h="1659990">
                  <a:moveTo>
                    <a:pt x="3548448" y="0"/>
                  </a:moveTo>
                  <a:lnTo>
                    <a:pt x="0" y="0"/>
                  </a:lnTo>
                  <a:lnTo>
                    <a:pt x="0" y="1659990"/>
                  </a:lnTo>
                  <a:lnTo>
                    <a:pt x="3548447" y="1659990"/>
                  </a:lnTo>
                  <a:cubicBezTo>
                    <a:pt x="4006841" y="1659990"/>
                    <a:pt x="4378442" y="1288389"/>
                    <a:pt x="4378442" y="829995"/>
                  </a:cubicBezTo>
                  <a:lnTo>
                    <a:pt x="4378443" y="829995"/>
                  </a:lnTo>
                  <a:cubicBezTo>
                    <a:pt x="4378443" y="371601"/>
                    <a:pt x="4006842" y="0"/>
                    <a:pt x="3548448" y="0"/>
                  </a:cubicBezTo>
                  <a:close/>
                </a:path>
              </a:pathLst>
            </a:custGeom>
            <a:solidFill>
              <a:srgbClr val="213F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200C103-E212-4C79-9ADB-9CF7394DABAA}"/>
                </a:ext>
              </a:extLst>
            </p:cNvPr>
            <p:cNvGrpSpPr/>
            <p:nvPr/>
          </p:nvGrpSpPr>
          <p:grpSpPr>
            <a:xfrm>
              <a:off x="4095487" y="-127000"/>
              <a:ext cx="602335" cy="5812453"/>
              <a:chOff x="7636995" y="1679426"/>
              <a:chExt cx="421216" cy="4092334"/>
            </a:xfrm>
          </p:grpSpPr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A07D4936-ED15-4494-A02F-C2411B992F9B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66000"/>
                        </a14:imgEffect>
                      </a14:imgLayer>
                    </a14:imgProps>
                  </a:ext>
                </a:extLst>
              </a:blip>
              <a:srcRect t="76775"/>
              <a:stretch/>
            </p:blipFill>
            <p:spPr>
              <a:xfrm rot="16200000" flipV="1">
                <a:off x="5801436" y="3514985"/>
                <a:ext cx="4092334" cy="421216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19C4510A-8E52-4E6D-ABC3-8F5193067839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66000"/>
                        </a14:imgEffect>
                      </a14:imgLayer>
                    </a14:imgProps>
                  </a:ext>
                </a:extLst>
              </a:blip>
              <a:srcRect t="76775"/>
              <a:stretch/>
            </p:blipFill>
            <p:spPr>
              <a:xfrm rot="16200000" flipV="1">
                <a:off x="5801436" y="3514985"/>
                <a:ext cx="4092334" cy="421216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8" name="直角三角形 7">
              <a:extLst>
                <a:ext uri="{FF2B5EF4-FFF2-40B4-BE49-F238E27FC236}">
                  <a16:creationId xmlns:a16="http://schemas.microsoft.com/office/drawing/2014/main" id="{99A2EC02-BD58-46AF-A84F-156DCC33EE05}"/>
                </a:ext>
              </a:extLst>
            </p:cNvPr>
            <p:cNvSpPr/>
            <p:nvPr/>
          </p:nvSpPr>
          <p:spPr>
            <a:xfrm flipH="1" flipV="1">
              <a:off x="3785126" y="3950674"/>
              <a:ext cx="913719" cy="432309"/>
            </a:xfrm>
            <a:prstGeom prst="rtTriangle">
              <a:avLst/>
            </a:prstGeom>
            <a:solidFill>
              <a:srgbClr val="213F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" name="任意多边形 8">
              <a:extLst>
                <a:ext uri="{FF2B5EF4-FFF2-40B4-BE49-F238E27FC236}">
                  <a16:creationId xmlns:a16="http://schemas.microsoft.com/office/drawing/2014/main" id="{23158547-6A0B-4618-8FF8-0A8B69708EC6}"/>
                </a:ext>
              </a:extLst>
            </p:cNvPr>
            <p:cNvSpPr/>
            <p:nvPr/>
          </p:nvSpPr>
          <p:spPr>
            <a:xfrm>
              <a:off x="3794643" y="2362673"/>
              <a:ext cx="6466957" cy="1592519"/>
            </a:xfrm>
            <a:custGeom>
              <a:avLst/>
              <a:gdLst>
                <a:gd name="connsiteX0" fmla="*/ 0 w 5229817"/>
                <a:gd name="connsiteY0" fmla="*/ 0 h 1429030"/>
                <a:gd name="connsiteX1" fmla="*/ 4515302 w 5229817"/>
                <a:gd name="connsiteY1" fmla="*/ 0 h 1429030"/>
                <a:gd name="connsiteX2" fmla="*/ 5229817 w 5229817"/>
                <a:gd name="connsiteY2" fmla="*/ 714515 h 1429030"/>
                <a:gd name="connsiteX3" fmla="*/ 5229816 w 5229817"/>
                <a:gd name="connsiteY3" fmla="*/ 714515 h 1429030"/>
                <a:gd name="connsiteX4" fmla="*/ 4515301 w 5229817"/>
                <a:gd name="connsiteY4" fmla="*/ 1429030 h 1429030"/>
                <a:gd name="connsiteX5" fmla="*/ 0 w 5229817"/>
                <a:gd name="connsiteY5" fmla="*/ 1429029 h 142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29817" h="1429030">
                  <a:moveTo>
                    <a:pt x="0" y="0"/>
                  </a:moveTo>
                  <a:lnTo>
                    <a:pt x="4515302" y="0"/>
                  </a:lnTo>
                  <a:cubicBezTo>
                    <a:pt x="4909918" y="0"/>
                    <a:pt x="5229817" y="319899"/>
                    <a:pt x="5229817" y="714515"/>
                  </a:cubicBezTo>
                  <a:lnTo>
                    <a:pt x="5229816" y="714515"/>
                  </a:lnTo>
                  <a:cubicBezTo>
                    <a:pt x="5229816" y="1109131"/>
                    <a:pt x="4909917" y="1429030"/>
                    <a:pt x="4515301" y="1429030"/>
                  </a:cubicBezTo>
                  <a:lnTo>
                    <a:pt x="0" y="1429029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" name="文本框 61">
              <a:extLst>
                <a:ext uri="{FF2B5EF4-FFF2-40B4-BE49-F238E27FC236}">
                  <a16:creationId xmlns:a16="http://schemas.microsoft.com/office/drawing/2014/main" id="{8EFA2E3D-1349-4611-858A-C5CD9EC762AE}"/>
                </a:ext>
              </a:extLst>
            </p:cNvPr>
            <p:cNvSpPr txBox="1"/>
            <p:nvPr/>
          </p:nvSpPr>
          <p:spPr>
            <a:xfrm>
              <a:off x="3836472" y="2585793"/>
              <a:ext cx="6313846" cy="101566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600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频繁项集挖掘方法</a:t>
              </a:r>
            </a:p>
          </p:txBody>
        </p:sp>
        <p:sp>
          <p:nvSpPr>
            <p:cNvPr id="11" name="文本框 62">
              <a:extLst>
                <a:ext uri="{FF2B5EF4-FFF2-40B4-BE49-F238E27FC236}">
                  <a16:creationId xmlns:a16="http://schemas.microsoft.com/office/drawing/2014/main" id="{60BBD27F-574E-483D-98AD-863290A27093}"/>
                </a:ext>
              </a:extLst>
            </p:cNvPr>
            <p:cNvSpPr txBox="1"/>
            <p:nvPr/>
          </p:nvSpPr>
          <p:spPr>
            <a:xfrm>
              <a:off x="2090544" y="1121713"/>
              <a:ext cx="21609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PART  2</a:t>
              </a:r>
              <a:endParaRPr lang="zh-CN" altLang="en-US" sz="4000" b="1" dirty="0">
                <a:solidFill>
                  <a:prstClr val="white"/>
                </a:solidFill>
                <a:latin typeface="方正兰亭特黑简体" panose="02000000000000000000" pitchFamily="2" charset="-122"/>
                <a:ea typeface="方正兰亭特黑简体" panose="02000000000000000000" pitchFamily="2" charset="-122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633AE577-F75A-49A4-AF49-6C3DFB8BA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3838768"/>
              <a:ext cx="4992468" cy="3019233"/>
            </a:xfrm>
            <a:custGeom>
              <a:avLst/>
              <a:gdLst>
                <a:gd name="T0" fmla="*/ 0 w 2348"/>
                <a:gd name="T1" fmla="*/ 0 h 1407"/>
                <a:gd name="T2" fmla="*/ 2348 w 2348"/>
                <a:gd name="T3" fmla="*/ 1407 h 1407"/>
                <a:gd name="T4" fmla="*/ 0 w 2348"/>
                <a:gd name="T5" fmla="*/ 1407 h 1407"/>
                <a:gd name="T6" fmla="*/ 0 w 2348"/>
                <a:gd name="T7" fmla="*/ 0 h 1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8" h="1407">
                  <a:moveTo>
                    <a:pt x="0" y="0"/>
                  </a:moveTo>
                  <a:lnTo>
                    <a:pt x="2348" y="1407"/>
                  </a:lnTo>
                  <a:lnTo>
                    <a:pt x="0" y="14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F7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62551" tIns="81275" rIns="162551" bIns="81275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155895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276">
                <a:solidFill>
                  <a:srgbClr val="000000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3BA162EA-CEA0-4726-8F4B-BB627F8D0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059" y="4356933"/>
              <a:ext cx="9361941" cy="2501068"/>
            </a:xfrm>
            <a:custGeom>
              <a:avLst/>
              <a:gdLst>
                <a:gd name="T0" fmla="*/ 4403 w 4403"/>
                <a:gd name="T1" fmla="*/ 0 h 1161"/>
                <a:gd name="T2" fmla="*/ 4403 w 4403"/>
                <a:gd name="T3" fmla="*/ 1161 h 1161"/>
                <a:gd name="T4" fmla="*/ 0 w 4403"/>
                <a:gd name="T5" fmla="*/ 1161 h 1161"/>
                <a:gd name="T6" fmla="*/ 4403 w 4403"/>
                <a:gd name="T7" fmla="*/ 0 h 1161"/>
                <a:gd name="connsiteX0" fmla="*/ 10000 w 10000"/>
                <a:gd name="connsiteY0" fmla="*/ 0 h 10039"/>
                <a:gd name="connsiteX1" fmla="*/ 10000 w 10000"/>
                <a:gd name="connsiteY1" fmla="*/ 10039 h 10039"/>
                <a:gd name="connsiteX2" fmla="*/ 0 w 10000"/>
                <a:gd name="connsiteY2" fmla="*/ 10039 h 10039"/>
                <a:gd name="connsiteX3" fmla="*/ 10000 w 10000"/>
                <a:gd name="connsiteY3" fmla="*/ 0 h 1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39">
                  <a:moveTo>
                    <a:pt x="10000" y="0"/>
                  </a:moveTo>
                  <a:lnTo>
                    <a:pt x="10000" y="10039"/>
                  </a:lnTo>
                  <a:lnTo>
                    <a:pt x="0" y="10039"/>
                  </a:lnTo>
                  <a:lnTo>
                    <a:pt x="10000" y="0"/>
                  </a:lnTo>
                  <a:close/>
                </a:path>
              </a:pathLst>
            </a:custGeom>
            <a:solidFill>
              <a:srgbClr val="4472C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62551" tIns="81275" rIns="162551" bIns="81275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155895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276">
                <a:solidFill>
                  <a:srgbClr val="000000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schemeClr val="bg1"/>
                </a:solidFill>
              </a:rPr>
              <a:pPr/>
              <a:t>17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498" y="0"/>
            <a:ext cx="1355352" cy="752437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580" y="42293"/>
            <a:ext cx="666768" cy="66785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365617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b="1" dirty="0"/>
              <a:t>关联</a:t>
            </a:r>
            <a:r>
              <a:rPr lang="zh-CN" altLang="en-US" b="1" dirty="0"/>
              <a:t>规则挖掘过程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57E7E-B778-0A41-8101-9E8FC81D1346}"/>
              </a:ext>
            </a:extLst>
          </p:cNvPr>
          <p:cNvSpPr txBox="1"/>
          <p:nvPr/>
        </p:nvSpPr>
        <p:spPr>
          <a:xfrm>
            <a:off x="645459" y="1926788"/>
            <a:ext cx="10936942" cy="148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02E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步骤一：找出所有的频繁项集</a:t>
            </a: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根据定义，这些项集的每一个频繁出现的次数至少与预定义的最小支持计数</a:t>
            </a:r>
            <a:r>
              <a:rPr lang="en-US" altLang="zh-CN" sz="2400" dirty="0" err="1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min_sup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一样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AA1F4-2168-7447-B901-7AAC3FEE095D}"/>
              </a:ext>
            </a:extLst>
          </p:cNvPr>
          <p:cNvSpPr txBox="1"/>
          <p:nvPr/>
        </p:nvSpPr>
        <p:spPr>
          <a:xfrm>
            <a:off x="645459" y="4276120"/>
            <a:ext cx="10936942" cy="100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02E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步骤二：由频繁项集产生强关联规则</a:t>
            </a: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根据定义，这些规则必须满足最小支持度和最小置信度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3DB43B-D8C6-2806-228E-F97FB05D15BA}"/>
              </a:ext>
            </a:extLst>
          </p:cNvPr>
          <p:cNvSpPr txBox="1"/>
          <p:nvPr/>
        </p:nvSpPr>
        <p:spPr>
          <a:xfrm>
            <a:off x="627529" y="980763"/>
            <a:ext cx="10936942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一般而言，关联规则的挖掘需要两个步骤：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5208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/>
              <a:t>Apriori</a:t>
            </a:r>
            <a:r>
              <a:rPr lang="zh-CN" altLang="en-US" b="1" dirty="0"/>
              <a:t> 算法</a:t>
            </a:r>
            <a:r>
              <a:rPr lang="en-US" altLang="zh-CN" b="1" dirty="0"/>
              <a:t>——</a:t>
            </a:r>
            <a:r>
              <a:rPr lang="zh-CN" altLang="en-US" sz="2400" b="1" dirty="0">
                <a:solidFill>
                  <a:srgbClr val="002E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步骤一：找出所有的频繁项集</a:t>
            </a:r>
            <a:br>
              <a:rPr lang="en-US" altLang="zh-CN" sz="2400" b="1" dirty="0">
                <a:solidFill>
                  <a:srgbClr val="002E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lang="zh-CN" altLang="en-US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19</a:t>
            </a:fld>
            <a:endParaRPr lang="zh-CN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681E6D-2838-43BD-6320-BFD5AA796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418" y="1190385"/>
            <a:ext cx="7772400" cy="5152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0FEF2C-7DB8-731C-3043-774B872BC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886" y="1688728"/>
            <a:ext cx="3214531" cy="3048000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FAC0296F-4316-AEBF-05E8-FB9F2EF70EFE}"/>
              </a:ext>
            </a:extLst>
          </p:cNvPr>
          <p:cNvSpPr/>
          <p:nvPr/>
        </p:nvSpPr>
        <p:spPr>
          <a:xfrm>
            <a:off x="3425780" y="3186684"/>
            <a:ext cx="378853" cy="484632"/>
          </a:xfrm>
          <a:prstGeom prst="rightArrow">
            <a:avLst/>
          </a:prstGeom>
          <a:noFill/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9F9AD1-7B2B-DFBA-F18A-DF9B83340129}"/>
              </a:ext>
            </a:extLst>
          </p:cNvPr>
          <p:cNvSpPr txBox="1"/>
          <p:nvPr/>
        </p:nvSpPr>
        <p:spPr>
          <a:xfrm>
            <a:off x="249886" y="4901794"/>
            <a:ext cx="1210588" cy="961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①</a:t>
            </a:r>
            <a:r>
              <a:rPr lang="en-CN" sz="2000" dirty="0"/>
              <a:t>连接步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②</a:t>
            </a:r>
            <a:r>
              <a:rPr lang="en-CN" sz="2000" dirty="0"/>
              <a:t>剪枝步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DBB710-F21A-CFE4-D2A3-8C6832EAC218}"/>
              </a:ext>
            </a:extLst>
          </p:cNvPr>
          <p:cNvSpPr txBox="1"/>
          <p:nvPr/>
        </p:nvSpPr>
        <p:spPr>
          <a:xfrm>
            <a:off x="3940935" y="289362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>
                <a:solidFill>
                  <a:srgbClr val="C00000"/>
                </a:solidFill>
              </a:rPr>
              <a:t>连接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A75267-D7B8-26C8-4928-3C3C1A7C5C90}"/>
              </a:ext>
            </a:extLst>
          </p:cNvPr>
          <p:cNvSpPr txBox="1"/>
          <p:nvPr/>
        </p:nvSpPr>
        <p:spPr>
          <a:xfrm>
            <a:off x="8694023" y="289362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>
                <a:solidFill>
                  <a:srgbClr val="C00000"/>
                </a:solidFill>
              </a:rPr>
              <a:t>剪枝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10BAAB-6973-A595-2572-516E26A96F81}"/>
              </a:ext>
            </a:extLst>
          </p:cNvPr>
          <p:cNvSpPr/>
          <p:nvPr/>
        </p:nvSpPr>
        <p:spPr>
          <a:xfrm>
            <a:off x="9710671" y="5348399"/>
            <a:ext cx="1945784" cy="101965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46BCCFE-FB99-4F84-BCE3-531B780D5876}"/>
              </a:ext>
            </a:extLst>
          </p:cNvPr>
          <p:cNvSpPr txBox="1"/>
          <p:nvPr/>
        </p:nvSpPr>
        <p:spPr>
          <a:xfrm>
            <a:off x="249886" y="788947"/>
            <a:ext cx="72939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给定最小支持度为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2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，最小置信度为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70%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6093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/>
              <a:t>Apriori</a:t>
            </a:r>
            <a:r>
              <a:rPr lang="zh-CN" altLang="en-US" b="1" dirty="0"/>
              <a:t> 算法</a:t>
            </a:r>
            <a:r>
              <a:rPr lang="en-US" altLang="zh-CN" b="1" dirty="0"/>
              <a:t>——</a:t>
            </a:r>
            <a:r>
              <a:rPr lang="zh-CN" altLang="en-US" sz="2400" b="1" dirty="0">
                <a:solidFill>
                  <a:srgbClr val="002E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步骤一：找出所有的频繁项集</a:t>
            </a:r>
            <a:endParaRPr lang="zh-CN" altLang="en-US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57E7E-B778-0A41-8101-9E8FC81D1346}"/>
              </a:ext>
            </a:extLst>
          </p:cNvPr>
          <p:cNvSpPr txBox="1"/>
          <p:nvPr/>
        </p:nvSpPr>
        <p:spPr>
          <a:xfrm>
            <a:off x="645459" y="935114"/>
            <a:ext cx="10936942" cy="2446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en-US" altLang="zh-CN" sz="2400" dirty="0" err="1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Apriori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算法通过逐层搜索挖掘频繁项集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首先，通过扫描数据库，累计每个单项的计数，并收集满足最小支持度的项，找出频繁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1-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项集的集合，记为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然后，使用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找出频繁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2-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项集合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，使用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找出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此下去，直到不能再找到频繁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</a:t>
            </a:r>
            <a:endParaRPr lang="en-US" altLang="zh-CN" sz="2400" baseline="-250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AA1F4-2168-7447-B901-7AAC3FEE095D}"/>
              </a:ext>
            </a:extLst>
          </p:cNvPr>
          <p:cNvSpPr txBox="1"/>
          <p:nvPr/>
        </p:nvSpPr>
        <p:spPr>
          <a:xfrm>
            <a:off x="645459" y="3657936"/>
            <a:ext cx="10936942" cy="2446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搜索频繁项集的基本操作由两步组成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连接步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：为找出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，通过将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k-1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与自身连接产生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项集的集合，候选项集的集合记为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剪枝步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：如果一个候选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项集的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(k-1)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项子集不在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k-1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中，则该候选也不可能是频繁的，从而可以从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中删除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2216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/>
              <a:t>Apriori</a:t>
            </a:r>
            <a:r>
              <a:rPr lang="zh-CN" altLang="en-US" b="1" dirty="0"/>
              <a:t> 算法</a:t>
            </a:r>
            <a:r>
              <a:rPr lang="en-US" altLang="zh-CN" b="1" dirty="0"/>
              <a:t>——</a:t>
            </a:r>
            <a:r>
              <a:rPr lang="zh-CN" altLang="en-US" sz="2400" b="1" dirty="0">
                <a:solidFill>
                  <a:srgbClr val="002E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步骤一：找出所有的频繁项集</a:t>
            </a:r>
            <a:endParaRPr lang="zh-CN" altLang="en-US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57E7E-B778-0A41-8101-9E8FC81D1346}"/>
              </a:ext>
            </a:extLst>
          </p:cNvPr>
          <p:cNvSpPr txBox="1"/>
          <p:nvPr/>
        </p:nvSpPr>
        <p:spPr>
          <a:xfrm>
            <a:off x="645459" y="896477"/>
            <a:ext cx="10936942" cy="100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）在算法的第一次迭代，每个项都是候选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1-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项集的集合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的成员。算法简单地扫描所有的事务，对每个项的出现次数</a:t>
            </a:r>
            <a:r>
              <a:rPr lang="zh-CN" altLang="en-US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计数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（即，支持度）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ECD39A-B603-4672-CC63-E52BFFF51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65" y="3384718"/>
            <a:ext cx="3214531" cy="304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CB3238-6570-2C71-7F35-666D9DB1D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8452" y="3981265"/>
            <a:ext cx="7772400" cy="18549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42EA23-035B-FAAA-759C-63C5F61678EB}"/>
              </a:ext>
            </a:extLst>
          </p:cNvPr>
          <p:cNvSpPr txBox="1"/>
          <p:nvPr/>
        </p:nvSpPr>
        <p:spPr>
          <a:xfrm>
            <a:off x="643311" y="2001913"/>
            <a:ext cx="10936942" cy="100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）给定最小事务支持度计数为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。可以确定频繁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1-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项集的</a:t>
            </a:r>
            <a:r>
              <a:rPr lang="zh-CN" altLang="en-US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集合</a:t>
            </a:r>
            <a:r>
              <a:rPr lang="en-US" altLang="zh-CN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2400" baseline="-25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。它由具有满足大于等于最小支持度的候选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1-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项集组成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D528DE5B-641D-E654-FA7D-814FE4D56103}"/>
              </a:ext>
            </a:extLst>
          </p:cNvPr>
          <p:cNvSpPr/>
          <p:nvPr/>
        </p:nvSpPr>
        <p:spPr>
          <a:xfrm>
            <a:off x="3533750" y="4666402"/>
            <a:ext cx="378853" cy="484632"/>
          </a:xfrm>
          <a:prstGeom prst="rightArrow">
            <a:avLst/>
          </a:prstGeom>
          <a:noFill/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243732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/>
              <a:t>Apriori</a:t>
            </a:r>
            <a:r>
              <a:rPr lang="zh-CN" altLang="en-US" b="1" dirty="0"/>
              <a:t> 算法</a:t>
            </a:r>
            <a:r>
              <a:rPr lang="en-US" altLang="zh-CN" b="1" dirty="0"/>
              <a:t>——</a:t>
            </a:r>
            <a:r>
              <a:rPr lang="zh-CN" altLang="en-US" sz="2400" b="1" dirty="0">
                <a:solidFill>
                  <a:srgbClr val="002E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步骤一：找出所有的频繁项集</a:t>
            </a:r>
            <a:endParaRPr lang="zh-CN" altLang="en-US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57E7E-B778-0A41-8101-9E8FC81D1346}"/>
              </a:ext>
            </a:extLst>
          </p:cNvPr>
          <p:cNvSpPr txBox="1"/>
          <p:nvPr/>
        </p:nvSpPr>
        <p:spPr>
          <a:xfrm>
            <a:off x="645458" y="896477"/>
            <a:ext cx="11441331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）为发现频繁 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2-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项集的集合 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，算法使用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自连接产生候选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2-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项集的集合 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ECD39A-B603-4672-CC63-E52BFFF51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65" y="3267178"/>
            <a:ext cx="3214531" cy="304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42EA23-035B-FAAA-759C-63C5F61678EB}"/>
              </a:ext>
            </a:extLst>
          </p:cNvPr>
          <p:cNvSpPr txBox="1"/>
          <p:nvPr/>
        </p:nvSpPr>
        <p:spPr>
          <a:xfrm>
            <a:off x="643311" y="1433088"/>
            <a:ext cx="10936942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）扫描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中事务，计算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中每个候选项集的支持计数，如中间表所示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F12283-56F2-241B-2E5D-FA4741238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853" y="3581435"/>
            <a:ext cx="7772400" cy="26452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64C831-637B-8481-1517-A30AF484519F}"/>
              </a:ext>
            </a:extLst>
          </p:cNvPr>
          <p:cNvSpPr txBox="1"/>
          <p:nvPr/>
        </p:nvSpPr>
        <p:spPr>
          <a:xfrm>
            <a:off x="645459" y="2027663"/>
            <a:ext cx="11204608" cy="100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）确定频繁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2-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项集的集合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，由具有满足大于等于最小支持度的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中的候选        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2-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项集组成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D11FA6E5-CC61-C0DB-6B5C-E354073EC327}"/>
              </a:ext>
            </a:extLst>
          </p:cNvPr>
          <p:cNvSpPr/>
          <p:nvPr/>
        </p:nvSpPr>
        <p:spPr>
          <a:xfrm>
            <a:off x="3490175" y="4434306"/>
            <a:ext cx="378853" cy="484632"/>
          </a:xfrm>
          <a:prstGeom prst="rightArrow">
            <a:avLst/>
          </a:prstGeom>
          <a:noFill/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48759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/>
              <a:t>Apriori</a:t>
            </a:r>
            <a:r>
              <a:rPr lang="zh-CN" altLang="en-US" b="1" dirty="0"/>
              <a:t> 算法</a:t>
            </a:r>
            <a:r>
              <a:rPr lang="en-US" altLang="zh-CN" b="1" dirty="0"/>
              <a:t>——</a:t>
            </a:r>
            <a:r>
              <a:rPr lang="zh-CN" altLang="en-US" sz="2400" b="1" dirty="0">
                <a:solidFill>
                  <a:srgbClr val="002E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步骤一：找出所有的频繁项集</a:t>
            </a:r>
            <a:endParaRPr lang="zh-CN" altLang="en-US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23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3FC360-C5BA-B045-1424-0A4E111D4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611" y="4698115"/>
            <a:ext cx="8668642" cy="10876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42EA23-035B-FAAA-759C-63C5F61678EB}"/>
              </a:ext>
            </a:extLst>
          </p:cNvPr>
          <p:cNvSpPr txBox="1"/>
          <p:nvPr/>
        </p:nvSpPr>
        <p:spPr>
          <a:xfrm>
            <a:off x="643311" y="881452"/>
            <a:ext cx="10936942" cy="3406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）候选 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3-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项集的集合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的产生详细地列在下图中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首先，令 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L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L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{{I1,I2,I3}, {I1,I2,I5}, </a:t>
            </a:r>
            <a:r>
              <a:rPr lang="en-US" altLang="zh-CN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{I1,I3,I5}, {I2,I3,I4}, {I2,I3,I5}, {I2,I4,I5}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}</a:t>
            </a:r>
          </a:p>
          <a:p>
            <a:pPr marL="800100" lvl="1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根据先验性质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2400" b="1" dirty="0">
                <a:solidFill>
                  <a:srgbClr val="002E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频繁项集的所有子集必须是频繁的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，可以确定后 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个候选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3-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项集不可能是频繁的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因此，把它们从 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中删除得到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，这样，在此后扫描 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 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确定 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时就不必再求它们的计数值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533B34A-C334-48A5-A771-E0D26F17CE03}"/>
              </a:ext>
            </a:extLst>
          </p:cNvPr>
          <p:cNvGrpSpPr/>
          <p:nvPr/>
        </p:nvGrpSpPr>
        <p:grpSpPr>
          <a:xfrm>
            <a:off x="3873437" y="1536591"/>
            <a:ext cx="266893" cy="227224"/>
            <a:chOff x="3998759" y="1975011"/>
            <a:chExt cx="296290" cy="133832"/>
          </a:xfrm>
        </p:grpSpPr>
        <p:sp>
          <p:nvSpPr>
            <p:cNvPr id="4" name="等腰三角形 3">
              <a:extLst>
                <a:ext uri="{FF2B5EF4-FFF2-40B4-BE49-F238E27FC236}">
                  <a16:creationId xmlns:a16="http://schemas.microsoft.com/office/drawing/2014/main" id="{FAC62F9A-D267-4891-996F-CA6DF7F02050}"/>
                </a:ext>
              </a:extLst>
            </p:cNvPr>
            <p:cNvSpPr/>
            <p:nvPr/>
          </p:nvSpPr>
          <p:spPr>
            <a:xfrm rot="5400000">
              <a:off x="4010363" y="1963407"/>
              <a:ext cx="129966" cy="153174"/>
            </a:xfrm>
            <a:prstGeom prst="triangle">
              <a:avLst/>
            </a:prstGeom>
            <a:noFill/>
            <a:ln>
              <a:solidFill>
                <a:schemeClr val="tx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等腰三角形 8">
              <a:extLst>
                <a:ext uri="{FF2B5EF4-FFF2-40B4-BE49-F238E27FC236}">
                  <a16:creationId xmlns:a16="http://schemas.microsoft.com/office/drawing/2014/main" id="{CA5F1F53-F400-4BDF-AD84-2829FE0D2E63}"/>
                </a:ext>
              </a:extLst>
            </p:cNvPr>
            <p:cNvSpPr/>
            <p:nvPr/>
          </p:nvSpPr>
          <p:spPr>
            <a:xfrm rot="16200000">
              <a:off x="4153479" y="1967273"/>
              <a:ext cx="129966" cy="153174"/>
            </a:xfrm>
            <a:prstGeom prst="triangle">
              <a:avLst/>
            </a:prstGeom>
            <a:noFill/>
            <a:ln>
              <a:solidFill>
                <a:schemeClr val="tx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DF6FC6B4-5BB8-4998-8DB3-1242FB7802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23" y="4328537"/>
            <a:ext cx="1797665" cy="182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863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/>
              <a:t>Apriori</a:t>
            </a:r>
            <a:r>
              <a:rPr lang="zh-CN" altLang="en-US" b="1" dirty="0"/>
              <a:t> 算法</a:t>
            </a:r>
            <a:r>
              <a:rPr lang="en-US" altLang="zh-CN" b="1" dirty="0"/>
              <a:t>——</a:t>
            </a:r>
            <a:r>
              <a:rPr lang="zh-CN" altLang="en-US" sz="2400" b="1" dirty="0">
                <a:solidFill>
                  <a:srgbClr val="002E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步骤一：找出所有的频繁项集</a:t>
            </a:r>
            <a:endParaRPr lang="zh-CN" altLang="en-US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24</a:t>
            </a:fld>
            <a:endParaRPr lang="zh-CN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ECD39A-B603-4672-CC63-E52BFFF51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18" y="2570631"/>
            <a:ext cx="3214531" cy="304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42EA23-035B-FAAA-759C-63C5F61678EB}"/>
              </a:ext>
            </a:extLst>
          </p:cNvPr>
          <p:cNvSpPr txBox="1"/>
          <p:nvPr/>
        </p:nvSpPr>
        <p:spPr>
          <a:xfrm>
            <a:off x="627529" y="817149"/>
            <a:ext cx="10936942" cy="1492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）算法使用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产生候选 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4-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项集的集合 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。尽管连接产生结果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{{I1,I2,I3,I5}}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，但这个项集被剪去，因为它的子集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{I1,I3,I5}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不是频繁的。因此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∅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，算法终止。至此，找出了所有的频繁项集，并确定了极大频繁项集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67947B-F96C-29A0-5ABC-738F4EBBE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335" y="3702848"/>
            <a:ext cx="7772400" cy="975207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5D8E927E-BC05-CB6F-97AA-7E7EFC4EE0C2}"/>
              </a:ext>
            </a:extLst>
          </p:cNvPr>
          <p:cNvSpPr/>
          <p:nvPr/>
        </p:nvSpPr>
        <p:spPr>
          <a:xfrm>
            <a:off x="3631844" y="3802149"/>
            <a:ext cx="378853" cy="484632"/>
          </a:xfrm>
          <a:prstGeom prst="rightArrow">
            <a:avLst/>
          </a:prstGeom>
          <a:noFill/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52005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/>
              <a:t>Apriori</a:t>
            </a:r>
            <a:r>
              <a:rPr lang="zh-CN" altLang="en-US" b="1" dirty="0"/>
              <a:t> 算法</a:t>
            </a:r>
            <a:r>
              <a:rPr lang="en-US" altLang="zh-CN" b="1" dirty="0"/>
              <a:t>——</a:t>
            </a:r>
            <a:r>
              <a:rPr lang="zh-CN" altLang="en-US" sz="2400" b="1" dirty="0">
                <a:solidFill>
                  <a:srgbClr val="002E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步骤一：找出所有的频繁项集</a:t>
            </a:r>
            <a:endParaRPr lang="zh-CN" altLang="en-US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25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C417DA-FDC7-F457-7487-41C9D9459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058" y="926883"/>
            <a:ext cx="9625884" cy="553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3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9467" y="220029"/>
            <a:ext cx="10422533" cy="398438"/>
          </a:xfrm>
        </p:spPr>
        <p:txBody>
          <a:bodyPr/>
          <a:lstStyle/>
          <a:p>
            <a:r>
              <a:rPr lang="en-US" altLang="zh-CN" b="1" dirty="0" err="1"/>
              <a:t>Apriori</a:t>
            </a:r>
            <a:r>
              <a:rPr lang="zh-CN" altLang="en-US" b="1" dirty="0"/>
              <a:t> 算法</a:t>
            </a:r>
            <a:r>
              <a:rPr lang="en-US" altLang="zh-CN" b="1" dirty="0"/>
              <a:t>——</a:t>
            </a:r>
            <a:r>
              <a:rPr lang="zh-CN" altLang="en-US" b="1" dirty="0"/>
              <a:t>步骤二：</a:t>
            </a:r>
            <a:r>
              <a:rPr lang="zh-CN" altLang="en-CN" b="1" dirty="0"/>
              <a:t>由</a:t>
            </a:r>
            <a:r>
              <a:rPr lang="zh-CN" altLang="en-US" b="1" dirty="0"/>
              <a:t>频繁项集产生关联规则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26</a:t>
            </a:fld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011171-5355-DA7E-8F85-ACEA366C3328}"/>
              </a:ext>
            </a:extLst>
          </p:cNvPr>
          <p:cNvSpPr txBox="1"/>
          <p:nvPr/>
        </p:nvSpPr>
        <p:spPr>
          <a:xfrm>
            <a:off x="645459" y="896477"/>
            <a:ext cx="10822641" cy="1680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关联规则的产生过程</a:t>
            </a:r>
            <a:endParaRPr lang="en-US" altLang="zh-CN" sz="2400" b="1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已找出极大频繁项集 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{I1, I2, I3}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{I1, I2, I5} 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，可以产生哪些关联规则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?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（以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 ={I1, I2, I5}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为例），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的非空子集有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{I1}, {I2},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{I5}, {I1,I2}, {I1,I5}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{I2,I5}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。计算每个关联规则的置信度，生成强关联规则：      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F7472D9B-A648-A85C-5C30-5F5122228102}"/>
              </a:ext>
            </a:extLst>
          </p:cNvPr>
          <p:cNvSpPr/>
          <p:nvPr/>
        </p:nvSpPr>
        <p:spPr>
          <a:xfrm>
            <a:off x="3821595" y="4258364"/>
            <a:ext cx="378853" cy="484632"/>
          </a:xfrm>
          <a:prstGeom prst="rightArrow">
            <a:avLst/>
          </a:prstGeom>
          <a:noFill/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B81AB27-496F-4C43-B4BE-A38490F03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3590720"/>
            <a:ext cx="3019200" cy="1509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6">
                <a:extLst>
                  <a:ext uri="{FF2B5EF4-FFF2-40B4-BE49-F238E27FC236}">
                    <a16:creationId xmlns:a16="http://schemas.microsoft.com/office/drawing/2014/main" id="{4AB7BE48-E77F-4F45-B4DC-4F9BAFE886DD}"/>
                  </a:ext>
                </a:extLst>
              </p:cNvPr>
              <p:cNvSpPr txBox="1"/>
              <p:nvPr/>
            </p:nvSpPr>
            <p:spPr>
              <a:xfrm>
                <a:off x="1731940" y="2765554"/>
                <a:ext cx="8501302" cy="6519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m:rPr>
                          <m:sty m:val="p"/>
                        </m:rPr>
                        <a:rPr lang="en-US" sz="2000" i="1" smtClean="0">
                          <a:latin typeface="Cambria Math" panose="02040503050406030204" pitchFamily="18" charset="0"/>
                        </a:rPr>
                        <m:t>on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𝑓𝑖𝑑𝑒𝑛𝑐𝑒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𝑠𝑢𝑝𝑝𝑜𝑟𝑡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𝑠𝑢𝑝𝑝𝑜𝑟𝑡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𝑠𝑢𝑝𝑝𝑜𝑟𝑡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𝑠𝑢𝑝𝑝𝑜𝑟𝑡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CN" sz="2000" dirty="0"/>
              </a:p>
            </p:txBody>
          </p:sp>
        </mc:Choice>
        <mc:Fallback xmlns="">
          <p:sp>
            <p:nvSpPr>
              <p:cNvPr id="10" name="TextBox 6">
                <a:extLst>
                  <a:ext uri="{FF2B5EF4-FFF2-40B4-BE49-F238E27FC236}">
                    <a16:creationId xmlns:a16="http://schemas.microsoft.com/office/drawing/2014/main" id="{4AB7BE48-E77F-4F45-B4DC-4F9BAFE88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1940" y="2765554"/>
                <a:ext cx="8501302" cy="6519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92F6FF5-A96F-406F-8B86-ABB55B72223D}"/>
                  </a:ext>
                </a:extLst>
              </p:cNvPr>
              <p:cNvSpPr txBox="1"/>
              <p:nvPr/>
            </p:nvSpPr>
            <p:spPr>
              <a:xfrm>
                <a:off x="4393246" y="3718871"/>
                <a:ext cx="2031325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{I1}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{I2, I5}	</a:t>
                </a:r>
              </a:p>
              <a:p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{I2}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{I1, I5}	</a:t>
                </a:r>
              </a:p>
              <a:p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{I5}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{I1, I2}	</a:t>
                </a:r>
              </a:p>
              <a:p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{I1, I2}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{I5}	</a:t>
                </a:r>
              </a:p>
              <a:p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{I1, I5}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{I2}	</a:t>
                </a:r>
              </a:p>
              <a:p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{I2, I5}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{I1}</a:t>
                </a:r>
                <a:r>
                  <a:rPr lang="en-US" altLang="zh-CN" sz="2000" dirty="0"/>
                  <a:t>	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92F6FF5-A96F-406F-8B86-ABB55B722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3246" y="3718871"/>
                <a:ext cx="2031325" cy="1938992"/>
              </a:xfrm>
              <a:prstGeom prst="rect">
                <a:avLst/>
              </a:prstGeom>
              <a:blipFill>
                <a:blip r:embed="rId5"/>
                <a:stretch>
                  <a:fillRect l="-3303" t="-1572" b="-4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图片 15">
            <a:extLst>
              <a:ext uri="{FF2B5EF4-FFF2-40B4-BE49-F238E27FC236}">
                <a16:creationId xmlns:a16="http://schemas.microsoft.com/office/drawing/2014/main" id="{2CA677B1-2C17-4C02-B7FA-172E75EDF4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2469" y="5137054"/>
            <a:ext cx="1568554" cy="157681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9AB5AB0-16D1-46CB-9343-A357F5FE4D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664" y="5119383"/>
            <a:ext cx="1861515" cy="16121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88A3BC2-6793-4AD4-8005-77E0E12A3BDD}"/>
                  </a:ext>
                </a:extLst>
              </p:cNvPr>
              <p:cNvSpPr txBox="1"/>
              <p:nvPr/>
            </p:nvSpPr>
            <p:spPr>
              <a:xfrm>
                <a:off x="6178144" y="3718871"/>
                <a:ext cx="6105524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000" dirty="0">
                    <a:solidFill>
                      <a:srgbClr val="C00000"/>
                    </a:solidFill>
                  </a:rPr>
                  <a:t>(1)c</a:t>
                </a:r>
                <a:r>
                  <a:rPr lang="zh-CN" altLang="en-US" sz="2000" dirty="0">
                    <a:solidFill>
                      <a:srgbClr val="C00000"/>
                    </a:solidFill>
                  </a:rPr>
                  <a:t>onfidence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({I1}</a:t>
                </a:r>
                <a:r>
                  <a:rPr lang="en-US" altLang="zh-CN" sz="2000" b="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altLang="zh-CN" sz="2000" dirty="0">
                    <a:solidFill>
                      <a:srgbClr val="C00000"/>
                    </a:solidFill>
                  </a:rPr>
                  <a:t>{I2, I5}) </a:t>
                </a:r>
                <a:r>
                  <a:rPr lang="zh-CN" altLang="en-US" sz="2000" dirty="0">
                    <a:solidFill>
                      <a:srgbClr val="C00000"/>
                    </a:solidFill>
                  </a:rPr>
                  <a:t>= 2/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6</a:t>
                </a:r>
                <a:r>
                  <a:rPr lang="zh-CN" altLang="en-US" sz="2000" dirty="0">
                    <a:solidFill>
                      <a:srgbClr val="C00000"/>
                    </a:solidFill>
                  </a:rPr>
                  <a:t> = 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33%</a:t>
                </a:r>
              </a:p>
              <a:p>
                <a:r>
                  <a:rPr lang="en-US" altLang="zh-CN" sz="2000" dirty="0">
                    <a:solidFill>
                      <a:srgbClr val="C00000"/>
                    </a:solidFill>
                  </a:rPr>
                  <a:t>(2)confidence({I2}</a:t>
                </a:r>
                <a:r>
                  <a:rPr lang="en-US" altLang="zh-CN" sz="2000" b="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altLang="zh-CN" sz="2000" dirty="0">
                    <a:solidFill>
                      <a:srgbClr val="C00000"/>
                    </a:solidFill>
                  </a:rPr>
                  <a:t>{I1, I5})</a:t>
                </a:r>
                <a:r>
                  <a:rPr lang="zh-CN" altLang="en-US" sz="2000" dirty="0">
                    <a:solidFill>
                      <a:srgbClr val="C00000"/>
                    </a:solidFill>
                  </a:rPr>
                  <a:t> = 2/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7</a:t>
                </a:r>
                <a:r>
                  <a:rPr lang="zh-CN" altLang="en-US" sz="2000" dirty="0">
                    <a:solidFill>
                      <a:srgbClr val="C00000"/>
                    </a:solidFill>
                  </a:rPr>
                  <a:t> = 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29</a:t>
                </a:r>
                <a:r>
                  <a:rPr lang="zh-CN" altLang="en-US" sz="2000" dirty="0">
                    <a:solidFill>
                      <a:srgbClr val="C00000"/>
                    </a:solidFill>
                  </a:rPr>
                  <a:t>%</a:t>
                </a:r>
                <a:endParaRPr lang="en-US" altLang="zh-CN" sz="2000" dirty="0">
                  <a:solidFill>
                    <a:srgbClr val="C00000"/>
                  </a:solidFill>
                </a:endParaRPr>
              </a:p>
              <a:p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</a:rPr>
                  <a:t>(3)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confidence</a:t>
                </a:r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</a:rPr>
                  <a:t>({I5}</a:t>
                </a:r>
                <a:r>
                  <a:rPr lang="en-US" altLang="zh-CN" sz="2000" b="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</a:rPr>
                  <a:t>{I1, I2})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= 2/2 = 100%</a:t>
                </a:r>
                <a:endParaRPr lang="en-US" altLang="zh-CN" sz="200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r>
                  <a:rPr lang="en-US" altLang="zh-CN" sz="2000" dirty="0">
                    <a:solidFill>
                      <a:srgbClr val="C00000"/>
                    </a:solidFill>
                  </a:rPr>
                  <a:t>(4)</a:t>
                </a:r>
                <a:r>
                  <a:rPr lang="zh-CN" altLang="en-US" sz="2000" dirty="0">
                    <a:solidFill>
                      <a:srgbClr val="C00000"/>
                    </a:solidFill>
                  </a:rPr>
                  <a:t>confidence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({I1, I2}</a:t>
                </a:r>
                <a:r>
                  <a:rPr lang="en-US" altLang="zh-CN" sz="2000" b="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CN" sz="2000" dirty="0">
                    <a:solidFill>
                      <a:srgbClr val="C00000"/>
                    </a:solidFill>
                  </a:rPr>
                  <a:t> {I5}) </a:t>
                </a:r>
                <a:r>
                  <a:rPr lang="zh-CN" altLang="en-US" sz="2000" dirty="0">
                    <a:solidFill>
                      <a:srgbClr val="C00000"/>
                    </a:solidFill>
                  </a:rPr>
                  <a:t>= 2/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4</a:t>
                </a:r>
                <a:r>
                  <a:rPr lang="zh-CN" altLang="en-US" sz="2000" dirty="0">
                    <a:solidFill>
                      <a:srgbClr val="C00000"/>
                    </a:solidFill>
                  </a:rPr>
                  <a:t> = 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50%</a:t>
                </a:r>
              </a:p>
              <a:p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</a:rPr>
                  <a:t>(5)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confidence</a:t>
                </a:r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</a:rPr>
                  <a:t>({I1, I5}</a:t>
                </a:r>
                <a:r>
                  <a:rPr lang="en-US" altLang="zh-CN" sz="2000" b="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</a:rPr>
                  <a:t>{I2})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= 2/</a:t>
                </a:r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</a:rPr>
                  <a:t>2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= </a:t>
                </a:r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</a:rPr>
                  <a:t>100%</a:t>
                </a:r>
              </a:p>
              <a:p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</a:rPr>
                  <a:t>(6)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confidence</a:t>
                </a:r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</a:rPr>
                  <a:t>({I2, I5}</a:t>
                </a:r>
                <a:r>
                  <a:rPr lang="en-US" altLang="zh-CN" sz="2000" b="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altLang="zh-CN" sz="2000" dirty="0">
                    <a:solidFill>
                      <a:schemeClr val="bg2">
                        <a:lumMod val="10000"/>
                      </a:schemeClr>
                    </a:solidFill>
                  </a:rPr>
                  <a:t>{I1})</a:t>
                </a:r>
                <a:r>
                  <a:rPr lang="zh-CN" alt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= 2/2 = 100%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88A3BC2-6793-4AD4-8005-77E0E12A3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8144" y="3718871"/>
                <a:ext cx="6105524" cy="1938992"/>
              </a:xfrm>
              <a:prstGeom prst="rect">
                <a:avLst/>
              </a:prstGeom>
              <a:blipFill>
                <a:blip r:embed="rId8"/>
                <a:stretch>
                  <a:fillRect l="-998" t="-1572" b="-4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0E23D0D5-9383-4C64-AE21-66D767B7F6F0}"/>
              </a:ext>
            </a:extLst>
          </p:cNvPr>
          <p:cNvSpPr txBox="1"/>
          <p:nvPr/>
        </p:nvSpPr>
        <p:spPr>
          <a:xfrm>
            <a:off x="4393246" y="5925459"/>
            <a:ext cx="71193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bg2">
                    <a:lumMod val="10000"/>
                  </a:schemeClr>
                </a:solidFill>
              </a:rPr>
              <a:t>因为给出的最小置信度为</a:t>
            </a:r>
            <a:r>
              <a:rPr lang="en-US" altLang="zh-CN" sz="1800" dirty="0">
                <a:solidFill>
                  <a:schemeClr val="bg2">
                    <a:lumMod val="10000"/>
                  </a:schemeClr>
                </a:solidFill>
              </a:rPr>
              <a:t>70%</a:t>
            </a:r>
            <a:r>
              <a:rPr lang="zh-CN" altLang="en-US" sz="1800" dirty="0">
                <a:solidFill>
                  <a:schemeClr val="bg2">
                    <a:lumMod val="10000"/>
                  </a:schemeClr>
                </a:solidFill>
              </a:rPr>
              <a:t>，因此</a:t>
            </a:r>
            <a:r>
              <a:rPr lang="en-US" altLang="zh-CN" sz="1800" dirty="0">
                <a:solidFill>
                  <a:schemeClr val="bg2">
                    <a:lumMod val="10000"/>
                  </a:schemeClr>
                </a:solidFill>
              </a:rPr>
              <a:t>(3)</a:t>
            </a:r>
            <a:r>
              <a:rPr lang="zh-CN" altLang="en-US" sz="1800" dirty="0">
                <a:solidFill>
                  <a:schemeClr val="bg2">
                    <a:lumMod val="10000"/>
                  </a:schemeClr>
                </a:solidFill>
              </a:rPr>
              <a:t>、</a:t>
            </a:r>
            <a:r>
              <a:rPr lang="en-US" altLang="zh-CN" sz="1800" dirty="0">
                <a:solidFill>
                  <a:schemeClr val="bg2">
                    <a:lumMod val="10000"/>
                  </a:schemeClr>
                </a:solidFill>
              </a:rPr>
              <a:t>(5)</a:t>
            </a:r>
            <a:r>
              <a:rPr lang="zh-CN" altLang="en-US" sz="1800" dirty="0">
                <a:solidFill>
                  <a:schemeClr val="bg2">
                    <a:lumMod val="10000"/>
                  </a:schemeClr>
                </a:solidFill>
              </a:rPr>
              <a:t>、</a:t>
            </a:r>
            <a:r>
              <a:rPr lang="en-US" altLang="zh-CN" sz="1800" dirty="0">
                <a:solidFill>
                  <a:schemeClr val="bg2">
                    <a:lumMod val="10000"/>
                  </a:schemeClr>
                </a:solidFill>
              </a:rPr>
              <a:t>(6)</a:t>
            </a:r>
            <a:r>
              <a:rPr lang="zh-CN" altLang="en-US" sz="1800" dirty="0">
                <a:solidFill>
                  <a:schemeClr val="bg2">
                    <a:lumMod val="10000"/>
                  </a:schemeClr>
                </a:solidFill>
              </a:rPr>
              <a:t>为强关联规则，</a:t>
            </a:r>
            <a:endParaRPr lang="en-US" altLang="zh-CN" sz="18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同理可计算得出，频繁三项集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{I1,I2,I3}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没有产生强关联规则。</a:t>
            </a:r>
            <a:r>
              <a:rPr lang="en-US" altLang="zh-CN" dirty="0"/>
              <a:t>	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4026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/>
              <a:pPr/>
              <a:t>27</a:t>
            </a:fld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4B121CA-4007-4D50-A053-477E267CF35D}"/>
              </a:ext>
            </a:extLst>
          </p:cNvPr>
          <p:cNvGrpSpPr/>
          <p:nvPr/>
        </p:nvGrpSpPr>
        <p:grpSpPr>
          <a:xfrm>
            <a:off x="1862781" y="1044225"/>
            <a:ext cx="9996708" cy="5302254"/>
            <a:chOff x="1769467" y="1288669"/>
            <a:chExt cx="9996708" cy="5302254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263DB12-80D0-4FC0-8791-4BD044394EF6}"/>
                </a:ext>
              </a:extLst>
            </p:cNvPr>
            <p:cNvSpPr/>
            <p:nvPr/>
          </p:nvSpPr>
          <p:spPr>
            <a:xfrm>
              <a:off x="1769467" y="1288669"/>
              <a:ext cx="9996708" cy="5302254"/>
            </a:xfrm>
            <a:prstGeom prst="rect">
              <a:avLst/>
            </a:prstGeom>
            <a:noFill/>
            <a:ln w="57150">
              <a:solidFill>
                <a:srgbClr val="576C8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252811A-E8E2-4389-81D4-F035AAA8C255}"/>
                </a:ext>
              </a:extLst>
            </p:cNvPr>
            <p:cNvSpPr/>
            <p:nvPr/>
          </p:nvSpPr>
          <p:spPr>
            <a:xfrm>
              <a:off x="3229308" y="5749783"/>
              <a:ext cx="8384601" cy="636780"/>
            </a:xfrm>
            <a:custGeom>
              <a:avLst/>
              <a:gdLst>
                <a:gd name="connsiteX0" fmla="*/ 0 w 8418649"/>
                <a:gd name="connsiteY0" fmla="*/ 0 h 566427"/>
                <a:gd name="connsiteX1" fmla="*/ 8418649 w 8418649"/>
                <a:gd name="connsiteY1" fmla="*/ 0 h 566427"/>
                <a:gd name="connsiteX2" fmla="*/ 8418649 w 8418649"/>
                <a:gd name="connsiteY2" fmla="*/ 566427 h 566427"/>
                <a:gd name="connsiteX3" fmla="*/ 0 w 8418649"/>
                <a:gd name="connsiteY3" fmla="*/ 566427 h 566427"/>
                <a:gd name="connsiteX4" fmla="*/ 0 w 8418649"/>
                <a:gd name="connsiteY4" fmla="*/ 0 h 566427"/>
                <a:gd name="connsiteX0" fmla="*/ 328474 w 8747123"/>
                <a:gd name="connsiteY0" fmla="*/ 0 h 566427"/>
                <a:gd name="connsiteX1" fmla="*/ 8747123 w 8747123"/>
                <a:gd name="connsiteY1" fmla="*/ 0 h 566427"/>
                <a:gd name="connsiteX2" fmla="*/ 8747123 w 8747123"/>
                <a:gd name="connsiteY2" fmla="*/ 566427 h 566427"/>
                <a:gd name="connsiteX3" fmla="*/ 0 w 8747123"/>
                <a:gd name="connsiteY3" fmla="*/ 566427 h 566427"/>
                <a:gd name="connsiteX4" fmla="*/ 328474 w 8747123"/>
                <a:gd name="connsiteY4" fmla="*/ 0 h 566427"/>
                <a:gd name="connsiteX0" fmla="*/ 142043 w 8747123"/>
                <a:gd name="connsiteY0" fmla="*/ 0 h 575305"/>
                <a:gd name="connsiteX1" fmla="*/ 8747123 w 8747123"/>
                <a:gd name="connsiteY1" fmla="*/ 8878 h 575305"/>
                <a:gd name="connsiteX2" fmla="*/ 8747123 w 8747123"/>
                <a:gd name="connsiteY2" fmla="*/ 575305 h 575305"/>
                <a:gd name="connsiteX3" fmla="*/ 0 w 8747123"/>
                <a:gd name="connsiteY3" fmla="*/ 575305 h 575305"/>
                <a:gd name="connsiteX4" fmla="*/ 142043 w 8747123"/>
                <a:gd name="connsiteY4" fmla="*/ 0 h 575305"/>
                <a:gd name="connsiteX0" fmla="*/ 142043 w 8747123"/>
                <a:gd name="connsiteY0" fmla="*/ 0 h 575305"/>
                <a:gd name="connsiteX1" fmla="*/ 8747123 w 8747123"/>
                <a:gd name="connsiteY1" fmla="*/ 8878 h 575305"/>
                <a:gd name="connsiteX2" fmla="*/ 8747123 w 8747123"/>
                <a:gd name="connsiteY2" fmla="*/ 575305 h 575305"/>
                <a:gd name="connsiteX3" fmla="*/ 0 w 8747123"/>
                <a:gd name="connsiteY3" fmla="*/ 575305 h 575305"/>
                <a:gd name="connsiteX4" fmla="*/ 142043 w 8747123"/>
                <a:gd name="connsiteY4" fmla="*/ 0 h 575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7123" h="575305">
                  <a:moveTo>
                    <a:pt x="142043" y="0"/>
                  </a:moveTo>
                  <a:lnTo>
                    <a:pt x="8747123" y="8878"/>
                  </a:lnTo>
                  <a:lnTo>
                    <a:pt x="8747123" y="575305"/>
                  </a:lnTo>
                  <a:lnTo>
                    <a:pt x="0" y="575305"/>
                  </a:lnTo>
                  <a:lnTo>
                    <a:pt x="142043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innerShdw blurRad="139700" dist="533400" dir="108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A2803ED-052E-41D9-9A18-5B3D279DF192}"/>
                </a:ext>
              </a:extLst>
            </p:cNvPr>
            <p:cNvSpPr/>
            <p:nvPr/>
          </p:nvSpPr>
          <p:spPr>
            <a:xfrm>
              <a:off x="3500913" y="5843426"/>
              <a:ext cx="795799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endParaRPr lang="zh-CN" altLang="en-US" sz="2400" b="1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/>
                <a:ea typeface="微软雅黑" panose="020B0503020204020204" pitchFamily="34" charset="-122"/>
              </a:endParaRP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48036D88-3A17-4D79-8FC6-94E091B2588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39" t="11466" r="21790" b="14532"/>
          <a:stretch/>
        </p:blipFill>
        <p:spPr>
          <a:xfrm>
            <a:off x="-91876" y="3173026"/>
            <a:ext cx="2743200" cy="35322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DC81E73-3359-4A67-B0AC-28C1387435F3}"/>
              </a:ext>
            </a:extLst>
          </p:cNvPr>
          <p:cNvGraphicFramePr>
            <a:graphicFrameLocks noGrp="1"/>
          </p:cNvGraphicFramePr>
          <p:nvPr/>
        </p:nvGraphicFramePr>
        <p:xfrm>
          <a:off x="2242861" y="1837547"/>
          <a:ext cx="2873348" cy="153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2046">
                  <a:extLst>
                    <a:ext uri="{9D8B030D-6E8A-4147-A177-3AD203B41FA5}">
                      <a16:colId xmlns:a16="http://schemas.microsoft.com/office/drawing/2014/main" val="359833318"/>
                    </a:ext>
                  </a:extLst>
                </a:gridCol>
                <a:gridCol w="1461302">
                  <a:extLst>
                    <a:ext uri="{9D8B030D-6E8A-4147-A177-3AD203B41FA5}">
                      <a16:colId xmlns:a16="http://schemas.microsoft.com/office/drawing/2014/main" val="1132521863"/>
                    </a:ext>
                  </a:extLst>
                </a:gridCol>
              </a:tblGrid>
              <a:tr h="177800">
                <a:tc gridSpan="2">
                  <a:txBody>
                    <a:bodyPr/>
                    <a:lstStyle/>
                    <a:p>
                      <a:pPr marL="0" marR="0" lvl="0" indent="0" algn="ctr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u="none" strike="noStrike" dirty="0">
                          <a:effectLst/>
                        </a:rPr>
                        <a:t>事务数据库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920624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TID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Item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86476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C, 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0001639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37504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B,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0280405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0928675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239198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D1E9C523-8D39-4E88-8DA0-8A85D330A9EF}"/>
              </a:ext>
            </a:extLst>
          </p:cNvPr>
          <p:cNvSpPr txBox="1"/>
          <p:nvPr/>
        </p:nvSpPr>
        <p:spPr>
          <a:xfrm>
            <a:off x="2131107" y="1256220"/>
            <a:ext cx="10003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根据下面给定事务数据库，设定最小支持度为</a:t>
            </a:r>
            <a:r>
              <a:rPr lang="en-US" altLang="zh-CN" b="1" dirty="0"/>
              <a:t>50%</a:t>
            </a:r>
            <a:r>
              <a:rPr lang="zh-CN" altLang="en-US" b="1" dirty="0"/>
              <a:t>，最小置信度为</a:t>
            </a:r>
            <a:r>
              <a:rPr lang="en-US" altLang="zh-CN" b="1" dirty="0"/>
              <a:t>60%</a:t>
            </a:r>
            <a:r>
              <a:rPr lang="zh-CN" altLang="en-US" b="1" dirty="0"/>
              <a:t>，找出所有强关联规则。</a:t>
            </a:r>
          </a:p>
        </p:txBody>
      </p:sp>
    </p:spTree>
    <p:extLst>
      <p:ext uri="{BB962C8B-B14F-4D97-AF65-F5344CB8AC3E}">
        <p14:creationId xmlns:p14="http://schemas.microsoft.com/office/powerpoint/2010/main" val="3578777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4B121CA-4007-4D50-A053-477E267CF35D}"/>
              </a:ext>
            </a:extLst>
          </p:cNvPr>
          <p:cNvGrpSpPr/>
          <p:nvPr/>
        </p:nvGrpSpPr>
        <p:grpSpPr>
          <a:xfrm>
            <a:off x="1862781" y="1044225"/>
            <a:ext cx="9996708" cy="5302254"/>
            <a:chOff x="1769467" y="1288669"/>
            <a:chExt cx="9996708" cy="5302254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263DB12-80D0-4FC0-8791-4BD044394EF6}"/>
                </a:ext>
              </a:extLst>
            </p:cNvPr>
            <p:cNvSpPr/>
            <p:nvPr/>
          </p:nvSpPr>
          <p:spPr>
            <a:xfrm>
              <a:off x="1769467" y="1288669"/>
              <a:ext cx="9996708" cy="5302254"/>
            </a:xfrm>
            <a:prstGeom prst="rect">
              <a:avLst/>
            </a:prstGeom>
            <a:noFill/>
            <a:ln w="57150">
              <a:solidFill>
                <a:srgbClr val="576C8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252811A-E8E2-4389-81D4-F035AAA8C255}"/>
                </a:ext>
              </a:extLst>
            </p:cNvPr>
            <p:cNvSpPr/>
            <p:nvPr/>
          </p:nvSpPr>
          <p:spPr>
            <a:xfrm>
              <a:off x="3229308" y="5749783"/>
              <a:ext cx="8384601" cy="636780"/>
            </a:xfrm>
            <a:custGeom>
              <a:avLst/>
              <a:gdLst>
                <a:gd name="connsiteX0" fmla="*/ 0 w 8418649"/>
                <a:gd name="connsiteY0" fmla="*/ 0 h 566427"/>
                <a:gd name="connsiteX1" fmla="*/ 8418649 w 8418649"/>
                <a:gd name="connsiteY1" fmla="*/ 0 h 566427"/>
                <a:gd name="connsiteX2" fmla="*/ 8418649 w 8418649"/>
                <a:gd name="connsiteY2" fmla="*/ 566427 h 566427"/>
                <a:gd name="connsiteX3" fmla="*/ 0 w 8418649"/>
                <a:gd name="connsiteY3" fmla="*/ 566427 h 566427"/>
                <a:gd name="connsiteX4" fmla="*/ 0 w 8418649"/>
                <a:gd name="connsiteY4" fmla="*/ 0 h 566427"/>
                <a:gd name="connsiteX0" fmla="*/ 328474 w 8747123"/>
                <a:gd name="connsiteY0" fmla="*/ 0 h 566427"/>
                <a:gd name="connsiteX1" fmla="*/ 8747123 w 8747123"/>
                <a:gd name="connsiteY1" fmla="*/ 0 h 566427"/>
                <a:gd name="connsiteX2" fmla="*/ 8747123 w 8747123"/>
                <a:gd name="connsiteY2" fmla="*/ 566427 h 566427"/>
                <a:gd name="connsiteX3" fmla="*/ 0 w 8747123"/>
                <a:gd name="connsiteY3" fmla="*/ 566427 h 566427"/>
                <a:gd name="connsiteX4" fmla="*/ 328474 w 8747123"/>
                <a:gd name="connsiteY4" fmla="*/ 0 h 566427"/>
                <a:gd name="connsiteX0" fmla="*/ 142043 w 8747123"/>
                <a:gd name="connsiteY0" fmla="*/ 0 h 575305"/>
                <a:gd name="connsiteX1" fmla="*/ 8747123 w 8747123"/>
                <a:gd name="connsiteY1" fmla="*/ 8878 h 575305"/>
                <a:gd name="connsiteX2" fmla="*/ 8747123 w 8747123"/>
                <a:gd name="connsiteY2" fmla="*/ 575305 h 575305"/>
                <a:gd name="connsiteX3" fmla="*/ 0 w 8747123"/>
                <a:gd name="connsiteY3" fmla="*/ 575305 h 575305"/>
                <a:gd name="connsiteX4" fmla="*/ 142043 w 8747123"/>
                <a:gd name="connsiteY4" fmla="*/ 0 h 575305"/>
                <a:gd name="connsiteX0" fmla="*/ 142043 w 8747123"/>
                <a:gd name="connsiteY0" fmla="*/ 0 h 575305"/>
                <a:gd name="connsiteX1" fmla="*/ 8747123 w 8747123"/>
                <a:gd name="connsiteY1" fmla="*/ 8878 h 575305"/>
                <a:gd name="connsiteX2" fmla="*/ 8747123 w 8747123"/>
                <a:gd name="connsiteY2" fmla="*/ 575305 h 575305"/>
                <a:gd name="connsiteX3" fmla="*/ 0 w 8747123"/>
                <a:gd name="connsiteY3" fmla="*/ 575305 h 575305"/>
                <a:gd name="connsiteX4" fmla="*/ 142043 w 8747123"/>
                <a:gd name="connsiteY4" fmla="*/ 0 h 575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7123" h="575305">
                  <a:moveTo>
                    <a:pt x="142043" y="0"/>
                  </a:moveTo>
                  <a:lnTo>
                    <a:pt x="8747123" y="8878"/>
                  </a:lnTo>
                  <a:lnTo>
                    <a:pt x="8747123" y="575305"/>
                  </a:lnTo>
                  <a:lnTo>
                    <a:pt x="0" y="575305"/>
                  </a:lnTo>
                  <a:lnTo>
                    <a:pt x="142043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innerShdw blurRad="139700" dist="533400" dir="108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A2803ED-052E-41D9-9A18-5B3D279DF192}"/>
                </a:ext>
              </a:extLst>
            </p:cNvPr>
            <p:cNvSpPr/>
            <p:nvPr/>
          </p:nvSpPr>
          <p:spPr>
            <a:xfrm>
              <a:off x="3500913" y="5843426"/>
              <a:ext cx="795799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endParaRPr lang="zh-CN" altLang="en-US" sz="2400" b="1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DC81E73-3359-4A67-B0AC-28C1387435F3}"/>
              </a:ext>
            </a:extLst>
          </p:cNvPr>
          <p:cNvGraphicFramePr>
            <a:graphicFrameLocks noGrp="1"/>
          </p:cNvGraphicFramePr>
          <p:nvPr/>
        </p:nvGraphicFramePr>
        <p:xfrm>
          <a:off x="2242861" y="1837547"/>
          <a:ext cx="2873348" cy="153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2046">
                  <a:extLst>
                    <a:ext uri="{9D8B030D-6E8A-4147-A177-3AD203B41FA5}">
                      <a16:colId xmlns:a16="http://schemas.microsoft.com/office/drawing/2014/main" val="359833318"/>
                    </a:ext>
                  </a:extLst>
                </a:gridCol>
                <a:gridCol w="1461302">
                  <a:extLst>
                    <a:ext uri="{9D8B030D-6E8A-4147-A177-3AD203B41FA5}">
                      <a16:colId xmlns:a16="http://schemas.microsoft.com/office/drawing/2014/main" val="1132521863"/>
                    </a:ext>
                  </a:extLst>
                </a:gridCol>
              </a:tblGrid>
              <a:tr h="177800">
                <a:tc gridSpan="2">
                  <a:txBody>
                    <a:bodyPr/>
                    <a:lstStyle/>
                    <a:p>
                      <a:pPr marL="0" marR="0" lvl="0" indent="0" algn="ctr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u="none" strike="noStrike" dirty="0">
                          <a:effectLst/>
                        </a:rPr>
                        <a:t>事务数据库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920624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TID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Item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86476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C, 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0001639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37504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B,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0280405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0928675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239198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D1E9C523-8D39-4E88-8DA0-8A85D330A9EF}"/>
              </a:ext>
            </a:extLst>
          </p:cNvPr>
          <p:cNvSpPr txBox="1"/>
          <p:nvPr/>
        </p:nvSpPr>
        <p:spPr>
          <a:xfrm>
            <a:off x="2131107" y="1256220"/>
            <a:ext cx="10003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根据下面给定事务数据库，设定最小支持度为</a:t>
            </a:r>
            <a:r>
              <a:rPr lang="en-US" altLang="zh-CN" b="1" dirty="0"/>
              <a:t>50%</a:t>
            </a:r>
            <a:r>
              <a:rPr lang="zh-CN" altLang="en-US" b="1" dirty="0"/>
              <a:t>，最小置信度为</a:t>
            </a:r>
            <a:r>
              <a:rPr lang="en-US" altLang="zh-CN" b="1" dirty="0"/>
              <a:t>60%</a:t>
            </a:r>
            <a:r>
              <a:rPr lang="zh-CN" altLang="en-US" b="1" dirty="0"/>
              <a:t>，找出所有强关联规则。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011525-EFDD-4F3B-89A4-2660E63E56F8}"/>
              </a:ext>
            </a:extLst>
          </p:cNvPr>
          <p:cNvSpPr txBox="1"/>
          <p:nvPr/>
        </p:nvSpPr>
        <p:spPr>
          <a:xfrm>
            <a:off x="5496289" y="1889311"/>
            <a:ext cx="3024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/>
              <a:t>PhaseⅠ</a:t>
            </a:r>
            <a:r>
              <a:rPr lang="en-US" altLang="zh-CN" b="1" dirty="0"/>
              <a:t> </a:t>
            </a:r>
            <a:r>
              <a:rPr lang="zh-CN" altLang="en-US" b="1" dirty="0"/>
              <a:t>找出所有频繁项集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C08E442-54B9-4F32-A46F-8122DA68E3A6}"/>
              </a:ext>
            </a:extLst>
          </p:cNvPr>
          <p:cNvSpPr txBox="1"/>
          <p:nvPr/>
        </p:nvSpPr>
        <p:spPr>
          <a:xfrm>
            <a:off x="5577299" y="3129655"/>
            <a:ext cx="721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C</a:t>
            </a:r>
            <a:r>
              <a:rPr lang="en-US" altLang="zh-CN" sz="11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0F43205-15B5-4A68-98EE-DD4C04ED8F21}"/>
              </a:ext>
            </a:extLst>
          </p:cNvPr>
          <p:cNvSpPr txBox="1"/>
          <p:nvPr/>
        </p:nvSpPr>
        <p:spPr>
          <a:xfrm>
            <a:off x="5496289" y="2319793"/>
            <a:ext cx="62524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Step1</a:t>
            </a:r>
            <a:r>
              <a:rPr lang="zh-CN" altLang="en-US" dirty="0"/>
              <a:t> 扫描事务数据库</a:t>
            </a:r>
            <a:r>
              <a:rPr lang="en-US" altLang="zh-CN" dirty="0"/>
              <a:t>D</a:t>
            </a:r>
            <a:r>
              <a:rPr lang="zh-CN" altLang="en-US" dirty="0"/>
              <a:t>，生成单个物品项集，即候选</a:t>
            </a:r>
            <a:r>
              <a:rPr lang="en-US" altLang="zh-CN" dirty="0"/>
              <a:t>1</a:t>
            </a:r>
            <a:r>
              <a:rPr lang="zh-CN" altLang="en-US" dirty="0"/>
              <a:t>项集，计算每个项的支持度，候选项集记为</a:t>
            </a:r>
            <a:r>
              <a:rPr lang="en-US" altLang="zh-CN" dirty="0"/>
              <a:t>C1</a:t>
            </a:r>
            <a:r>
              <a:rPr lang="zh-CN" altLang="en-US" dirty="0"/>
              <a:t> 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A721CF3F-0CE9-4CBF-B451-102AD7B34168}"/>
              </a:ext>
            </a:extLst>
          </p:cNvPr>
          <p:cNvGraphicFramePr>
            <a:graphicFrameLocks noGrp="1"/>
          </p:cNvGraphicFramePr>
          <p:nvPr/>
        </p:nvGraphicFramePr>
        <p:xfrm>
          <a:off x="6029051" y="3222861"/>
          <a:ext cx="1739900" cy="1318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4026466209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122614215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项集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支持度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81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A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1707179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B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2702044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C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071210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5082420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6937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97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/>
              <a:pPr/>
              <a:t>29</a:t>
            </a:fld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4B121CA-4007-4D50-A053-477E267CF35D}"/>
              </a:ext>
            </a:extLst>
          </p:cNvPr>
          <p:cNvGrpSpPr/>
          <p:nvPr/>
        </p:nvGrpSpPr>
        <p:grpSpPr>
          <a:xfrm>
            <a:off x="1862781" y="1044225"/>
            <a:ext cx="9996708" cy="5302254"/>
            <a:chOff x="1769467" y="1288669"/>
            <a:chExt cx="9996708" cy="5302254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263DB12-80D0-4FC0-8791-4BD044394EF6}"/>
                </a:ext>
              </a:extLst>
            </p:cNvPr>
            <p:cNvSpPr/>
            <p:nvPr/>
          </p:nvSpPr>
          <p:spPr>
            <a:xfrm>
              <a:off x="1769467" y="1288669"/>
              <a:ext cx="9996708" cy="5302254"/>
            </a:xfrm>
            <a:prstGeom prst="rect">
              <a:avLst/>
            </a:prstGeom>
            <a:noFill/>
            <a:ln w="57150">
              <a:solidFill>
                <a:srgbClr val="576C8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252811A-E8E2-4389-81D4-F035AAA8C255}"/>
                </a:ext>
              </a:extLst>
            </p:cNvPr>
            <p:cNvSpPr/>
            <p:nvPr/>
          </p:nvSpPr>
          <p:spPr>
            <a:xfrm>
              <a:off x="3229308" y="5749783"/>
              <a:ext cx="8384601" cy="636780"/>
            </a:xfrm>
            <a:custGeom>
              <a:avLst/>
              <a:gdLst>
                <a:gd name="connsiteX0" fmla="*/ 0 w 8418649"/>
                <a:gd name="connsiteY0" fmla="*/ 0 h 566427"/>
                <a:gd name="connsiteX1" fmla="*/ 8418649 w 8418649"/>
                <a:gd name="connsiteY1" fmla="*/ 0 h 566427"/>
                <a:gd name="connsiteX2" fmla="*/ 8418649 w 8418649"/>
                <a:gd name="connsiteY2" fmla="*/ 566427 h 566427"/>
                <a:gd name="connsiteX3" fmla="*/ 0 w 8418649"/>
                <a:gd name="connsiteY3" fmla="*/ 566427 h 566427"/>
                <a:gd name="connsiteX4" fmla="*/ 0 w 8418649"/>
                <a:gd name="connsiteY4" fmla="*/ 0 h 566427"/>
                <a:gd name="connsiteX0" fmla="*/ 328474 w 8747123"/>
                <a:gd name="connsiteY0" fmla="*/ 0 h 566427"/>
                <a:gd name="connsiteX1" fmla="*/ 8747123 w 8747123"/>
                <a:gd name="connsiteY1" fmla="*/ 0 h 566427"/>
                <a:gd name="connsiteX2" fmla="*/ 8747123 w 8747123"/>
                <a:gd name="connsiteY2" fmla="*/ 566427 h 566427"/>
                <a:gd name="connsiteX3" fmla="*/ 0 w 8747123"/>
                <a:gd name="connsiteY3" fmla="*/ 566427 h 566427"/>
                <a:gd name="connsiteX4" fmla="*/ 328474 w 8747123"/>
                <a:gd name="connsiteY4" fmla="*/ 0 h 566427"/>
                <a:gd name="connsiteX0" fmla="*/ 142043 w 8747123"/>
                <a:gd name="connsiteY0" fmla="*/ 0 h 575305"/>
                <a:gd name="connsiteX1" fmla="*/ 8747123 w 8747123"/>
                <a:gd name="connsiteY1" fmla="*/ 8878 h 575305"/>
                <a:gd name="connsiteX2" fmla="*/ 8747123 w 8747123"/>
                <a:gd name="connsiteY2" fmla="*/ 575305 h 575305"/>
                <a:gd name="connsiteX3" fmla="*/ 0 w 8747123"/>
                <a:gd name="connsiteY3" fmla="*/ 575305 h 575305"/>
                <a:gd name="connsiteX4" fmla="*/ 142043 w 8747123"/>
                <a:gd name="connsiteY4" fmla="*/ 0 h 575305"/>
                <a:gd name="connsiteX0" fmla="*/ 142043 w 8747123"/>
                <a:gd name="connsiteY0" fmla="*/ 0 h 575305"/>
                <a:gd name="connsiteX1" fmla="*/ 8747123 w 8747123"/>
                <a:gd name="connsiteY1" fmla="*/ 8878 h 575305"/>
                <a:gd name="connsiteX2" fmla="*/ 8747123 w 8747123"/>
                <a:gd name="connsiteY2" fmla="*/ 575305 h 575305"/>
                <a:gd name="connsiteX3" fmla="*/ 0 w 8747123"/>
                <a:gd name="connsiteY3" fmla="*/ 575305 h 575305"/>
                <a:gd name="connsiteX4" fmla="*/ 142043 w 8747123"/>
                <a:gd name="connsiteY4" fmla="*/ 0 h 575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7123" h="575305">
                  <a:moveTo>
                    <a:pt x="142043" y="0"/>
                  </a:moveTo>
                  <a:lnTo>
                    <a:pt x="8747123" y="8878"/>
                  </a:lnTo>
                  <a:lnTo>
                    <a:pt x="8747123" y="575305"/>
                  </a:lnTo>
                  <a:lnTo>
                    <a:pt x="0" y="575305"/>
                  </a:lnTo>
                  <a:lnTo>
                    <a:pt x="142043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innerShdw blurRad="139700" dist="533400" dir="108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A2803ED-052E-41D9-9A18-5B3D279DF192}"/>
                </a:ext>
              </a:extLst>
            </p:cNvPr>
            <p:cNvSpPr/>
            <p:nvPr/>
          </p:nvSpPr>
          <p:spPr>
            <a:xfrm>
              <a:off x="3500913" y="5843426"/>
              <a:ext cx="795799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endParaRPr lang="zh-CN" altLang="en-US" sz="2400" b="1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DC81E73-3359-4A67-B0AC-28C1387435F3}"/>
              </a:ext>
            </a:extLst>
          </p:cNvPr>
          <p:cNvGraphicFramePr>
            <a:graphicFrameLocks noGrp="1"/>
          </p:cNvGraphicFramePr>
          <p:nvPr/>
        </p:nvGraphicFramePr>
        <p:xfrm>
          <a:off x="2242861" y="1837547"/>
          <a:ext cx="2873348" cy="153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2046">
                  <a:extLst>
                    <a:ext uri="{9D8B030D-6E8A-4147-A177-3AD203B41FA5}">
                      <a16:colId xmlns:a16="http://schemas.microsoft.com/office/drawing/2014/main" val="359833318"/>
                    </a:ext>
                  </a:extLst>
                </a:gridCol>
                <a:gridCol w="1461302">
                  <a:extLst>
                    <a:ext uri="{9D8B030D-6E8A-4147-A177-3AD203B41FA5}">
                      <a16:colId xmlns:a16="http://schemas.microsoft.com/office/drawing/2014/main" val="1132521863"/>
                    </a:ext>
                  </a:extLst>
                </a:gridCol>
              </a:tblGrid>
              <a:tr h="177800">
                <a:tc gridSpan="2">
                  <a:txBody>
                    <a:bodyPr/>
                    <a:lstStyle/>
                    <a:p>
                      <a:pPr marL="0" marR="0" lvl="0" indent="0" algn="ctr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u="none" strike="noStrike" dirty="0">
                          <a:effectLst/>
                        </a:rPr>
                        <a:t>事务数据库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920624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TID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Item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86476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C, 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0001639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37504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B,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0280405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0928675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239198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D1E9C523-8D39-4E88-8DA0-8A85D330A9EF}"/>
              </a:ext>
            </a:extLst>
          </p:cNvPr>
          <p:cNvSpPr txBox="1"/>
          <p:nvPr/>
        </p:nvSpPr>
        <p:spPr>
          <a:xfrm>
            <a:off x="2131107" y="1256220"/>
            <a:ext cx="10003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根据下面给定事务数据库，设定最小支持度为</a:t>
            </a:r>
            <a:r>
              <a:rPr lang="en-US" altLang="zh-CN" b="1" dirty="0"/>
              <a:t>50%</a:t>
            </a:r>
            <a:r>
              <a:rPr lang="zh-CN" altLang="en-US" b="1" dirty="0"/>
              <a:t>，最小置信度为</a:t>
            </a:r>
            <a:r>
              <a:rPr lang="en-US" altLang="zh-CN" b="1" dirty="0"/>
              <a:t>60%</a:t>
            </a:r>
            <a:r>
              <a:rPr lang="zh-CN" altLang="en-US" b="1" dirty="0"/>
              <a:t>，找出所有强关联规则。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011525-EFDD-4F3B-89A4-2660E63E56F8}"/>
              </a:ext>
            </a:extLst>
          </p:cNvPr>
          <p:cNvSpPr txBox="1"/>
          <p:nvPr/>
        </p:nvSpPr>
        <p:spPr>
          <a:xfrm>
            <a:off x="5496289" y="1889311"/>
            <a:ext cx="3024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/>
              <a:t>PhaseⅠ</a:t>
            </a:r>
            <a:r>
              <a:rPr lang="en-US" altLang="zh-CN" b="1" dirty="0"/>
              <a:t> </a:t>
            </a:r>
            <a:r>
              <a:rPr lang="zh-CN" altLang="en-US" b="1" dirty="0"/>
              <a:t>找出所有频繁项集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C08E442-54B9-4F32-A46F-8122DA68E3A6}"/>
              </a:ext>
            </a:extLst>
          </p:cNvPr>
          <p:cNvSpPr txBox="1"/>
          <p:nvPr/>
        </p:nvSpPr>
        <p:spPr>
          <a:xfrm>
            <a:off x="5577299" y="3129655"/>
            <a:ext cx="721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L</a:t>
            </a:r>
            <a:r>
              <a:rPr lang="en-US" altLang="zh-CN" sz="11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0F43205-15B5-4A68-98EE-DD4C04ED8F21}"/>
              </a:ext>
            </a:extLst>
          </p:cNvPr>
          <p:cNvSpPr txBox="1"/>
          <p:nvPr/>
        </p:nvSpPr>
        <p:spPr>
          <a:xfrm>
            <a:off x="5496289" y="2319793"/>
            <a:ext cx="62524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Step2 </a:t>
            </a:r>
            <a:r>
              <a:rPr lang="zh-CN" altLang="en-US" dirty="0"/>
              <a:t>根据最小支持度，确定频繁</a:t>
            </a:r>
            <a:r>
              <a:rPr lang="en-US" altLang="zh-CN" dirty="0"/>
              <a:t>1</a:t>
            </a:r>
            <a:r>
              <a:rPr lang="zh-CN" altLang="en-US" dirty="0"/>
              <a:t>项集的集合，频繁</a:t>
            </a:r>
            <a:r>
              <a:rPr lang="en-US" altLang="zh-CN" dirty="0"/>
              <a:t>1</a:t>
            </a:r>
            <a:r>
              <a:rPr lang="zh-CN" altLang="en-US" dirty="0"/>
              <a:t>项集记作</a:t>
            </a:r>
            <a:r>
              <a:rPr lang="en-US" altLang="zh-CN" dirty="0"/>
              <a:t>L1</a:t>
            </a:r>
            <a:endParaRPr lang="zh-CN" altLang="en-US" dirty="0"/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A721CF3F-0CE9-4CBF-B451-102AD7B34168}"/>
              </a:ext>
            </a:extLst>
          </p:cNvPr>
          <p:cNvGraphicFramePr>
            <a:graphicFrameLocks noGrp="1"/>
          </p:cNvGraphicFramePr>
          <p:nvPr/>
        </p:nvGraphicFramePr>
        <p:xfrm>
          <a:off x="6029051" y="3222861"/>
          <a:ext cx="1739900" cy="1098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4026466209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122614215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项集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支持度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81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A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  <a:endParaRPr lang="en-US" altLang="zh-CN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1707179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B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  <a:endParaRPr lang="en-US" altLang="zh-CN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2702044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C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4</a:t>
                      </a:r>
                      <a:endParaRPr lang="en-US" altLang="zh-CN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071210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6937820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313ADD33-9198-447A-ABC8-123BA9037EA8}"/>
              </a:ext>
            </a:extLst>
          </p:cNvPr>
          <p:cNvSpPr txBox="1"/>
          <p:nvPr/>
        </p:nvSpPr>
        <p:spPr>
          <a:xfrm>
            <a:off x="9215558" y="3106617"/>
            <a:ext cx="721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C</a:t>
            </a:r>
            <a:r>
              <a:rPr lang="en-US" altLang="zh-CN" sz="11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en-US" altLang="zh-CN" dirty="0"/>
              <a:t> </a:t>
            </a:r>
            <a:endParaRPr lang="zh-CN" altLang="en-US" dirty="0"/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34793660-6E86-47FB-AE2D-D84BE1E60466}"/>
              </a:ext>
            </a:extLst>
          </p:cNvPr>
          <p:cNvGraphicFramePr>
            <a:graphicFrameLocks noGrp="1"/>
          </p:cNvGraphicFramePr>
          <p:nvPr/>
        </p:nvGraphicFramePr>
        <p:xfrm>
          <a:off x="9667310" y="3204465"/>
          <a:ext cx="1739900" cy="1318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4026466209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122614215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项集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支持度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81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A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1707179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B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2702044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C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071210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5082420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6937820"/>
                  </a:ext>
                </a:extLst>
              </a:tr>
            </a:tbl>
          </a:graphicData>
        </a:graphic>
      </p:graphicFrame>
      <p:sp>
        <p:nvSpPr>
          <p:cNvPr id="9" name="箭头: 右 8">
            <a:extLst>
              <a:ext uri="{FF2B5EF4-FFF2-40B4-BE49-F238E27FC236}">
                <a16:creationId xmlns:a16="http://schemas.microsoft.com/office/drawing/2014/main" id="{D9790F50-78E1-4C3A-B18C-BEE6F1497AFD}"/>
              </a:ext>
            </a:extLst>
          </p:cNvPr>
          <p:cNvSpPr/>
          <p:nvPr/>
        </p:nvSpPr>
        <p:spPr>
          <a:xfrm rot="10800000">
            <a:off x="8392748" y="3787565"/>
            <a:ext cx="459520" cy="14277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73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/>
              <a:pPr/>
              <a:t>30</a:t>
            </a:fld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4B121CA-4007-4D50-A053-477E267CF35D}"/>
              </a:ext>
            </a:extLst>
          </p:cNvPr>
          <p:cNvGrpSpPr/>
          <p:nvPr/>
        </p:nvGrpSpPr>
        <p:grpSpPr>
          <a:xfrm>
            <a:off x="1862781" y="1044225"/>
            <a:ext cx="9996708" cy="5302254"/>
            <a:chOff x="1769467" y="1288669"/>
            <a:chExt cx="9996708" cy="5302254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263DB12-80D0-4FC0-8791-4BD044394EF6}"/>
                </a:ext>
              </a:extLst>
            </p:cNvPr>
            <p:cNvSpPr/>
            <p:nvPr/>
          </p:nvSpPr>
          <p:spPr>
            <a:xfrm>
              <a:off x="1769467" y="1288669"/>
              <a:ext cx="9996708" cy="5302254"/>
            </a:xfrm>
            <a:prstGeom prst="rect">
              <a:avLst/>
            </a:prstGeom>
            <a:noFill/>
            <a:ln w="57150">
              <a:solidFill>
                <a:srgbClr val="576C8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252811A-E8E2-4389-81D4-F035AAA8C255}"/>
                </a:ext>
              </a:extLst>
            </p:cNvPr>
            <p:cNvSpPr/>
            <p:nvPr/>
          </p:nvSpPr>
          <p:spPr>
            <a:xfrm>
              <a:off x="3229308" y="5749783"/>
              <a:ext cx="8384601" cy="636780"/>
            </a:xfrm>
            <a:custGeom>
              <a:avLst/>
              <a:gdLst>
                <a:gd name="connsiteX0" fmla="*/ 0 w 8418649"/>
                <a:gd name="connsiteY0" fmla="*/ 0 h 566427"/>
                <a:gd name="connsiteX1" fmla="*/ 8418649 w 8418649"/>
                <a:gd name="connsiteY1" fmla="*/ 0 h 566427"/>
                <a:gd name="connsiteX2" fmla="*/ 8418649 w 8418649"/>
                <a:gd name="connsiteY2" fmla="*/ 566427 h 566427"/>
                <a:gd name="connsiteX3" fmla="*/ 0 w 8418649"/>
                <a:gd name="connsiteY3" fmla="*/ 566427 h 566427"/>
                <a:gd name="connsiteX4" fmla="*/ 0 w 8418649"/>
                <a:gd name="connsiteY4" fmla="*/ 0 h 566427"/>
                <a:gd name="connsiteX0" fmla="*/ 328474 w 8747123"/>
                <a:gd name="connsiteY0" fmla="*/ 0 h 566427"/>
                <a:gd name="connsiteX1" fmla="*/ 8747123 w 8747123"/>
                <a:gd name="connsiteY1" fmla="*/ 0 h 566427"/>
                <a:gd name="connsiteX2" fmla="*/ 8747123 w 8747123"/>
                <a:gd name="connsiteY2" fmla="*/ 566427 h 566427"/>
                <a:gd name="connsiteX3" fmla="*/ 0 w 8747123"/>
                <a:gd name="connsiteY3" fmla="*/ 566427 h 566427"/>
                <a:gd name="connsiteX4" fmla="*/ 328474 w 8747123"/>
                <a:gd name="connsiteY4" fmla="*/ 0 h 566427"/>
                <a:gd name="connsiteX0" fmla="*/ 142043 w 8747123"/>
                <a:gd name="connsiteY0" fmla="*/ 0 h 575305"/>
                <a:gd name="connsiteX1" fmla="*/ 8747123 w 8747123"/>
                <a:gd name="connsiteY1" fmla="*/ 8878 h 575305"/>
                <a:gd name="connsiteX2" fmla="*/ 8747123 w 8747123"/>
                <a:gd name="connsiteY2" fmla="*/ 575305 h 575305"/>
                <a:gd name="connsiteX3" fmla="*/ 0 w 8747123"/>
                <a:gd name="connsiteY3" fmla="*/ 575305 h 575305"/>
                <a:gd name="connsiteX4" fmla="*/ 142043 w 8747123"/>
                <a:gd name="connsiteY4" fmla="*/ 0 h 575305"/>
                <a:gd name="connsiteX0" fmla="*/ 142043 w 8747123"/>
                <a:gd name="connsiteY0" fmla="*/ 0 h 575305"/>
                <a:gd name="connsiteX1" fmla="*/ 8747123 w 8747123"/>
                <a:gd name="connsiteY1" fmla="*/ 8878 h 575305"/>
                <a:gd name="connsiteX2" fmla="*/ 8747123 w 8747123"/>
                <a:gd name="connsiteY2" fmla="*/ 575305 h 575305"/>
                <a:gd name="connsiteX3" fmla="*/ 0 w 8747123"/>
                <a:gd name="connsiteY3" fmla="*/ 575305 h 575305"/>
                <a:gd name="connsiteX4" fmla="*/ 142043 w 8747123"/>
                <a:gd name="connsiteY4" fmla="*/ 0 h 575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7123" h="575305">
                  <a:moveTo>
                    <a:pt x="142043" y="0"/>
                  </a:moveTo>
                  <a:lnTo>
                    <a:pt x="8747123" y="8878"/>
                  </a:lnTo>
                  <a:lnTo>
                    <a:pt x="8747123" y="575305"/>
                  </a:lnTo>
                  <a:lnTo>
                    <a:pt x="0" y="575305"/>
                  </a:lnTo>
                  <a:lnTo>
                    <a:pt x="142043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innerShdw blurRad="139700" dist="533400" dir="108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A2803ED-052E-41D9-9A18-5B3D279DF192}"/>
                </a:ext>
              </a:extLst>
            </p:cNvPr>
            <p:cNvSpPr/>
            <p:nvPr/>
          </p:nvSpPr>
          <p:spPr>
            <a:xfrm>
              <a:off x="3500913" y="5843426"/>
              <a:ext cx="795799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endParaRPr lang="zh-CN" altLang="en-US" sz="2400" b="1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DC81E73-3359-4A67-B0AC-28C1387435F3}"/>
              </a:ext>
            </a:extLst>
          </p:cNvPr>
          <p:cNvGraphicFramePr>
            <a:graphicFrameLocks noGrp="1"/>
          </p:cNvGraphicFramePr>
          <p:nvPr/>
        </p:nvGraphicFramePr>
        <p:xfrm>
          <a:off x="2242861" y="1837547"/>
          <a:ext cx="2873348" cy="153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2046">
                  <a:extLst>
                    <a:ext uri="{9D8B030D-6E8A-4147-A177-3AD203B41FA5}">
                      <a16:colId xmlns:a16="http://schemas.microsoft.com/office/drawing/2014/main" val="359833318"/>
                    </a:ext>
                  </a:extLst>
                </a:gridCol>
                <a:gridCol w="1461302">
                  <a:extLst>
                    <a:ext uri="{9D8B030D-6E8A-4147-A177-3AD203B41FA5}">
                      <a16:colId xmlns:a16="http://schemas.microsoft.com/office/drawing/2014/main" val="1132521863"/>
                    </a:ext>
                  </a:extLst>
                </a:gridCol>
              </a:tblGrid>
              <a:tr h="177800">
                <a:tc gridSpan="2">
                  <a:txBody>
                    <a:bodyPr/>
                    <a:lstStyle/>
                    <a:p>
                      <a:pPr marL="0" marR="0" lvl="0" indent="0" algn="ctr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u="none" strike="noStrike" dirty="0">
                          <a:effectLst/>
                        </a:rPr>
                        <a:t>事务数据库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920624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TID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Item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86476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C, 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0001639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37504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B,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0280405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0928675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239198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D1E9C523-8D39-4E88-8DA0-8A85D330A9EF}"/>
              </a:ext>
            </a:extLst>
          </p:cNvPr>
          <p:cNvSpPr txBox="1"/>
          <p:nvPr/>
        </p:nvSpPr>
        <p:spPr>
          <a:xfrm>
            <a:off x="2131107" y="1256220"/>
            <a:ext cx="10003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根据下面给定事务数据库，设定最小支持度为</a:t>
            </a:r>
            <a:r>
              <a:rPr lang="en-US" altLang="zh-CN" b="1" dirty="0"/>
              <a:t>50%</a:t>
            </a:r>
            <a:r>
              <a:rPr lang="zh-CN" altLang="en-US" b="1" dirty="0"/>
              <a:t>，最小置信度为</a:t>
            </a:r>
            <a:r>
              <a:rPr lang="en-US" altLang="zh-CN" b="1" dirty="0"/>
              <a:t>60%</a:t>
            </a:r>
            <a:r>
              <a:rPr lang="zh-CN" altLang="en-US" b="1" dirty="0"/>
              <a:t>，找出所有强关联规则。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011525-EFDD-4F3B-89A4-2660E63E56F8}"/>
              </a:ext>
            </a:extLst>
          </p:cNvPr>
          <p:cNvSpPr txBox="1"/>
          <p:nvPr/>
        </p:nvSpPr>
        <p:spPr>
          <a:xfrm>
            <a:off x="5496289" y="1889311"/>
            <a:ext cx="3024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/>
              <a:t>PhaseⅠ</a:t>
            </a:r>
            <a:r>
              <a:rPr lang="en-US" altLang="zh-CN" b="1" dirty="0"/>
              <a:t> </a:t>
            </a:r>
            <a:r>
              <a:rPr lang="zh-CN" altLang="en-US" b="1" dirty="0"/>
              <a:t>找出所有频繁项集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C08E442-54B9-4F32-A46F-8122DA68E3A6}"/>
              </a:ext>
            </a:extLst>
          </p:cNvPr>
          <p:cNvSpPr txBox="1"/>
          <p:nvPr/>
        </p:nvSpPr>
        <p:spPr>
          <a:xfrm>
            <a:off x="5577299" y="3129655"/>
            <a:ext cx="721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C</a:t>
            </a:r>
            <a:r>
              <a:rPr lang="en-US" altLang="zh-CN" sz="11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0F43205-15B5-4A68-98EE-DD4C04ED8F21}"/>
              </a:ext>
            </a:extLst>
          </p:cNvPr>
          <p:cNvSpPr txBox="1"/>
          <p:nvPr/>
        </p:nvSpPr>
        <p:spPr>
          <a:xfrm>
            <a:off x="5496289" y="2319793"/>
            <a:ext cx="62524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Step3 </a:t>
            </a:r>
            <a:r>
              <a:rPr lang="zh-CN" altLang="en-US" dirty="0"/>
              <a:t>生成候选</a:t>
            </a:r>
            <a:r>
              <a:rPr lang="en-US" altLang="zh-CN" dirty="0"/>
              <a:t>2</a:t>
            </a:r>
            <a:r>
              <a:rPr lang="zh-CN" altLang="en-US" dirty="0"/>
              <a:t>项集的集合</a:t>
            </a:r>
            <a:r>
              <a:rPr lang="en-US" altLang="zh-CN" dirty="0"/>
              <a:t>C2</a:t>
            </a:r>
            <a:r>
              <a:rPr lang="zh-CN" altLang="en-US" dirty="0"/>
              <a:t>，扫描事务数据库</a:t>
            </a:r>
            <a:r>
              <a:rPr lang="en-US" altLang="zh-CN" dirty="0"/>
              <a:t>D</a:t>
            </a:r>
            <a:r>
              <a:rPr lang="zh-CN" altLang="en-US" dirty="0"/>
              <a:t>，计算每个项集的支持度计数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A721CF3F-0CE9-4CBF-B451-102AD7B34168}"/>
              </a:ext>
            </a:extLst>
          </p:cNvPr>
          <p:cNvGraphicFramePr>
            <a:graphicFrameLocks noGrp="1"/>
          </p:cNvGraphicFramePr>
          <p:nvPr/>
        </p:nvGraphicFramePr>
        <p:xfrm>
          <a:off x="6029051" y="3222861"/>
          <a:ext cx="1739900" cy="153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4026466209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122614215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项集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支持度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81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{A, B}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1707179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{A, C}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2702044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{A,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071210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{B, C}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3693782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{B,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6635628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{C,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519261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313ADD33-9198-447A-ABC8-123BA9037EA8}"/>
              </a:ext>
            </a:extLst>
          </p:cNvPr>
          <p:cNvSpPr txBox="1"/>
          <p:nvPr/>
        </p:nvSpPr>
        <p:spPr>
          <a:xfrm>
            <a:off x="9215558" y="3106617"/>
            <a:ext cx="721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L</a:t>
            </a:r>
            <a:r>
              <a:rPr lang="en-US" altLang="zh-CN" sz="11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en-US" altLang="zh-CN" dirty="0"/>
              <a:t> </a:t>
            </a:r>
            <a:endParaRPr lang="zh-CN" altLang="en-US" dirty="0"/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34793660-6E86-47FB-AE2D-D84BE1E60466}"/>
              </a:ext>
            </a:extLst>
          </p:cNvPr>
          <p:cNvGraphicFramePr>
            <a:graphicFrameLocks noGrp="1"/>
          </p:cNvGraphicFramePr>
          <p:nvPr/>
        </p:nvGraphicFramePr>
        <p:xfrm>
          <a:off x="9667310" y="3204465"/>
          <a:ext cx="1739900" cy="1098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4026466209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122614215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项集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支持度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81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A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1707179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B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2702044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C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071210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6937820"/>
                  </a:ext>
                </a:extLst>
              </a:tr>
            </a:tbl>
          </a:graphicData>
        </a:graphic>
      </p:graphicFrame>
      <p:sp>
        <p:nvSpPr>
          <p:cNvPr id="9" name="箭头: 右 8">
            <a:extLst>
              <a:ext uri="{FF2B5EF4-FFF2-40B4-BE49-F238E27FC236}">
                <a16:creationId xmlns:a16="http://schemas.microsoft.com/office/drawing/2014/main" id="{D9790F50-78E1-4C3A-B18C-BEE6F1497AFD}"/>
              </a:ext>
            </a:extLst>
          </p:cNvPr>
          <p:cNvSpPr/>
          <p:nvPr/>
        </p:nvSpPr>
        <p:spPr>
          <a:xfrm rot="10800000">
            <a:off x="8392748" y="3787565"/>
            <a:ext cx="459520" cy="14277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55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320AB6DF-C44E-466D-9EA9-F924B624FF9A}"/>
              </a:ext>
            </a:extLst>
          </p:cNvPr>
          <p:cNvGraphicFramePr>
            <a:graphicFrameLocks noGrp="1"/>
          </p:cNvGraphicFramePr>
          <p:nvPr/>
        </p:nvGraphicFramePr>
        <p:xfrm>
          <a:off x="9664923" y="3217662"/>
          <a:ext cx="1739900" cy="153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4026466209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122614215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项集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支持度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81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{A, B}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1707179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{A, C}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2702044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{A,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071210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{B, C}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3693782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{B,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6635628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{C,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519261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/>
              <a:pPr/>
              <a:t>31</a:t>
            </a:fld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4B121CA-4007-4D50-A053-477E267CF35D}"/>
              </a:ext>
            </a:extLst>
          </p:cNvPr>
          <p:cNvGrpSpPr/>
          <p:nvPr/>
        </p:nvGrpSpPr>
        <p:grpSpPr>
          <a:xfrm>
            <a:off x="1862781" y="1044225"/>
            <a:ext cx="9996708" cy="5302254"/>
            <a:chOff x="1769467" y="1288669"/>
            <a:chExt cx="9996708" cy="5302254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263DB12-80D0-4FC0-8791-4BD044394EF6}"/>
                </a:ext>
              </a:extLst>
            </p:cNvPr>
            <p:cNvSpPr/>
            <p:nvPr/>
          </p:nvSpPr>
          <p:spPr>
            <a:xfrm>
              <a:off x="1769467" y="1288669"/>
              <a:ext cx="9996708" cy="5302254"/>
            </a:xfrm>
            <a:prstGeom prst="rect">
              <a:avLst/>
            </a:prstGeom>
            <a:noFill/>
            <a:ln w="57150">
              <a:solidFill>
                <a:srgbClr val="576C8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252811A-E8E2-4389-81D4-F035AAA8C255}"/>
                </a:ext>
              </a:extLst>
            </p:cNvPr>
            <p:cNvSpPr/>
            <p:nvPr/>
          </p:nvSpPr>
          <p:spPr>
            <a:xfrm>
              <a:off x="3229308" y="5749783"/>
              <a:ext cx="8384601" cy="636780"/>
            </a:xfrm>
            <a:custGeom>
              <a:avLst/>
              <a:gdLst>
                <a:gd name="connsiteX0" fmla="*/ 0 w 8418649"/>
                <a:gd name="connsiteY0" fmla="*/ 0 h 566427"/>
                <a:gd name="connsiteX1" fmla="*/ 8418649 w 8418649"/>
                <a:gd name="connsiteY1" fmla="*/ 0 h 566427"/>
                <a:gd name="connsiteX2" fmla="*/ 8418649 w 8418649"/>
                <a:gd name="connsiteY2" fmla="*/ 566427 h 566427"/>
                <a:gd name="connsiteX3" fmla="*/ 0 w 8418649"/>
                <a:gd name="connsiteY3" fmla="*/ 566427 h 566427"/>
                <a:gd name="connsiteX4" fmla="*/ 0 w 8418649"/>
                <a:gd name="connsiteY4" fmla="*/ 0 h 566427"/>
                <a:gd name="connsiteX0" fmla="*/ 328474 w 8747123"/>
                <a:gd name="connsiteY0" fmla="*/ 0 h 566427"/>
                <a:gd name="connsiteX1" fmla="*/ 8747123 w 8747123"/>
                <a:gd name="connsiteY1" fmla="*/ 0 h 566427"/>
                <a:gd name="connsiteX2" fmla="*/ 8747123 w 8747123"/>
                <a:gd name="connsiteY2" fmla="*/ 566427 h 566427"/>
                <a:gd name="connsiteX3" fmla="*/ 0 w 8747123"/>
                <a:gd name="connsiteY3" fmla="*/ 566427 h 566427"/>
                <a:gd name="connsiteX4" fmla="*/ 328474 w 8747123"/>
                <a:gd name="connsiteY4" fmla="*/ 0 h 566427"/>
                <a:gd name="connsiteX0" fmla="*/ 142043 w 8747123"/>
                <a:gd name="connsiteY0" fmla="*/ 0 h 575305"/>
                <a:gd name="connsiteX1" fmla="*/ 8747123 w 8747123"/>
                <a:gd name="connsiteY1" fmla="*/ 8878 h 575305"/>
                <a:gd name="connsiteX2" fmla="*/ 8747123 w 8747123"/>
                <a:gd name="connsiteY2" fmla="*/ 575305 h 575305"/>
                <a:gd name="connsiteX3" fmla="*/ 0 w 8747123"/>
                <a:gd name="connsiteY3" fmla="*/ 575305 h 575305"/>
                <a:gd name="connsiteX4" fmla="*/ 142043 w 8747123"/>
                <a:gd name="connsiteY4" fmla="*/ 0 h 575305"/>
                <a:gd name="connsiteX0" fmla="*/ 142043 w 8747123"/>
                <a:gd name="connsiteY0" fmla="*/ 0 h 575305"/>
                <a:gd name="connsiteX1" fmla="*/ 8747123 w 8747123"/>
                <a:gd name="connsiteY1" fmla="*/ 8878 h 575305"/>
                <a:gd name="connsiteX2" fmla="*/ 8747123 w 8747123"/>
                <a:gd name="connsiteY2" fmla="*/ 575305 h 575305"/>
                <a:gd name="connsiteX3" fmla="*/ 0 w 8747123"/>
                <a:gd name="connsiteY3" fmla="*/ 575305 h 575305"/>
                <a:gd name="connsiteX4" fmla="*/ 142043 w 8747123"/>
                <a:gd name="connsiteY4" fmla="*/ 0 h 575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7123" h="575305">
                  <a:moveTo>
                    <a:pt x="142043" y="0"/>
                  </a:moveTo>
                  <a:lnTo>
                    <a:pt x="8747123" y="8878"/>
                  </a:lnTo>
                  <a:lnTo>
                    <a:pt x="8747123" y="575305"/>
                  </a:lnTo>
                  <a:lnTo>
                    <a:pt x="0" y="575305"/>
                  </a:lnTo>
                  <a:lnTo>
                    <a:pt x="142043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innerShdw blurRad="139700" dist="533400" dir="108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A2803ED-052E-41D9-9A18-5B3D279DF192}"/>
                </a:ext>
              </a:extLst>
            </p:cNvPr>
            <p:cNvSpPr/>
            <p:nvPr/>
          </p:nvSpPr>
          <p:spPr>
            <a:xfrm>
              <a:off x="3500913" y="5843426"/>
              <a:ext cx="795799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endParaRPr lang="zh-CN" altLang="en-US" sz="2400" b="1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DC81E73-3359-4A67-B0AC-28C1387435F3}"/>
              </a:ext>
            </a:extLst>
          </p:cNvPr>
          <p:cNvGraphicFramePr>
            <a:graphicFrameLocks noGrp="1"/>
          </p:cNvGraphicFramePr>
          <p:nvPr/>
        </p:nvGraphicFramePr>
        <p:xfrm>
          <a:off x="2242861" y="1837547"/>
          <a:ext cx="2873348" cy="153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2046">
                  <a:extLst>
                    <a:ext uri="{9D8B030D-6E8A-4147-A177-3AD203B41FA5}">
                      <a16:colId xmlns:a16="http://schemas.microsoft.com/office/drawing/2014/main" val="359833318"/>
                    </a:ext>
                  </a:extLst>
                </a:gridCol>
                <a:gridCol w="1461302">
                  <a:extLst>
                    <a:ext uri="{9D8B030D-6E8A-4147-A177-3AD203B41FA5}">
                      <a16:colId xmlns:a16="http://schemas.microsoft.com/office/drawing/2014/main" val="1132521863"/>
                    </a:ext>
                  </a:extLst>
                </a:gridCol>
              </a:tblGrid>
              <a:tr h="177800">
                <a:tc gridSpan="2">
                  <a:txBody>
                    <a:bodyPr/>
                    <a:lstStyle/>
                    <a:p>
                      <a:pPr marL="0" marR="0" lvl="0" indent="0" algn="ctr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u="none" strike="noStrike" dirty="0">
                          <a:effectLst/>
                        </a:rPr>
                        <a:t>事务数据库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920624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TID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Item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86476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C, 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0001639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37504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B,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0280405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0928675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239198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D1E9C523-8D39-4E88-8DA0-8A85D330A9EF}"/>
              </a:ext>
            </a:extLst>
          </p:cNvPr>
          <p:cNvSpPr txBox="1"/>
          <p:nvPr/>
        </p:nvSpPr>
        <p:spPr>
          <a:xfrm>
            <a:off x="2131107" y="1256220"/>
            <a:ext cx="10003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根据下面给定事务数据库，设定最小支持度为</a:t>
            </a:r>
            <a:r>
              <a:rPr lang="en-US" altLang="zh-CN" b="1" dirty="0"/>
              <a:t>50%</a:t>
            </a:r>
            <a:r>
              <a:rPr lang="zh-CN" altLang="en-US" b="1" dirty="0"/>
              <a:t>，最小置信度为</a:t>
            </a:r>
            <a:r>
              <a:rPr lang="en-US" altLang="zh-CN" b="1" dirty="0"/>
              <a:t>60%</a:t>
            </a:r>
            <a:r>
              <a:rPr lang="zh-CN" altLang="en-US" b="1" dirty="0"/>
              <a:t>，找出所有强关联规则。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011525-EFDD-4F3B-89A4-2660E63E56F8}"/>
              </a:ext>
            </a:extLst>
          </p:cNvPr>
          <p:cNvSpPr txBox="1"/>
          <p:nvPr/>
        </p:nvSpPr>
        <p:spPr>
          <a:xfrm>
            <a:off x="5496289" y="1889311"/>
            <a:ext cx="3024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/>
              <a:t>PhaseⅠ</a:t>
            </a:r>
            <a:r>
              <a:rPr lang="en-US" altLang="zh-CN" b="1" dirty="0"/>
              <a:t> </a:t>
            </a:r>
            <a:r>
              <a:rPr lang="zh-CN" altLang="en-US" b="1" dirty="0"/>
              <a:t>找出所有频繁项集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C08E442-54B9-4F32-A46F-8122DA68E3A6}"/>
              </a:ext>
            </a:extLst>
          </p:cNvPr>
          <p:cNvSpPr txBox="1"/>
          <p:nvPr/>
        </p:nvSpPr>
        <p:spPr>
          <a:xfrm>
            <a:off x="5577299" y="3129655"/>
            <a:ext cx="721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L</a:t>
            </a:r>
            <a:r>
              <a:rPr lang="en-US" altLang="zh-CN" sz="11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0F43205-15B5-4A68-98EE-DD4C04ED8F21}"/>
              </a:ext>
            </a:extLst>
          </p:cNvPr>
          <p:cNvSpPr txBox="1"/>
          <p:nvPr/>
        </p:nvSpPr>
        <p:spPr>
          <a:xfrm>
            <a:off x="5496289" y="2319793"/>
            <a:ext cx="6252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Step4 </a:t>
            </a:r>
            <a:r>
              <a:rPr lang="zh-CN" altLang="en-US" dirty="0"/>
              <a:t>根据最小支持度，确定频繁</a:t>
            </a:r>
            <a:r>
              <a:rPr lang="en-US" altLang="zh-CN" dirty="0"/>
              <a:t>2</a:t>
            </a:r>
            <a:r>
              <a:rPr lang="zh-CN" altLang="en-US" dirty="0"/>
              <a:t>项集的集合</a:t>
            </a:r>
            <a:r>
              <a:rPr lang="en-US" altLang="zh-CN" dirty="0"/>
              <a:t>L2</a:t>
            </a:r>
            <a:endParaRPr lang="zh-CN" altLang="en-US" dirty="0"/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A721CF3F-0CE9-4CBF-B451-102AD7B34168}"/>
              </a:ext>
            </a:extLst>
          </p:cNvPr>
          <p:cNvGraphicFramePr>
            <a:graphicFrameLocks noGrp="1"/>
          </p:cNvGraphicFramePr>
          <p:nvPr/>
        </p:nvGraphicFramePr>
        <p:xfrm>
          <a:off x="6029051" y="3222861"/>
          <a:ext cx="1739900" cy="1318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4026466209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122614215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项集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支持度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81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{A, C}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2702044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{A,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071210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{B, C}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3693782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{B,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6635628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{C,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519261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313ADD33-9198-447A-ABC8-123BA9037EA8}"/>
              </a:ext>
            </a:extLst>
          </p:cNvPr>
          <p:cNvSpPr txBox="1"/>
          <p:nvPr/>
        </p:nvSpPr>
        <p:spPr>
          <a:xfrm>
            <a:off x="9215558" y="3106617"/>
            <a:ext cx="721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C</a:t>
            </a:r>
            <a:r>
              <a:rPr lang="en-US" altLang="zh-CN" sz="11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D9790F50-78E1-4C3A-B18C-BEE6F1497AFD}"/>
              </a:ext>
            </a:extLst>
          </p:cNvPr>
          <p:cNvSpPr/>
          <p:nvPr/>
        </p:nvSpPr>
        <p:spPr>
          <a:xfrm rot="10800000">
            <a:off x="8392748" y="3787565"/>
            <a:ext cx="459520" cy="14277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281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/>
              <a:pPr/>
              <a:t>32</a:t>
            </a:fld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4B121CA-4007-4D50-A053-477E267CF35D}"/>
              </a:ext>
            </a:extLst>
          </p:cNvPr>
          <p:cNvGrpSpPr/>
          <p:nvPr/>
        </p:nvGrpSpPr>
        <p:grpSpPr>
          <a:xfrm>
            <a:off x="1862781" y="1044225"/>
            <a:ext cx="9996708" cy="5302254"/>
            <a:chOff x="1769467" y="1288669"/>
            <a:chExt cx="9996708" cy="5302254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263DB12-80D0-4FC0-8791-4BD044394EF6}"/>
                </a:ext>
              </a:extLst>
            </p:cNvPr>
            <p:cNvSpPr/>
            <p:nvPr/>
          </p:nvSpPr>
          <p:spPr>
            <a:xfrm>
              <a:off x="1769467" y="1288669"/>
              <a:ext cx="9996708" cy="5302254"/>
            </a:xfrm>
            <a:prstGeom prst="rect">
              <a:avLst/>
            </a:prstGeom>
            <a:noFill/>
            <a:ln w="57150">
              <a:solidFill>
                <a:srgbClr val="576C8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252811A-E8E2-4389-81D4-F035AAA8C255}"/>
                </a:ext>
              </a:extLst>
            </p:cNvPr>
            <p:cNvSpPr/>
            <p:nvPr/>
          </p:nvSpPr>
          <p:spPr>
            <a:xfrm>
              <a:off x="3229308" y="5749783"/>
              <a:ext cx="8384601" cy="636780"/>
            </a:xfrm>
            <a:custGeom>
              <a:avLst/>
              <a:gdLst>
                <a:gd name="connsiteX0" fmla="*/ 0 w 8418649"/>
                <a:gd name="connsiteY0" fmla="*/ 0 h 566427"/>
                <a:gd name="connsiteX1" fmla="*/ 8418649 w 8418649"/>
                <a:gd name="connsiteY1" fmla="*/ 0 h 566427"/>
                <a:gd name="connsiteX2" fmla="*/ 8418649 w 8418649"/>
                <a:gd name="connsiteY2" fmla="*/ 566427 h 566427"/>
                <a:gd name="connsiteX3" fmla="*/ 0 w 8418649"/>
                <a:gd name="connsiteY3" fmla="*/ 566427 h 566427"/>
                <a:gd name="connsiteX4" fmla="*/ 0 w 8418649"/>
                <a:gd name="connsiteY4" fmla="*/ 0 h 566427"/>
                <a:gd name="connsiteX0" fmla="*/ 328474 w 8747123"/>
                <a:gd name="connsiteY0" fmla="*/ 0 h 566427"/>
                <a:gd name="connsiteX1" fmla="*/ 8747123 w 8747123"/>
                <a:gd name="connsiteY1" fmla="*/ 0 h 566427"/>
                <a:gd name="connsiteX2" fmla="*/ 8747123 w 8747123"/>
                <a:gd name="connsiteY2" fmla="*/ 566427 h 566427"/>
                <a:gd name="connsiteX3" fmla="*/ 0 w 8747123"/>
                <a:gd name="connsiteY3" fmla="*/ 566427 h 566427"/>
                <a:gd name="connsiteX4" fmla="*/ 328474 w 8747123"/>
                <a:gd name="connsiteY4" fmla="*/ 0 h 566427"/>
                <a:gd name="connsiteX0" fmla="*/ 142043 w 8747123"/>
                <a:gd name="connsiteY0" fmla="*/ 0 h 575305"/>
                <a:gd name="connsiteX1" fmla="*/ 8747123 w 8747123"/>
                <a:gd name="connsiteY1" fmla="*/ 8878 h 575305"/>
                <a:gd name="connsiteX2" fmla="*/ 8747123 w 8747123"/>
                <a:gd name="connsiteY2" fmla="*/ 575305 h 575305"/>
                <a:gd name="connsiteX3" fmla="*/ 0 w 8747123"/>
                <a:gd name="connsiteY3" fmla="*/ 575305 h 575305"/>
                <a:gd name="connsiteX4" fmla="*/ 142043 w 8747123"/>
                <a:gd name="connsiteY4" fmla="*/ 0 h 575305"/>
                <a:gd name="connsiteX0" fmla="*/ 142043 w 8747123"/>
                <a:gd name="connsiteY0" fmla="*/ 0 h 575305"/>
                <a:gd name="connsiteX1" fmla="*/ 8747123 w 8747123"/>
                <a:gd name="connsiteY1" fmla="*/ 8878 h 575305"/>
                <a:gd name="connsiteX2" fmla="*/ 8747123 w 8747123"/>
                <a:gd name="connsiteY2" fmla="*/ 575305 h 575305"/>
                <a:gd name="connsiteX3" fmla="*/ 0 w 8747123"/>
                <a:gd name="connsiteY3" fmla="*/ 575305 h 575305"/>
                <a:gd name="connsiteX4" fmla="*/ 142043 w 8747123"/>
                <a:gd name="connsiteY4" fmla="*/ 0 h 575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7123" h="575305">
                  <a:moveTo>
                    <a:pt x="142043" y="0"/>
                  </a:moveTo>
                  <a:lnTo>
                    <a:pt x="8747123" y="8878"/>
                  </a:lnTo>
                  <a:lnTo>
                    <a:pt x="8747123" y="575305"/>
                  </a:lnTo>
                  <a:lnTo>
                    <a:pt x="0" y="575305"/>
                  </a:lnTo>
                  <a:lnTo>
                    <a:pt x="142043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innerShdw blurRad="139700" dist="533400" dir="108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A2803ED-052E-41D9-9A18-5B3D279DF192}"/>
                </a:ext>
              </a:extLst>
            </p:cNvPr>
            <p:cNvSpPr/>
            <p:nvPr/>
          </p:nvSpPr>
          <p:spPr>
            <a:xfrm>
              <a:off x="3500913" y="5843426"/>
              <a:ext cx="795799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endParaRPr lang="zh-CN" altLang="en-US" sz="2400" b="1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DC81E73-3359-4A67-B0AC-28C1387435F3}"/>
              </a:ext>
            </a:extLst>
          </p:cNvPr>
          <p:cNvGraphicFramePr>
            <a:graphicFrameLocks noGrp="1"/>
          </p:cNvGraphicFramePr>
          <p:nvPr/>
        </p:nvGraphicFramePr>
        <p:xfrm>
          <a:off x="2242861" y="1837547"/>
          <a:ext cx="2873348" cy="153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2046">
                  <a:extLst>
                    <a:ext uri="{9D8B030D-6E8A-4147-A177-3AD203B41FA5}">
                      <a16:colId xmlns:a16="http://schemas.microsoft.com/office/drawing/2014/main" val="359833318"/>
                    </a:ext>
                  </a:extLst>
                </a:gridCol>
                <a:gridCol w="1461302">
                  <a:extLst>
                    <a:ext uri="{9D8B030D-6E8A-4147-A177-3AD203B41FA5}">
                      <a16:colId xmlns:a16="http://schemas.microsoft.com/office/drawing/2014/main" val="1132521863"/>
                    </a:ext>
                  </a:extLst>
                </a:gridCol>
              </a:tblGrid>
              <a:tr h="177800">
                <a:tc gridSpan="2">
                  <a:txBody>
                    <a:bodyPr/>
                    <a:lstStyle/>
                    <a:p>
                      <a:pPr marL="0" marR="0" lvl="0" indent="0" algn="ctr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u="none" strike="noStrike" dirty="0">
                          <a:effectLst/>
                        </a:rPr>
                        <a:t>事务数据库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920624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TID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Item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86476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C, 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0001639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37504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B,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0280405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0928675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239198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D1E9C523-8D39-4E88-8DA0-8A85D330A9EF}"/>
              </a:ext>
            </a:extLst>
          </p:cNvPr>
          <p:cNvSpPr txBox="1"/>
          <p:nvPr/>
        </p:nvSpPr>
        <p:spPr>
          <a:xfrm>
            <a:off x="2131107" y="1256220"/>
            <a:ext cx="10003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根据下面给定事务数据库，设定最小支持度为</a:t>
            </a:r>
            <a:r>
              <a:rPr lang="en-US" altLang="zh-CN" b="1" dirty="0"/>
              <a:t>50%</a:t>
            </a:r>
            <a:r>
              <a:rPr lang="zh-CN" altLang="en-US" b="1" dirty="0"/>
              <a:t>，最小置信度为</a:t>
            </a:r>
            <a:r>
              <a:rPr lang="en-US" altLang="zh-CN" b="1" dirty="0"/>
              <a:t>60%</a:t>
            </a:r>
            <a:r>
              <a:rPr lang="zh-CN" altLang="en-US" b="1" dirty="0"/>
              <a:t>，找出所有强关联规则。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011525-EFDD-4F3B-89A4-2660E63E56F8}"/>
              </a:ext>
            </a:extLst>
          </p:cNvPr>
          <p:cNvSpPr txBox="1"/>
          <p:nvPr/>
        </p:nvSpPr>
        <p:spPr>
          <a:xfrm>
            <a:off x="5496289" y="1889311"/>
            <a:ext cx="3024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/>
              <a:t>PhaseⅠ</a:t>
            </a:r>
            <a:r>
              <a:rPr lang="en-US" altLang="zh-CN" b="1" dirty="0"/>
              <a:t> </a:t>
            </a:r>
            <a:r>
              <a:rPr lang="zh-CN" altLang="en-US" b="1" dirty="0"/>
              <a:t>找出所有频繁项集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C08E442-54B9-4F32-A46F-8122DA68E3A6}"/>
              </a:ext>
            </a:extLst>
          </p:cNvPr>
          <p:cNvSpPr txBox="1"/>
          <p:nvPr/>
        </p:nvSpPr>
        <p:spPr>
          <a:xfrm>
            <a:off x="5577299" y="3129655"/>
            <a:ext cx="721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C</a:t>
            </a:r>
            <a:r>
              <a:rPr lang="en-US" altLang="zh-CN" sz="11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0F43205-15B5-4A68-98EE-DD4C04ED8F21}"/>
              </a:ext>
            </a:extLst>
          </p:cNvPr>
          <p:cNvSpPr txBox="1"/>
          <p:nvPr/>
        </p:nvSpPr>
        <p:spPr>
          <a:xfrm>
            <a:off x="5496289" y="2319793"/>
            <a:ext cx="62524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Step5 </a:t>
            </a:r>
            <a:r>
              <a:rPr lang="zh-CN" altLang="en-US" dirty="0"/>
              <a:t>生成候选</a:t>
            </a:r>
            <a:r>
              <a:rPr lang="en-US" altLang="zh-CN" dirty="0"/>
              <a:t>3</a:t>
            </a:r>
            <a:r>
              <a:rPr lang="zh-CN" altLang="en-US" dirty="0"/>
              <a:t>项集的集合</a:t>
            </a:r>
            <a:r>
              <a:rPr lang="en-US" altLang="zh-CN" dirty="0"/>
              <a:t>C3</a:t>
            </a:r>
            <a:r>
              <a:rPr lang="zh-CN" altLang="en-US" dirty="0"/>
              <a:t>，剪枝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（频繁项的子集也必须是频繁项）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A721CF3F-0CE9-4CBF-B451-102AD7B34168}"/>
              </a:ext>
            </a:extLst>
          </p:cNvPr>
          <p:cNvGraphicFramePr>
            <a:graphicFrameLocks noGrp="1"/>
          </p:cNvGraphicFramePr>
          <p:nvPr/>
        </p:nvGraphicFramePr>
        <p:xfrm>
          <a:off x="6029051" y="3222861"/>
          <a:ext cx="4118904" cy="1098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901">
                  <a:extLst>
                    <a:ext uri="{9D8B030D-6E8A-4147-A177-3AD203B41FA5}">
                      <a16:colId xmlns:a16="http://schemas.microsoft.com/office/drawing/2014/main" val="4026466209"/>
                    </a:ext>
                  </a:extLst>
                </a:gridCol>
                <a:gridCol w="953001">
                  <a:extLst>
                    <a:ext uri="{9D8B030D-6E8A-4147-A177-3AD203B41FA5}">
                      <a16:colId xmlns:a16="http://schemas.microsoft.com/office/drawing/2014/main" val="1226142150"/>
                    </a:ext>
                  </a:extLst>
                </a:gridCol>
                <a:gridCol w="953001">
                  <a:extLst>
                    <a:ext uri="{9D8B030D-6E8A-4147-A177-3AD203B41FA5}">
                      <a16:colId xmlns:a16="http://schemas.microsoft.com/office/drawing/2014/main" val="2324133254"/>
                    </a:ext>
                  </a:extLst>
                </a:gridCol>
                <a:gridCol w="953001">
                  <a:extLst>
                    <a:ext uri="{9D8B030D-6E8A-4147-A177-3AD203B41FA5}">
                      <a16:colId xmlns:a16="http://schemas.microsoft.com/office/drawing/2014/main" val="757191449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项集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项子集</a:t>
                      </a: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项子集</a:t>
                      </a: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项子集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81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{A, C,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{A, C}</a:t>
                      </a: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{A, E}</a:t>
                      </a: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{C, E}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2702044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{A, B, C}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{A, B}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{A, C}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{B, C}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071210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{A, B,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{A, B}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{A, E}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{B, E}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3693782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{B, C,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{B, C}</a:t>
                      </a: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{B, E}</a:t>
                      </a: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{C, E}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519261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94E8651C-5D42-4BB4-80FB-21512F1B498A}"/>
              </a:ext>
            </a:extLst>
          </p:cNvPr>
          <p:cNvSpPr txBox="1"/>
          <p:nvPr/>
        </p:nvSpPr>
        <p:spPr>
          <a:xfrm>
            <a:off x="2174223" y="3837136"/>
            <a:ext cx="721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L</a:t>
            </a:r>
            <a:r>
              <a:rPr lang="en-US" altLang="zh-CN" sz="11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en-US" altLang="zh-CN" dirty="0"/>
              <a:t> </a:t>
            </a:r>
            <a:endParaRPr lang="zh-CN" altLang="en-US" dirty="0"/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04E2E714-4C92-4135-B221-F86F1F36EB68}"/>
              </a:ext>
            </a:extLst>
          </p:cNvPr>
          <p:cNvGraphicFramePr>
            <a:graphicFrameLocks noGrp="1"/>
          </p:cNvGraphicFramePr>
          <p:nvPr/>
        </p:nvGraphicFramePr>
        <p:xfrm>
          <a:off x="2625975" y="3930342"/>
          <a:ext cx="1739900" cy="1318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4026466209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122614215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项集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支持度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81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{A, C}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2702044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{A,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071210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{B, C}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3693782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{B,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6635628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{C,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519261"/>
                  </a:ext>
                </a:extLst>
              </a:tr>
            </a:tbl>
          </a:graphicData>
        </a:graphic>
      </p:graphicFrame>
      <p:sp>
        <p:nvSpPr>
          <p:cNvPr id="22" name="箭头: 右 21">
            <a:extLst>
              <a:ext uri="{FF2B5EF4-FFF2-40B4-BE49-F238E27FC236}">
                <a16:creationId xmlns:a16="http://schemas.microsoft.com/office/drawing/2014/main" id="{7862E1FE-97CF-441B-AF25-880CB986D731}"/>
              </a:ext>
            </a:extLst>
          </p:cNvPr>
          <p:cNvSpPr/>
          <p:nvPr/>
        </p:nvSpPr>
        <p:spPr>
          <a:xfrm rot="20214976">
            <a:off x="4980294" y="4198014"/>
            <a:ext cx="459520" cy="14277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012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/>
              <a:pPr/>
              <a:t>33</a:t>
            </a:fld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4B121CA-4007-4D50-A053-477E267CF35D}"/>
              </a:ext>
            </a:extLst>
          </p:cNvPr>
          <p:cNvGrpSpPr/>
          <p:nvPr/>
        </p:nvGrpSpPr>
        <p:grpSpPr>
          <a:xfrm>
            <a:off x="1862781" y="1044225"/>
            <a:ext cx="9996708" cy="5302254"/>
            <a:chOff x="1769467" y="1288669"/>
            <a:chExt cx="9996708" cy="5302254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263DB12-80D0-4FC0-8791-4BD044394EF6}"/>
                </a:ext>
              </a:extLst>
            </p:cNvPr>
            <p:cNvSpPr/>
            <p:nvPr/>
          </p:nvSpPr>
          <p:spPr>
            <a:xfrm>
              <a:off x="1769467" y="1288669"/>
              <a:ext cx="9996708" cy="5302254"/>
            </a:xfrm>
            <a:prstGeom prst="rect">
              <a:avLst/>
            </a:prstGeom>
            <a:noFill/>
            <a:ln w="57150">
              <a:solidFill>
                <a:srgbClr val="576C8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252811A-E8E2-4389-81D4-F035AAA8C255}"/>
                </a:ext>
              </a:extLst>
            </p:cNvPr>
            <p:cNvSpPr/>
            <p:nvPr/>
          </p:nvSpPr>
          <p:spPr>
            <a:xfrm>
              <a:off x="3229308" y="5749783"/>
              <a:ext cx="8384601" cy="636780"/>
            </a:xfrm>
            <a:custGeom>
              <a:avLst/>
              <a:gdLst>
                <a:gd name="connsiteX0" fmla="*/ 0 w 8418649"/>
                <a:gd name="connsiteY0" fmla="*/ 0 h 566427"/>
                <a:gd name="connsiteX1" fmla="*/ 8418649 w 8418649"/>
                <a:gd name="connsiteY1" fmla="*/ 0 h 566427"/>
                <a:gd name="connsiteX2" fmla="*/ 8418649 w 8418649"/>
                <a:gd name="connsiteY2" fmla="*/ 566427 h 566427"/>
                <a:gd name="connsiteX3" fmla="*/ 0 w 8418649"/>
                <a:gd name="connsiteY3" fmla="*/ 566427 h 566427"/>
                <a:gd name="connsiteX4" fmla="*/ 0 w 8418649"/>
                <a:gd name="connsiteY4" fmla="*/ 0 h 566427"/>
                <a:gd name="connsiteX0" fmla="*/ 328474 w 8747123"/>
                <a:gd name="connsiteY0" fmla="*/ 0 h 566427"/>
                <a:gd name="connsiteX1" fmla="*/ 8747123 w 8747123"/>
                <a:gd name="connsiteY1" fmla="*/ 0 h 566427"/>
                <a:gd name="connsiteX2" fmla="*/ 8747123 w 8747123"/>
                <a:gd name="connsiteY2" fmla="*/ 566427 h 566427"/>
                <a:gd name="connsiteX3" fmla="*/ 0 w 8747123"/>
                <a:gd name="connsiteY3" fmla="*/ 566427 h 566427"/>
                <a:gd name="connsiteX4" fmla="*/ 328474 w 8747123"/>
                <a:gd name="connsiteY4" fmla="*/ 0 h 566427"/>
                <a:gd name="connsiteX0" fmla="*/ 142043 w 8747123"/>
                <a:gd name="connsiteY0" fmla="*/ 0 h 575305"/>
                <a:gd name="connsiteX1" fmla="*/ 8747123 w 8747123"/>
                <a:gd name="connsiteY1" fmla="*/ 8878 h 575305"/>
                <a:gd name="connsiteX2" fmla="*/ 8747123 w 8747123"/>
                <a:gd name="connsiteY2" fmla="*/ 575305 h 575305"/>
                <a:gd name="connsiteX3" fmla="*/ 0 w 8747123"/>
                <a:gd name="connsiteY3" fmla="*/ 575305 h 575305"/>
                <a:gd name="connsiteX4" fmla="*/ 142043 w 8747123"/>
                <a:gd name="connsiteY4" fmla="*/ 0 h 575305"/>
                <a:gd name="connsiteX0" fmla="*/ 142043 w 8747123"/>
                <a:gd name="connsiteY0" fmla="*/ 0 h 575305"/>
                <a:gd name="connsiteX1" fmla="*/ 8747123 w 8747123"/>
                <a:gd name="connsiteY1" fmla="*/ 8878 h 575305"/>
                <a:gd name="connsiteX2" fmla="*/ 8747123 w 8747123"/>
                <a:gd name="connsiteY2" fmla="*/ 575305 h 575305"/>
                <a:gd name="connsiteX3" fmla="*/ 0 w 8747123"/>
                <a:gd name="connsiteY3" fmla="*/ 575305 h 575305"/>
                <a:gd name="connsiteX4" fmla="*/ 142043 w 8747123"/>
                <a:gd name="connsiteY4" fmla="*/ 0 h 575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7123" h="575305">
                  <a:moveTo>
                    <a:pt x="142043" y="0"/>
                  </a:moveTo>
                  <a:lnTo>
                    <a:pt x="8747123" y="8878"/>
                  </a:lnTo>
                  <a:lnTo>
                    <a:pt x="8747123" y="575305"/>
                  </a:lnTo>
                  <a:lnTo>
                    <a:pt x="0" y="575305"/>
                  </a:lnTo>
                  <a:lnTo>
                    <a:pt x="142043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innerShdw blurRad="139700" dist="533400" dir="108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A2803ED-052E-41D9-9A18-5B3D279DF192}"/>
                </a:ext>
              </a:extLst>
            </p:cNvPr>
            <p:cNvSpPr/>
            <p:nvPr/>
          </p:nvSpPr>
          <p:spPr>
            <a:xfrm>
              <a:off x="3500913" y="5843426"/>
              <a:ext cx="795799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endParaRPr lang="zh-CN" altLang="en-US" sz="2400" b="1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DC81E73-3359-4A67-B0AC-28C1387435F3}"/>
              </a:ext>
            </a:extLst>
          </p:cNvPr>
          <p:cNvGraphicFramePr>
            <a:graphicFrameLocks noGrp="1"/>
          </p:cNvGraphicFramePr>
          <p:nvPr/>
        </p:nvGraphicFramePr>
        <p:xfrm>
          <a:off x="2242861" y="1837547"/>
          <a:ext cx="2873348" cy="153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2046">
                  <a:extLst>
                    <a:ext uri="{9D8B030D-6E8A-4147-A177-3AD203B41FA5}">
                      <a16:colId xmlns:a16="http://schemas.microsoft.com/office/drawing/2014/main" val="359833318"/>
                    </a:ext>
                  </a:extLst>
                </a:gridCol>
                <a:gridCol w="1461302">
                  <a:extLst>
                    <a:ext uri="{9D8B030D-6E8A-4147-A177-3AD203B41FA5}">
                      <a16:colId xmlns:a16="http://schemas.microsoft.com/office/drawing/2014/main" val="1132521863"/>
                    </a:ext>
                  </a:extLst>
                </a:gridCol>
              </a:tblGrid>
              <a:tr h="177800">
                <a:tc gridSpan="2">
                  <a:txBody>
                    <a:bodyPr/>
                    <a:lstStyle/>
                    <a:p>
                      <a:pPr marL="0" marR="0" lvl="0" indent="0" algn="ctr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u="none" strike="noStrike" dirty="0">
                          <a:effectLst/>
                        </a:rPr>
                        <a:t>事务数据库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920624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TID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Item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86476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C, 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0001639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37504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B,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0280405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0928675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239198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D1E9C523-8D39-4E88-8DA0-8A85D330A9EF}"/>
              </a:ext>
            </a:extLst>
          </p:cNvPr>
          <p:cNvSpPr txBox="1"/>
          <p:nvPr/>
        </p:nvSpPr>
        <p:spPr>
          <a:xfrm>
            <a:off x="2131107" y="1256220"/>
            <a:ext cx="10003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根据下面给定事务数据库，设定最小支持度为</a:t>
            </a:r>
            <a:r>
              <a:rPr lang="en-US" altLang="zh-CN" b="1" dirty="0"/>
              <a:t>50%</a:t>
            </a:r>
            <a:r>
              <a:rPr lang="zh-CN" altLang="en-US" b="1" dirty="0"/>
              <a:t>，最小置信度为</a:t>
            </a:r>
            <a:r>
              <a:rPr lang="en-US" altLang="zh-CN" b="1" dirty="0"/>
              <a:t>60%</a:t>
            </a:r>
            <a:r>
              <a:rPr lang="zh-CN" altLang="en-US" b="1" dirty="0"/>
              <a:t>，找出所有强关联规则。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011525-EFDD-4F3B-89A4-2660E63E56F8}"/>
              </a:ext>
            </a:extLst>
          </p:cNvPr>
          <p:cNvSpPr txBox="1"/>
          <p:nvPr/>
        </p:nvSpPr>
        <p:spPr>
          <a:xfrm>
            <a:off x="5496289" y="1889311"/>
            <a:ext cx="3024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/>
              <a:t>PhaseⅠ</a:t>
            </a:r>
            <a:r>
              <a:rPr lang="en-US" altLang="zh-CN" b="1" dirty="0"/>
              <a:t> </a:t>
            </a:r>
            <a:r>
              <a:rPr lang="zh-CN" altLang="en-US" b="1" dirty="0"/>
              <a:t>找出所有频繁项集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C08E442-54B9-4F32-A46F-8122DA68E3A6}"/>
              </a:ext>
            </a:extLst>
          </p:cNvPr>
          <p:cNvSpPr txBox="1"/>
          <p:nvPr/>
        </p:nvSpPr>
        <p:spPr>
          <a:xfrm>
            <a:off x="5577299" y="2800100"/>
            <a:ext cx="721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C</a:t>
            </a:r>
            <a:r>
              <a:rPr lang="en-US" altLang="zh-CN" sz="11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0F43205-15B5-4A68-98EE-DD4C04ED8F21}"/>
              </a:ext>
            </a:extLst>
          </p:cNvPr>
          <p:cNvSpPr txBox="1"/>
          <p:nvPr/>
        </p:nvSpPr>
        <p:spPr>
          <a:xfrm>
            <a:off x="5496289" y="2319793"/>
            <a:ext cx="6252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Step6</a:t>
            </a:r>
            <a:r>
              <a:rPr lang="zh-CN" altLang="en-US" dirty="0"/>
              <a:t> 扫描</a:t>
            </a:r>
            <a:r>
              <a:rPr lang="en-US" altLang="zh-CN" dirty="0"/>
              <a:t>D</a:t>
            </a:r>
            <a:r>
              <a:rPr lang="zh-CN" altLang="en-US" dirty="0"/>
              <a:t>，计算</a:t>
            </a:r>
            <a:r>
              <a:rPr lang="en-US" altLang="zh-CN" dirty="0"/>
              <a:t>C3</a:t>
            </a:r>
            <a:r>
              <a:rPr lang="zh-CN" altLang="en-US" dirty="0"/>
              <a:t>每个项集的支持度计数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A721CF3F-0CE9-4CBF-B451-102AD7B34168}"/>
              </a:ext>
            </a:extLst>
          </p:cNvPr>
          <p:cNvGraphicFramePr>
            <a:graphicFrameLocks noGrp="1"/>
          </p:cNvGraphicFramePr>
          <p:nvPr/>
        </p:nvGraphicFramePr>
        <p:xfrm>
          <a:off x="6029051" y="2893306"/>
          <a:ext cx="1739900" cy="6591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4026466209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122614215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项集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支持度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81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{A, C,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17071794"/>
                  </a:ext>
                </a:extLst>
              </a:tr>
              <a:tr h="12514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{B, C,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7020448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ACF9B2DB-064E-41A9-851F-415D90580251}"/>
              </a:ext>
            </a:extLst>
          </p:cNvPr>
          <p:cNvSpPr txBox="1"/>
          <p:nvPr/>
        </p:nvSpPr>
        <p:spPr>
          <a:xfrm>
            <a:off x="5496289" y="3968054"/>
            <a:ext cx="6252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Step7 </a:t>
            </a:r>
            <a:r>
              <a:rPr lang="zh-CN" altLang="en-US" dirty="0"/>
              <a:t>确定频繁</a:t>
            </a:r>
            <a:r>
              <a:rPr lang="en-US" altLang="zh-CN" dirty="0"/>
              <a:t>3</a:t>
            </a:r>
            <a:r>
              <a:rPr lang="zh-CN" altLang="en-US" dirty="0"/>
              <a:t>项集的集合</a:t>
            </a:r>
            <a:r>
              <a:rPr lang="en-US" altLang="zh-CN" dirty="0"/>
              <a:t>L3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3E1DEDE-C1D3-4C25-BF83-3E29578E7F72}"/>
              </a:ext>
            </a:extLst>
          </p:cNvPr>
          <p:cNvSpPr txBox="1"/>
          <p:nvPr/>
        </p:nvSpPr>
        <p:spPr>
          <a:xfrm>
            <a:off x="5577299" y="4397962"/>
            <a:ext cx="721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L</a:t>
            </a:r>
            <a:r>
              <a:rPr lang="en-US" altLang="zh-CN" sz="11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en-US" altLang="zh-CN" dirty="0"/>
              <a:t> </a:t>
            </a:r>
            <a:endParaRPr lang="zh-CN" altLang="en-US" dirty="0"/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B15672D2-460B-4227-870B-2ED638EB1DF7}"/>
              </a:ext>
            </a:extLst>
          </p:cNvPr>
          <p:cNvGraphicFramePr>
            <a:graphicFrameLocks noGrp="1"/>
          </p:cNvGraphicFramePr>
          <p:nvPr/>
        </p:nvGraphicFramePr>
        <p:xfrm>
          <a:off x="6029051" y="4491168"/>
          <a:ext cx="1739900" cy="6591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4026466209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122614215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项集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支持度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81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{A, C,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17071794"/>
                  </a:ext>
                </a:extLst>
              </a:tr>
              <a:tr h="12514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{B, C,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7020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0673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/>
              <a:pPr/>
              <a:t>34</a:t>
            </a:fld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4B121CA-4007-4D50-A053-477E267CF35D}"/>
              </a:ext>
            </a:extLst>
          </p:cNvPr>
          <p:cNvGrpSpPr/>
          <p:nvPr/>
        </p:nvGrpSpPr>
        <p:grpSpPr>
          <a:xfrm>
            <a:off x="1862781" y="1044225"/>
            <a:ext cx="9996708" cy="5302254"/>
            <a:chOff x="1769467" y="1288669"/>
            <a:chExt cx="9996708" cy="5302254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263DB12-80D0-4FC0-8791-4BD044394EF6}"/>
                </a:ext>
              </a:extLst>
            </p:cNvPr>
            <p:cNvSpPr/>
            <p:nvPr/>
          </p:nvSpPr>
          <p:spPr>
            <a:xfrm>
              <a:off x="1769467" y="1288669"/>
              <a:ext cx="9996708" cy="5302254"/>
            </a:xfrm>
            <a:prstGeom prst="rect">
              <a:avLst/>
            </a:prstGeom>
            <a:noFill/>
            <a:ln w="57150">
              <a:solidFill>
                <a:srgbClr val="576C8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252811A-E8E2-4389-81D4-F035AAA8C255}"/>
                </a:ext>
              </a:extLst>
            </p:cNvPr>
            <p:cNvSpPr/>
            <p:nvPr/>
          </p:nvSpPr>
          <p:spPr>
            <a:xfrm>
              <a:off x="3229308" y="5749783"/>
              <a:ext cx="8384601" cy="636780"/>
            </a:xfrm>
            <a:custGeom>
              <a:avLst/>
              <a:gdLst>
                <a:gd name="connsiteX0" fmla="*/ 0 w 8418649"/>
                <a:gd name="connsiteY0" fmla="*/ 0 h 566427"/>
                <a:gd name="connsiteX1" fmla="*/ 8418649 w 8418649"/>
                <a:gd name="connsiteY1" fmla="*/ 0 h 566427"/>
                <a:gd name="connsiteX2" fmla="*/ 8418649 w 8418649"/>
                <a:gd name="connsiteY2" fmla="*/ 566427 h 566427"/>
                <a:gd name="connsiteX3" fmla="*/ 0 w 8418649"/>
                <a:gd name="connsiteY3" fmla="*/ 566427 h 566427"/>
                <a:gd name="connsiteX4" fmla="*/ 0 w 8418649"/>
                <a:gd name="connsiteY4" fmla="*/ 0 h 566427"/>
                <a:gd name="connsiteX0" fmla="*/ 328474 w 8747123"/>
                <a:gd name="connsiteY0" fmla="*/ 0 h 566427"/>
                <a:gd name="connsiteX1" fmla="*/ 8747123 w 8747123"/>
                <a:gd name="connsiteY1" fmla="*/ 0 h 566427"/>
                <a:gd name="connsiteX2" fmla="*/ 8747123 w 8747123"/>
                <a:gd name="connsiteY2" fmla="*/ 566427 h 566427"/>
                <a:gd name="connsiteX3" fmla="*/ 0 w 8747123"/>
                <a:gd name="connsiteY3" fmla="*/ 566427 h 566427"/>
                <a:gd name="connsiteX4" fmla="*/ 328474 w 8747123"/>
                <a:gd name="connsiteY4" fmla="*/ 0 h 566427"/>
                <a:gd name="connsiteX0" fmla="*/ 142043 w 8747123"/>
                <a:gd name="connsiteY0" fmla="*/ 0 h 575305"/>
                <a:gd name="connsiteX1" fmla="*/ 8747123 w 8747123"/>
                <a:gd name="connsiteY1" fmla="*/ 8878 h 575305"/>
                <a:gd name="connsiteX2" fmla="*/ 8747123 w 8747123"/>
                <a:gd name="connsiteY2" fmla="*/ 575305 h 575305"/>
                <a:gd name="connsiteX3" fmla="*/ 0 w 8747123"/>
                <a:gd name="connsiteY3" fmla="*/ 575305 h 575305"/>
                <a:gd name="connsiteX4" fmla="*/ 142043 w 8747123"/>
                <a:gd name="connsiteY4" fmla="*/ 0 h 575305"/>
                <a:gd name="connsiteX0" fmla="*/ 142043 w 8747123"/>
                <a:gd name="connsiteY0" fmla="*/ 0 h 575305"/>
                <a:gd name="connsiteX1" fmla="*/ 8747123 w 8747123"/>
                <a:gd name="connsiteY1" fmla="*/ 8878 h 575305"/>
                <a:gd name="connsiteX2" fmla="*/ 8747123 w 8747123"/>
                <a:gd name="connsiteY2" fmla="*/ 575305 h 575305"/>
                <a:gd name="connsiteX3" fmla="*/ 0 w 8747123"/>
                <a:gd name="connsiteY3" fmla="*/ 575305 h 575305"/>
                <a:gd name="connsiteX4" fmla="*/ 142043 w 8747123"/>
                <a:gd name="connsiteY4" fmla="*/ 0 h 575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7123" h="575305">
                  <a:moveTo>
                    <a:pt x="142043" y="0"/>
                  </a:moveTo>
                  <a:lnTo>
                    <a:pt x="8747123" y="8878"/>
                  </a:lnTo>
                  <a:lnTo>
                    <a:pt x="8747123" y="575305"/>
                  </a:lnTo>
                  <a:lnTo>
                    <a:pt x="0" y="575305"/>
                  </a:lnTo>
                  <a:lnTo>
                    <a:pt x="142043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innerShdw blurRad="139700" dist="533400" dir="108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A2803ED-052E-41D9-9A18-5B3D279DF192}"/>
                </a:ext>
              </a:extLst>
            </p:cNvPr>
            <p:cNvSpPr/>
            <p:nvPr/>
          </p:nvSpPr>
          <p:spPr>
            <a:xfrm>
              <a:off x="3500913" y="5843426"/>
              <a:ext cx="795799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endParaRPr lang="zh-CN" altLang="en-US" sz="2400" b="1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DC81E73-3359-4A67-B0AC-28C1387435F3}"/>
              </a:ext>
            </a:extLst>
          </p:cNvPr>
          <p:cNvGraphicFramePr>
            <a:graphicFrameLocks noGrp="1"/>
          </p:cNvGraphicFramePr>
          <p:nvPr/>
        </p:nvGraphicFramePr>
        <p:xfrm>
          <a:off x="2242861" y="1837547"/>
          <a:ext cx="2873348" cy="153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2046">
                  <a:extLst>
                    <a:ext uri="{9D8B030D-6E8A-4147-A177-3AD203B41FA5}">
                      <a16:colId xmlns:a16="http://schemas.microsoft.com/office/drawing/2014/main" val="359833318"/>
                    </a:ext>
                  </a:extLst>
                </a:gridCol>
                <a:gridCol w="1461302">
                  <a:extLst>
                    <a:ext uri="{9D8B030D-6E8A-4147-A177-3AD203B41FA5}">
                      <a16:colId xmlns:a16="http://schemas.microsoft.com/office/drawing/2014/main" val="1132521863"/>
                    </a:ext>
                  </a:extLst>
                </a:gridCol>
              </a:tblGrid>
              <a:tr h="177800">
                <a:tc gridSpan="2">
                  <a:txBody>
                    <a:bodyPr/>
                    <a:lstStyle/>
                    <a:p>
                      <a:pPr marL="0" marR="0" lvl="0" indent="0" algn="ctr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u="none" strike="noStrike" dirty="0">
                          <a:effectLst/>
                        </a:rPr>
                        <a:t>事务数据库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920624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TID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Item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86476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C, 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0001639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37504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B,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0280405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0928675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239198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D1E9C523-8D39-4E88-8DA0-8A85D330A9EF}"/>
              </a:ext>
            </a:extLst>
          </p:cNvPr>
          <p:cNvSpPr txBox="1"/>
          <p:nvPr/>
        </p:nvSpPr>
        <p:spPr>
          <a:xfrm>
            <a:off x="2131107" y="1256220"/>
            <a:ext cx="10003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根据下面给定事务数据库，设定最小支持度为</a:t>
            </a:r>
            <a:r>
              <a:rPr lang="en-US" altLang="zh-CN" b="1" dirty="0"/>
              <a:t>50%</a:t>
            </a:r>
            <a:r>
              <a:rPr lang="zh-CN" altLang="en-US" b="1" dirty="0"/>
              <a:t>，最小置信度为</a:t>
            </a:r>
            <a:r>
              <a:rPr lang="en-US" altLang="zh-CN" b="1" dirty="0"/>
              <a:t>60%</a:t>
            </a:r>
            <a:r>
              <a:rPr lang="zh-CN" altLang="en-US" b="1" dirty="0"/>
              <a:t>，找出所有强关联规则。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011525-EFDD-4F3B-89A4-2660E63E56F8}"/>
              </a:ext>
            </a:extLst>
          </p:cNvPr>
          <p:cNvSpPr txBox="1"/>
          <p:nvPr/>
        </p:nvSpPr>
        <p:spPr>
          <a:xfrm>
            <a:off x="5496289" y="1889311"/>
            <a:ext cx="3024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/>
              <a:t>PhaseⅠ</a:t>
            </a:r>
            <a:r>
              <a:rPr lang="en-US" altLang="zh-CN" b="1" dirty="0"/>
              <a:t> </a:t>
            </a:r>
            <a:r>
              <a:rPr lang="zh-CN" altLang="en-US" b="1" dirty="0"/>
              <a:t>找出所有频繁项集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C08E442-54B9-4F32-A46F-8122DA68E3A6}"/>
              </a:ext>
            </a:extLst>
          </p:cNvPr>
          <p:cNvSpPr txBox="1"/>
          <p:nvPr/>
        </p:nvSpPr>
        <p:spPr>
          <a:xfrm>
            <a:off x="5577299" y="2800100"/>
            <a:ext cx="721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C</a:t>
            </a:r>
            <a:r>
              <a:rPr lang="en-US" altLang="zh-CN" sz="11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0F43205-15B5-4A68-98EE-DD4C04ED8F21}"/>
              </a:ext>
            </a:extLst>
          </p:cNvPr>
          <p:cNvSpPr txBox="1"/>
          <p:nvPr/>
        </p:nvSpPr>
        <p:spPr>
          <a:xfrm>
            <a:off x="5496289" y="2319793"/>
            <a:ext cx="6252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Step8 </a:t>
            </a:r>
            <a:r>
              <a:rPr lang="zh-CN" altLang="en-US" dirty="0"/>
              <a:t>生成候选</a:t>
            </a:r>
            <a:r>
              <a:rPr lang="en-US" altLang="zh-CN" dirty="0"/>
              <a:t>4</a:t>
            </a:r>
            <a:r>
              <a:rPr lang="zh-CN" altLang="en-US" dirty="0"/>
              <a:t>项集的集合</a:t>
            </a:r>
            <a:r>
              <a:rPr lang="en-US" altLang="zh-CN" dirty="0"/>
              <a:t>C4</a:t>
            </a:r>
            <a:endParaRPr lang="zh-CN" altLang="en-US" dirty="0"/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A721CF3F-0CE9-4CBF-B451-102AD7B34168}"/>
              </a:ext>
            </a:extLst>
          </p:cNvPr>
          <p:cNvGraphicFramePr>
            <a:graphicFrameLocks noGrp="1"/>
          </p:cNvGraphicFramePr>
          <p:nvPr/>
        </p:nvGraphicFramePr>
        <p:xfrm>
          <a:off x="6029051" y="2893306"/>
          <a:ext cx="2032426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7147">
                  <a:extLst>
                    <a:ext uri="{9D8B030D-6E8A-4147-A177-3AD203B41FA5}">
                      <a16:colId xmlns:a16="http://schemas.microsoft.com/office/drawing/2014/main" val="4026466209"/>
                    </a:ext>
                  </a:extLst>
                </a:gridCol>
                <a:gridCol w="875279">
                  <a:extLst>
                    <a:ext uri="{9D8B030D-6E8A-4147-A177-3AD203B41FA5}">
                      <a16:colId xmlns:a16="http://schemas.microsoft.com/office/drawing/2014/main" val="122614215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项集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项子集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81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{A, B,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{A, B, C}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7071794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ACF9B2DB-064E-41A9-851F-415D90580251}"/>
              </a:ext>
            </a:extLst>
          </p:cNvPr>
          <p:cNvSpPr txBox="1"/>
          <p:nvPr/>
        </p:nvSpPr>
        <p:spPr>
          <a:xfrm>
            <a:off x="6262157" y="3943948"/>
            <a:ext cx="2032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无频繁</a:t>
            </a:r>
            <a:r>
              <a:rPr lang="en-US" altLang="zh-CN" dirty="0"/>
              <a:t>4</a:t>
            </a:r>
            <a:r>
              <a:rPr lang="zh-CN" altLang="en-US" dirty="0"/>
              <a:t>项集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8CDE321-55E3-4AD0-9986-6329107C99A3}"/>
              </a:ext>
            </a:extLst>
          </p:cNvPr>
          <p:cNvSpPr txBox="1"/>
          <p:nvPr/>
        </p:nvSpPr>
        <p:spPr>
          <a:xfrm>
            <a:off x="8887369" y="2766506"/>
            <a:ext cx="721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L</a:t>
            </a:r>
            <a:r>
              <a:rPr lang="en-US" altLang="zh-CN" sz="11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en-US" altLang="zh-CN" dirty="0"/>
              <a:t> </a:t>
            </a:r>
            <a:endParaRPr lang="zh-CN" altLang="en-US" dirty="0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6306B318-4BBF-4667-ADA8-EF055C3EBAD4}"/>
              </a:ext>
            </a:extLst>
          </p:cNvPr>
          <p:cNvGraphicFramePr>
            <a:graphicFrameLocks noGrp="1"/>
          </p:cNvGraphicFramePr>
          <p:nvPr/>
        </p:nvGraphicFramePr>
        <p:xfrm>
          <a:off x="9320553" y="2859712"/>
          <a:ext cx="1739900" cy="6591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4026466209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122614215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项集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支持度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81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{A, C,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17071794"/>
                  </a:ext>
                </a:extLst>
              </a:tr>
              <a:tr h="12514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{B, C,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7020448"/>
                  </a:ext>
                </a:extLst>
              </a:tr>
            </a:tbl>
          </a:graphicData>
        </a:graphic>
      </p:graphicFrame>
      <p:sp>
        <p:nvSpPr>
          <p:cNvPr id="23" name="箭头: 右 22">
            <a:extLst>
              <a:ext uri="{FF2B5EF4-FFF2-40B4-BE49-F238E27FC236}">
                <a16:creationId xmlns:a16="http://schemas.microsoft.com/office/drawing/2014/main" id="{71EA9DF4-FCEB-4F1B-ABDF-CF940AB64153}"/>
              </a:ext>
            </a:extLst>
          </p:cNvPr>
          <p:cNvSpPr/>
          <p:nvPr/>
        </p:nvSpPr>
        <p:spPr>
          <a:xfrm rot="10800000">
            <a:off x="8405397" y="3098043"/>
            <a:ext cx="459520" cy="14277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357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/>
              <a:pPr/>
              <a:t>35</a:t>
            </a:fld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4B121CA-4007-4D50-A053-477E267CF35D}"/>
              </a:ext>
            </a:extLst>
          </p:cNvPr>
          <p:cNvGrpSpPr/>
          <p:nvPr/>
        </p:nvGrpSpPr>
        <p:grpSpPr>
          <a:xfrm>
            <a:off x="1862781" y="1044225"/>
            <a:ext cx="9996708" cy="5302254"/>
            <a:chOff x="1769467" y="1288669"/>
            <a:chExt cx="9996708" cy="5302254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263DB12-80D0-4FC0-8791-4BD044394EF6}"/>
                </a:ext>
              </a:extLst>
            </p:cNvPr>
            <p:cNvSpPr/>
            <p:nvPr/>
          </p:nvSpPr>
          <p:spPr>
            <a:xfrm>
              <a:off x="1769467" y="1288669"/>
              <a:ext cx="9996708" cy="5302254"/>
            </a:xfrm>
            <a:prstGeom prst="rect">
              <a:avLst/>
            </a:prstGeom>
            <a:noFill/>
            <a:ln w="57150">
              <a:solidFill>
                <a:srgbClr val="576C8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A2803ED-052E-41D9-9A18-5B3D279DF192}"/>
                </a:ext>
              </a:extLst>
            </p:cNvPr>
            <p:cNvSpPr/>
            <p:nvPr/>
          </p:nvSpPr>
          <p:spPr>
            <a:xfrm>
              <a:off x="3500913" y="5843426"/>
              <a:ext cx="795799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endParaRPr lang="zh-CN" altLang="en-US" sz="2400" b="1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DC81E73-3359-4A67-B0AC-28C1387435F3}"/>
              </a:ext>
            </a:extLst>
          </p:cNvPr>
          <p:cNvGraphicFramePr>
            <a:graphicFrameLocks noGrp="1"/>
          </p:cNvGraphicFramePr>
          <p:nvPr/>
        </p:nvGraphicFramePr>
        <p:xfrm>
          <a:off x="2242861" y="1837547"/>
          <a:ext cx="2873348" cy="153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2046">
                  <a:extLst>
                    <a:ext uri="{9D8B030D-6E8A-4147-A177-3AD203B41FA5}">
                      <a16:colId xmlns:a16="http://schemas.microsoft.com/office/drawing/2014/main" val="359833318"/>
                    </a:ext>
                  </a:extLst>
                </a:gridCol>
                <a:gridCol w="1461302">
                  <a:extLst>
                    <a:ext uri="{9D8B030D-6E8A-4147-A177-3AD203B41FA5}">
                      <a16:colId xmlns:a16="http://schemas.microsoft.com/office/drawing/2014/main" val="1132521863"/>
                    </a:ext>
                  </a:extLst>
                </a:gridCol>
              </a:tblGrid>
              <a:tr h="177800">
                <a:tc gridSpan="2">
                  <a:txBody>
                    <a:bodyPr/>
                    <a:lstStyle/>
                    <a:p>
                      <a:pPr marL="0" marR="0" lvl="0" indent="0" algn="ctr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u="none" strike="noStrike" dirty="0">
                          <a:effectLst/>
                        </a:rPr>
                        <a:t>事务数据库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920624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TID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Item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86476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C, 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0001639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37504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B,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0280405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0928675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239198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D1E9C523-8D39-4E88-8DA0-8A85D330A9EF}"/>
              </a:ext>
            </a:extLst>
          </p:cNvPr>
          <p:cNvSpPr txBox="1"/>
          <p:nvPr/>
        </p:nvSpPr>
        <p:spPr>
          <a:xfrm>
            <a:off x="2131107" y="1256220"/>
            <a:ext cx="10003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根据下面给定事务数据库，设定最小支持度为</a:t>
            </a:r>
            <a:r>
              <a:rPr lang="en-US" altLang="zh-CN" b="1" dirty="0"/>
              <a:t>50%</a:t>
            </a:r>
            <a:r>
              <a:rPr lang="zh-CN" altLang="en-US" b="1" dirty="0"/>
              <a:t>，最小置信度为</a:t>
            </a:r>
            <a:r>
              <a:rPr lang="en-US" altLang="zh-CN" b="1" dirty="0"/>
              <a:t>60%</a:t>
            </a:r>
            <a:r>
              <a:rPr lang="zh-CN" altLang="en-US" b="1" dirty="0"/>
              <a:t>，找出所有强关联规则。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011525-EFDD-4F3B-89A4-2660E63E56F8}"/>
              </a:ext>
            </a:extLst>
          </p:cNvPr>
          <p:cNvSpPr txBox="1"/>
          <p:nvPr/>
        </p:nvSpPr>
        <p:spPr>
          <a:xfrm>
            <a:off x="5496289" y="1889311"/>
            <a:ext cx="636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/>
              <a:t>PhaseⅡ</a:t>
            </a:r>
            <a:r>
              <a:rPr lang="en-US" altLang="zh-CN" b="1" dirty="0"/>
              <a:t> </a:t>
            </a:r>
            <a:r>
              <a:rPr lang="zh-CN" altLang="en-US" b="1" dirty="0"/>
              <a:t>由频繁项集产生关联规则，找出强关联规则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0F43205-15B5-4A68-98EE-DD4C04ED8F21}"/>
              </a:ext>
            </a:extLst>
          </p:cNvPr>
          <p:cNvSpPr txBox="1"/>
          <p:nvPr/>
        </p:nvSpPr>
        <p:spPr>
          <a:xfrm>
            <a:off x="5496289" y="2319793"/>
            <a:ext cx="62524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Step9 </a:t>
            </a:r>
            <a:r>
              <a:rPr lang="zh-CN" altLang="en-US" dirty="0"/>
              <a:t>对每个频繁项集</a:t>
            </a:r>
            <a:r>
              <a:rPr lang="en-US" altLang="zh-CN" dirty="0"/>
              <a:t>I</a:t>
            </a:r>
            <a:r>
              <a:rPr lang="zh-CN" altLang="en-US" dirty="0"/>
              <a:t>，产生所有非空子集</a:t>
            </a:r>
            <a:r>
              <a:rPr lang="en-US" altLang="zh-CN" dirty="0"/>
              <a:t>S</a:t>
            </a:r>
            <a:r>
              <a:rPr lang="zh-CN" altLang="en-US" dirty="0"/>
              <a:t>，输出关联规则</a:t>
            </a:r>
            <a:r>
              <a:rPr lang="en-US" altLang="zh-CN" dirty="0"/>
              <a:t>S-&gt;(I-S)</a:t>
            </a:r>
            <a:endParaRPr lang="zh-CN" altLang="en-US" dirty="0"/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A721CF3F-0CE9-4CBF-B451-102AD7B34168}"/>
              </a:ext>
            </a:extLst>
          </p:cNvPr>
          <p:cNvGraphicFramePr>
            <a:graphicFrameLocks noGrp="1"/>
          </p:cNvGraphicFramePr>
          <p:nvPr/>
        </p:nvGraphicFramePr>
        <p:xfrm>
          <a:off x="6724269" y="3187184"/>
          <a:ext cx="3844710" cy="2856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4137">
                  <a:extLst>
                    <a:ext uri="{9D8B030D-6E8A-4147-A177-3AD203B41FA5}">
                      <a16:colId xmlns:a16="http://schemas.microsoft.com/office/drawing/2014/main" val="4026466209"/>
                    </a:ext>
                  </a:extLst>
                </a:gridCol>
                <a:gridCol w="948644">
                  <a:extLst>
                    <a:ext uri="{9D8B030D-6E8A-4147-A177-3AD203B41FA5}">
                      <a16:colId xmlns:a16="http://schemas.microsoft.com/office/drawing/2014/main" val="1226142150"/>
                    </a:ext>
                  </a:extLst>
                </a:gridCol>
                <a:gridCol w="1641929">
                  <a:extLst>
                    <a:ext uri="{9D8B030D-6E8A-4147-A177-3AD203B41FA5}">
                      <a16:colId xmlns:a16="http://schemas.microsoft.com/office/drawing/2014/main" val="218677098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频繁项集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子集</a:t>
                      </a: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关联规则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8196"/>
                  </a:ext>
                </a:extLst>
              </a:tr>
              <a:tr h="177800">
                <a:tc rowSpan="6"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{A, C, E}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{A}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{A}-&gt;{C, E}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7071794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b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{C}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{C}-&gt;{A, E}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656681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b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{E}-&gt;{A, C}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63192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b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{A, C}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{A, C}-&gt;{E}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8988621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b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{A,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{A, E}-&gt;{C}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869396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b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{C,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{C, E}-&gt;{A}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4413073"/>
                  </a:ext>
                </a:extLst>
              </a:tr>
              <a:tr h="177800">
                <a:tc rowSpan="6">
                  <a:txBody>
                    <a:bodyPr/>
                    <a:lstStyle/>
                    <a:p>
                      <a:pPr marL="0" marR="0" lvl="0" indent="0" algn="ctr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{B, C, E}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{B}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{B}-&gt;{C, E}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700145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b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{C}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{C}-&gt;{B, E}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9370724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b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{E}-&gt;{B, C}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435212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b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{B, C}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{B, C}-&gt;{E}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396336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b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{B,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{B, E}-&gt;{C}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9661632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algn="ctr" fontAlgn="b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{C,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{C, E}-&gt;{B}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4958793"/>
                  </a:ext>
                </a:extLst>
              </a:tr>
            </a:tbl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B942EE81-F13D-4F8C-944B-C6DB3ACB5F96}"/>
              </a:ext>
            </a:extLst>
          </p:cNvPr>
          <p:cNvSpPr txBox="1"/>
          <p:nvPr/>
        </p:nvSpPr>
        <p:spPr>
          <a:xfrm>
            <a:off x="3368613" y="4302383"/>
            <a:ext cx="721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L</a:t>
            </a:r>
            <a:r>
              <a:rPr lang="en-US" altLang="zh-CN" sz="11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en-US" altLang="zh-CN" dirty="0"/>
              <a:t> </a:t>
            </a:r>
            <a:endParaRPr lang="zh-CN" altLang="en-US" dirty="0"/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74113280-A95A-479C-AF55-8F422E195508}"/>
              </a:ext>
            </a:extLst>
          </p:cNvPr>
          <p:cNvGraphicFramePr>
            <a:graphicFrameLocks noGrp="1"/>
          </p:cNvGraphicFramePr>
          <p:nvPr/>
        </p:nvGraphicFramePr>
        <p:xfrm>
          <a:off x="3820365" y="4395589"/>
          <a:ext cx="1739900" cy="6591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4026466209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122614215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项集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支持度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81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{A, C,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17071794"/>
                  </a:ext>
                </a:extLst>
              </a:tr>
              <a:tr h="12514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{B, C,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7020448"/>
                  </a:ext>
                </a:extLst>
              </a:tr>
            </a:tbl>
          </a:graphicData>
        </a:graphic>
      </p:graphicFrame>
      <p:sp>
        <p:nvSpPr>
          <p:cNvPr id="26" name="箭头: 右 25">
            <a:extLst>
              <a:ext uri="{FF2B5EF4-FFF2-40B4-BE49-F238E27FC236}">
                <a16:creationId xmlns:a16="http://schemas.microsoft.com/office/drawing/2014/main" id="{9F5DDEEE-90A7-4B0E-9091-1FF9B236BD3F}"/>
              </a:ext>
            </a:extLst>
          </p:cNvPr>
          <p:cNvSpPr/>
          <p:nvPr/>
        </p:nvSpPr>
        <p:spPr>
          <a:xfrm>
            <a:off x="5810391" y="4671715"/>
            <a:ext cx="459520" cy="14277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622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/>
              <a:pPr/>
              <a:t>36</a:t>
            </a:fld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4B121CA-4007-4D50-A053-477E267CF35D}"/>
              </a:ext>
            </a:extLst>
          </p:cNvPr>
          <p:cNvGrpSpPr/>
          <p:nvPr/>
        </p:nvGrpSpPr>
        <p:grpSpPr>
          <a:xfrm>
            <a:off x="1862781" y="1044225"/>
            <a:ext cx="9996708" cy="5302254"/>
            <a:chOff x="1769467" y="1288669"/>
            <a:chExt cx="9996708" cy="5302254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263DB12-80D0-4FC0-8791-4BD044394EF6}"/>
                </a:ext>
              </a:extLst>
            </p:cNvPr>
            <p:cNvSpPr/>
            <p:nvPr/>
          </p:nvSpPr>
          <p:spPr>
            <a:xfrm>
              <a:off x="1769467" y="1288669"/>
              <a:ext cx="9996708" cy="5302254"/>
            </a:xfrm>
            <a:prstGeom prst="rect">
              <a:avLst/>
            </a:prstGeom>
            <a:noFill/>
            <a:ln w="57150">
              <a:solidFill>
                <a:srgbClr val="576C8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A2803ED-052E-41D9-9A18-5B3D279DF192}"/>
                </a:ext>
              </a:extLst>
            </p:cNvPr>
            <p:cNvSpPr/>
            <p:nvPr/>
          </p:nvSpPr>
          <p:spPr>
            <a:xfrm>
              <a:off x="3500913" y="5843426"/>
              <a:ext cx="795799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endParaRPr lang="zh-CN" altLang="en-US" sz="2400" b="1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DC81E73-3359-4A67-B0AC-28C1387435F3}"/>
              </a:ext>
            </a:extLst>
          </p:cNvPr>
          <p:cNvGraphicFramePr>
            <a:graphicFrameLocks noGrp="1"/>
          </p:cNvGraphicFramePr>
          <p:nvPr/>
        </p:nvGraphicFramePr>
        <p:xfrm>
          <a:off x="2242861" y="1837547"/>
          <a:ext cx="2873348" cy="153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2046">
                  <a:extLst>
                    <a:ext uri="{9D8B030D-6E8A-4147-A177-3AD203B41FA5}">
                      <a16:colId xmlns:a16="http://schemas.microsoft.com/office/drawing/2014/main" val="359833318"/>
                    </a:ext>
                  </a:extLst>
                </a:gridCol>
                <a:gridCol w="1461302">
                  <a:extLst>
                    <a:ext uri="{9D8B030D-6E8A-4147-A177-3AD203B41FA5}">
                      <a16:colId xmlns:a16="http://schemas.microsoft.com/office/drawing/2014/main" val="1132521863"/>
                    </a:ext>
                  </a:extLst>
                </a:gridCol>
              </a:tblGrid>
              <a:tr h="177800">
                <a:tc gridSpan="2">
                  <a:txBody>
                    <a:bodyPr/>
                    <a:lstStyle/>
                    <a:p>
                      <a:pPr marL="0" marR="0" lvl="0" indent="0" algn="ctr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u="none" strike="noStrike" dirty="0">
                          <a:effectLst/>
                        </a:rPr>
                        <a:t>事务数据库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920624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TID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Item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86476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C, 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0001639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37504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B,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0280405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0928675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239198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D1E9C523-8D39-4E88-8DA0-8A85D330A9EF}"/>
              </a:ext>
            </a:extLst>
          </p:cNvPr>
          <p:cNvSpPr txBox="1"/>
          <p:nvPr/>
        </p:nvSpPr>
        <p:spPr>
          <a:xfrm>
            <a:off x="2131107" y="1256220"/>
            <a:ext cx="10003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根据下面给定事务数据库，设定最小支持度为</a:t>
            </a:r>
            <a:r>
              <a:rPr lang="en-US" altLang="zh-CN" b="1" dirty="0"/>
              <a:t>50%</a:t>
            </a:r>
            <a:r>
              <a:rPr lang="zh-CN" altLang="en-US" b="1" dirty="0"/>
              <a:t>，最小置信度为</a:t>
            </a:r>
            <a:r>
              <a:rPr lang="en-US" altLang="zh-CN" b="1" dirty="0"/>
              <a:t>60%</a:t>
            </a:r>
            <a:r>
              <a:rPr lang="zh-CN" altLang="en-US" b="1" dirty="0"/>
              <a:t>，找出所有强关联规则。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011525-EFDD-4F3B-89A4-2660E63E56F8}"/>
              </a:ext>
            </a:extLst>
          </p:cNvPr>
          <p:cNvSpPr txBox="1"/>
          <p:nvPr/>
        </p:nvSpPr>
        <p:spPr>
          <a:xfrm>
            <a:off x="5496289" y="1889311"/>
            <a:ext cx="636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/>
              <a:t>PhaseⅡ</a:t>
            </a:r>
            <a:r>
              <a:rPr lang="en-US" altLang="zh-CN" b="1" dirty="0"/>
              <a:t> </a:t>
            </a:r>
            <a:r>
              <a:rPr lang="zh-CN" altLang="en-US" b="1" dirty="0"/>
              <a:t>由频繁项集产生关联规则，找出强关联规则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0F43205-15B5-4A68-98EE-DD4C04ED8F21}"/>
              </a:ext>
            </a:extLst>
          </p:cNvPr>
          <p:cNvSpPr txBox="1"/>
          <p:nvPr/>
        </p:nvSpPr>
        <p:spPr>
          <a:xfrm>
            <a:off x="5496289" y="2319793"/>
            <a:ext cx="62524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Step10 </a:t>
            </a:r>
            <a:r>
              <a:rPr lang="zh-CN" altLang="en-US" dirty="0"/>
              <a:t>计算每个关联规则的置信度，生成强关联规则，          </a:t>
            </a:r>
            <a:endParaRPr lang="en-US" altLang="zh-CN" dirty="0"/>
          </a:p>
          <a:p>
            <a:r>
              <a:rPr lang="zh-CN" altLang="en-US" dirty="0"/>
              <a:t>             关联规则（</a:t>
            </a:r>
            <a:r>
              <a:rPr lang="en-US" altLang="zh-CN" dirty="0"/>
              <a:t>S-&gt;(I-S)</a:t>
            </a:r>
            <a:r>
              <a:rPr lang="zh-CN" altLang="en-US" dirty="0"/>
              <a:t>）的置信度</a:t>
            </a:r>
            <a:r>
              <a:rPr lang="en-US" altLang="zh-CN" dirty="0"/>
              <a:t>= I</a:t>
            </a:r>
            <a:r>
              <a:rPr lang="zh-CN" altLang="en-US" dirty="0"/>
              <a:t>支持度</a:t>
            </a:r>
            <a:r>
              <a:rPr lang="en-US" altLang="zh-CN" dirty="0"/>
              <a:t>/S</a:t>
            </a:r>
            <a:r>
              <a:rPr lang="zh-CN" altLang="en-US" dirty="0"/>
              <a:t>支持度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942EE81-F13D-4F8C-944B-C6DB3ACB5F96}"/>
              </a:ext>
            </a:extLst>
          </p:cNvPr>
          <p:cNvSpPr txBox="1"/>
          <p:nvPr/>
        </p:nvSpPr>
        <p:spPr>
          <a:xfrm>
            <a:off x="2184999" y="5251005"/>
            <a:ext cx="721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L</a:t>
            </a:r>
            <a:r>
              <a:rPr lang="en-US" altLang="zh-CN" sz="11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en-US" altLang="zh-CN" dirty="0"/>
              <a:t> </a:t>
            </a:r>
            <a:endParaRPr lang="zh-CN" altLang="en-US" dirty="0"/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74113280-A95A-479C-AF55-8F422E195508}"/>
              </a:ext>
            </a:extLst>
          </p:cNvPr>
          <p:cNvGraphicFramePr>
            <a:graphicFrameLocks noGrp="1"/>
          </p:cNvGraphicFramePr>
          <p:nvPr/>
        </p:nvGraphicFramePr>
        <p:xfrm>
          <a:off x="2636751" y="5344211"/>
          <a:ext cx="1739900" cy="6591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4026466209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122614215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项集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支持度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81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{A, C,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17071794"/>
                  </a:ext>
                </a:extLst>
              </a:tr>
              <a:tr h="12514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{B, C,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7020448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FB642FD3-E398-4A94-AB46-5EFA32704655}"/>
              </a:ext>
            </a:extLst>
          </p:cNvPr>
          <p:cNvSpPr txBox="1"/>
          <p:nvPr/>
        </p:nvSpPr>
        <p:spPr>
          <a:xfrm>
            <a:off x="2184999" y="3625016"/>
            <a:ext cx="721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L</a:t>
            </a:r>
            <a:r>
              <a:rPr lang="en-US" altLang="zh-CN" sz="11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en-US" altLang="zh-CN" dirty="0"/>
              <a:t> </a:t>
            </a:r>
            <a:endParaRPr lang="zh-CN" altLang="en-US" dirty="0"/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1BA5A9DC-FDEF-49E1-B8E3-F9F11659C921}"/>
              </a:ext>
            </a:extLst>
          </p:cNvPr>
          <p:cNvGraphicFramePr>
            <a:graphicFrameLocks noGrp="1"/>
          </p:cNvGraphicFramePr>
          <p:nvPr/>
        </p:nvGraphicFramePr>
        <p:xfrm>
          <a:off x="2636751" y="3722864"/>
          <a:ext cx="1739900" cy="1098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4026466209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122614215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项集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支持度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81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A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1707179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B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2702044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C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071210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6937820"/>
                  </a:ext>
                </a:extLst>
              </a:tr>
            </a:tbl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3B1BF390-A7F0-4877-B691-78E8A212646F}"/>
              </a:ext>
            </a:extLst>
          </p:cNvPr>
          <p:cNvSpPr txBox="1"/>
          <p:nvPr/>
        </p:nvSpPr>
        <p:spPr>
          <a:xfrm>
            <a:off x="4428849" y="3625016"/>
            <a:ext cx="721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L</a:t>
            </a:r>
            <a:r>
              <a:rPr lang="en-US" altLang="zh-CN" sz="11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en-US" altLang="zh-CN" dirty="0"/>
              <a:t> </a:t>
            </a:r>
            <a:endParaRPr lang="zh-CN" altLang="en-US" dirty="0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92AAC861-69C0-4004-B32D-4172AAE491A9}"/>
              </a:ext>
            </a:extLst>
          </p:cNvPr>
          <p:cNvGraphicFramePr>
            <a:graphicFrameLocks noGrp="1"/>
          </p:cNvGraphicFramePr>
          <p:nvPr/>
        </p:nvGraphicFramePr>
        <p:xfrm>
          <a:off x="4828403" y="3714509"/>
          <a:ext cx="1739900" cy="1318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4026466209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122614215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项集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支持度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81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{A, C}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2702044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{A,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071210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{B, C}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3693782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{B,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6635628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{C, E}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519261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3DD72D0D-6B89-4036-BE5E-2DF4539EDE07}"/>
              </a:ext>
            </a:extLst>
          </p:cNvPr>
          <p:cNvGraphicFramePr>
            <a:graphicFrameLocks noGrp="1"/>
          </p:cNvGraphicFramePr>
          <p:nvPr/>
        </p:nvGraphicFramePr>
        <p:xfrm>
          <a:off x="7584415" y="3187184"/>
          <a:ext cx="4164311" cy="2856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3787">
                  <a:extLst>
                    <a:ext uri="{9D8B030D-6E8A-4147-A177-3AD203B41FA5}">
                      <a16:colId xmlns:a16="http://schemas.microsoft.com/office/drawing/2014/main" val="4026466209"/>
                    </a:ext>
                  </a:extLst>
                </a:gridCol>
                <a:gridCol w="963508">
                  <a:extLst>
                    <a:ext uri="{9D8B030D-6E8A-4147-A177-3AD203B41FA5}">
                      <a16:colId xmlns:a16="http://schemas.microsoft.com/office/drawing/2014/main" val="1226142150"/>
                    </a:ext>
                  </a:extLst>
                </a:gridCol>
                <a:gridCol w="963508">
                  <a:extLst>
                    <a:ext uri="{9D8B030D-6E8A-4147-A177-3AD203B41FA5}">
                      <a16:colId xmlns:a16="http://schemas.microsoft.com/office/drawing/2014/main" val="2186770982"/>
                    </a:ext>
                  </a:extLst>
                </a:gridCol>
                <a:gridCol w="963508">
                  <a:extLst>
                    <a:ext uri="{9D8B030D-6E8A-4147-A177-3AD203B41FA5}">
                      <a16:colId xmlns:a16="http://schemas.microsoft.com/office/drawing/2014/main" val="1146599516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关联规则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I</a:t>
                      </a:r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支持度</a:t>
                      </a: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I/S</a:t>
                      </a:r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置信度</a:t>
                      </a: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置信度</a:t>
                      </a:r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(%)</a:t>
                      </a:r>
                      <a:endParaRPr lang="zh-CN" alt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81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{A}-&gt;{C, E}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707179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{C}-&gt;{A, E}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65668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{E}-&gt;{A, C}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6319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{A, C}-&gt;{E}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898862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{A, E}-&gt;{C}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8693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{C, E}-&gt;{A}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441307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{B}-&gt;{C, E}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61808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{C}-&gt;{B, E}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765148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{E}-&gt;{B, C}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67102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{B, C}-&gt;{E}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74782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{B, E}-&gt;{C}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175116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{C, E}-&gt;{B}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9560542"/>
                  </a:ext>
                </a:extLst>
              </a:tr>
            </a:tbl>
          </a:graphicData>
        </a:graphic>
      </p:graphicFrame>
      <p:sp>
        <p:nvSpPr>
          <p:cNvPr id="28" name="箭头: 右 27">
            <a:extLst>
              <a:ext uri="{FF2B5EF4-FFF2-40B4-BE49-F238E27FC236}">
                <a16:creationId xmlns:a16="http://schemas.microsoft.com/office/drawing/2014/main" id="{74029473-F750-426E-9156-7E91EBB3A6D3}"/>
              </a:ext>
            </a:extLst>
          </p:cNvPr>
          <p:cNvSpPr/>
          <p:nvPr/>
        </p:nvSpPr>
        <p:spPr>
          <a:xfrm>
            <a:off x="6931314" y="4701926"/>
            <a:ext cx="459520" cy="12772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659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/>
              <a:pPr/>
              <a:t>37</a:t>
            </a:fld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4B121CA-4007-4D50-A053-477E267CF35D}"/>
              </a:ext>
            </a:extLst>
          </p:cNvPr>
          <p:cNvGrpSpPr/>
          <p:nvPr/>
        </p:nvGrpSpPr>
        <p:grpSpPr>
          <a:xfrm>
            <a:off x="1862781" y="1044225"/>
            <a:ext cx="9996708" cy="5302254"/>
            <a:chOff x="1769467" y="1288669"/>
            <a:chExt cx="9996708" cy="5302254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263DB12-80D0-4FC0-8791-4BD044394EF6}"/>
                </a:ext>
              </a:extLst>
            </p:cNvPr>
            <p:cNvSpPr/>
            <p:nvPr/>
          </p:nvSpPr>
          <p:spPr>
            <a:xfrm>
              <a:off x="1769467" y="1288669"/>
              <a:ext cx="9996708" cy="5302254"/>
            </a:xfrm>
            <a:prstGeom prst="rect">
              <a:avLst/>
            </a:prstGeom>
            <a:noFill/>
            <a:ln w="57150">
              <a:solidFill>
                <a:srgbClr val="576C8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A2803ED-052E-41D9-9A18-5B3D279DF192}"/>
                </a:ext>
              </a:extLst>
            </p:cNvPr>
            <p:cNvSpPr/>
            <p:nvPr/>
          </p:nvSpPr>
          <p:spPr>
            <a:xfrm>
              <a:off x="3500913" y="5843426"/>
              <a:ext cx="795799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endParaRPr lang="zh-CN" altLang="en-US" sz="2400" b="1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rial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DC81E73-3359-4A67-B0AC-28C1387435F3}"/>
              </a:ext>
            </a:extLst>
          </p:cNvPr>
          <p:cNvGraphicFramePr>
            <a:graphicFrameLocks noGrp="1"/>
          </p:cNvGraphicFramePr>
          <p:nvPr/>
        </p:nvGraphicFramePr>
        <p:xfrm>
          <a:off x="2242861" y="1837547"/>
          <a:ext cx="2873348" cy="153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2046">
                  <a:extLst>
                    <a:ext uri="{9D8B030D-6E8A-4147-A177-3AD203B41FA5}">
                      <a16:colId xmlns:a16="http://schemas.microsoft.com/office/drawing/2014/main" val="359833318"/>
                    </a:ext>
                  </a:extLst>
                </a:gridCol>
                <a:gridCol w="1461302">
                  <a:extLst>
                    <a:ext uri="{9D8B030D-6E8A-4147-A177-3AD203B41FA5}">
                      <a16:colId xmlns:a16="http://schemas.microsoft.com/office/drawing/2014/main" val="1132521863"/>
                    </a:ext>
                  </a:extLst>
                </a:gridCol>
              </a:tblGrid>
              <a:tr h="177800">
                <a:tc gridSpan="2">
                  <a:txBody>
                    <a:bodyPr/>
                    <a:lstStyle/>
                    <a:p>
                      <a:pPr marL="0" marR="0" lvl="0" indent="0" algn="ctr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u="none" strike="noStrike" dirty="0">
                          <a:effectLst/>
                        </a:rPr>
                        <a:t>事务数据库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920624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TID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Item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86476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C, 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0001639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37504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B,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0280405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0928675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A, C, 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239198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D1E9C523-8D39-4E88-8DA0-8A85D330A9EF}"/>
              </a:ext>
            </a:extLst>
          </p:cNvPr>
          <p:cNvSpPr txBox="1"/>
          <p:nvPr/>
        </p:nvSpPr>
        <p:spPr>
          <a:xfrm>
            <a:off x="2131107" y="1256220"/>
            <a:ext cx="10003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根据下面给定事务数据库，设定最小支持度为</a:t>
            </a:r>
            <a:r>
              <a:rPr lang="en-US" altLang="zh-CN" b="1" dirty="0"/>
              <a:t>50%</a:t>
            </a:r>
            <a:r>
              <a:rPr lang="zh-CN" altLang="en-US" b="1" dirty="0"/>
              <a:t>，最小置信度为</a:t>
            </a:r>
            <a:r>
              <a:rPr lang="en-US" altLang="zh-CN" b="1" dirty="0"/>
              <a:t>60%</a:t>
            </a:r>
            <a:r>
              <a:rPr lang="zh-CN" altLang="en-US" b="1" dirty="0"/>
              <a:t>，找出所有强关联规则。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011525-EFDD-4F3B-89A4-2660E63E56F8}"/>
              </a:ext>
            </a:extLst>
          </p:cNvPr>
          <p:cNvSpPr txBox="1"/>
          <p:nvPr/>
        </p:nvSpPr>
        <p:spPr>
          <a:xfrm>
            <a:off x="5496288" y="1889311"/>
            <a:ext cx="6055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/>
              <a:t>PhaseⅡ</a:t>
            </a:r>
            <a:r>
              <a:rPr lang="en-US" altLang="zh-CN" b="1" dirty="0"/>
              <a:t> </a:t>
            </a:r>
            <a:r>
              <a:rPr lang="zh-CN" altLang="en-US" b="1" dirty="0"/>
              <a:t>由频繁项集产生关联规则，找出强关联规则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0F43205-15B5-4A68-98EE-DD4C04ED8F21}"/>
              </a:ext>
            </a:extLst>
          </p:cNvPr>
          <p:cNvSpPr txBox="1"/>
          <p:nvPr/>
        </p:nvSpPr>
        <p:spPr>
          <a:xfrm>
            <a:off x="5496289" y="2319793"/>
            <a:ext cx="6252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Step11 </a:t>
            </a:r>
            <a:r>
              <a:rPr lang="zh-CN" altLang="en-US" dirty="0"/>
              <a:t>得到强关联规则          </a:t>
            </a:r>
            <a:endParaRPr lang="en-US" altLang="zh-CN" dirty="0"/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810D74E1-266E-4A28-ADB4-77E5294B4B31}"/>
              </a:ext>
            </a:extLst>
          </p:cNvPr>
          <p:cNvGraphicFramePr>
            <a:graphicFrameLocks noGrp="1"/>
          </p:cNvGraphicFramePr>
          <p:nvPr/>
        </p:nvGraphicFramePr>
        <p:xfrm>
          <a:off x="5361104" y="2876214"/>
          <a:ext cx="4164311" cy="2856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3787">
                  <a:extLst>
                    <a:ext uri="{9D8B030D-6E8A-4147-A177-3AD203B41FA5}">
                      <a16:colId xmlns:a16="http://schemas.microsoft.com/office/drawing/2014/main" val="4026466209"/>
                    </a:ext>
                  </a:extLst>
                </a:gridCol>
                <a:gridCol w="963508">
                  <a:extLst>
                    <a:ext uri="{9D8B030D-6E8A-4147-A177-3AD203B41FA5}">
                      <a16:colId xmlns:a16="http://schemas.microsoft.com/office/drawing/2014/main" val="1226142150"/>
                    </a:ext>
                  </a:extLst>
                </a:gridCol>
                <a:gridCol w="963508">
                  <a:extLst>
                    <a:ext uri="{9D8B030D-6E8A-4147-A177-3AD203B41FA5}">
                      <a16:colId xmlns:a16="http://schemas.microsoft.com/office/drawing/2014/main" val="2186770982"/>
                    </a:ext>
                  </a:extLst>
                </a:gridCol>
                <a:gridCol w="963508">
                  <a:extLst>
                    <a:ext uri="{9D8B030D-6E8A-4147-A177-3AD203B41FA5}">
                      <a16:colId xmlns:a16="http://schemas.microsoft.com/office/drawing/2014/main" val="1146599516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关联规则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I</a:t>
                      </a:r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支持度</a:t>
                      </a: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I/S</a:t>
                      </a:r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置信度</a:t>
                      </a: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置信度</a:t>
                      </a:r>
                      <a:r>
                        <a:rPr lang="en-US" altLang="zh-C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(%)</a:t>
                      </a:r>
                      <a:endParaRPr lang="zh-CN" alt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81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{A}-&gt;{C, E}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707179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{C}-&gt;{A, E}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65668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{E}-&gt;{A, C}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6319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{A, C}-&gt;{E}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898862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{A, E}-&gt;{C}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8693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{C, E}-&gt;{A}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441307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{B}-&gt;{C, E}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61808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{C}-&gt;{B, E}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765148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{E}-&gt;{B, C}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67102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{B, C}-&gt;{E}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74782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{B, E}-&gt;{C}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175116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{C, E}-&gt;{B}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2/3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9560542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7DFF6403-5725-4C60-8162-20560423D961}"/>
              </a:ext>
            </a:extLst>
          </p:cNvPr>
          <p:cNvSpPr txBox="1"/>
          <p:nvPr/>
        </p:nvSpPr>
        <p:spPr>
          <a:xfrm>
            <a:off x="7732387" y="2870122"/>
            <a:ext cx="431714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                          </a:t>
            </a:r>
            <a:r>
              <a:rPr lang="zh-CN" altLang="en-US" b="1" dirty="0"/>
              <a:t>强关联规则有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dirty="0"/>
              <a:t>                           Rule1</a:t>
            </a:r>
            <a:r>
              <a:rPr lang="zh-CN" altLang="en-US" dirty="0"/>
              <a:t>：	</a:t>
            </a:r>
            <a:r>
              <a:rPr lang="en-US" altLang="zh-CN" dirty="0"/>
              <a:t>{A}-&gt;{C, E}</a:t>
            </a:r>
          </a:p>
          <a:p>
            <a:r>
              <a:rPr lang="en-US" altLang="zh-CN" dirty="0"/>
              <a:t>		Rule2</a:t>
            </a:r>
            <a:r>
              <a:rPr lang="zh-CN" altLang="en-US" dirty="0"/>
              <a:t>：	</a:t>
            </a:r>
            <a:r>
              <a:rPr lang="en-US" altLang="zh-CN" dirty="0"/>
              <a:t>{A, C}-&gt;{E}</a:t>
            </a:r>
          </a:p>
          <a:p>
            <a:r>
              <a:rPr lang="en-US" altLang="zh-CN" dirty="0"/>
              <a:t>		Rule3</a:t>
            </a:r>
            <a:r>
              <a:rPr lang="zh-CN" altLang="en-US" dirty="0"/>
              <a:t>：	</a:t>
            </a:r>
            <a:r>
              <a:rPr lang="en-US" altLang="zh-CN" dirty="0"/>
              <a:t>{A, E}-&gt;{C}</a:t>
            </a:r>
          </a:p>
          <a:p>
            <a:r>
              <a:rPr lang="en-US" altLang="zh-CN" dirty="0"/>
              <a:t>		Rule4</a:t>
            </a:r>
            <a:r>
              <a:rPr lang="zh-CN" altLang="en-US" dirty="0"/>
              <a:t>：	</a:t>
            </a:r>
            <a:r>
              <a:rPr lang="en-US" altLang="zh-CN" dirty="0"/>
              <a:t>{C, E}-&gt;{A}</a:t>
            </a:r>
          </a:p>
          <a:p>
            <a:r>
              <a:rPr lang="en-US" altLang="zh-CN" dirty="0"/>
              <a:t>		Rule5</a:t>
            </a:r>
            <a:r>
              <a:rPr lang="zh-CN" altLang="en-US" dirty="0"/>
              <a:t>：	</a:t>
            </a:r>
            <a:r>
              <a:rPr lang="en-US" altLang="zh-CN" dirty="0"/>
              <a:t>{B}-&gt;{C, E}</a:t>
            </a:r>
          </a:p>
          <a:p>
            <a:r>
              <a:rPr lang="en-US" altLang="zh-CN" dirty="0"/>
              <a:t>		Rule6</a:t>
            </a:r>
            <a:r>
              <a:rPr lang="zh-CN" altLang="en-US" dirty="0"/>
              <a:t>：	</a:t>
            </a:r>
            <a:r>
              <a:rPr lang="en-US" altLang="zh-CN" dirty="0"/>
              <a:t>{B, C}-&gt;{E}</a:t>
            </a:r>
          </a:p>
          <a:p>
            <a:r>
              <a:rPr lang="en-US" altLang="zh-CN" dirty="0"/>
              <a:t>		Rule7</a:t>
            </a:r>
            <a:r>
              <a:rPr lang="zh-CN" altLang="en-US" dirty="0"/>
              <a:t>：	</a:t>
            </a:r>
            <a:r>
              <a:rPr lang="en-US" altLang="zh-CN" dirty="0"/>
              <a:t>{B, E}-&gt;{C}</a:t>
            </a:r>
          </a:p>
          <a:p>
            <a:r>
              <a:rPr lang="en-US" altLang="zh-CN" dirty="0"/>
              <a:t>		Rule8</a:t>
            </a:r>
            <a:r>
              <a:rPr lang="zh-CN" altLang="en-US" dirty="0"/>
              <a:t>：	</a:t>
            </a:r>
            <a:r>
              <a:rPr lang="en-US" altLang="zh-CN" dirty="0"/>
              <a:t>{C, E}-&gt;{B}</a:t>
            </a:r>
          </a:p>
        </p:txBody>
      </p:sp>
    </p:spTree>
    <p:extLst>
      <p:ext uri="{BB962C8B-B14F-4D97-AF65-F5344CB8AC3E}">
        <p14:creationId xmlns:p14="http://schemas.microsoft.com/office/powerpoint/2010/main" val="3934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-127000"/>
            <a:ext cx="12192000" cy="6985001"/>
            <a:chOff x="0" y="-127000"/>
            <a:chExt cx="12192000" cy="6985001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 5">
              <a:extLst>
                <a:ext uri="{FF2B5EF4-FFF2-40B4-BE49-F238E27FC236}">
                  <a16:creationId xmlns:a16="http://schemas.microsoft.com/office/drawing/2014/main" id="{683F9A17-5372-4D20-B984-AEEE30D4E8ED}"/>
                </a:ext>
              </a:extLst>
            </p:cNvPr>
            <p:cNvSpPr/>
            <p:nvPr/>
          </p:nvSpPr>
          <p:spPr>
            <a:xfrm flipH="1">
              <a:off x="1651519" y="990601"/>
              <a:ext cx="3046301" cy="916025"/>
            </a:xfrm>
            <a:custGeom>
              <a:avLst/>
              <a:gdLst>
                <a:gd name="connsiteX0" fmla="*/ 3548448 w 4378443"/>
                <a:gd name="connsiteY0" fmla="*/ 0 h 1659990"/>
                <a:gd name="connsiteX1" fmla="*/ 0 w 4378443"/>
                <a:gd name="connsiteY1" fmla="*/ 0 h 1659990"/>
                <a:gd name="connsiteX2" fmla="*/ 0 w 4378443"/>
                <a:gd name="connsiteY2" fmla="*/ 1659990 h 1659990"/>
                <a:gd name="connsiteX3" fmla="*/ 3548447 w 4378443"/>
                <a:gd name="connsiteY3" fmla="*/ 1659990 h 1659990"/>
                <a:gd name="connsiteX4" fmla="*/ 4378442 w 4378443"/>
                <a:gd name="connsiteY4" fmla="*/ 829995 h 1659990"/>
                <a:gd name="connsiteX5" fmla="*/ 4378443 w 4378443"/>
                <a:gd name="connsiteY5" fmla="*/ 829995 h 1659990"/>
                <a:gd name="connsiteX6" fmla="*/ 3548448 w 4378443"/>
                <a:gd name="connsiteY6" fmla="*/ 0 h 165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8443" h="1659990">
                  <a:moveTo>
                    <a:pt x="3548448" y="0"/>
                  </a:moveTo>
                  <a:lnTo>
                    <a:pt x="0" y="0"/>
                  </a:lnTo>
                  <a:lnTo>
                    <a:pt x="0" y="1659990"/>
                  </a:lnTo>
                  <a:lnTo>
                    <a:pt x="3548447" y="1659990"/>
                  </a:lnTo>
                  <a:cubicBezTo>
                    <a:pt x="4006841" y="1659990"/>
                    <a:pt x="4378442" y="1288389"/>
                    <a:pt x="4378442" y="829995"/>
                  </a:cubicBezTo>
                  <a:lnTo>
                    <a:pt x="4378443" y="829995"/>
                  </a:lnTo>
                  <a:cubicBezTo>
                    <a:pt x="4378443" y="371601"/>
                    <a:pt x="4006842" y="0"/>
                    <a:pt x="3548448" y="0"/>
                  </a:cubicBezTo>
                  <a:close/>
                </a:path>
              </a:pathLst>
            </a:custGeom>
            <a:solidFill>
              <a:srgbClr val="213F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200C103-E212-4C79-9ADB-9CF7394DABAA}"/>
                </a:ext>
              </a:extLst>
            </p:cNvPr>
            <p:cNvGrpSpPr/>
            <p:nvPr/>
          </p:nvGrpSpPr>
          <p:grpSpPr>
            <a:xfrm>
              <a:off x="4095487" y="-127000"/>
              <a:ext cx="602335" cy="5812453"/>
              <a:chOff x="7636995" y="1679426"/>
              <a:chExt cx="421216" cy="4092334"/>
            </a:xfrm>
          </p:grpSpPr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A07D4936-ED15-4494-A02F-C2411B992F9B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66000"/>
                        </a14:imgEffect>
                      </a14:imgLayer>
                    </a14:imgProps>
                  </a:ext>
                </a:extLst>
              </a:blip>
              <a:srcRect t="76775"/>
              <a:stretch/>
            </p:blipFill>
            <p:spPr>
              <a:xfrm rot="16200000" flipV="1">
                <a:off x="5801436" y="3514985"/>
                <a:ext cx="4092334" cy="421216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19C4510A-8E52-4E6D-ABC3-8F5193067839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66000"/>
                        </a14:imgEffect>
                      </a14:imgLayer>
                    </a14:imgProps>
                  </a:ext>
                </a:extLst>
              </a:blip>
              <a:srcRect t="76775"/>
              <a:stretch/>
            </p:blipFill>
            <p:spPr>
              <a:xfrm rot="16200000" flipV="1">
                <a:off x="5801436" y="3514985"/>
                <a:ext cx="4092334" cy="421216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8" name="直角三角形 7">
              <a:extLst>
                <a:ext uri="{FF2B5EF4-FFF2-40B4-BE49-F238E27FC236}">
                  <a16:creationId xmlns:a16="http://schemas.microsoft.com/office/drawing/2014/main" id="{99A2EC02-BD58-46AF-A84F-156DCC33EE05}"/>
                </a:ext>
              </a:extLst>
            </p:cNvPr>
            <p:cNvSpPr/>
            <p:nvPr/>
          </p:nvSpPr>
          <p:spPr>
            <a:xfrm flipH="1" flipV="1">
              <a:off x="3785126" y="3950674"/>
              <a:ext cx="913719" cy="432309"/>
            </a:xfrm>
            <a:prstGeom prst="rtTriangle">
              <a:avLst/>
            </a:prstGeom>
            <a:solidFill>
              <a:srgbClr val="213F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" name="任意多边形 8">
              <a:extLst>
                <a:ext uri="{FF2B5EF4-FFF2-40B4-BE49-F238E27FC236}">
                  <a16:creationId xmlns:a16="http://schemas.microsoft.com/office/drawing/2014/main" id="{23158547-6A0B-4618-8FF8-0A8B69708EC6}"/>
                </a:ext>
              </a:extLst>
            </p:cNvPr>
            <p:cNvSpPr/>
            <p:nvPr/>
          </p:nvSpPr>
          <p:spPr>
            <a:xfrm>
              <a:off x="3794643" y="2362673"/>
              <a:ext cx="6466957" cy="1592519"/>
            </a:xfrm>
            <a:custGeom>
              <a:avLst/>
              <a:gdLst>
                <a:gd name="connsiteX0" fmla="*/ 0 w 5229817"/>
                <a:gd name="connsiteY0" fmla="*/ 0 h 1429030"/>
                <a:gd name="connsiteX1" fmla="*/ 4515302 w 5229817"/>
                <a:gd name="connsiteY1" fmla="*/ 0 h 1429030"/>
                <a:gd name="connsiteX2" fmla="*/ 5229817 w 5229817"/>
                <a:gd name="connsiteY2" fmla="*/ 714515 h 1429030"/>
                <a:gd name="connsiteX3" fmla="*/ 5229816 w 5229817"/>
                <a:gd name="connsiteY3" fmla="*/ 714515 h 1429030"/>
                <a:gd name="connsiteX4" fmla="*/ 4515301 w 5229817"/>
                <a:gd name="connsiteY4" fmla="*/ 1429030 h 1429030"/>
                <a:gd name="connsiteX5" fmla="*/ 0 w 5229817"/>
                <a:gd name="connsiteY5" fmla="*/ 1429029 h 142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29817" h="1429030">
                  <a:moveTo>
                    <a:pt x="0" y="0"/>
                  </a:moveTo>
                  <a:lnTo>
                    <a:pt x="4515302" y="0"/>
                  </a:lnTo>
                  <a:cubicBezTo>
                    <a:pt x="4909918" y="0"/>
                    <a:pt x="5229817" y="319899"/>
                    <a:pt x="5229817" y="714515"/>
                  </a:cubicBezTo>
                  <a:lnTo>
                    <a:pt x="5229816" y="714515"/>
                  </a:lnTo>
                  <a:cubicBezTo>
                    <a:pt x="5229816" y="1109131"/>
                    <a:pt x="4909917" y="1429030"/>
                    <a:pt x="4515301" y="1429030"/>
                  </a:cubicBezTo>
                  <a:lnTo>
                    <a:pt x="0" y="1429029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" name="文本框 61">
              <a:extLst>
                <a:ext uri="{FF2B5EF4-FFF2-40B4-BE49-F238E27FC236}">
                  <a16:creationId xmlns:a16="http://schemas.microsoft.com/office/drawing/2014/main" id="{8EFA2E3D-1349-4611-858A-C5CD9EC762AE}"/>
                </a:ext>
              </a:extLst>
            </p:cNvPr>
            <p:cNvSpPr txBox="1"/>
            <p:nvPr/>
          </p:nvSpPr>
          <p:spPr>
            <a:xfrm>
              <a:off x="3836472" y="2585793"/>
              <a:ext cx="6313846" cy="101566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600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模式评估</a:t>
              </a:r>
            </a:p>
          </p:txBody>
        </p:sp>
        <p:sp>
          <p:nvSpPr>
            <p:cNvPr id="11" name="文本框 62">
              <a:extLst>
                <a:ext uri="{FF2B5EF4-FFF2-40B4-BE49-F238E27FC236}">
                  <a16:creationId xmlns:a16="http://schemas.microsoft.com/office/drawing/2014/main" id="{60BBD27F-574E-483D-98AD-863290A27093}"/>
                </a:ext>
              </a:extLst>
            </p:cNvPr>
            <p:cNvSpPr txBox="1"/>
            <p:nvPr/>
          </p:nvSpPr>
          <p:spPr>
            <a:xfrm>
              <a:off x="2090544" y="1121713"/>
              <a:ext cx="21609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PART  3</a:t>
              </a:r>
              <a:endParaRPr lang="zh-CN" altLang="en-US" sz="4000" b="1" dirty="0">
                <a:solidFill>
                  <a:prstClr val="white"/>
                </a:solidFill>
                <a:latin typeface="方正兰亭特黑简体" panose="02000000000000000000" pitchFamily="2" charset="-122"/>
                <a:ea typeface="方正兰亭特黑简体" panose="02000000000000000000" pitchFamily="2" charset="-122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633AE577-F75A-49A4-AF49-6C3DFB8BA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3838768"/>
              <a:ext cx="4992468" cy="3019233"/>
            </a:xfrm>
            <a:custGeom>
              <a:avLst/>
              <a:gdLst>
                <a:gd name="T0" fmla="*/ 0 w 2348"/>
                <a:gd name="T1" fmla="*/ 0 h 1407"/>
                <a:gd name="T2" fmla="*/ 2348 w 2348"/>
                <a:gd name="T3" fmla="*/ 1407 h 1407"/>
                <a:gd name="T4" fmla="*/ 0 w 2348"/>
                <a:gd name="T5" fmla="*/ 1407 h 1407"/>
                <a:gd name="T6" fmla="*/ 0 w 2348"/>
                <a:gd name="T7" fmla="*/ 0 h 1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8" h="1407">
                  <a:moveTo>
                    <a:pt x="0" y="0"/>
                  </a:moveTo>
                  <a:lnTo>
                    <a:pt x="2348" y="1407"/>
                  </a:lnTo>
                  <a:lnTo>
                    <a:pt x="0" y="14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F7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62551" tIns="81275" rIns="162551" bIns="81275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155895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276">
                <a:solidFill>
                  <a:srgbClr val="000000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3BA162EA-CEA0-4726-8F4B-BB627F8D0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059" y="4356933"/>
              <a:ext cx="9361941" cy="2501068"/>
            </a:xfrm>
            <a:custGeom>
              <a:avLst/>
              <a:gdLst>
                <a:gd name="T0" fmla="*/ 4403 w 4403"/>
                <a:gd name="T1" fmla="*/ 0 h 1161"/>
                <a:gd name="T2" fmla="*/ 4403 w 4403"/>
                <a:gd name="T3" fmla="*/ 1161 h 1161"/>
                <a:gd name="T4" fmla="*/ 0 w 4403"/>
                <a:gd name="T5" fmla="*/ 1161 h 1161"/>
                <a:gd name="T6" fmla="*/ 4403 w 4403"/>
                <a:gd name="T7" fmla="*/ 0 h 1161"/>
                <a:gd name="connsiteX0" fmla="*/ 10000 w 10000"/>
                <a:gd name="connsiteY0" fmla="*/ 0 h 10039"/>
                <a:gd name="connsiteX1" fmla="*/ 10000 w 10000"/>
                <a:gd name="connsiteY1" fmla="*/ 10039 h 10039"/>
                <a:gd name="connsiteX2" fmla="*/ 0 w 10000"/>
                <a:gd name="connsiteY2" fmla="*/ 10039 h 10039"/>
                <a:gd name="connsiteX3" fmla="*/ 10000 w 10000"/>
                <a:gd name="connsiteY3" fmla="*/ 0 h 1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39">
                  <a:moveTo>
                    <a:pt x="10000" y="0"/>
                  </a:moveTo>
                  <a:lnTo>
                    <a:pt x="10000" y="10039"/>
                  </a:lnTo>
                  <a:lnTo>
                    <a:pt x="0" y="10039"/>
                  </a:lnTo>
                  <a:lnTo>
                    <a:pt x="10000" y="0"/>
                  </a:lnTo>
                  <a:close/>
                </a:path>
              </a:pathLst>
            </a:custGeom>
            <a:solidFill>
              <a:srgbClr val="4472C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62551" tIns="81275" rIns="162551" bIns="81275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155895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276">
                <a:solidFill>
                  <a:srgbClr val="000000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schemeClr val="bg1"/>
                </a:solidFill>
              </a:rPr>
              <a:pPr/>
              <a:t>38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498" y="0"/>
            <a:ext cx="1355352" cy="752437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580" y="42293"/>
            <a:ext cx="666768" cy="66785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1876805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模式评估度量比较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39</a:t>
            </a:fld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57E7E-B778-0A41-8101-9E8FC81D1346}"/>
              </a:ext>
            </a:extLst>
          </p:cNvPr>
          <p:cNvSpPr txBox="1"/>
          <p:nvPr/>
        </p:nvSpPr>
        <p:spPr>
          <a:xfrm>
            <a:off x="645459" y="896477"/>
            <a:ext cx="10936942" cy="100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全置信度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400" dirty="0" err="1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all_confidence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给定两个集合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的全置信度如下：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AA1F4-2168-7447-B901-7AAC3FEE095D}"/>
              </a:ext>
            </a:extLst>
          </p:cNvPr>
          <p:cNvSpPr txBox="1"/>
          <p:nvPr/>
        </p:nvSpPr>
        <p:spPr>
          <a:xfrm>
            <a:off x="645459" y="3899982"/>
            <a:ext cx="10936942" cy="100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最大置信度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400" dirty="0" err="1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max_confidence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给定两个集合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的最大置信度如下：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15308B-7D9A-07C4-D7FA-25F68AE63D91}"/>
                  </a:ext>
                </a:extLst>
              </p:cNvPr>
              <p:cNvSpPr txBox="1"/>
              <p:nvPr/>
            </p:nvSpPr>
            <p:spPr>
              <a:xfrm>
                <a:off x="2503486" y="2070849"/>
                <a:ext cx="7220888" cy="73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 smtClean="0"/>
                        <m:t>All</m:t>
                      </m:r>
                      <m:r>
                        <m:rPr>
                          <m:nor/>
                        </m:rPr>
                        <a:rPr lang="en-US" sz="2000" dirty="0" smtClean="0"/>
                        <m:t>_</m:t>
                      </m:r>
                      <m:r>
                        <m:rPr>
                          <m:nor/>
                        </m:rPr>
                        <a:rPr lang="en-US" sz="2000" dirty="0" smtClean="0"/>
                        <m:t>conf</m:t>
                      </m:r>
                      <m:r>
                        <m:rPr>
                          <m:nor/>
                        </m:rPr>
                        <a:rPr lang="en-US" sz="2000" dirty="0" smtClean="0"/>
                        <m:t>(</m:t>
                      </m:r>
                      <m:r>
                        <m:rPr>
                          <m:nor/>
                        </m:rPr>
                        <a:rPr lang="en-US" sz="2000" dirty="0" smtClean="0"/>
                        <m:t>A</m:t>
                      </m:r>
                      <m:r>
                        <m:rPr>
                          <m:nor/>
                        </m:rPr>
                        <a:rPr lang="en-US" sz="2000" dirty="0" smtClean="0"/>
                        <m:t>, </m:t>
                      </m:r>
                      <m:r>
                        <m:rPr>
                          <m:nor/>
                        </m:rPr>
                        <a:rPr lang="en-US" sz="2000" dirty="0" smtClean="0"/>
                        <m:t>B</m:t>
                      </m:r>
                      <m:r>
                        <m:rPr>
                          <m:nor/>
                        </m:rPr>
                        <a:rPr lang="en-US" sz="2000" dirty="0" smtClean="0"/>
                        <m:t>)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sup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⁡{</m:t>
                          </m:r>
                          <m:func>
                            <m:func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sup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sup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)}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CN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15308B-7D9A-07C4-D7FA-25F68AE63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486" y="2070849"/>
                <a:ext cx="7220888" cy="733919"/>
              </a:xfrm>
              <a:prstGeom prst="rect">
                <a:avLst/>
              </a:prstGeom>
              <a:blipFill>
                <a:blip r:embed="rId3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52DBC5-FC1F-46FD-6AD2-42FA4BAA7609}"/>
                  </a:ext>
                </a:extLst>
              </p:cNvPr>
              <p:cNvSpPr txBox="1"/>
              <p:nvPr/>
            </p:nvSpPr>
            <p:spPr>
              <a:xfrm>
                <a:off x="3695727" y="5078340"/>
                <a:ext cx="480054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m:rPr>
                          <m:nor/>
                        </m:rPr>
                        <a:rPr lang="en-US" sz="2000" dirty="0" smtClean="0"/>
                        <m:t>_</m:t>
                      </m:r>
                      <m:r>
                        <m:rPr>
                          <m:nor/>
                        </m:rPr>
                        <a:rPr lang="en-US" sz="2000" dirty="0" smtClean="0"/>
                        <m:t>conf</m:t>
                      </m:r>
                      <m:r>
                        <m:rPr>
                          <m:nor/>
                        </m:rPr>
                        <a:rPr lang="en-US" sz="2000" dirty="0" smtClean="0"/>
                        <m:t>(</m:t>
                      </m:r>
                      <m:r>
                        <m:rPr>
                          <m:nor/>
                        </m:rPr>
                        <a:rPr lang="en-US" sz="2000" dirty="0" smtClean="0"/>
                        <m:t>A</m:t>
                      </m:r>
                      <m:r>
                        <m:rPr>
                          <m:nor/>
                        </m:rPr>
                        <a:rPr lang="en-US" sz="2000" dirty="0" smtClean="0"/>
                        <m:t>, </m:t>
                      </m:r>
                      <m:r>
                        <m:rPr>
                          <m:nor/>
                        </m:rPr>
                        <a:rPr lang="en-US" sz="2000" dirty="0" smtClean="0"/>
                        <m:t>B</m:t>
                      </m:r>
                      <m:r>
                        <m:rPr>
                          <m:nor/>
                        </m:rPr>
                        <a:rPr lang="en-US" sz="2000" dirty="0" smtClean="0"/>
                        <m:t>)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CN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52DBC5-FC1F-46FD-6AD2-42FA4BAA7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727" y="5078340"/>
                <a:ext cx="4800545" cy="400110"/>
              </a:xfrm>
              <a:prstGeom prst="rect">
                <a:avLst/>
              </a:prstGeom>
              <a:blipFill>
                <a:blip r:embed="rId4"/>
                <a:stretch>
                  <a:fillRect t="-9091" b="-1818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D44F739-6630-48A5-2988-C5CD19D658EE}"/>
              </a:ext>
            </a:extLst>
          </p:cNvPr>
          <p:cNvSpPr txBox="1"/>
          <p:nvPr/>
        </p:nvSpPr>
        <p:spPr>
          <a:xfrm>
            <a:off x="699247" y="2968523"/>
            <a:ext cx="7422225" cy="525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66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其中，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max{sup(A),sup(B)}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的最大支持度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1CD2B6-6C22-0C60-3AD6-DE2FFD3F774F}"/>
              </a:ext>
            </a:extLst>
          </p:cNvPr>
          <p:cNvSpPr txBox="1"/>
          <p:nvPr/>
        </p:nvSpPr>
        <p:spPr>
          <a:xfrm>
            <a:off x="699248" y="5684367"/>
            <a:ext cx="10757646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66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m</a:t>
            </a:r>
            <a:r>
              <a:rPr kumimoji="0" lang="en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ax_conf</a:t>
            </a:r>
            <a:r>
              <a:rPr kumimoji="0" lang="zh-CN" altLang="en-CN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是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两个关联规则“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A=&gt;B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”和“</a:t>
            </a:r>
            <a:r>
              <a:rPr lang="en-US" altLang="zh-CN" sz="2400" dirty="0">
                <a:solidFill>
                  <a:srgbClr val="E7E6E6">
                    <a:lumMod val="1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=&gt;A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”的最大置信度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7462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模式评估度量比较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40</a:t>
            </a:fld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57E7E-B778-0A41-8101-9E8FC81D1346}"/>
              </a:ext>
            </a:extLst>
          </p:cNvPr>
          <p:cNvSpPr txBox="1"/>
          <p:nvPr/>
        </p:nvSpPr>
        <p:spPr>
          <a:xfrm>
            <a:off x="645459" y="896477"/>
            <a:ext cx="10936942" cy="100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en-US" altLang="zh-CN" sz="2400" b="1" dirty="0" err="1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Kulczynski</a:t>
            </a:r>
            <a:r>
              <a:rPr lang="zh-CN" altLang="en-US" sz="2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度量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（库钦斯基，</a:t>
            </a:r>
            <a:r>
              <a:rPr lang="en-US" altLang="zh-CN" sz="2400" dirty="0" err="1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Kulc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给定两个集合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en-US" altLang="zh-CN" sz="2400" dirty="0" err="1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Kulczynski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度量的定义如下：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AA1F4-2168-7447-B901-7AAC3FEE095D}"/>
              </a:ext>
            </a:extLst>
          </p:cNvPr>
          <p:cNvSpPr txBox="1"/>
          <p:nvPr/>
        </p:nvSpPr>
        <p:spPr>
          <a:xfrm>
            <a:off x="645459" y="3819300"/>
            <a:ext cx="10936942" cy="100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余弦度量</a:t>
            </a:r>
            <a:endParaRPr lang="en-US" altLang="zh-CN" sz="2400" b="1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给定两个集合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的余弦度量的定义如下：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70C7C5-106D-974B-8DA7-3278640601E7}"/>
                  </a:ext>
                </a:extLst>
              </p:cNvPr>
              <p:cNvSpPr txBox="1"/>
              <p:nvPr/>
            </p:nvSpPr>
            <p:spPr>
              <a:xfrm>
                <a:off x="4098730" y="2217111"/>
                <a:ext cx="4030398" cy="5269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/>
                  <a:t>Kulc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 smtClean="0"/>
                      <m:t>(</m:t>
                    </m:r>
                    <m:r>
                      <m:rPr>
                        <m:nor/>
                      </m:rPr>
                      <a:rPr lang="en-US" sz="2000" dirty="0" smtClean="0"/>
                      <m:t>A</m:t>
                    </m:r>
                    <m:r>
                      <m:rPr>
                        <m:nor/>
                      </m:rPr>
                      <a:rPr lang="en-US" sz="2000" dirty="0" smtClean="0"/>
                      <m:t>, </m:t>
                    </m:r>
                    <m:r>
                      <m:rPr>
                        <m:nor/>
                      </m:rPr>
                      <a:rPr lang="en-US" sz="2000" dirty="0" smtClean="0"/>
                      <m:t>B</m:t>
                    </m:r>
                    <m:r>
                      <m:rPr>
                        <m:nor/>
                      </m:rPr>
                      <a:rPr lang="en-US" sz="2000" dirty="0" smtClean="0"/>
                      <m:t>)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N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70C7C5-106D-974B-8DA7-327864060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730" y="2217111"/>
                <a:ext cx="4030398" cy="526939"/>
              </a:xfrm>
              <a:prstGeom prst="rect">
                <a:avLst/>
              </a:prstGeom>
              <a:blipFill>
                <a:blip r:embed="rId3"/>
                <a:stretch>
                  <a:fillRect l="-940" b="-697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2F1228C-CFE6-2A0B-CFEC-714B16712E2B}"/>
              </a:ext>
            </a:extLst>
          </p:cNvPr>
          <p:cNvSpPr txBox="1"/>
          <p:nvPr/>
        </p:nvSpPr>
        <p:spPr>
          <a:xfrm>
            <a:off x="645459" y="2968523"/>
            <a:ext cx="10936942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66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lang="en-US" altLang="zh-CN" sz="2400" dirty="0">
                <a:solidFill>
                  <a:srgbClr val="E7E6E6">
                    <a:lumMod val="1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1927</a:t>
            </a:r>
            <a:r>
              <a:rPr lang="zh-CN" altLang="en-US" sz="2400" dirty="0">
                <a:solidFill>
                  <a:srgbClr val="E7E6E6">
                    <a:lumMod val="1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年，由波兰数学家</a:t>
            </a:r>
            <a:r>
              <a:rPr lang="en-US" altLang="zh-CN" sz="2400" dirty="0">
                <a:solidFill>
                  <a:srgbClr val="E7E6E6">
                    <a:lumMod val="1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S. </a:t>
            </a:r>
            <a:r>
              <a:rPr lang="en-US" altLang="zh-CN" sz="2400" dirty="0" err="1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Kulczynski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提出，可看做是两个置信度的均值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AAF6B6-045B-AC6C-21BE-887A4ADFC954}"/>
                  </a:ext>
                </a:extLst>
              </p:cNvPr>
              <p:cNvSpPr txBox="1"/>
              <p:nvPr/>
            </p:nvSpPr>
            <p:spPr>
              <a:xfrm>
                <a:off x="2424952" y="4845861"/>
                <a:ext cx="7342095" cy="608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𝑐𝑜𝑛𝑠𝑖𝑛𝑒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⁡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lang="en-CN" sz="20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𝑠𝑢𝑝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 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⁡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𝑠𝑢𝑝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𝑠𝑢𝑝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lang="en-CN" sz="2000" dirty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endParaRPr lang="en-CN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AAF6B6-045B-AC6C-21BE-887A4ADFC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4952" y="4845861"/>
                <a:ext cx="7342095" cy="608693"/>
              </a:xfrm>
              <a:prstGeom prst="rect">
                <a:avLst/>
              </a:prstGeom>
              <a:blipFill>
                <a:blip r:embed="rId4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2977153-A840-62E2-DD7E-55AD7D592701}"/>
              </a:ext>
            </a:extLst>
          </p:cNvPr>
          <p:cNvSpPr txBox="1"/>
          <p:nvPr/>
        </p:nvSpPr>
        <p:spPr>
          <a:xfrm>
            <a:off x="645459" y="5661571"/>
            <a:ext cx="10936942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66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余弦度量可以看做调和提升度度量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569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" t="-376" r="1097" b="376"/>
          <a:stretch/>
        </p:blipFill>
        <p:spPr>
          <a:xfrm>
            <a:off x="-34506" y="-21214"/>
            <a:ext cx="12249510" cy="688784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34506" y="4038600"/>
            <a:ext cx="12249510" cy="28280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0" name="Shape 45"/>
          <p:cNvSpPr/>
          <p:nvPr/>
        </p:nvSpPr>
        <p:spPr>
          <a:xfrm>
            <a:off x="1727202" y="4494863"/>
            <a:ext cx="8871438" cy="830997"/>
          </a:xfrm>
          <a:prstGeom prst="rect">
            <a:avLst/>
          </a:prstGeom>
          <a:noFill/>
          <a:ln w="12700">
            <a:noFill/>
            <a:miter lim="400000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45720" tIns="45720" rIns="45720" bIns="4572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algn="ctr"/>
            <a:r>
              <a:rPr lang="en-US" altLang="zh-CN" sz="4800" b="1" dirty="0" err="1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ThankS</a:t>
            </a:r>
            <a:endParaRPr lang="en-US" altLang="zh-CN" sz="4800" b="1" dirty="0">
              <a:solidFill>
                <a:prstClr val="white"/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9" name="组合 45"/>
          <p:cNvGrpSpPr/>
          <p:nvPr/>
        </p:nvGrpSpPr>
        <p:grpSpPr>
          <a:xfrm>
            <a:off x="2153052" y="5359400"/>
            <a:ext cx="7946680" cy="961289"/>
            <a:chOff x="2002264" y="3258103"/>
            <a:chExt cx="8187473" cy="961286"/>
          </a:xfrm>
        </p:grpSpPr>
        <p:sp>
          <p:nvSpPr>
            <p:cNvPr id="17" name="矩形 17"/>
            <p:cNvSpPr>
              <a:spLocks noChangeArrowheads="1"/>
            </p:cNvSpPr>
            <p:nvPr/>
          </p:nvSpPr>
          <p:spPr bwMode="auto">
            <a:xfrm>
              <a:off x="3866722" y="3258103"/>
              <a:ext cx="4395931" cy="961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000" b="1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吉林大学人工智能学院</a:t>
              </a:r>
              <a:endParaRPr lang="en-US" altLang="zh-CN" sz="2000" b="1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2000" b="1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刘兆赓</a:t>
              </a:r>
              <a:endParaRPr lang="en-US" altLang="zh-CN" sz="2000" b="1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18" name="直接连接符 13"/>
            <p:cNvCxnSpPr/>
            <p:nvPr/>
          </p:nvCxnSpPr>
          <p:spPr bwMode="auto">
            <a:xfrm>
              <a:off x="2002264" y="3705778"/>
              <a:ext cx="2329187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  <p:cxnSp>
          <p:nvCxnSpPr>
            <p:cNvPr id="19" name="直接连接符 14"/>
            <p:cNvCxnSpPr/>
            <p:nvPr/>
          </p:nvCxnSpPr>
          <p:spPr bwMode="auto">
            <a:xfrm>
              <a:off x="7828119" y="3705778"/>
              <a:ext cx="2361618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8" r="55688" b="42178"/>
          <a:stretch/>
        </p:blipFill>
        <p:spPr>
          <a:xfrm flipH="1">
            <a:off x="1727201" y="685800"/>
            <a:ext cx="1118396" cy="1422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40799" r="31019" b="39942"/>
          <a:stretch/>
        </p:blipFill>
        <p:spPr>
          <a:xfrm>
            <a:off x="7874000" y="1348059"/>
            <a:ext cx="3048000" cy="1320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505178" y="1026073"/>
            <a:ext cx="1137053" cy="4857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9956800" y="2935491"/>
            <a:ext cx="1137053" cy="4857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389" y="943829"/>
            <a:ext cx="5228265" cy="2902521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prstClr val="white"/>
                </a:solidFill>
              </a:rPr>
              <a:pPr/>
              <a:t>41</a:t>
            </a:fld>
            <a:endParaRPr lang="zh-CN" altLang="en-US" dirty="0">
              <a:solidFill>
                <a:prstClr val="white"/>
              </a:solidFill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321" r="16752"/>
          <a:stretch/>
        </p:blipFill>
        <p:spPr>
          <a:xfrm>
            <a:off x="8580033" y="0"/>
            <a:ext cx="3634971" cy="330446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412" y="639326"/>
            <a:ext cx="931677" cy="93318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842612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课上思考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42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A20F0D-18F6-8D46-B5DD-04308A33EA87}"/>
              </a:ext>
            </a:extLst>
          </p:cNvPr>
          <p:cNvSpPr/>
          <p:nvPr/>
        </p:nvSpPr>
        <p:spPr>
          <a:xfrm>
            <a:off x="1812269" y="907641"/>
            <a:ext cx="871568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342900"/>
            <a:r>
              <a:rPr lang="zh-CN" altLang="en-US" sz="32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头脑风暴</a:t>
            </a:r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67C29371-3484-A34C-A0B9-1EFCD4AFD8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74" y="1767718"/>
            <a:ext cx="2983997" cy="4494645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874577FD-1557-9C48-B575-4721C6D2C216}"/>
              </a:ext>
            </a:extLst>
          </p:cNvPr>
          <p:cNvSpPr txBox="1"/>
          <p:nvPr/>
        </p:nvSpPr>
        <p:spPr>
          <a:xfrm>
            <a:off x="4533096" y="2443608"/>
            <a:ext cx="4858554" cy="1656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CN" sz="3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</a:t>
            </a:r>
            <a:r>
              <a:rPr lang="zh-CN" altLang="en-US" sz="3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有的关联规则发现方法有哪些优点和不足？</a:t>
            </a:r>
            <a:endParaRPr lang="en-CN" sz="36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266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提高</a:t>
            </a:r>
            <a:r>
              <a:rPr lang="en-US" altLang="zh-CN" b="1" dirty="0" err="1"/>
              <a:t>Apriori</a:t>
            </a:r>
            <a:r>
              <a:rPr lang="zh-CN" altLang="en-US" b="1" dirty="0"/>
              <a:t>算法的效率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43</a:t>
            </a:fld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57E7E-B778-0A41-8101-9E8FC81D1346}"/>
              </a:ext>
            </a:extLst>
          </p:cNvPr>
          <p:cNvSpPr txBox="1"/>
          <p:nvPr/>
        </p:nvSpPr>
        <p:spPr>
          <a:xfrm>
            <a:off x="645459" y="896477"/>
            <a:ext cx="10936942" cy="2446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基于散列的技术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（散列项集到对应的桶中）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可用于压缩候选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项集的集合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k&gt;1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124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例如：由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C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中的候选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项集产生频繁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项集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L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时，可对每个事务产生所有的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项集，将其散列到不同的桶中，增加对桶的计数即可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124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由于对应的桶计数低于支持度阈值的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项集是非频繁的，可从候选集删除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8B65B3-09FB-E586-7C81-48099E047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95" y="3671483"/>
            <a:ext cx="10662269" cy="259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09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提高</a:t>
            </a:r>
            <a:r>
              <a:rPr lang="en-US" altLang="zh-CN" b="1" dirty="0" err="1"/>
              <a:t>Apriori</a:t>
            </a:r>
            <a:r>
              <a:rPr lang="zh-CN" altLang="en-US" b="1" dirty="0"/>
              <a:t>算法的效率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44</a:t>
            </a:fld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57E7E-B778-0A41-8101-9E8FC81D1346}"/>
              </a:ext>
            </a:extLst>
          </p:cNvPr>
          <p:cNvSpPr txBox="1"/>
          <p:nvPr/>
        </p:nvSpPr>
        <p:spPr>
          <a:xfrm>
            <a:off x="645459" y="896477"/>
            <a:ext cx="10936942" cy="3385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基于划分的技术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（为找候选集划分数据）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通过划分技术，只需要两次扫描，就能挖掘频繁项集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124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阶段 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I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：把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D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中事务划分成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n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个非重叠的分区，如果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D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中事务最小相对支持度阈值为</a:t>
            </a:r>
            <a:r>
              <a:rPr lang="en-US" altLang="zh-CN" sz="2400" dirty="0" err="1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min_sup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，则每个分区的最小支持度计数为</a:t>
            </a:r>
            <a:r>
              <a:rPr lang="en-US" altLang="zh-CN" sz="2400" i="1" dirty="0" err="1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min_sup</a:t>
            </a:r>
            <a:r>
              <a:rPr lang="en-US" altLang="zh-CN" sz="2400" i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*</a:t>
            </a:r>
            <a:r>
              <a:rPr lang="zh-CN" altLang="en-US" sz="2400" i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该分区中的事务数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，找出</a:t>
            </a:r>
            <a:r>
              <a:rPr lang="zh-CN" altLang="en-US" sz="2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局部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频繁项集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124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阶段 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II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：第二次扫描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D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，评估每个候选集的实际支持度，确定</a:t>
            </a:r>
            <a:r>
              <a:rPr lang="zh-CN" altLang="en-US" sz="2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全局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频繁项集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5724E1-7ACD-FE4C-7F3D-4C12EEACE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267" y="4280068"/>
            <a:ext cx="10471466" cy="231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142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提高</a:t>
            </a:r>
            <a:r>
              <a:rPr lang="en-US" altLang="zh-CN" b="1" dirty="0" err="1"/>
              <a:t>Apriori</a:t>
            </a:r>
            <a:r>
              <a:rPr lang="zh-CN" altLang="en-US" b="1" dirty="0"/>
              <a:t>算法的效率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45</a:t>
            </a:fld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57E7E-B778-0A41-8101-9E8FC81D1346}"/>
              </a:ext>
            </a:extLst>
          </p:cNvPr>
          <p:cNvSpPr txBox="1"/>
          <p:nvPr/>
        </p:nvSpPr>
        <p:spPr>
          <a:xfrm>
            <a:off x="645459" y="896477"/>
            <a:ext cx="10936942" cy="2424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基于抽样的方法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（对给定数据的子集挖掘）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基本思想：选取给定数据库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的随机样本</a:t>
            </a:r>
            <a:r>
              <a:rPr lang="en-US" altLang="zh-CN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，在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而不是在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中搜索频繁项集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124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牺牲了一些精度，换取了有效性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124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由于搜索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S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而不是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D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的频繁项集，可能会丢失一些全局频繁项集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124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为了尽可能的找到全局频繁项集，搜索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S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时的支持度阈值可比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D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低一些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4419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课上思考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46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A20F0D-18F6-8D46-B5DD-04308A33EA87}"/>
              </a:ext>
            </a:extLst>
          </p:cNvPr>
          <p:cNvSpPr/>
          <p:nvPr/>
        </p:nvSpPr>
        <p:spPr>
          <a:xfrm>
            <a:off x="1812269" y="907641"/>
            <a:ext cx="871568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342900"/>
            <a:r>
              <a:rPr lang="zh-CN" altLang="en-US" sz="32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头脑风暴</a:t>
            </a:r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67C29371-3484-A34C-A0B9-1EFCD4AFD8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74" y="1767718"/>
            <a:ext cx="2983997" cy="4494645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874577FD-1557-9C48-B575-4721C6D2C216}"/>
              </a:ext>
            </a:extLst>
          </p:cNvPr>
          <p:cNvSpPr txBox="1"/>
          <p:nvPr/>
        </p:nvSpPr>
        <p:spPr>
          <a:xfrm>
            <a:off x="4533096" y="2443608"/>
            <a:ext cx="4858554" cy="1656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还有哪些方法可以提高频繁项集的搜索效率？</a:t>
            </a:r>
            <a:endParaRPr lang="en-CN" sz="36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353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b="1" dirty="0"/>
              <a:t>挖掘</a:t>
            </a:r>
            <a:r>
              <a:rPr lang="zh-CN" altLang="en-US" b="1" dirty="0"/>
              <a:t>频繁项集的模式增长方法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47</a:t>
            </a:fld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57E7E-B778-0A41-8101-9E8FC81D1346}"/>
              </a:ext>
            </a:extLst>
          </p:cNvPr>
          <p:cNvSpPr txBox="1"/>
          <p:nvPr/>
        </p:nvSpPr>
        <p:spPr>
          <a:xfrm>
            <a:off x="645459" y="896477"/>
            <a:ext cx="10936942" cy="2446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en-US" altLang="zh-CN" sz="2400" b="1" dirty="0" err="1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Apriori</a:t>
            </a:r>
            <a:r>
              <a:rPr lang="zh-CN" altLang="en-US" sz="2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算法可能遇到的问题</a:t>
            </a:r>
            <a:endParaRPr lang="en-US" altLang="zh-CN" sz="2400" b="1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它可能仍然需要产生大量的候选项集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124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例如：如果有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10</a:t>
            </a:r>
            <a:r>
              <a:rPr lang="en-US" altLang="zh-CN" sz="2400" baseline="300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4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个频繁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项集，则</a:t>
            </a:r>
            <a:r>
              <a:rPr lang="en-US" altLang="zh-CN" sz="2400" dirty="0" err="1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Apriori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算法需要产生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10</a:t>
            </a:r>
            <a:r>
              <a:rPr lang="en-US" altLang="zh-CN" sz="2400" baseline="300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7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个候选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项集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它可能需要重复地扫描整个数据库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124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检查数据库中每个事务确定候选项集支持度的开销很大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AA1F4-2168-7447-B901-7AAC3FEE095D}"/>
              </a:ext>
            </a:extLst>
          </p:cNvPr>
          <p:cNvSpPr txBox="1"/>
          <p:nvPr/>
        </p:nvSpPr>
        <p:spPr>
          <a:xfrm>
            <a:off x="645459" y="3631042"/>
            <a:ext cx="10936942" cy="2446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频繁模式增长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Frequent-Pattern Growth, FP-growth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基本思想：分而治之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124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首先，将代表频繁项集的数据库压缩到一棵频繁模式树（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FP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树）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124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然后，把压缩后的数据库划分成一组</a:t>
            </a:r>
            <a:r>
              <a:rPr lang="zh-CN" altLang="en-US" sz="2400" i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条件数据库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（特殊类型数据），每个数据库关联一个频繁项或“模式段”，分别挖掘每个条件数据库即可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543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b="1" dirty="0"/>
              <a:t>挖掘</a:t>
            </a:r>
            <a:r>
              <a:rPr lang="zh-CN" altLang="en-US" b="1" dirty="0"/>
              <a:t>频繁项集的模式增长方法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48</a:t>
            </a:fld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57E7E-B778-0A41-8101-9E8FC81D1346}"/>
              </a:ext>
            </a:extLst>
          </p:cNvPr>
          <p:cNvSpPr txBox="1"/>
          <p:nvPr/>
        </p:nvSpPr>
        <p:spPr>
          <a:xfrm>
            <a:off x="645459" y="896477"/>
            <a:ext cx="10936942" cy="148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</a:t>
            </a:r>
            <a:r>
              <a:rPr lang="en-US" altLang="zh-CN" sz="2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6.5</a:t>
            </a:r>
            <a:r>
              <a:rPr lang="zh-CN" altLang="en-US" sz="2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FP-growth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（发现频繁模式而不产生候选）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创建根结点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构造条件模式基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E9906E-60E2-AE0E-CA5F-0BB56A04E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516" y="2532084"/>
            <a:ext cx="7656827" cy="388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726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b="1" dirty="0"/>
              <a:t>使</a:t>
            </a:r>
            <a:r>
              <a:rPr lang="zh-CN" altLang="en-US" b="1" dirty="0"/>
              <a:t>用垂直数据挖掘频繁项集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49</a:t>
            </a:fld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57E7E-B778-0A41-8101-9E8FC81D1346}"/>
              </a:ext>
            </a:extLst>
          </p:cNvPr>
          <p:cNvSpPr txBox="1"/>
          <p:nvPr/>
        </p:nvSpPr>
        <p:spPr>
          <a:xfrm>
            <a:off x="645459" y="896477"/>
            <a:ext cx="10936942" cy="148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水平数据格式</a:t>
            </a:r>
            <a:endParaRPr lang="en-US" altLang="zh-CN" sz="2400" b="1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en-US" altLang="zh-CN" sz="2400" dirty="0" err="1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Apriori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FP-growth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算法都从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TID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项集格式（即 </a:t>
            </a:r>
            <a:r>
              <a:rPr lang="en-US" altLang="zh-CN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{TID: itemset}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）的事务集中挖掘频繁模式，其中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TID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是事务标识符，而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itemset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是事务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TID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的商品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B7DFBF-A5C1-371C-6401-2AD5B01D6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00" y="4318937"/>
            <a:ext cx="11212999" cy="20257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386099-AEAD-6884-6F4D-19E32FC2DC0F}"/>
              </a:ext>
            </a:extLst>
          </p:cNvPr>
          <p:cNvSpPr txBox="1"/>
          <p:nvPr/>
        </p:nvSpPr>
        <p:spPr>
          <a:xfrm>
            <a:off x="645459" y="2449985"/>
            <a:ext cx="10936942" cy="148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垂直数据格式</a:t>
            </a:r>
            <a:endParaRPr lang="en-US" altLang="zh-CN" sz="2400" b="1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66900" indent="-34290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数据也可以用项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-TID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集格式（即 </a:t>
            </a:r>
            <a:r>
              <a:rPr lang="en-US" altLang="zh-CN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{item: </a:t>
            </a:r>
            <a:r>
              <a:rPr lang="en-US" altLang="zh-CN" sz="2400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TID_set</a:t>
            </a:r>
            <a:r>
              <a:rPr lang="en-US" altLang="zh-CN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}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）表示，其中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item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是项的名称，而</a:t>
            </a:r>
            <a:r>
              <a:rPr lang="en-US" altLang="zh-CN" sz="2400" dirty="0" err="1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TID_set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是包含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item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的事务标识符集合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383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b="1" dirty="0"/>
              <a:t>使</a:t>
            </a:r>
            <a:r>
              <a:rPr lang="zh-CN" altLang="en-US" b="1" dirty="0"/>
              <a:t>用垂直数据挖掘频繁项集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50</a:t>
            </a:fld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57E7E-B778-0A41-8101-9E8FC81D1346}"/>
              </a:ext>
            </a:extLst>
          </p:cNvPr>
          <p:cNvSpPr txBox="1"/>
          <p:nvPr/>
        </p:nvSpPr>
        <p:spPr>
          <a:xfrm>
            <a:off x="645459" y="896477"/>
            <a:ext cx="10936942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Wingdings" pitchFamily="2" charset="2"/>
              <a:buChar char="q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垂直数据的频繁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项集和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项集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445F22-20D3-49AA-D70A-16139D139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63" y="1861924"/>
            <a:ext cx="10797048" cy="22585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CB9D34-477F-A513-F0A4-310EA690E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91" y="4636196"/>
            <a:ext cx="10797050" cy="152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23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24-浅色-办公趣味-多彩">
  <a:themeElements>
    <a:clrScheme name="CLASSIC - Standart Office">
      <a:dk1>
        <a:srgbClr val="44546A"/>
      </a:dk1>
      <a:lt1>
        <a:sysClr val="window" lastClr="FFFFFF"/>
      </a:lt1>
      <a:dk2>
        <a:srgbClr val="8496B0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方正兰亭粗黑简体"/>
        <a:cs typeface=""/>
      </a:majorFont>
      <a:minorFont>
        <a:latin typeface="微软雅黑"/>
        <a:ea typeface="微软雅黑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>
              <a:lumMod val="60000"/>
              <a:lumOff val="40000"/>
            </a:schemeClr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LASSIC - Standart Office">
    <a:dk1>
      <a:srgbClr val="44546A"/>
    </a:dk1>
    <a:lt1>
      <a:sysClr val="window" lastClr="FFFFFF"/>
    </a:lt1>
    <a:dk2>
      <a:srgbClr val="8496B0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17839</TotalTime>
  <Words>5661</Words>
  <Application>Microsoft Office PowerPoint</Application>
  <PresentationFormat>宽屏</PresentationFormat>
  <Paragraphs>891</Paragraphs>
  <Slides>50</Slides>
  <Notes>47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65" baseType="lpstr">
      <vt:lpstr>Inter</vt:lpstr>
      <vt:lpstr>等线</vt:lpstr>
      <vt:lpstr>方正粗黑宋简体</vt:lpstr>
      <vt:lpstr>方正兰亭粗黑简体</vt:lpstr>
      <vt:lpstr>方正兰亭特黑简体</vt:lpstr>
      <vt:lpstr>KaiTi</vt:lpstr>
      <vt:lpstr>微软雅黑</vt:lpstr>
      <vt:lpstr>微软雅黑</vt:lpstr>
      <vt:lpstr>Arial</vt:lpstr>
      <vt:lpstr>Arial Black</vt:lpstr>
      <vt:lpstr>Calibri</vt:lpstr>
      <vt:lpstr>Cambria Math</vt:lpstr>
      <vt:lpstr>Times New Roman</vt:lpstr>
      <vt:lpstr>Wingdings</vt:lpstr>
      <vt:lpstr>24-浅色-办公趣味-多彩</vt:lpstr>
      <vt:lpstr>PowerPoint 演示文稿</vt:lpstr>
      <vt:lpstr>PowerPoint 演示文稿</vt:lpstr>
      <vt:lpstr>PowerPoint 演示文稿</vt:lpstr>
      <vt:lpstr>典型案例：啤酒与尿布</vt:lpstr>
      <vt:lpstr>典型案例：啤酒与尿布</vt:lpstr>
      <vt:lpstr>典型案例：购物篮分析</vt:lpstr>
      <vt:lpstr>典型案例：购物篮分析</vt:lpstr>
      <vt:lpstr>古今对话 </vt:lpstr>
      <vt:lpstr>频繁模式 VS 关联规则 </vt:lpstr>
      <vt:lpstr>关联规则（association rule） </vt:lpstr>
      <vt:lpstr>频繁项集</vt:lpstr>
      <vt:lpstr>频繁项集</vt:lpstr>
      <vt:lpstr>关联规则挖掘过程</vt:lpstr>
      <vt:lpstr>课上思考</vt:lpstr>
      <vt:lpstr>闭频繁项集和极大频繁项集</vt:lpstr>
      <vt:lpstr>闭频繁项集和极大频繁项集</vt:lpstr>
      <vt:lpstr>PowerPoint 演示文稿</vt:lpstr>
      <vt:lpstr>关联规则挖掘过程</vt:lpstr>
      <vt:lpstr>Apriori 算法——步骤一：找出所有的频繁项集 </vt:lpstr>
      <vt:lpstr>Apriori 算法——步骤一：找出所有的频繁项集</vt:lpstr>
      <vt:lpstr>Apriori 算法——步骤一：找出所有的频繁项集</vt:lpstr>
      <vt:lpstr>Apriori 算法——步骤一：找出所有的频繁项集</vt:lpstr>
      <vt:lpstr>Apriori 算法——步骤一：找出所有的频繁项集</vt:lpstr>
      <vt:lpstr>Apriori 算法——步骤一：找出所有的频繁项集</vt:lpstr>
      <vt:lpstr>Apriori 算法——步骤一：找出所有的频繁项集</vt:lpstr>
      <vt:lpstr>Apriori 算法——步骤二：由频繁项集产生关联规则</vt:lpstr>
      <vt:lpstr>课堂练习</vt:lpstr>
      <vt:lpstr>课堂练习</vt:lpstr>
      <vt:lpstr>课堂练习</vt:lpstr>
      <vt:lpstr>课堂练习</vt:lpstr>
      <vt:lpstr>课堂练习</vt:lpstr>
      <vt:lpstr>课堂练习</vt:lpstr>
      <vt:lpstr>课堂练习</vt:lpstr>
      <vt:lpstr>课堂练习</vt:lpstr>
      <vt:lpstr>课堂练习</vt:lpstr>
      <vt:lpstr>课堂练习</vt:lpstr>
      <vt:lpstr>课堂练习</vt:lpstr>
      <vt:lpstr>PowerPoint 演示文稿</vt:lpstr>
      <vt:lpstr>模式评估度量比较</vt:lpstr>
      <vt:lpstr>模式评估度量比较</vt:lpstr>
      <vt:lpstr>PowerPoint 演示文稿</vt:lpstr>
      <vt:lpstr>课上思考</vt:lpstr>
      <vt:lpstr>提高Apriori算法的效率</vt:lpstr>
      <vt:lpstr>提高Apriori算法的效率</vt:lpstr>
      <vt:lpstr>提高Apriori算法的效率</vt:lpstr>
      <vt:lpstr>课上思考</vt:lpstr>
      <vt:lpstr>挖掘频繁项集的模式增长方法</vt:lpstr>
      <vt:lpstr>挖掘频繁项集的模式增长方法</vt:lpstr>
      <vt:lpstr>使用垂直数据挖掘频繁项集</vt:lpstr>
      <vt:lpstr>使用垂直数据挖掘频繁项集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宋 高峰</dc:creator>
  <cp:lastModifiedBy>兆赓 刘</cp:lastModifiedBy>
  <cp:revision>735</cp:revision>
  <dcterms:created xsi:type="dcterms:W3CDTF">2019-06-06T12:37:51Z</dcterms:created>
  <dcterms:modified xsi:type="dcterms:W3CDTF">2026-05-13T22:51:44Z</dcterms:modified>
</cp:coreProperties>
</file>
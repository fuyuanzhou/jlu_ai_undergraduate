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259" r:id="rId3"/>
    <p:sldId id="277" r:id="rId4"/>
    <p:sldId id="262" r:id="rId5"/>
    <p:sldId id="360" r:id="rId6"/>
    <p:sldId id="361" r:id="rId7"/>
    <p:sldId id="362" r:id="rId8"/>
    <p:sldId id="390" r:id="rId9"/>
    <p:sldId id="363" r:id="rId10"/>
    <p:sldId id="365" r:id="rId11"/>
    <p:sldId id="364" r:id="rId12"/>
    <p:sldId id="369" r:id="rId13"/>
    <p:sldId id="367" r:id="rId14"/>
    <p:sldId id="371" r:id="rId15"/>
    <p:sldId id="372" r:id="rId16"/>
    <p:sldId id="368" r:id="rId17"/>
    <p:sldId id="374" r:id="rId18"/>
    <p:sldId id="375" r:id="rId19"/>
    <p:sldId id="377" r:id="rId20"/>
    <p:sldId id="378" r:id="rId21"/>
    <p:sldId id="376" r:id="rId22"/>
    <p:sldId id="370" r:id="rId23"/>
    <p:sldId id="379" r:id="rId24"/>
    <p:sldId id="380" r:id="rId25"/>
    <p:sldId id="391" r:id="rId26"/>
    <p:sldId id="384" r:id="rId27"/>
    <p:sldId id="381" r:id="rId28"/>
    <p:sldId id="388" r:id="rId29"/>
    <p:sldId id="382" r:id="rId30"/>
    <p:sldId id="383" r:id="rId31"/>
    <p:sldId id="385" r:id="rId32"/>
    <p:sldId id="392" r:id="rId33"/>
    <p:sldId id="389" r:id="rId34"/>
    <p:sldId id="260" r:id="rId35"/>
    <p:sldId id="359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002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95" autoAdjust="0"/>
    <p:restoredTop sz="84146"/>
  </p:normalViewPr>
  <p:slideViewPr>
    <p:cSldViewPr snapToGrid="0" showGuides="1">
      <p:cViewPr varScale="1">
        <p:scale>
          <a:sx n="94" d="100"/>
          <a:sy n="94" d="100"/>
        </p:scale>
        <p:origin x="41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2A278-02F8-4C1B-AF14-C01B94ACEDAB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7237E-A3CA-47B4-A3A0-CA771861E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7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2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3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116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2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17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555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答</a:t>
            </a:r>
            <a:r>
              <a:rPr lang="zh-CN" altLang="en-US" dirty="0"/>
              <a:t>：</a:t>
            </a:r>
            <a:r>
              <a:rPr lang="en-CN" dirty="0"/>
              <a:t>层层递近</a:t>
            </a:r>
            <a:r>
              <a:rPr lang="zh-CN" altLang="en-US" dirty="0"/>
              <a:t>，逐步细化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81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26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818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348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731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18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6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911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925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8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435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961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2414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638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常用的样本相似性度量方法</a:t>
            </a:r>
            <a:r>
              <a:rPr lang="zh-CN" altLang="en-US" dirty="0"/>
              <a:t>：</a:t>
            </a:r>
            <a:r>
              <a:rPr lang="en-US" altLang="zh-CN" dirty="0"/>
              <a:t>http://</a:t>
            </a:r>
            <a:r>
              <a:rPr lang="en-US" altLang="zh-CN" dirty="0" err="1"/>
              <a:t>www.spiderpy.cn</a:t>
            </a:r>
            <a:r>
              <a:rPr lang="en-US" altLang="zh-CN" dirty="0"/>
              <a:t>/blog/detail/33/#wow8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222226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Python</a:t>
            </a:r>
            <a:r>
              <a:rPr lang="zh-CN" altLang="en-US" b="1" i="0" dirty="0">
                <a:solidFill>
                  <a:srgbClr val="222226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画图常用代码总结</a:t>
            </a:r>
            <a:r>
              <a:rPr lang="zh-CN" altLang="en-US" dirty="0"/>
              <a:t>：</a:t>
            </a:r>
            <a:r>
              <a:rPr lang="en-US" dirty="0"/>
              <a:t>https://</a:t>
            </a:r>
            <a:r>
              <a:rPr lang="en-US" dirty="0" err="1"/>
              <a:t>blog.csdn.net</a:t>
            </a:r>
            <a:r>
              <a:rPr lang="en-US" dirty="0"/>
              <a:t>/</a:t>
            </a:r>
            <a:r>
              <a:rPr lang="en-US" dirty="0" err="1"/>
              <a:t>veratata</a:t>
            </a:r>
            <a:r>
              <a:rPr lang="en-US" dirty="0"/>
              <a:t>/article/details/128342221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https://www.jb51.net/python/288392fd6.htm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639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760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508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6497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983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447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符合现实距离的度量方法</a:t>
            </a:r>
            <a:r>
              <a:rPr lang="zh-CN" altLang="en-US" dirty="0"/>
              <a:t>，不能刻画其它距离；</a:t>
            </a:r>
            <a:endParaRPr lang="en-US" altLang="zh-CN" dirty="0"/>
          </a:p>
          <a:p>
            <a:r>
              <a:rPr lang="zh-CN" altLang="en-US" dirty="0"/>
              <a:t>能刻画相对差异，数学性质不好，不可导；</a:t>
            </a:r>
            <a:endParaRPr lang="en-US" altLang="zh-CN" dirty="0"/>
          </a:p>
          <a:p>
            <a:r>
              <a:rPr lang="zh-CN" altLang="en-US" dirty="0"/>
              <a:t>具备较好的范化性，兼容前两者</a:t>
            </a:r>
            <a:r>
              <a:rPr lang="zh-CN" altLang="en-US"/>
              <a:t>，不够具体。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955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常用的样本相似性度量方法</a:t>
            </a:r>
            <a:r>
              <a:rPr lang="zh-CN" altLang="en-US" dirty="0"/>
              <a:t>：</a:t>
            </a:r>
            <a:r>
              <a:rPr lang="en-US" altLang="zh-CN" dirty="0"/>
              <a:t>http://</a:t>
            </a:r>
            <a:r>
              <a:rPr lang="en-US" altLang="zh-CN" dirty="0" err="1"/>
              <a:t>www.spiderpy.cn</a:t>
            </a:r>
            <a:r>
              <a:rPr lang="en-US" altLang="zh-CN" dirty="0"/>
              <a:t>/blog/detail/33/#wow8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222226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Python</a:t>
            </a:r>
            <a:r>
              <a:rPr lang="zh-CN" altLang="en-US" b="1" i="0" dirty="0">
                <a:solidFill>
                  <a:srgbClr val="222226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画图常用代码总结</a:t>
            </a:r>
            <a:r>
              <a:rPr lang="zh-CN" altLang="en-US" dirty="0"/>
              <a:t>：</a:t>
            </a:r>
            <a:r>
              <a:rPr lang="en-US" dirty="0"/>
              <a:t>https://</a:t>
            </a:r>
            <a:r>
              <a:rPr lang="en-US" dirty="0" err="1"/>
              <a:t>blog.csdn.net</a:t>
            </a:r>
            <a:r>
              <a:rPr lang="en-US" dirty="0"/>
              <a:t>/</a:t>
            </a:r>
            <a:r>
              <a:rPr lang="en-US" dirty="0" err="1"/>
              <a:t>veratata</a:t>
            </a:r>
            <a:r>
              <a:rPr lang="en-US" dirty="0"/>
              <a:t>/article/details/128342221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0689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7237E-A3CA-47B4-A3A0-CA771861E20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2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A3DFB-62B1-42DF-B6E4-0365FECD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F119-7394-46EA-9051-1ADF43C546BF}" type="datetime1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F350A-E165-4A0D-A2A0-6B4A5A09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0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05797E-1CD6-4187-9000-251DC7634648}"/>
              </a:ext>
            </a:extLst>
          </p:cNvPr>
          <p:cNvGrpSpPr/>
          <p:nvPr userDrawn="1"/>
        </p:nvGrpSpPr>
        <p:grpSpPr>
          <a:xfrm>
            <a:off x="8238260" y="6262593"/>
            <a:ext cx="800099" cy="536013"/>
            <a:chOff x="8119456" y="6270906"/>
            <a:chExt cx="800099" cy="53601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A65422C-2ED7-4BD0-8743-370D90F325BC}"/>
                </a:ext>
              </a:extLst>
            </p:cNvPr>
            <p:cNvSpPr/>
            <p:nvPr userDrawn="1"/>
          </p:nvSpPr>
          <p:spPr>
            <a:xfrm>
              <a:off x="8189023" y="6406187"/>
              <a:ext cx="730532" cy="308189"/>
            </a:xfrm>
            <a:prstGeom prst="roundRect">
              <a:avLst>
                <a:gd name="adj" fmla="val 50000"/>
              </a:avLst>
            </a:prstGeom>
            <a:solidFill>
              <a:srgbClr val="002E73"/>
            </a:solidFill>
            <a:ln>
              <a:noFill/>
            </a:ln>
            <a:effectLst>
              <a:innerShdw blurRad="88900" dist="1270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D909615-4282-4E5E-9EAD-3DE190806F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9456" y="6270906"/>
              <a:ext cx="295913" cy="536013"/>
            </a:xfrm>
            <a:prstGeom prst="rect">
              <a:avLst/>
            </a:prstGeom>
          </p:spPr>
        </p:pic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A3DFB-62B1-42DF-B6E4-0365FECD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E9AE-5036-44FC-85CC-8AF3645335F7}" type="datetime1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F350A-E165-4A0D-A2A0-6B4A5A09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30B14-BAAA-4683-90FD-2E3C371C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365877"/>
            <a:ext cx="20574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fld id="{5EBF8A4D-A580-4534-BC4C-3530DF03544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56FE69-2E66-452C-BA42-A2256502F7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007" y="235262"/>
            <a:ext cx="906088" cy="5030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2CD3B3-3A06-44F7-99B6-5E25F96595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838" y="235261"/>
            <a:ext cx="503023" cy="503023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EA4BB76-8C96-4F64-8A04-A1D29CAD7ABF}"/>
              </a:ext>
            </a:extLst>
          </p:cNvPr>
          <p:cNvCxnSpPr>
            <a:cxnSpLocks/>
          </p:cNvCxnSpPr>
          <p:nvPr userDrawn="1"/>
        </p:nvCxnSpPr>
        <p:spPr>
          <a:xfrm>
            <a:off x="8104909" y="292198"/>
            <a:ext cx="0" cy="389150"/>
          </a:xfrm>
          <a:prstGeom prst="line">
            <a:avLst/>
          </a:prstGeom>
          <a:ln w="19050">
            <a:solidFill>
              <a:srgbClr val="002E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21">
            <a:extLst>
              <a:ext uri="{FF2B5EF4-FFF2-40B4-BE49-F238E27FC236}">
                <a16:creationId xmlns:a16="http://schemas.microsoft.com/office/drawing/2014/main" id="{FD37DAE0-6B66-46F5-A9B8-7726A05F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61" y="232184"/>
            <a:ext cx="6587439" cy="373158"/>
          </a:xfrm>
          <a:prstGeom prst="rect">
            <a:avLst/>
          </a:prstGeom>
        </p:spPr>
        <p:txBody>
          <a:bodyPr/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BC0EE0-0EAE-4982-A634-66E5CE494433}"/>
              </a:ext>
            </a:extLst>
          </p:cNvPr>
          <p:cNvCxnSpPr>
            <a:cxnSpLocks/>
          </p:cNvCxnSpPr>
          <p:nvPr userDrawn="1"/>
        </p:nvCxnSpPr>
        <p:spPr>
          <a:xfrm>
            <a:off x="270561" y="681348"/>
            <a:ext cx="6587439" cy="0"/>
          </a:xfrm>
          <a:prstGeom prst="line">
            <a:avLst/>
          </a:prstGeom>
          <a:ln w="19050">
            <a:solidFill>
              <a:srgbClr val="002E7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02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005797E-1CD6-4187-9000-251DC7634648}"/>
              </a:ext>
            </a:extLst>
          </p:cNvPr>
          <p:cNvGrpSpPr/>
          <p:nvPr userDrawn="1"/>
        </p:nvGrpSpPr>
        <p:grpSpPr>
          <a:xfrm>
            <a:off x="8238260" y="6262593"/>
            <a:ext cx="800099" cy="536013"/>
            <a:chOff x="8119456" y="6270906"/>
            <a:chExt cx="800099" cy="53601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A65422C-2ED7-4BD0-8743-370D90F325BC}"/>
                </a:ext>
              </a:extLst>
            </p:cNvPr>
            <p:cNvSpPr/>
            <p:nvPr userDrawn="1"/>
          </p:nvSpPr>
          <p:spPr>
            <a:xfrm>
              <a:off x="8189023" y="6406187"/>
              <a:ext cx="730532" cy="308189"/>
            </a:xfrm>
            <a:prstGeom prst="roundRect">
              <a:avLst>
                <a:gd name="adj" fmla="val 50000"/>
              </a:avLst>
            </a:prstGeom>
            <a:solidFill>
              <a:srgbClr val="002E73"/>
            </a:solidFill>
            <a:ln>
              <a:noFill/>
            </a:ln>
            <a:effectLst>
              <a:innerShdw blurRad="88900" dist="1270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D909615-4282-4E5E-9EAD-3DE190806F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9456" y="6270906"/>
              <a:ext cx="295913" cy="536013"/>
            </a:xfrm>
            <a:prstGeom prst="rect">
              <a:avLst/>
            </a:prstGeom>
          </p:spPr>
        </p:pic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A3DFB-62B1-42DF-B6E4-0365FECD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E9AE-5036-44FC-85CC-8AF3645335F7}" type="datetime1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F350A-E165-4A0D-A2A0-6B4A5A09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30B14-BAAA-4683-90FD-2E3C371C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365877"/>
            <a:ext cx="20574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fld id="{5EBF8A4D-A580-4534-BC4C-3530DF03544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56FE69-2E66-452C-BA42-A2256502F7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007" y="235262"/>
            <a:ext cx="906088" cy="5030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2CD3B3-3A06-44F7-99B6-5E25F96595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838" y="235261"/>
            <a:ext cx="503023" cy="503023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EA4BB76-8C96-4F64-8A04-A1D29CAD7ABF}"/>
              </a:ext>
            </a:extLst>
          </p:cNvPr>
          <p:cNvCxnSpPr>
            <a:cxnSpLocks/>
          </p:cNvCxnSpPr>
          <p:nvPr userDrawn="1"/>
        </p:nvCxnSpPr>
        <p:spPr>
          <a:xfrm>
            <a:off x="8104909" y="292198"/>
            <a:ext cx="0" cy="389150"/>
          </a:xfrm>
          <a:prstGeom prst="line">
            <a:avLst/>
          </a:prstGeom>
          <a:ln w="19050">
            <a:solidFill>
              <a:srgbClr val="002E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04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23B1E-4D38-4492-8186-6560AAF8A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F351F-FE2C-477A-870D-C25B6E2A0AF7}" type="datetime1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62E5A4-DF14-44F8-BB77-4EFA0B171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406F4-E8E5-44F4-A79B-48899C181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F8A4D-A580-4534-BC4C-3530DF035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01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csdn.net/veratata/article/details/128342221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iderpy.cn/blog/detail/33/#wow8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A6138A-D100-4005-B5A7-4B7FA08180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0" y="-32458"/>
            <a:ext cx="9144000" cy="68904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D98059-5C57-4E91-B3DB-348E2C4E424A}"/>
              </a:ext>
            </a:extLst>
          </p:cNvPr>
          <p:cNvSpPr/>
          <p:nvPr/>
        </p:nvSpPr>
        <p:spPr>
          <a:xfrm>
            <a:off x="0" y="4047912"/>
            <a:ext cx="9144000" cy="281008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152400" dist="2540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BA79FF-E62F-4D11-BCEA-FD8BA65733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207" y="1418007"/>
            <a:ext cx="4072461" cy="2260865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9974FE-F759-49D1-AEA3-0A935CA440D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5978451" y="-32458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F189E5-AE34-4D1D-8EAE-BB921879A2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12" y="627101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49E3D6-7A4C-4365-AAC0-BC65A391BD7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620011" y="535715"/>
            <a:ext cx="1118396" cy="1422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F09FDF-548B-41E8-9D0E-0F433DE1296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5978451" y="1425949"/>
            <a:ext cx="3048000" cy="1320800"/>
          </a:xfrm>
          <a:prstGeom prst="rect">
            <a:avLst/>
          </a:prstGeom>
        </p:spPr>
      </p:pic>
      <p:sp>
        <p:nvSpPr>
          <p:cNvPr id="12" name="Shape 45">
            <a:extLst>
              <a:ext uri="{FF2B5EF4-FFF2-40B4-BE49-F238E27FC236}">
                <a16:creationId xmlns:a16="http://schemas.microsoft.com/office/drawing/2014/main" id="{7B545E74-DAFF-4C58-9BD6-50632508CD64}"/>
              </a:ext>
            </a:extLst>
          </p:cNvPr>
          <p:cNvSpPr/>
          <p:nvPr/>
        </p:nvSpPr>
        <p:spPr>
          <a:xfrm>
            <a:off x="1906912" y="4188295"/>
            <a:ext cx="5330176" cy="58477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45">
            <a:extLst>
              <a:ext uri="{FF2B5EF4-FFF2-40B4-BE49-F238E27FC236}">
                <a16:creationId xmlns:a16="http://schemas.microsoft.com/office/drawing/2014/main" id="{B52E365E-70F9-450F-95F7-D16EB4BB6195}"/>
              </a:ext>
            </a:extLst>
          </p:cNvPr>
          <p:cNvGrpSpPr/>
          <p:nvPr/>
        </p:nvGrpSpPr>
        <p:grpSpPr>
          <a:xfrm>
            <a:off x="79899" y="5458185"/>
            <a:ext cx="8946552" cy="961289"/>
            <a:chOff x="2002264" y="3352373"/>
            <a:chExt cx="8187473" cy="961286"/>
          </a:xfrm>
        </p:grpSpPr>
        <p:sp>
          <p:nvSpPr>
            <p:cNvPr id="14" name="矩形 17">
              <a:extLst>
                <a:ext uri="{FF2B5EF4-FFF2-40B4-BE49-F238E27FC236}">
                  <a16:creationId xmlns:a16="http://schemas.microsoft.com/office/drawing/2014/main" id="{92F549D4-8118-4581-8C7A-E845DA141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722" y="335237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陈贺昌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5" name="直接连接符 13">
              <a:extLst>
                <a:ext uri="{FF2B5EF4-FFF2-40B4-BE49-F238E27FC236}">
                  <a16:creationId xmlns:a16="http://schemas.microsoft.com/office/drawing/2014/main" id="{A992D58E-D489-44CA-8492-988A5DE4B7B1}"/>
                </a:ext>
              </a:extLst>
            </p:cNvPr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6" name="直接连接符 14">
              <a:extLst>
                <a:ext uri="{FF2B5EF4-FFF2-40B4-BE49-F238E27FC236}">
                  <a16:creationId xmlns:a16="http://schemas.microsoft.com/office/drawing/2014/main" id="{8D96DFCB-93D9-4E15-B2A0-322FE1834620}"/>
                </a:ext>
              </a:extLst>
            </p:cNvPr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sp>
        <p:nvSpPr>
          <p:cNvPr id="17" name="Shape 45">
            <a:extLst>
              <a:ext uri="{FF2B5EF4-FFF2-40B4-BE49-F238E27FC236}">
                <a16:creationId xmlns:a16="http://schemas.microsoft.com/office/drawing/2014/main" id="{958B10A2-48FE-B14A-95B0-24EE389E5949}"/>
              </a:ext>
            </a:extLst>
          </p:cNvPr>
          <p:cNvSpPr/>
          <p:nvPr/>
        </p:nvSpPr>
        <p:spPr>
          <a:xfrm>
            <a:off x="1417282" y="4868407"/>
            <a:ext cx="6309436" cy="58477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章：认识数据</a:t>
            </a:r>
          </a:p>
        </p:txBody>
      </p:sp>
    </p:spTree>
    <p:extLst>
      <p:ext uri="{BB962C8B-B14F-4D97-AF65-F5344CB8AC3E}">
        <p14:creationId xmlns:p14="http://schemas.microsoft.com/office/powerpoint/2010/main" val="35404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A7D24C-F691-427E-94E4-BFECDD7F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32F3B0-01B2-4016-9B2F-1B56B64593AC}"/>
              </a:ext>
            </a:extLst>
          </p:cNvPr>
          <p:cNvSpPr/>
          <p:nvPr/>
        </p:nvSpPr>
        <p:spPr>
          <a:xfrm>
            <a:off x="1" y="852984"/>
            <a:ext cx="3630705" cy="51477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" name="任意多边形 4">
            <a:extLst>
              <a:ext uri="{FF2B5EF4-FFF2-40B4-BE49-F238E27FC236}">
                <a16:creationId xmlns:a16="http://schemas.microsoft.com/office/drawing/2014/main" id="{7B4D5B85-E26F-4E20-A30D-B7D27A123C7C}"/>
              </a:ext>
            </a:extLst>
          </p:cNvPr>
          <p:cNvSpPr/>
          <p:nvPr/>
        </p:nvSpPr>
        <p:spPr>
          <a:xfrm flipH="1">
            <a:off x="222918" y="2825854"/>
            <a:ext cx="2939588" cy="1246025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innerShdw blurRad="63500" dist="177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79E6AE-467E-465A-B7F6-CD72E383C925}"/>
              </a:ext>
            </a:extLst>
          </p:cNvPr>
          <p:cNvGrpSpPr/>
          <p:nvPr/>
        </p:nvGrpSpPr>
        <p:grpSpPr>
          <a:xfrm>
            <a:off x="2748863" y="2081920"/>
            <a:ext cx="413643" cy="3071796"/>
            <a:chOff x="7636995" y="1679426"/>
            <a:chExt cx="421216" cy="4092334"/>
          </a:xfrm>
          <a:effectLst>
            <a:outerShdw blurRad="228600" dist="1016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69890F3-2D02-4849-81B8-5A62ABBE495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AEB442F-7A09-4A97-9D05-EFFACE97F8A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" name="文本框 32">
            <a:extLst>
              <a:ext uri="{FF2B5EF4-FFF2-40B4-BE49-F238E27FC236}">
                <a16:creationId xmlns:a16="http://schemas.microsoft.com/office/drawing/2014/main" id="{B942300E-33A3-498C-B106-1888B673573D}"/>
              </a:ext>
            </a:extLst>
          </p:cNvPr>
          <p:cNvSpPr txBox="1"/>
          <p:nvPr/>
        </p:nvSpPr>
        <p:spPr>
          <a:xfrm>
            <a:off x="470444" y="3602076"/>
            <a:ext cx="267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CONTENTS</a:t>
            </a:r>
            <a:endParaRPr lang="zh-CN" altLang="en-US" sz="2400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2EE52B-3D47-487B-A98B-843F947D992C}"/>
              </a:ext>
            </a:extLst>
          </p:cNvPr>
          <p:cNvSpPr txBox="1"/>
          <p:nvPr/>
        </p:nvSpPr>
        <p:spPr>
          <a:xfrm>
            <a:off x="854443" y="2862348"/>
            <a:ext cx="19133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prstClr val="whit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目  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2EC3F75-49A0-4F8A-AB6A-878DB050D948}"/>
              </a:ext>
            </a:extLst>
          </p:cNvPr>
          <p:cNvGrpSpPr/>
          <p:nvPr/>
        </p:nvGrpSpPr>
        <p:grpSpPr>
          <a:xfrm>
            <a:off x="3942077" y="1414366"/>
            <a:ext cx="4436678" cy="2765061"/>
            <a:chOff x="6552841" y="2547816"/>
            <a:chExt cx="5915570" cy="368673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9B819E9-2E37-4D8E-946F-4500FDBB996A}"/>
                </a:ext>
              </a:extLst>
            </p:cNvPr>
            <p:cNvGrpSpPr/>
            <p:nvPr/>
          </p:nvGrpSpPr>
          <p:grpSpPr>
            <a:xfrm>
              <a:off x="6552841" y="2547816"/>
              <a:ext cx="5915570" cy="771736"/>
              <a:chOff x="6447320" y="2108200"/>
              <a:chExt cx="5915570" cy="771736"/>
            </a:xfrm>
          </p:grpSpPr>
          <p:sp>
            <p:nvSpPr>
              <p:cNvPr id="25" name="文本框 47">
                <a:extLst>
                  <a:ext uri="{FF2B5EF4-FFF2-40B4-BE49-F238E27FC236}">
                    <a16:creationId xmlns:a16="http://schemas.microsoft.com/office/drawing/2014/main" id="{A8AD16F0-02E7-44DF-9FCD-F9C3D4F67C8F}"/>
                  </a:ext>
                </a:extLst>
              </p:cNvPr>
              <p:cNvSpPr txBox="1"/>
              <p:nvPr/>
            </p:nvSpPr>
            <p:spPr>
              <a:xfrm>
                <a:off x="7466717" y="2117452"/>
                <a:ext cx="4896173" cy="697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b="1" dirty="0">
                    <a:solidFill>
                      <a:srgbClr val="213F79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方正兰亭特黑简体" panose="02000000000000000000" pitchFamily="2" charset="-122"/>
                    <a:ea typeface="方正兰亭特黑简体" panose="02000000000000000000" pitchFamily="2" charset="-122"/>
                  </a:rPr>
                  <a:t>数据对象与属性类型</a:t>
                </a:r>
                <a:endParaRPr lang="en-US" altLang="zh-CN" sz="2800" b="1" dirty="0">
                  <a:solidFill>
                    <a:srgbClr val="213F79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2370E9BA-9399-406B-A3C0-5DD797052DDA}"/>
                  </a:ext>
                </a:extLst>
              </p:cNvPr>
              <p:cNvSpPr/>
              <p:nvPr/>
            </p:nvSpPr>
            <p:spPr>
              <a:xfrm>
                <a:off x="6447320" y="2108200"/>
                <a:ext cx="771736" cy="771736"/>
              </a:xfrm>
              <a:prstGeom prst="ellipse">
                <a:avLst/>
              </a:prstGeom>
              <a:solidFill>
                <a:srgbClr val="213F79"/>
              </a:solidFill>
              <a:ln>
                <a:noFill/>
              </a:ln>
              <a:effectLst>
                <a:innerShdw blurRad="63500" dist="1143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 dirty="0">
                    <a:solidFill>
                      <a:prstClr val="white"/>
                    </a:solidFill>
                    <a:latin typeface="Arial Black" panose="020B0A04020102020204" pitchFamily="34" charset="0"/>
                    <a:ea typeface="方正兰亭特黑简体" panose="02000000000000000000" pitchFamily="2" charset="-122"/>
                  </a:rPr>
                  <a:t>1</a:t>
                </a:r>
                <a:endParaRPr lang="zh-CN" altLang="en-US" sz="21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0C9B5C2-A0C2-474D-864C-38BEACA0CFB7}"/>
                </a:ext>
              </a:extLst>
            </p:cNvPr>
            <p:cNvGrpSpPr/>
            <p:nvPr/>
          </p:nvGrpSpPr>
          <p:grpSpPr>
            <a:xfrm>
              <a:off x="6552841" y="4030945"/>
              <a:ext cx="5915570" cy="771736"/>
              <a:chOff x="6447320" y="3591329"/>
              <a:chExt cx="5915570" cy="771736"/>
            </a:xfrm>
          </p:grpSpPr>
          <p:sp>
            <p:nvSpPr>
              <p:cNvPr id="23" name="文本框 48">
                <a:extLst>
                  <a:ext uri="{FF2B5EF4-FFF2-40B4-BE49-F238E27FC236}">
                    <a16:creationId xmlns:a16="http://schemas.microsoft.com/office/drawing/2014/main" id="{10618E26-A05B-49B3-80FF-88B77B5FBDDF}"/>
                  </a:ext>
                </a:extLst>
              </p:cNvPr>
              <p:cNvSpPr txBox="1"/>
              <p:nvPr/>
            </p:nvSpPr>
            <p:spPr>
              <a:xfrm>
                <a:off x="7466717" y="3627822"/>
                <a:ext cx="4896173" cy="697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b="1" dirty="0">
                    <a:solidFill>
                      <a:srgbClr val="4472C4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方正兰亭特黑简体" panose="02000000000000000000" pitchFamily="2" charset="-122"/>
                    <a:ea typeface="方正兰亭特黑简体" panose="02000000000000000000" pitchFamily="2" charset="-122"/>
                  </a:rPr>
                  <a:t>数据的基本统计描述</a:t>
                </a: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CB9026D2-1438-4138-BF3C-E7DC19E6E428}"/>
                  </a:ext>
                </a:extLst>
              </p:cNvPr>
              <p:cNvSpPr/>
              <p:nvPr/>
            </p:nvSpPr>
            <p:spPr>
              <a:xfrm>
                <a:off x="6447320" y="3591329"/>
                <a:ext cx="771736" cy="771736"/>
              </a:xfrm>
              <a:prstGeom prst="ellipse">
                <a:avLst/>
              </a:prstGeom>
              <a:solidFill>
                <a:srgbClr val="4472C4"/>
              </a:solidFill>
              <a:ln>
                <a:noFill/>
              </a:ln>
              <a:effectLst>
                <a:innerShdw blurRad="63500" dist="1143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 dirty="0">
                    <a:solidFill>
                      <a:prstClr val="white"/>
                    </a:solidFill>
                    <a:latin typeface="Arial Black" panose="020B0A04020102020204" pitchFamily="34" charset="0"/>
                    <a:ea typeface="方正兰亭特黑简体" panose="02000000000000000000" pitchFamily="2" charset="-122"/>
                  </a:rPr>
                  <a:t>2</a:t>
                </a:r>
                <a:endParaRPr lang="zh-CN" altLang="en-US" sz="21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3F902BD-20D8-4A2D-860C-2B1221BE0ABF}"/>
                </a:ext>
              </a:extLst>
            </p:cNvPr>
            <p:cNvGrpSpPr/>
            <p:nvPr/>
          </p:nvGrpSpPr>
          <p:grpSpPr>
            <a:xfrm>
              <a:off x="6552841" y="5462819"/>
              <a:ext cx="5915570" cy="771736"/>
              <a:chOff x="6447320" y="5023203"/>
              <a:chExt cx="5915570" cy="771736"/>
            </a:xfrm>
          </p:grpSpPr>
          <p:sp>
            <p:nvSpPr>
              <p:cNvPr id="21" name="文本框 49">
                <a:extLst>
                  <a:ext uri="{FF2B5EF4-FFF2-40B4-BE49-F238E27FC236}">
                    <a16:creationId xmlns:a16="http://schemas.microsoft.com/office/drawing/2014/main" id="{69A05162-042E-4E17-93D8-7D46D67B5233}"/>
                  </a:ext>
                </a:extLst>
              </p:cNvPr>
              <p:cNvSpPr txBox="1"/>
              <p:nvPr/>
            </p:nvSpPr>
            <p:spPr>
              <a:xfrm>
                <a:off x="7466716" y="5036282"/>
                <a:ext cx="4896174" cy="697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b="1" dirty="0">
                    <a:solidFill>
                      <a:srgbClr val="213F79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方正兰亭特黑简体" panose="02000000000000000000" pitchFamily="2" charset="-122"/>
                    <a:ea typeface="方正兰亭特黑简体" panose="02000000000000000000" pitchFamily="2" charset="-122"/>
                  </a:rPr>
                  <a:t>数据可视化</a:t>
                </a: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1F3CD9E-0D94-468E-8218-CB34B1E72B90}"/>
                  </a:ext>
                </a:extLst>
              </p:cNvPr>
              <p:cNvSpPr/>
              <p:nvPr/>
            </p:nvSpPr>
            <p:spPr>
              <a:xfrm>
                <a:off x="6447320" y="5023203"/>
                <a:ext cx="771736" cy="771736"/>
              </a:xfrm>
              <a:prstGeom prst="ellipse">
                <a:avLst/>
              </a:prstGeom>
              <a:solidFill>
                <a:srgbClr val="213F79"/>
              </a:solidFill>
              <a:ln>
                <a:noFill/>
              </a:ln>
              <a:effectLst>
                <a:innerShdw blurRad="63500" dist="1143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 dirty="0">
                    <a:solidFill>
                      <a:prstClr val="white"/>
                    </a:solidFill>
                    <a:latin typeface="Arial Black" panose="020B0A04020102020204" pitchFamily="34" charset="0"/>
                    <a:ea typeface="方正兰亭特黑简体" panose="02000000000000000000" pitchFamily="2" charset="-122"/>
                  </a:rPr>
                  <a:t>3</a:t>
                </a:r>
                <a:endParaRPr lang="zh-CN" altLang="en-US" sz="21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endParaRPr>
              </a:p>
            </p:txBody>
          </p:sp>
        </p:grpSp>
      </p:grpSp>
      <p:sp>
        <p:nvSpPr>
          <p:cNvPr id="27" name="文本框 48">
            <a:extLst>
              <a:ext uri="{FF2B5EF4-FFF2-40B4-BE49-F238E27FC236}">
                <a16:creationId xmlns:a16="http://schemas.microsoft.com/office/drawing/2014/main" id="{42D7AC52-A17A-B64F-9278-3FF20D3B88E9}"/>
              </a:ext>
            </a:extLst>
          </p:cNvPr>
          <p:cNvSpPr txBox="1"/>
          <p:nvPr/>
        </p:nvSpPr>
        <p:spPr>
          <a:xfrm>
            <a:off x="4713253" y="4694312"/>
            <a:ext cx="3672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4472C4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度量数据的相似性和相异性</a:t>
            </a:r>
          </a:p>
        </p:txBody>
      </p:sp>
      <p:sp>
        <p:nvSpPr>
          <p:cNvPr id="28" name="椭圆 23">
            <a:extLst>
              <a:ext uri="{FF2B5EF4-FFF2-40B4-BE49-F238E27FC236}">
                <a16:creationId xmlns:a16="http://schemas.microsoft.com/office/drawing/2014/main" id="{5FD04EF2-9910-9B46-BB86-BFA5628C2242}"/>
              </a:ext>
            </a:extLst>
          </p:cNvPr>
          <p:cNvSpPr/>
          <p:nvPr/>
        </p:nvSpPr>
        <p:spPr>
          <a:xfrm>
            <a:off x="3948705" y="4666945"/>
            <a:ext cx="578802" cy="578803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innerShdw blurRad="63500" dist="1143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rPr>
              <a:t>4</a:t>
            </a:r>
            <a:endParaRPr lang="zh-CN" altLang="en-US" sz="2100" b="1" dirty="0">
              <a:solidFill>
                <a:prstClr val="white"/>
              </a:solidFill>
              <a:latin typeface="Arial Black" panose="020B0A04020102020204" pitchFamily="34" charset="0"/>
              <a:ea typeface="方正兰亭特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69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2FF9176-AA80-42AE-8F5B-BE04EAAFB3F6}"/>
              </a:ext>
            </a:extLst>
          </p:cNvPr>
          <p:cNvSpPr/>
          <p:nvPr/>
        </p:nvSpPr>
        <p:spPr>
          <a:xfrm>
            <a:off x="1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4281D6C-C88D-43F5-82A0-040F64D5AD4F}"/>
              </a:ext>
            </a:extLst>
          </p:cNvPr>
          <p:cNvGrpSpPr/>
          <p:nvPr/>
        </p:nvGrpSpPr>
        <p:grpSpPr>
          <a:xfrm>
            <a:off x="3071616" y="514905"/>
            <a:ext cx="451751" cy="5299969"/>
            <a:chOff x="7636995" y="1679426"/>
            <a:chExt cx="421216" cy="4092334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417027B-246A-4A32-BF7E-12FEBCFC11E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C3BF6A3-487E-4A17-AC4E-9DFFBA230C7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3184E6CA-2922-454B-8665-AD8D16C5F4C0}"/>
              </a:ext>
            </a:extLst>
          </p:cNvPr>
          <p:cNvSpPr/>
          <p:nvPr/>
        </p:nvSpPr>
        <p:spPr>
          <a:xfrm flipH="1" flipV="1">
            <a:off x="2838845" y="3820256"/>
            <a:ext cx="685289" cy="324232"/>
          </a:xfrm>
          <a:prstGeom prst="rtTriangle">
            <a:avLst/>
          </a:pr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2" name="任意多边形 8">
            <a:extLst>
              <a:ext uri="{FF2B5EF4-FFF2-40B4-BE49-F238E27FC236}">
                <a16:creationId xmlns:a16="http://schemas.microsoft.com/office/drawing/2014/main" id="{837A7B01-F88C-45D7-8B46-A1722B0AAAE5}"/>
              </a:ext>
            </a:extLst>
          </p:cNvPr>
          <p:cNvSpPr/>
          <p:nvPr/>
        </p:nvSpPr>
        <p:spPr>
          <a:xfrm>
            <a:off x="2845983" y="2213953"/>
            <a:ext cx="4850218" cy="1609692"/>
          </a:xfrm>
          <a:custGeom>
            <a:avLst/>
            <a:gdLst>
              <a:gd name="connsiteX0" fmla="*/ 0 w 5229817"/>
              <a:gd name="connsiteY0" fmla="*/ 0 h 1429030"/>
              <a:gd name="connsiteX1" fmla="*/ 4515302 w 5229817"/>
              <a:gd name="connsiteY1" fmla="*/ 0 h 1429030"/>
              <a:gd name="connsiteX2" fmla="*/ 5229817 w 5229817"/>
              <a:gd name="connsiteY2" fmla="*/ 714515 h 1429030"/>
              <a:gd name="connsiteX3" fmla="*/ 5229816 w 5229817"/>
              <a:gd name="connsiteY3" fmla="*/ 714515 h 1429030"/>
              <a:gd name="connsiteX4" fmla="*/ 4515301 w 5229817"/>
              <a:gd name="connsiteY4" fmla="*/ 1429030 h 1429030"/>
              <a:gd name="connsiteX5" fmla="*/ 0 w 5229817"/>
              <a:gd name="connsiteY5" fmla="*/ 1429029 h 142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817" h="1429030">
                <a:moveTo>
                  <a:pt x="0" y="0"/>
                </a:moveTo>
                <a:lnTo>
                  <a:pt x="4515302" y="0"/>
                </a:lnTo>
                <a:cubicBezTo>
                  <a:pt x="4909918" y="0"/>
                  <a:pt x="5229817" y="319899"/>
                  <a:pt x="5229817" y="714515"/>
                </a:cubicBezTo>
                <a:lnTo>
                  <a:pt x="5229816" y="714515"/>
                </a:lnTo>
                <a:cubicBezTo>
                  <a:pt x="5229816" y="1109131"/>
                  <a:pt x="4909917" y="1429030"/>
                  <a:pt x="4515301" y="1429030"/>
                </a:cubicBezTo>
                <a:lnTo>
                  <a:pt x="0" y="1429029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3" name="文本框 61">
            <a:extLst>
              <a:ext uri="{FF2B5EF4-FFF2-40B4-BE49-F238E27FC236}">
                <a16:creationId xmlns:a16="http://schemas.microsoft.com/office/drawing/2014/main" id="{9B7AF24A-3785-4A8E-A98A-9B49D21B73E2}"/>
              </a:ext>
            </a:extLst>
          </p:cNvPr>
          <p:cNvSpPr txBox="1"/>
          <p:nvPr/>
        </p:nvSpPr>
        <p:spPr>
          <a:xfrm>
            <a:off x="3186448" y="2266510"/>
            <a:ext cx="3070071" cy="147732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数据对象与</a:t>
            </a:r>
            <a:endParaRPr lang="en-US" altLang="zh-CN" sz="45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属性类型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BC3CC1D5-54C7-43AB-95C6-F3C7C53A3BAC}"/>
              </a:ext>
            </a:extLst>
          </p:cNvPr>
          <p:cNvSpPr>
            <a:spLocks/>
          </p:cNvSpPr>
          <p:nvPr/>
        </p:nvSpPr>
        <p:spPr bwMode="auto">
          <a:xfrm>
            <a:off x="1" y="3736326"/>
            <a:ext cx="3744351" cy="3121674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rgbClr val="213F7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819F6F8-DEE6-4491-9619-934672231D47}"/>
              </a:ext>
            </a:extLst>
          </p:cNvPr>
          <p:cNvSpPr>
            <a:spLocks/>
          </p:cNvSpPr>
          <p:nvPr/>
        </p:nvSpPr>
        <p:spPr bwMode="auto">
          <a:xfrm>
            <a:off x="798990" y="3429001"/>
            <a:ext cx="8345011" cy="342900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  <a:gd name="connsiteX0" fmla="*/ 10000 w 10000"/>
              <a:gd name="connsiteY0" fmla="*/ 0 h 10039"/>
              <a:gd name="connsiteX1" fmla="*/ 10000 w 10000"/>
              <a:gd name="connsiteY1" fmla="*/ 10039 h 10039"/>
              <a:gd name="connsiteX2" fmla="*/ 0 w 10000"/>
              <a:gd name="connsiteY2" fmla="*/ 10039 h 10039"/>
              <a:gd name="connsiteX3" fmla="*/ 10000 w 10000"/>
              <a:gd name="connsiteY3" fmla="*/ 0 h 1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39">
                <a:moveTo>
                  <a:pt x="10000" y="0"/>
                </a:moveTo>
                <a:lnTo>
                  <a:pt x="10000" y="10039"/>
                </a:lnTo>
                <a:lnTo>
                  <a:pt x="0" y="10039"/>
                </a:lnTo>
                <a:lnTo>
                  <a:pt x="10000" y="0"/>
                </a:lnTo>
                <a:close/>
              </a:path>
            </a:pathLst>
          </a:custGeom>
          <a:solidFill>
            <a:srgbClr val="4472C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1740E17D-2349-244F-A5CA-4D9BDA2F0F53}"/>
              </a:ext>
            </a:extLst>
          </p:cNvPr>
          <p:cNvSpPr/>
          <p:nvPr/>
        </p:nvSpPr>
        <p:spPr>
          <a:xfrm flipH="1">
            <a:off x="1579417" y="990602"/>
            <a:ext cx="2387093" cy="916025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文本框 62">
            <a:extLst>
              <a:ext uri="{FF2B5EF4-FFF2-40B4-BE49-F238E27FC236}">
                <a16:creationId xmlns:a16="http://schemas.microsoft.com/office/drawing/2014/main" id="{DC49D51A-E762-6942-830E-933BD107C6B0}"/>
              </a:ext>
            </a:extLst>
          </p:cNvPr>
          <p:cNvSpPr txBox="1"/>
          <p:nvPr/>
        </p:nvSpPr>
        <p:spPr>
          <a:xfrm>
            <a:off x="1805536" y="1121714"/>
            <a:ext cx="216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PART  1</a:t>
            </a:r>
            <a:endParaRPr lang="zh-CN" altLang="en-US" sz="4000" b="1" dirty="0">
              <a:solidFill>
                <a:prstClr val="white"/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730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什么是属性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属性定义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）是一个数据字段，表示数据对象的一个特征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注：以下名词可互换使用：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）：常用于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数据挖掘</a:t>
            </a:r>
            <a:endParaRPr lang="en-US" altLang="zh-CN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维度（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dimension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）：常用于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数据仓库</a:t>
            </a:r>
            <a:endParaRPr lang="en-US" altLang="zh-CN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特征（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feature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）：常用于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</a:t>
            </a:r>
            <a:endParaRPr lang="en-US" altLang="zh-CN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variable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）：常用于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统计学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E58A5E8-A801-4B82-B346-AEAC35A1A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09" y="4476634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3AA25D75-E199-4D5F-82FF-339AD2E3F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1" y="4062200"/>
            <a:ext cx="25401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单变量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VS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双变量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14F37949-A6BC-4C23-AF53-9E1F21B091E7}"/>
              </a:ext>
            </a:extLst>
          </p:cNvPr>
          <p:cNvSpPr txBox="1"/>
          <p:nvPr/>
        </p:nvSpPr>
        <p:spPr>
          <a:xfrm>
            <a:off x="673563" y="4539101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单变量（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univariate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）：涉及一个属性的数据分布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双变量（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bivariate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）：涉及两个属性的数据分布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2253929-CD96-4D0F-BDA7-8A242BCA997D}"/>
              </a:ext>
            </a:extLst>
          </p:cNvPr>
          <p:cNvSpPr txBox="1"/>
          <p:nvPr/>
        </p:nvSpPr>
        <p:spPr>
          <a:xfrm>
            <a:off x="746830" y="5873549"/>
            <a:ext cx="7668300" cy="400110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属性种类：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标称的、二元的、序数的、数值的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73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标称属性 </a:t>
            </a:r>
            <a:r>
              <a:rPr lang="en-US" altLang="zh-CN" dirty="0"/>
              <a:t>&amp;</a:t>
            </a:r>
            <a:r>
              <a:rPr lang="zh-CN" altLang="en-US" dirty="0"/>
              <a:t> 二元属性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305827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91393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标称属性定义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68294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标称属性（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nominal 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）的值是一些符号或事物的名称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52DD89D-2170-4B6A-BBE1-B228A05C4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2328235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74A629C5-CFF8-453B-87C6-B8C7CB341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1913801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标称属性示例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42D93C1B-BBDF-49D0-A9FA-92A52B1BDF8F}"/>
              </a:ext>
            </a:extLst>
          </p:cNvPr>
          <p:cNvSpPr txBox="1"/>
          <p:nvPr/>
        </p:nvSpPr>
        <p:spPr>
          <a:xfrm>
            <a:off x="673566" y="2390702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Hair_color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黑色、棕色、淡黄色、红色、赤褐色、灰色和白色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Occupation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：教师、医生、程序员、农民、司机、代驾、歌手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6F77FFB5-AA67-454D-83D4-6582FC7D3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791" y="3652490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F73348-2280-4170-88E5-54CEA7FA6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44" y="3238056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标称属性特点</a:t>
            </a:r>
          </a:p>
        </p:txBody>
      </p:sp>
      <p:sp>
        <p:nvSpPr>
          <p:cNvPr id="17" name="文本框 68">
            <a:extLst>
              <a:ext uri="{FF2B5EF4-FFF2-40B4-BE49-F238E27FC236}">
                <a16:creationId xmlns:a16="http://schemas.microsoft.com/office/drawing/2014/main" id="{AF0D1C44-0BD3-4134-8925-939365B023A5}"/>
              </a:ext>
            </a:extLst>
          </p:cNvPr>
          <p:cNvSpPr txBox="1"/>
          <p:nvPr/>
        </p:nvSpPr>
        <p:spPr>
          <a:xfrm>
            <a:off x="675045" y="3714957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标称属性值不具有有意义的序，并且不是定量的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标称属性的平均值和中位数没有意义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E35B963A-6AFE-471E-9498-6A7840FAA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4998947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266E050-64B7-4BD1-9EAF-89C596133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4584513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二元属性定义</a:t>
            </a:r>
          </a:p>
        </p:txBody>
      </p:sp>
      <p:sp>
        <p:nvSpPr>
          <p:cNvPr id="20" name="文本框 68">
            <a:extLst>
              <a:ext uri="{FF2B5EF4-FFF2-40B4-BE49-F238E27FC236}">
                <a16:creationId xmlns:a16="http://schemas.microsoft.com/office/drawing/2014/main" id="{127A6084-B830-4730-8CCB-E5F0F30B6192}"/>
              </a:ext>
            </a:extLst>
          </p:cNvPr>
          <p:cNvSpPr txBox="1"/>
          <p:nvPr/>
        </p:nvSpPr>
        <p:spPr>
          <a:xfrm>
            <a:off x="672084" y="5061414"/>
            <a:ext cx="774304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二元属性（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binary 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）又称布尔属性，是一种标称属性，只有两个类别或状态：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表示该属性不出现，而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表示出现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例如：性别：男或女（对称）；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HIV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结果：阴性或阳性（非对称）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49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序数属性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序数属性定义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序数属性（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ordinal 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）是一种标称属性，其可能的值之间具有有意义的序或秩评定（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ranking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），但是相继值之间的差是未知的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491ECB17-23BA-4681-A4E7-36C5B1AF4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3065085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2D0D6E46-0C53-4C15-8396-420E11DDD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2650651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序数属性示例</a:t>
            </a:r>
          </a:p>
        </p:txBody>
      </p:sp>
      <p:sp>
        <p:nvSpPr>
          <p:cNvPr id="9" name="文本框 68">
            <a:extLst>
              <a:ext uri="{FF2B5EF4-FFF2-40B4-BE49-F238E27FC236}">
                <a16:creationId xmlns:a16="http://schemas.microsoft.com/office/drawing/2014/main" id="{E3299672-029C-4DAB-A3A6-03CAB68734BA}"/>
              </a:ext>
            </a:extLst>
          </p:cNvPr>
          <p:cNvSpPr txBox="1"/>
          <p:nvPr/>
        </p:nvSpPr>
        <p:spPr>
          <a:xfrm>
            <a:off x="673566" y="3127552"/>
            <a:ext cx="7743046" cy="185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drink_size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：小、中、大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grade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B+</a:t>
            </a: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professional _rank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：助教、讲师、副教授、教授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军阶：列兵、一等兵、专业军事、下士、中士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满足度：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很不满意、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不太满意、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中性、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满意、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很满意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604FB1F1-01DD-4ABC-842A-EBAEC46E295D}"/>
              </a:ext>
            </a:extLst>
          </p:cNvPr>
          <p:cNvSpPr txBox="1"/>
          <p:nvPr/>
        </p:nvSpPr>
        <p:spPr>
          <a:xfrm>
            <a:off x="746830" y="5873549"/>
            <a:ext cx="7668300" cy="400110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标称、二元和序数属性都是定性的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52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数值属性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数值属性定义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数值属性（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numeric attribute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）是定量的，即它是可度量的量，用整数或实数值表示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482DC3CB-3016-4A75-9EB4-67F174EDD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2603446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C3529C8D-99B4-4512-BBAE-465BBDC9B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2189012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区间标度属性</a:t>
            </a:r>
          </a:p>
        </p:txBody>
      </p:sp>
      <p:sp>
        <p:nvSpPr>
          <p:cNvPr id="9" name="文本框 68">
            <a:extLst>
              <a:ext uri="{FF2B5EF4-FFF2-40B4-BE49-F238E27FC236}">
                <a16:creationId xmlns:a16="http://schemas.microsoft.com/office/drawing/2014/main" id="{09FFFE27-69B7-4E8D-9FE3-AA14A7378BBA}"/>
              </a:ext>
            </a:extLst>
          </p:cNvPr>
          <p:cNvSpPr txBox="1"/>
          <p:nvPr/>
        </p:nvSpPr>
        <p:spPr>
          <a:xfrm>
            <a:off x="673566" y="2665913"/>
            <a:ext cx="7743046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区间标度（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interval-scaled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）属性用相等的单位尺度度量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年份：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年相比差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B8749BD1-B839-45FB-9775-3434B5EEE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788" y="4602406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D520CFAB-94A3-4391-B37B-78AAEDD49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41" y="4187972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比率标度属性</a:t>
            </a:r>
          </a:p>
        </p:txBody>
      </p:sp>
      <p:sp>
        <p:nvSpPr>
          <p:cNvPr id="15" name="文本框 68">
            <a:extLst>
              <a:ext uri="{FF2B5EF4-FFF2-40B4-BE49-F238E27FC236}">
                <a16:creationId xmlns:a16="http://schemas.microsoft.com/office/drawing/2014/main" id="{B8F926E3-DA2A-4E72-93D7-806709AE9107}"/>
              </a:ext>
            </a:extLst>
          </p:cNvPr>
          <p:cNvSpPr txBox="1"/>
          <p:nvPr/>
        </p:nvSpPr>
        <p:spPr>
          <a:xfrm>
            <a:off x="675042" y="4664873"/>
            <a:ext cx="7743046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比率标度（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ratio-scaled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）属性是具有固有零点的数值属性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美元比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美元富有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980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课上思考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165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现实社会中还有哪些属性？这些属性如何定义？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D990F8E8-BB8E-4BE9-86C9-8D9053B80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079" y="4726451"/>
            <a:ext cx="846527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EB509C2-A6ED-49FD-A424-E562298E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32" y="4312017"/>
            <a:ext cx="34588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离散属性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VS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连续属性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8E5C8936-B14E-4299-9A1C-0392B8B8BD99}"/>
              </a:ext>
            </a:extLst>
          </p:cNvPr>
          <p:cNvSpPr txBox="1"/>
          <p:nvPr/>
        </p:nvSpPr>
        <p:spPr>
          <a:xfrm>
            <a:off x="3643333" y="4788918"/>
            <a:ext cx="4858554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离散属性：具有有限或无限个可数个值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连续属性：属性的取值范围是连续的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举一反三</a:t>
            </a:r>
          </a:p>
        </p:txBody>
      </p:sp>
    </p:spTree>
    <p:extLst>
      <p:ext uri="{BB962C8B-B14F-4D97-AF65-F5344CB8AC3E}">
        <p14:creationId xmlns:p14="http://schemas.microsoft.com/office/powerpoint/2010/main" val="3736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课后总结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248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标称、二元、序数</a:t>
            </a:r>
            <a:r>
              <a:rPr lang="zh-CN" altLang="en-US" sz="36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、数值属</a:t>
            </a: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生各自的特点和不足是什么？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融会贯通</a:t>
            </a:r>
          </a:p>
        </p:txBody>
      </p:sp>
    </p:spTree>
    <p:extLst>
      <p:ext uri="{BB962C8B-B14F-4D97-AF65-F5344CB8AC3E}">
        <p14:creationId xmlns:p14="http://schemas.microsoft.com/office/powerpoint/2010/main" val="60832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2FF9176-AA80-42AE-8F5B-BE04EAAFB3F6}"/>
              </a:ext>
            </a:extLst>
          </p:cNvPr>
          <p:cNvSpPr/>
          <p:nvPr/>
        </p:nvSpPr>
        <p:spPr>
          <a:xfrm>
            <a:off x="1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4281D6C-C88D-43F5-82A0-040F64D5AD4F}"/>
              </a:ext>
            </a:extLst>
          </p:cNvPr>
          <p:cNvGrpSpPr/>
          <p:nvPr/>
        </p:nvGrpSpPr>
        <p:grpSpPr>
          <a:xfrm>
            <a:off x="3071616" y="514905"/>
            <a:ext cx="451751" cy="5299969"/>
            <a:chOff x="7636995" y="1679426"/>
            <a:chExt cx="421216" cy="4092334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417027B-246A-4A32-BF7E-12FEBCFC11E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C3BF6A3-487E-4A17-AC4E-9DFFBA230C7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3184E6CA-2922-454B-8665-AD8D16C5F4C0}"/>
              </a:ext>
            </a:extLst>
          </p:cNvPr>
          <p:cNvSpPr/>
          <p:nvPr/>
        </p:nvSpPr>
        <p:spPr>
          <a:xfrm flipH="1" flipV="1">
            <a:off x="2838845" y="3820256"/>
            <a:ext cx="685289" cy="324232"/>
          </a:xfrm>
          <a:prstGeom prst="rtTriangle">
            <a:avLst/>
          </a:pr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2" name="任意多边形 8">
            <a:extLst>
              <a:ext uri="{FF2B5EF4-FFF2-40B4-BE49-F238E27FC236}">
                <a16:creationId xmlns:a16="http://schemas.microsoft.com/office/drawing/2014/main" id="{837A7B01-F88C-45D7-8B46-A1722B0AAAE5}"/>
              </a:ext>
            </a:extLst>
          </p:cNvPr>
          <p:cNvSpPr/>
          <p:nvPr/>
        </p:nvSpPr>
        <p:spPr>
          <a:xfrm>
            <a:off x="2845983" y="2213953"/>
            <a:ext cx="4850218" cy="1609692"/>
          </a:xfrm>
          <a:custGeom>
            <a:avLst/>
            <a:gdLst>
              <a:gd name="connsiteX0" fmla="*/ 0 w 5229817"/>
              <a:gd name="connsiteY0" fmla="*/ 0 h 1429030"/>
              <a:gd name="connsiteX1" fmla="*/ 4515302 w 5229817"/>
              <a:gd name="connsiteY1" fmla="*/ 0 h 1429030"/>
              <a:gd name="connsiteX2" fmla="*/ 5229817 w 5229817"/>
              <a:gd name="connsiteY2" fmla="*/ 714515 h 1429030"/>
              <a:gd name="connsiteX3" fmla="*/ 5229816 w 5229817"/>
              <a:gd name="connsiteY3" fmla="*/ 714515 h 1429030"/>
              <a:gd name="connsiteX4" fmla="*/ 4515301 w 5229817"/>
              <a:gd name="connsiteY4" fmla="*/ 1429030 h 1429030"/>
              <a:gd name="connsiteX5" fmla="*/ 0 w 5229817"/>
              <a:gd name="connsiteY5" fmla="*/ 1429029 h 142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817" h="1429030">
                <a:moveTo>
                  <a:pt x="0" y="0"/>
                </a:moveTo>
                <a:lnTo>
                  <a:pt x="4515302" y="0"/>
                </a:lnTo>
                <a:cubicBezTo>
                  <a:pt x="4909918" y="0"/>
                  <a:pt x="5229817" y="319899"/>
                  <a:pt x="5229817" y="714515"/>
                </a:cubicBezTo>
                <a:lnTo>
                  <a:pt x="5229816" y="714515"/>
                </a:lnTo>
                <a:cubicBezTo>
                  <a:pt x="5229816" y="1109131"/>
                  <a:pt x="4909917" y="1429030"/>
                  <a:pt x="4515301" y="1429030"/>
                </a:cubicBezTo>
                <a:lnTo>
                  <a:pt x="0" y="1429029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3" name="文本框 61">
            <a:extLst>
              <a:ext uri="{FF2B5EF4-FFF2-40B4-BE49-F238E27FC236}">
                <a16:creationId xmlns:a16="http://schemas.microsoft.com/office/drawing/2014/main" id="{9B7AF24A-3785-4A8E-A98A-9B49D21B73E2}"/>
              </a:ext>
            </a:extLst>
          </p:cNvPr>
          <p:cNvSpPr txBox="1"/>
          <p:nvPr/>
        </p:nvSpPr>
        <p:spPr>
          <a:xfrm>
            <a:off x="3186448" y="2266510"/>
            <a:ext cx="4224233" cy="147732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数据的基本统计</a:t>
            </a:r>
            <a:endParaRPr lang="en-US" altLang="zh-CN" sz="45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描述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BC3CC1D5-54C7-43AB-95C6-F3C7C53A3BAC}"/>
              </a:ext>
            </a:extLst>
          </p:cNvPr>
          <p:cNvSpPr>
            <a:spLocks/>
          </p:cNvSpPr>
          <p:nvPr/>
        </p:nvSpPr>
        <p:spPr bwMode="auto">
          <a:xfrm>
            <a:off x="1" y="3736326"/>
            <a:ext cx="3744351" cy="3121674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rgbClr val="213F7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819F6F8-DEE6-4491-9619-934672231D47}"/>
              </a:ext>
            </a:extLst>
          </p:cNvPr>
          <p:cNvSpPr>
            <a:spLocks/>
          </p:cNvSpPr>
          <p:nvPr/>
        </p:nvSpPr>
        <p:spPr bwMode="auto">
          <a:xfrm>
            <a:off x="798990" y="3429001"/>
            <a:ext cx="8345011" cy="342900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  <a:gd name="connsiteX0" fmla="*/ 10000 w 10000"/>
              <a:gd name="connsiteY0" fmla="*/ 0 h 10039"/>
              <a:gd name="connsiteX1" fmla="*/ 10000 w 10000"/>
              <a:gd name="connsiteY1" fmla="*/ 10039 h 10039"/>
              <a:gd name="connsiteX2" fmla="*/ 0 w 10000"/>
              <a:gd name="connsiteY2" fmla="*/ 10039 h 10039"/>
              <a:gd name="connsiteX3" fmla="*/ 10000 w 10000"/>
              <a:gd name="connsiteY3" fmla="*/ 0 h 1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39">
                <a:moveTo>
                  <a:pt x="10000" y="0"/>
                </a:moveTo>
                <a:lnTo>
                  <a:pt x="10000" y="10039"/>
                </a:lnTo>
                <a:lnTo>
                  <a:pt x="0" y="10039"/>
                </a:lnTo>
                <a:lnTo>
                  <a:pt x="10000" y="0"/>
                </a:lnTo>
                <a:close/>
              </a:path>
            </a:pathLst>
          </a:custGeom>
          <a:solidFill>
            <a:srgbClr val="4472C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1740E17D-2349-244F-A5CA-4D9BDA2F0F53}"/>
              </a:ext>
            </a:extLst>
          </p:cNvPr>
          <p:cNvSpPr/>
          <p:nvPr/>
        </p:nvSpPr>
        <p:spPr>
          <a:xfrm flipH="1">
            <a:off x="1579417" y="990602"/>
            <a:ext cx="2387093" cy="916025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文本框 62">
            <a:extLst>
              <a:ext uri="{FF2B5EF4-FFF2-40B4-BE49-F238E27FC236}">
                <a16:creationId xmlns:a16="http://schemas.microsoft.com/office/drawing/2014/main" id="{DC49D51A-E762-6942-830E-933BD107C6B0}"/>
              </a:ext>
            </a:extLst>
          </p:cNvPr>
          <p:cNvSpPr txBox="1"/>
          <p:nvPr/>
        </p:nvSpPr>
        <p:spPr>
          <a:xfrm>
            <a:off x="1805536" y="1121714"/>
            <a:ext cx="216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PART  2</a:t>
            </a:r>
            <a:endParaRPr lang="zh-CN" altLang="en-US" sz="4000" b="1" dirty="0">
              <a:solidFill>
                <a:prstClr val="white"/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6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中心趋势度量：均值、中位数、众数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均值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数据集“中心”最常用、最有效的数值是（算术）均值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令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为某数值属性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salary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个观测值或观测，该值集合的均值（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mean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12FBFF-55B2-43F6-9B42-1B073552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049" y="2491666"/>
            <a:ext cx="3413116" cy="937334"/>
          </a:xfrm>
          <a:prstGeom prst="rect">
            <a:avLst/>
          </a:prstGeom>
        </p:spPr>
      </p:pic>
      <p:sp>
        <p:nvSpPr>
          <p:cNvPr id="9" name="Line 9">
            <a:extLst>
              <a:ext uri="{FF2B5EF4-FFF2-40B4-BE49-F238E27FC236}">
                <a16:creationId xmlns:a16="http://schemas.microsoft.com/office/drawing/2014/main" id="{E4793782-BE9F-4E8C-9655-B52A77FEE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3820087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B708BB01-1535-4809-90E6-77F2E5547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3405653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中位数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&amp;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 众数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F349EAF4-AA8F-4879-AD8E-6B21056111AF}"/>
              </a:ext>
            </a:extLst>
          </p:cNvPr>
          <p:cNvSpPr txBox="1"/>
          <p:nvPr/>
        </p:nvSpPr>
        <p:spPr>
          <a:xfrm>
            <a:off x="673566" y="3882554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median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）是有序数据的中间值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众数（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）是集合中出现最频繁的值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B6CD4-EC36-CC45-832A-A35A3C1FB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782" y="4667687"/>
            <a:ext cx="6343650" cy="186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9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度量数据散布：极差、分位数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极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差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令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为某数值属性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的观测集合，该集合的极差（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range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）是最大值（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max()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）与最小值（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min()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）之差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9955C8C2-C517-6941-AE6B-095D1D6D3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2666536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C77AB631-799D-4742-92D2-4F795E0F3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2252102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分位数</a:t>
            </a:r>
          </a:p>
        </p:txBody>
      </p:sp>
      <p:sp>
        <p:nvSpPr>
          <p:cNvPr id="9" name="文本框 68">
            <a:extLst>
              <a:ext uri="{FF2B5EF4-FFF2-40B4-BE49-F238E27FC236}">
                <a16:creationId xmlns:a16="http://schemas.microsoft.com/office/drawing/2014/main" id="{39A0D006-C303-3E4F-9B17-74B6016BF0EC}"/>
              </a:ext>
            </a:extLst>
          </p:cNvPr>
          <p:cNvSpPr txBox="1"/>
          <p:nvPr/>
        </p:nvSpPr>
        <p:spPr>
          <a:xfrm>
            <a:off x="673566" y="2729003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分位数（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median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）是取自数据分布的每隔一定间隔上的点，把数据划分成基本上大小相等的连贯集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5214C-4136-0C44-B87D-9CACBA52E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832" y="3526093"/>
            <a:ext cx="6051550" cy="286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8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度量数据散布：五数概括、盒图、离群点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五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数概括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布的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五数概括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five-number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summary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）由中位数（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）、四分位数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、最小和最大观测值组成，按次序为：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Minimum, 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Median, Q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Maximum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BAFEDA79-A0A9-2347-BB85-4655356B1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12" y="3101246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0A4ABC03-7493-6641-85DE-BE692D0AA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65" y="2686812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盒图</a:t>
            </a:r>
          </a:p>
        </p:txBody>
      </p:sp>
      <p:sp>
        <p:nvSpPr>
          <p:cNvPr id="9" name="文本框 68">
            <a:extLst>
              <a:ext uri="{FF2B5EF4-FFF2-40B4-BE49-F238E27FC236}">
                <a16:creationId xmlns:a16="http://schemas.microsoft.com/office/drawing/2014/main" id="{D9FA1EB8-1908-6F48-AE67-DAF77CE3A16B}"/>
              </a:ext>
            </a:extLst>
          </p:cNvPr>
          <p:cNvSpPr txBox="1"/>
          <p:nvPr/>
        </p:nvSpPr>
        <p:spPr>
          <a:xfrm>
            <a:off x="673566" y="3163713"/>
            <a:ext cx="3942868" cy="293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盒图（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boxplot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）是一种流行的分布直观表示，体现了五数概括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盒的端点一般在四分位数上，使得盒的长度是四分位数极差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中位数用盒内的线标记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盒外的两条线（称做胡须）延伸到最小（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Minimum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）和最大（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Maximum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）观测值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7AC38-DDE0-8F4D-AF4C-948189DBE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34" y="2541682"/>
            <a:ext cx="3798696" cy="3858518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31A1E644-0E38-AE4C-B71C-AB514CBFC42A}"/>
              </a:ext>
            </a:extLst>
          </p:cNvPr>
          <p:cNvSpPr txBox="1"/>
          <p:nvPr/>
        </p:nvSpPr>
        <p:spPr>
          <a:xfrm rot="5400000">
            <a:off x="4058243" y="3928626"/>
            <a:ext cx="2979470" cy="495841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479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课上思考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165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现实社会中还有哪些度量数据散布的指标？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D990F8E8-BB8E-4BE9-86C9-8D9053B80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079" y="4411661"/>
            <a:ext cx="846527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EB509C2-A6ED-49FD-A424-E562298E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32" y="3997227"/>
            <a:ext cx="34588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方差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&amp;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标准差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8E5C8936-B14E-4299-9A1C-0392B8B8BD99}"/>
              </a:ext>
            </a:extLst>
          </p:cNvPr>
          <p:cNvSpPr txBox="1"/>
          <p:nvPr/>
        </p:nvSpPr>
        <p:spPr>
          <a:xfrm>
            <a:off x="3643333" y="4474128"/>
            <a:ext cx="4858554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方差是样本与均值的差的平方和的均值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标准差是方差的平方根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低标准差意味数据观测趋向于非常靠近均值，而高标准差表示数据散布在一个大的值域中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举一反三</a:t>
            </a:r>
          </a:p>
        </p:txBody>
      </p:sp>
    </p:spTree>
    <p:extLst>
      <p:ext uri="{BB962C8B-B14F-4D97-AF65-F5344CB8AC3E}">
        <p14:creationId xmlns:p14="http://schemas.microsoft.com/office/powerpoint/2010/main" val="407012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2FF9176-AA80-42AE-8F5B-BE04EAAFB3F6}"/>
              </a:ext>
            </a:extLst>
          </p:cNvPr>
          <p:cNvSpPr/>
          <p:nvPr/>
        </p:nvSpPr>
        <p:spPr>
          <a:xfrm>
            <a:off x="1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4281D6C-C88D-43F5-82A0-040F64D5AD4F}"/>
              </a:ext>
            </a:extLst>
          </p:cNvPr>
          <p:cNvGrpSpPr/>
          <p:nvPr/>
        </p:nvGrpSpPr>
        <p:grpSpPr>
          <a:xfrm>
            <a:off x="3071616" y="514905"/>
            <a:ext cx="451751" cy="5299969"/>
            <a:chOff x="7636995" y="1679426"/>
            <a:chExt cx="421216" cy="4092334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417027B-246A-4A32-BF7E-12FEBCFC11E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C3BF6A3-487E-4A17-AC4E-9DFFBA230C7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3184E6CA-2922-454B-8665-AD8D16C5F4C0}"/>
              </a:ext>
            </a:extLst>
          </p:cNvPr>
          <p:cNvSpPr/>
          <p:nvPr/>
        </p:nvSpPr>
        <p:spPr>
          <a:xfrm flipH="1" flipV="1">
            <a:off x="2838845" y="3820256"/>
            <a:ext cx="685289" cy="324232"/>
          </a:xfrm>
          <a:prstGeom prst="rtTriangle">
            <a:avLst/>
          </a:pr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2" name="任意多边形 8">
            <a:extLst>
              <a:ext uri="{FF2B5EF4-FFF2-40B4-BE49-F238E27FC236}">
                <a16:creationId xmlns:a16="http://schemas.microsoft.com/office/drawing/2014/main" id="{837A7B01-F88C-45D7-8B46-A1722B0AAAE5}"/>
              </a:ext>
            </a:extLst>
          </p:cNvPr>
          <p:cNvSpPr/>
          <p:nvPr/>
        </p:nvSpPr>
        <p:spPr>
          <a:xfrm>
            <a:off x="2845983" y="2213953"/>
            <a:ext cx="4850218" cy="1609692"/>
          </a:xfrm>
          <a:custGeom>
            <a:avLst/>
            <a:gdLst>
              <a:gd name="connsiteX0" fmla="*/ 0 w 5229817"/>
              <a:gd name="connsiteY0" fmla="*/ 0 h 1429030"/>
              <a:gd name="connsiteX1" fmla="*/ 4515302 w 5229817"/>
              <a:gd name="connsiteY1" fmla="*/ 0 h 1429030"/>
              <a:gd name="connsiteX2" fmla="*/ 5229817 w 5229817"/>
              <a:gd name="connsiteY2" fmla="*/ 714515 h 1429030"/>
              <a:gd name="connsiteX3" fmla="*/ 5229816 w 5229817"/>
              <a:gd name="connsiteY3" fmla="*/ 714515 h 1429030"/>
              <a:gd name="connsiteX4" fmla="*/ 4515301 w 5229817"/>
              <a:gd name="connsiteY4" fmla="*/ 1429030 h 1429030"/>
              <a:gd name="connsiteX5" fmla="*/ 0 w 5229817"/>
              <a:gd name="connsiteY5" fmla="*/ 1429029 h 142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817" h="1429030">
                <a:moveTo>
                  <a:pt x="0" y="0"/>
                </a:moveTo>
                <a:lnTo>
                  <a:pt x="4515302" y="0"/>
                </a:lnTo>
                <a:cubicBezTo>
                  <a:pt x="4909918" y="0"/>
                  <a:pt x="5229817" y="319899"/>
                  <a:pt x="5229817" y="714515"/>
                </a:cubicBezTo>
                <a:lnTo>
                  <a:pt x="5229816" y="714515"/>
                </a:lnTo>
                <a:cubicBezTo>
                  <a:pt x="5229816" y="1109131"/>
                  <a:pt x="4909917" y="1429030"/>
                  <a:pt x="4515301" y="1429030"/>
                </a:cubicBezTo>
                <a:lnTo>
                  <a:pt x="0" y="1429029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3" name="文本框 61">
            <a:extLst>
              <a:ext uri="{FF2B5EF4-FFF2-40B4-BE49-F238E27FC236}">
                <a16:creationId xmlns:a16="http://schemas.microsoft.com/office/drawing/2014/main" id="{9B7AF24A-3785-4A8E-A98A-9B49D21B73E2}"/>
              </a:ext>
            </a:extLst>
          </p:cNvPr>
          <p:cNvSpPr txBox="1"/>
          <p:nvPr/>
        </p:nvSpPr>
        <p:spPr>
          <a:xfrm>
            <a:off x="3186448" y="2596290"/>
            <a:ext cx="3070071" cy="7848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数据可视化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BC3CC1D5-54C7-43AB-95C6-F3C7C53A3BAC}"/>
              </a:ext>
            </a:extLst>
          </p:cNvPr>
          <p:cNvSpPr>
            <a:spLocks/>
          </p:cNvSpPr>
          <p:nvPr/>
        </p:nvSpPr>
        <p:spPr bwMode="auto">
          <a:xfrm>
            <a:off x="1" y="3736326"/>
            <a:ext cx="3744351" cy="3121674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rgbClr val="213F7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819F6F8-DEE6-4491-9619-934672231D47}"/>
              </a:ext>
            </a:extLst>
          </p:cNvPr>
          <p:cNvSpPr>
            <a:spLocks/>
          </p:cNvSpPr>
          <p:nvPr/>
        </p:nvSpPr>
        <p:spPr bwMode="auto">
          <a:xfrm>
            <a:off x="798990" y="3429001"/>
            <a:ext cx="8345011" cy="342900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  <a:gd name="connsiteX0" fmla="*/ 10000 w 10000"/>
              <a:gd name="connsiteY0" fmla="*/ 0 h 10039"/>
              <a:gd name="connsiteX1" fmla="*/ 10000 w 10000"/>
              <a:gd name="connsiteY1" fmla="*/ 10039 h 10039"/>
              <a:gd name="connsiteX2" fmla="*/ 0 w 10000"/>
              <a:gd name="connsiteY2" fmla="*/ 10039 h 10039"/>
              <a:gd name="connsiteX3" fmla="*/ 10000 w 10000"/>
              <a:gd name="connsiteY3" fmla="*/ 0 h 1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39">
                <a:moveTo>
                  <a:pt x="10000" y="0"/>
                </a:moveTo>
                <a:lnTo>
                  <a:pt x="10000" y="10039"/>
                </a:lnTo>
                <a:lnTo>
                  <a:pt x="0" y="10039"/>
                </a:lnTo>
                <a:lnTo>
                  <a:pt x="10000" y="0"/>
                </a:lnTo>
                <a:close/>
              </a:path>
            </a:pathLst>
          </a:custGeom>
          <a:solidFill>
            <a:srgbClr val="4472C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1740E17D-2349-244F-A5CA-4D9BDA2F0F53}"/>
              </a:ext>
            </a:extLst>
          </p:cNvPr>
          <p:cNvSpPr/>
          <p:nvPr/>
        </p:nvSpPr>
        <p:spPr>
          <a:xfrm flipH="1">
            <a:off x="1579417" y="990602"/>
            <a:ext cx="2387093" cy="916025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文本框 62">
            <a:extLst>
              <a:ext uri="{FF2B5EF4-FFF2-40B4-BE49-F238E27FC236}">
                <a16:creationId xmlns:a16="http://schemas.microsoft.com/office/drawing/2014/main" id="{DC49D51A-E762-6942-830E-933BD107C6B0}"/>
              </a:ext>
            </a:extLst>
          </p:cNvPr>
          <p:cNvSpPr txBox="1"/>
          <p:nvPr/>
        </p:nvSpPr>
        <p:spPr>
          <a:xfrm>
            <a:off x="1805536" y="1121714"/>
            <a:ext cx="216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PART  3</a:t>
            </a:r>
            <a:endParaRPr lang="zh-CN" altLang="en-US" sz="4000" b="1" dirty="0">
              <a:solidFill>
                <a:prstClr val="white"/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572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基于像素的可视化技术（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6707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基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于像素的可视化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3" y="1341660"/>
            <a:ext cx="7907141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AllElectronics</a:t>
            </a: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维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护了一个顾客信息表，包含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个维：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income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（收入），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redit_limit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（信贷额度），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transaction_volume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（成交量）和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（年龄）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redit_limit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income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增加而增加；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）收入处于中部区间的顾客更可能从</a:t>
            </a:r>
            <a:r>
              <a:rPr lang="en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AllElectronics</a:t>
            </a: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购物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income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之间没有明显的相关性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05800-5223-AD43-AC6E-61DFD5B9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82" y="3253996"/>
            <a:ext cx="7768730" cy="286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47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基于像素的可视化技术（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67330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空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间填充曲线（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space-filling curve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AAA5D-66B9-7B4D-B370-DE4A79D8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093" y="1314635"/>
            <a:ext cx="5893813" cy="2039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0A79A-0E7F-DC4C-9CE6-8EFE12BC7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" y="3965493"/>
            <a:ext cx="5593517" cy="2580264"/>
          </a:xfrm>
          <a:prstGeom prst="rect">
            <a:avLst/>
          </a:prstGeom>
        </p:spPr>
      </p:pic>
      <p:sp>
        <p:nvSpPr>
          <p:cNvPr id="9" name="Line 9">
            <a:extLst>
              <a:ext uri="{FF2B5EF4-FFF2-40B4-BE49-F238E27FC236}">
                <a16:creationId xmlns:a16="http://schemas.microsoft.com/office/drawing/2014/main" id="{12A08A1F-6315-5441-9578-1EAF8ED9D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340" y="3800035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74C93A7-7D2A-244D-B055-A4B031D05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92" y="3385601"/>
            <a:ext cx="75550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圆弓分割技术（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circle segment technique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590DD-5211-FAC1-C34E-1197631AC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1" y="3957529"/>
            <a:ext cx="60452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2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几何投影可视化技术（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散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点图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散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点图是使用笛卡儿坐标显示的二维数据点。使用不同的颜色或形状表示不同的数据点，可以增加第三维。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7E463-CD1C-8240-BDDD-6725CC77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3" y="2713328"/>
            <a:ext cx="3688439" cy="3552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BFB42B-0471-9149-9F51-3858BC7E4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79" y="2713328"/>
            <a:ext cx="3671728" cy="3552516"/>
          </a:xfrm>
          <a:prstGeom prst="rect">
            <a:avLst/>
          </a:prstGeom>
        </p:spPr>
      </p:pic>
      <p:sp>
        <p:nvSpPr>
          <p:cNvPr id="9" name="Down Arrow 1">
            <a:extLst>
              <a:ext uri="{FF2B5EF4-FFF2-40B4-BE49-F238E27FC236}">
                <a16:creationId xmlns:a16="http://schemas.microsoft.com/office/drawing/2014/main" id="{A291F1F2-7854-8245-8144-7D6174B2F6A0}"/>
              </a:ext>
            </a:extLst>
          </p:cNvPr>
          <p:cNvSpPr/>
          <p:nvPr/>
        </p:nvSpPr>
        <p:spPr>
          <a:xfrm rot="16200000">
            <a:off x="4202096" y="4243365"/>
            <a:ext cx="809296" cy="4924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604F31EF-07C1-2C45-A7E0-3D2832CDC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784" y="2358036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rgbClr val="C00000"/>
                </a:solidFill>
                <a:latin typeface="微软雅黑" panose="020B0503020204020204" pitchFamily="34" charset="-122"/>
              </a:rPr>
              <a:t>散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点图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95228CB9-53E1-4E4D-89E9-A3318C8DA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605" y="2313218"/>
            <a:ext cx="21074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rgbClr val="C00000"/>
                </a:solidFill>
                <a:latin typeface="微软雅黑" panose="020B0503020204020204" pitchFamily="34" charset="-122"/>
              </a:rPr>
              <a:t>散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点矩阵</a:t>
            </a:r>
          </a:p>
        </p:txBody>
      </p:sp>
    </p:spTree>
    <p:extLst>
      <p:ext uri="{BB962C8B-B14F-4D97-AF65-F5344CB8AC3E}">
        <p14:creationId xmlns:p14="http://schemas.microsoft.com/office/powerpoint/2010/main" val="476183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几何投影可视化技术（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4766A-6C34-8344-9BBA-0CCB9797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1" y="2050975"/>
            <a:ext cx="4047816" cy="3810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FB5DAA-BD0B-0D48-B164-16ACF0982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733" y="2079895"/>
            <a:ext cx="4047816" cy="3810742"/>
          </a:xfrm>
          <a:prstGeom prst="rect">
            <a:avLst/>
          </a:prstGeom>
        </p:spPr>
      </p:pic>
      <p:sp>
        <p:nvSpPr>
          <p:cNvPr id="9" name="TextBox 15">
            <a:extLst>
              <a:ext uri="{FF2B5EF4-FFF2-40B4-BE49-F238E27FC236}">
                <a16:creationId xmlns:a16="http://schemas.microsoft.com/office/drawing/2014/main" id="{4941898B-37F5-8D4F-AA8B-444BB0D43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25" y="1202523"/>
            <a:ext cx="3372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鸢尾花数据可视化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17DC1DB-542D-424B-9A66-59E6C648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772" y="1202523"/>
            <a:ext cx="3372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平行坐标可视化</a:t>
            </a:r>
          </a:p>
        </p:txBody>
      </p:sp>
    </p:spTree>
    <p:extLst>
      <p:ext uri="{BB962C8B-B14F-4D97-AF65-F5344CB8AC3E}">
        <p14:creationId xmlns:p14="http://schemas.microsoft.com/office/powerpoint/2010/main" val="174312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基于图符的可视化技术（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45594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切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尔诺夫脸（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Chernoff faces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脸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的要素，如：眼、耳、口、鼻等用其形状、大小、位置和方向表示维度的值，如：眼睛大小、两眼位置等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8F294-FA47-404B-ACF3-E0169951E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867" y="2234462"/>
            <a:ext cx="6617949" cy="426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00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基于图符的可视化技术（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50691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人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物线条画（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stick figure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把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多维数据映射到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段人物线条画，其中每个画都有四肢和一个躯体。两个维被映射到显示轴（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轴和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轴），其余的维映射到四肢角度或长度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504E9-9ED5-5540-B5A8-382C3A058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157597"/>
            <a:ext cx="81788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62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层次可视化技术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2" y="864759"/>
            <a:ext cx="55338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世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界中的世界（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Worlds-within-Worlds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先把维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固定为某选定位置，例如：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，世界的原点位于外世界的原点（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）处；外世界是另一个三维图，使用维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baseline="-25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9122F-DC6C-4544-95ED-D6F9FE9A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57" y="2435537"/>
            <a:ext cx="51181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78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可视化复杂对象和关系（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52340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签云（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tag cloud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6EA0A-469E-8B49-92D7-E219954F3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25" y="1524285"/>
            <a:ext cx="6235700" cy="50241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9F9B68-C7FD-A240-9ED6-7E34DA02F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375" y="1867369"/>
            <a:ext cx="6350000" cy="43688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02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可视化复杂对象和关系（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2" y="864759"/>
            <a:ext cx="53539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复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杂网络（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complex network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66C24-2853-C447-A3E7-AE448CED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49" y="1466851"/>
            <a:ext cx="6795729" cy="4259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C62756-7FA8-1D46-937A-F35A62825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299" y="2126377"/>
            <a:ext cx="5253652" cy="4196929"/>
          </a:xfrm>
          <a:prstGeom prst="rect">
            <a:avLst/>
          </a:prstGeom>
          <a:effectLst>
            <a:outerShdw blurRad="135433" dist="149026" dir="8008287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499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课上思考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248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近些年，有哪些常用数据的可视化方法可以更好的体现数据特征？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举一反三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5593A-1BB5-6848-9547-23E01B51903F}"/>
              </a:ext>
            </a:extLst>
          </p:cNvPr>
          <p:cNvSpPr txBox="1"/>
          <p:nvPr/>
        </p:nvSpPr>
        <p:spPr>
          <a:xfrm>
            <a:off x="3511010" y="4693355"/>
            <a:ext cx="48585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2pPr marL="285750" lvl="1" indent="-285750" algn="just">
              <a:lnSpc>
                <a:spcPct val="130000"/>
              </a:lnSpc>
              <a:buFont typeface="Wingdings" pitchFamily="2" charset="2"/>
              <a:buChar char="q"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</a:lstStyle>
          <a:p>
            <a:r>
              <a:rPr lang="zh-CN" altLang="en-CN" dirty="0"/>
              <a:t>供</a:t>
            </a:r>
            <a:r>
              <a:rPr lang="zh-CN" altLang="en-US" dirty="0"/>
              <a:t>参考：</a:t>
            </a:r>
            <a:r>
              <a:rPr lang="en-US" dirty="0">
                <a:hlinkClick r:id="rId4"/>
              </a:rPr>
              <a:t>https://blog.csdn.net/veratata/article/details/128342221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803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2FF9176-AA80-42AE-8F5B-BE04EAAFB3F6}"/>
              </a:ext>
            </a:extLst>
          </p:cNvPr>
          <p:cNvSpPr/>
          <p:nvPr/>
        </p:nvSpPr>
        <p:spPr>
          <a:xfrm>
            <a:off x="1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4281D6C-C88D-43F5-82A0-040F64D5AD4F}"/>
              </a:ext>
            </a:extLst>
          </p:cNvPr>
          <p:cNvGrpSpPr/>
          <p:nvPr/>
        </p:nvGrpSpPr>
        <p:grpSpPr>
          <a:xfrm>
            <a:off x="3071616" y="514905"/>
            <a:ext cx="451751" cy="5299969"/>
            <a:chOff x="7636995" y="1679426"/>
            <a:chExt cx="421216" cy="4092334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417027B-246A-4A32-BF7E-12FEBCFC11E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C3BF6A3-487E-4A17-AC4E-9DFFBA230C7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3184E6CA-2922-454B-8665-AD8D16C5F4C0}"/>
              </a:ext>
            </a:extLst>
          </p:cNvPr>
          <p:cNvSpPr/>
          <p:nvPr/>
        </p:nvSpPr>
        <p:spPr>
          <a:xfrm flipH="1" flipV="1">
            <a:off x="2838845" y="3820256"/>
            <a:ext cx="685289" cy="324232"/>
          </a:xfrm>
          <a:prstGeom prst="rtTriangle">
            <a:avLst/>
          </a:pr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2" name="任意多边形 8">
            <a:extLst>
              <a:ext uri="{FF2B5EF4-FFF2-40B4-BE49-F238E27FC236}">
                <a16:creationId xmlns:a16="http://schemas.microsoft.com/office/drawing/2014/main" id="{837A7B01-F88C-45D7-8B46-A1722B0AAAE5}"/>
              </a:ext>
            </a:extLst>
          </p:cNvPr>
          <p:cNvSpPr/>
          <p:nvPr/>
        </p:nvSpPr>
        <p:spPr>
          <a:xfrm>
            <a:off x="2845983" y="2213953"/>
            <a:ext cx="4850218" cy="1609692"/>
          </a:xfrm>
          <a:custGeom>
            <a:avLst/>
            <a:gdLst>
              <a:gd name="connsiteX0" fmla="*/ 0 w 5229817"/>
              <a:gd name="connsiteY0" fmla="*/ 0 h 1429030"/>
              <a:gd name="connsiteX1" fmla="*/ 4515302 w 5229817"/>
              <a:gd name="connsiteY1" fmla="*/ 0 h 1429030"/>
              <a:gd name="connsiteX2" fmla="*/ 5229817 w 5229817"/>
              <a:gd name="connsiteY2" fmla="*/ 714515 h 1429030"/>
              <a:gd name="connsiteX3" fmla="*/ 5229816 w 5229817"/>
              <a:gd name="connsiteY3" fmla="*/ 714515 h 1429030"/>
              <a:gd name="connsiteX4" fmla="*/ 4515301 w 5229817"/>
              <a:gd name="connsiteY4" fmla="*/ 1429030 h 1429030"/>
              <a:gd name="connsiteX5" fmla="*/ 0 w 5229817"/>
              <a:gd name="connsiteY5" fmla="*/ 1429029 h 142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817" h="1429030">
                <a:moveTo>
                  <a:pt x="0" y="0"/>
                </a:moveTo>
                <a:lnTo>
                  <a:pt x="4515302" y="0"/>
                </a:lnTo>
                <a:cubicBezTo>
                  <a:pt x="4909918" y="0"/>
                  <a:pt x="5229817" y="319899"/>
                  <a:pt x="5229817" y="714515"/>
                </a:cubicBezTo>
                <a:lnTo>
                  <a:pt x="5229816" y="714515"/>
                </a:lnTo>
                <a:cubicBezTo>
                  <a:pt x="5229816" y="1109131"/>
                  <a:pt x="4909917" y="1429030"/>
                  <a:pt x="4515301" y="1429030"/>
                </a:cubicBezTo>
                <a:lnTo>
                  <a:pt x="0" y="1429029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3" name="文本框 61">
            <a:extLst>
              <a:ext uri="{FF2B5EF4-FFF2-40B4-BE49-F238E27FC236}">
                <a16:creationId xmlns:a16="http://schemas.microsoft.com/office/drawing/2014/main" id="{9B7AF24A-3785-4A8E-A98A-9B49D21B73E2}"/>
              </a:ext>
            </a:extLst>
          </p:cNvPr>
          <p:cNvSpPr txBox="1"/>
          <p:nvPr/>
        </p:nvSpPr>
        <p:spPr>
          <a:xfrm>
            <a:off x="3186448" y="2281500"/>
            <a:ext cx="4224233" cy="147732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度量数据的相似</a:t>
            </a:r>
            <a:endParaRPr lang="en-US" altLang="zh-CN" sz="45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4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性和相异性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BC3CC1D5-54C7-43AB-95C6-F3C7C53A3BAC}"/>
              </a:ext>
            </a:extLst>
          </p:cNvPr>
          <p:cNvSpPr>
            <a:spLocks/>
          </p:cNvSpPr>
          <p:nvPr/>
        </p:nvSpPr>
        <p:spPr bwMode="auto">
          <a:xfrm>
            <a:off x="1" y="3736326"/>
            <a:ext cx="3744351" cy="3121674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rgbClr val="213F7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819F6F8-DEE6-4491-9619-934672231D47}"/>
              </a:ext>
            </a:extLst>
          </p:cNvPr>
          <p:cNvSpPr>
            <a:spLocks/>
          </p:cNvSpPr>
          <p:nvPr/>
        </p:nvSpPr>
        <p:spPr bwMode="auto">
          <a:xfrm>
            <a:off x="798990" y="3429001"/>
            <a:ext cx="8345011" cy="342900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  <a:gd name="connsiteX0" fmla="*/ 10000 w 10000"/>
              <a:gd name="connsiteY0" fmla="*/ 0 h 10039"/>
              <a:gd name="connsiteX1" fmla="*/ 10000 w 10000"/>
              <a:gd name="connsiteY1" fmla="*/ 10039 h 10039"/>
              <a:gd name="connsiteX2" fmla="*/ 0 w 10000"/>
              <a:gd name="connsiteY2" fmla="*/ 10039 h 10039"/>
              <a:gd name="connsiteX3" fmla="*/ 10000 w 10000"/>
              <a:gd name="connsiteY3" fmla="*/ 0 h 1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39">
                <a:moveTo>
                  <a:pt x="10000" y="0"/>
                </a:moveTo>
                <a:lnTo>
                  <a:pt x="10000" y="10039"/>
                </a:lnTo>
                <a:lnTo>
                  <a:pt x="0" y="10039"/>
                </a:lnTo>
                <a:lnTo>
                  <a:pt x="10000" y="0"/>
                </a:lnTo>
                <a:close/>
              </a:path>
            </a:pathLst>
          </a:custGeom>
          <a:solidFill>
            <a:srgbClr val="4472C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6921" fontAlgn="base">
              <a:spcBef>
                <a:spcPct val="0"/>
              </a:spcBef>
              <a:spcAft>
                <a:spcPct val="0"/>
              </a:spcAft>
            </a:pPr>
            <a:endParaRPr lang="zh-CN" altLang="en-US" sz="1707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1740E17D-2349-244F-A5CA-4D9BDA2F0F53}"/>
              </a:ext>
            </a:extLst>
          </p:cNvPr>
          <p:cNvSpPr/>
          <p:nvPr/>
        </p:nvSpPr>
        <p:spPr>
          <a:xfrm flipH="1">
            <a:off x="1579417" y="990602"/>
            <a:ext cx="2387093" cy="916025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文本框 62">
            <a:extLst>
              <a:ext uri="{FF2B5EF4-FFF2-40B4-BE49-F238E27FC236}">
                <a16:creationId xmlns:a16="http://schemas.microsoft.com/office/drawing/2014/main" id="{DC49D51A-E762-6942-830E-933BD107C6B0}"/>
              </a:ext>
            </a:extLst>
          </p:cNvPr>
          <p:cNvSpPr txBox="1"/>
          <p:nvPr/>
        </p:nvSpPr>
        <p:spPr>
          <a:xfrm>
            <a:off x="1805536" y="1121714"/>
            <a:ext cx="216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PART  4</a:t>
            </a:r>
            <a:endParaRPr lang="zh-CN" altLang="en-US" sz="4000" b="1" dirty="0">
              <a:solidFill>
                <a:prstClr val="white"/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925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数据矩阵与相异性矩阵（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6328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数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据矩阵（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data matrix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数据矩阵（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data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matrix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）或称对象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属性结构：这种数据结构用关系表的形式或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个对象*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个属性）矩阵存放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个数据对象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87A0E-190A-2D40-BB70-B2261652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619" y="2181583"/>
            <a:ext cx="5980762" cy="4090149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897D4381-749D-7A4A-A8A5-DFA2DDEB3D0C}"/>
              </a:ext>
            </a:extLst>
          </p:cNvPr>
          <p:cNvSpPr txBox="1"/>
          <p:nvPr/>
        </p:nvSpPr>
        <p:spPr>
          <a:xfrm>
            <a:off x="1520097" y="2232880"/>
            <a:ext cx="6042284" cy="55529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738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数据矩阵与相异性矩阵（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3" y="864759"/>
            <a:ext cx="56687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相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异性矩阵（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dissimilarity matrix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异性矩阵（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dissimilarity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matrix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）或对象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对象矩阵：存入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个对象两两之间的邻近度（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proximity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），通常用一个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矩阵表示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D1FBD-504D-8946-8502-AE1401F9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39" y="2377592"/>
            <a:ext cx="6541922" cy="3134037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790367E2-F330-9845-AEC3-CE3810A45F3A}"/>
              </a:ext>
            </a:extLst>
          </p:cNvPr>
          <p:cNvSpPr txBox="1"/>
          <p:nvPr/>
        </p:nvSpPr>
        <p:spPr>
          <a:xfrm>
            <a:off x="746830" y="5873549"/>
            <a:ext cx="7668300" cy="400110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为什么该矩阵只有下三角有数值？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F1B57F5-4827-5948-80EB-6AC459FED541}"/>
              </a:ext>
            </a:extLst>
          </p:cNvPr>
          <p:cNvSpPr txBox="1"/>
          <p:nvPr/>
        </p:nvSpPr>
        <p:spPr>
          <a:xfrm>
            <a:off x="1462278" y="2978129"/>
            <a:ext cx="1580725" cy="495841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54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标称属性的邻近性度量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2" y="864759"/>
            <a:ext cx="3899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标称属性相异性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两个对象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之间的相异性可根据不匹配率计算：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FAFFE-26EE-0B4F-AEA0-5F18A36E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666" y="1821484"/>
            <a:ext cx="2069882" cy="614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48945-D9B0-A442-B20C-9391A8DB3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30" y="4943104"/>
            <a:ext cx="3680829" cy="659125"/>
          </a:xfrm>
          <a:prstGeom prst="rect">
            <a:avLst/>
          </a:prstGeom>
        </p:spPr>
      </p:pic>
      <p:sp>
        <p:nvSpPr>
          <p:cNvPr id="9" name="文本框 68">
            <a:extLst>
              <a:ext uri="{FF2B5EF4-FFF2-40B4-BE49-F238E27FC236}">
                <a16:creationId xmlns:a16="http://schemas.microsoft.com/office/drawing/2014/main" id="{BA8A6ED0-9A1B-D04C-A1D7-320497DE7D32}"/>
              </a:ext>
            </a:extLst>
          </p:cNvPr>
          <p:cNvSpPr txBox="1"/>
          <p:nvPr/>
        </p:nvSpPr>
        <p:spPr>
          <a:xfrm>
            <a:off x="674584" y="2363487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是匹配的属性数目，即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取值相同的属性数，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是属性总数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765E2A3B-D3B9-F348-A74F-49E8CC312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30" y="3650131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B054CBED-95AE-A243-A543-6C654EA48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82" y="3235697"/>
            <a:ext cx="3899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标称属性相似性</a:t>
            </a:r>
          </a:p>
        </p:txBody>
      </p:sp>
      <p:sp>
        <p:nvSpPr>
          <p:cNvPr id="15" name="文本框 68">
            <a:extLst>
              <a:ext uri="{FF2B5EF4-FFF2-40B4-BE49-F238E27FC236}">
                <a16:creationId xmlns:a16="http://schemas.microsoft.com/office/drawing/2014/main" id="{B3752861-765D-3842-889B-D44E548FE00C}"/>
              </a:ext>
            </a:extLst>
          </p:cNvPr>
          <p:cNvSpPr txBox="1"/>
          <p:nvPr/>
        </p:nvSpPr>
        <p:spPr>
          <a:xfrm>
            <a:off x="674584" y="3712598"/>
            <a:ext cx="3252839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类似的，二者的相似性可通过下式计算：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786F5A-7E00-F840-887A-C4A1575DD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343" y="3549287"/>
            <a:ext cx="3974685" cy="2048147"/>
          </a:xfrm>
          <a:prstGeom prst="rect">
            <a:avLst/>
          </a:prstGeom>
        </p:spPr>
      </p:pic>
      <p:sp>
        <p:nvSpPr>
          <p:cNvPr id="18" name="TextBox 12">
            <a:extLst>
              <a:ext uri="{FF2B5EF4-FFF2-40B4-BE49-F238E27FC236}">
                <a16:creationId xmlns:a16="http://schemas.microsoft.com/office/drawing/2014/main" id="{691922F9-F517-844D-BE26-FBF554B7473E}"/>
              </a:ext>
            </a:extLst>
          </p:cNvPr>
          <p:cNvSpPr txBox="1"/>
          <p:nvPr/>
        </p:nvSpPr>
        <p:spPr>
          <a:xfrm rot="5400000">
            <a:off x="7199404" y="4327422"/>
            <a:ext cx="2044183" cy="495841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43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二元属性的邻近性度量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2" y="864759"/>
            <a:ext cx="35101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对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称的二元相异性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果对象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都用对称的二元属性刻画，则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的相异性为：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B66B6-CC08-DC49-9C97-8813E734C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769" y="1768353"/>
            <a:ext cx="2638972" cy="590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E6BC6-13BC-9A49-ACDF-1C5212C32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312" y="4440969"/>
            <a:ext cx="2125376" cy="546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E48D6D-D45D-8449-8EEB-94C8AAA7C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870" y="5695551"/>
            <a:ext cx="4565130" cy="625360"/>
          </a:xfrm>
          <a:prstGeom prst="rect">
            <a:avLst/>
          </a:prstGeom>
        </p:spPr>
      </p:pic>
      <p:sp>
        <p:nvSpPr>
          <p:cNvPr id="10" name="文本框 68">
            <a:extLst>
              <a:ext uri="{FF2B5EF4-FFF2-40B4-BE49-F238E27FC236}">
                <a16:creationId xmlns:a16="http://schemas.microsoft.com/office/drawing/2014/main" id="{D9295498-A5F2-1C40-86AA-B05C03D50379}"/>
              </a:ext>
            </a:extLst>
          </p:cNvPr>
          <p:cNvSpPr txBox="1"/>
          <p:nvPr/>
        </p:nvSpPr>
        <p:spPr>
          <a:xfrm>
            <a:off x="674584" y="2303527"/>
            <a:ext cx="774304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的属性数；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是在对象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，在对象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的属性数；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是在对象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，在对象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的属性数；而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的属性数，属性总数为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，即，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p=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q+r+s+t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2FE286F0-53EF-3D4B-A0BD-15EFF7CAB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30" y="3889979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E9780A2-CC48-CF42-8765-0E0F345ED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82" y="3475545"/>
            <a:ext cx="35101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非</a:t>
            </a: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对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称的二元相异性</a:t>
            </a:r>
          </a:p>
        </p:txBody>
      </p:sp>
      <p:sp>
        <p:nvSpPr>
          <p:cNvPr id="16" name="文本框 68">
            <a:extLst>
              <a:ext uri="{FF2B5EF4-FFF2-40B4-BE49-F238E27FC236}">
                <a16:creationId xmlns:a16="http://schemas.microsoft.com/office/drawing/2014/main" id="{EBDFC6BE-513B-4943-9465-40AD20DC8BE8}"/>
              </a:ext>
            </a:extLst>
          </p:cNvPr>
          <p:cNvSpPr txBox="1"/>
          <p:nvPr/>
        </p:nvSpPr>
        <p:spPr>
          <a:xfrm>
            <a:off x="674584" y="3952446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在非对称二元属性中，负匹配数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通常是不重要的，其相异性可计算如下：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68">
            <a:extLst>
              <a:ext uri="{FF2B5EF4-FFF2-40B4-BE49-F238E27FC236}">
                <a16:creationId xmlns:a16="http://schemas.microsoft.com/office/drawing/2014/main" id="{9AE1B3BB-354B-A246-9FBA-6461360AF549}"/>
              </a:ext>
            </a:extLst>
          </p:cNvPr>
          <p:cNvSpPr txBox="1"/>
          <p:nvPr/>
        </p:nvSpPr>
        <p:spPr>
          <a:xfrm>
            <a:off x="677084" y="5154153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类似的，非对称二元属性的相似性（</a:t>
            </a: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Jaccard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）可计算如下：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0A8E7DD-37E0-7F4D-BEBD-6A21D799EE5C}"/>
              </a:ext>
            </a:extLst>
          </p:cNvPr>
          <p:cNvSpPr txBox="1"/>
          <p:nvPr/>
        </p:nvSpPr>
        <p:spPr>
          <a:xfrm>
            <a:off x="3980624" y="2030973"/>
            <a:ext cx="1580725" cy="338554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1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EDF23F64-D16F-EB4C-AA61-B85199AD4169}"/>
              </a:ext>
            </a:extLst>
          </p:cNvPr>
          <p:cNvSpPr txBox="1"/>
          <p:nvPr/>
        </p:nvSpPr>
        <p:spPr>
          <a:xfrm>
            <a:off x="4567737" y="4686413"/>
            <a:ext cx="1066951" cy="34370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1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983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数值属性的相异性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E05BCFC-8AD3-4B40-9124-573732B12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0" y="1279193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559E1D6-CBB8-9E4A-91BD-3AE6120E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2" y="864759"/>
            <a:ext cx="26107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CN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欧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几里得距离</a:t>
            </a:r>
          </a:p>
        </p:txBody>
      </p:sp>
      <p:sp>
        <p:nvSpPr>
          <p:cNvPr id="13" name="文本框 68">
            <a:extLst>
              <a:ext uri="{FF2B5EF4-FFF2-40B4-BE49-F238E27FC236}">
                <a16:creationId xmlns:a16="http://schemas.microsoft.com/office/drawing/2014/main" id="{590FFC1D-A6B7-1C49-8B49-E3639FA9919D}"/>
              </a:ext>
            </a:extLst>
          </p:cNvPr>
          <p:cNvSpPr txBox="1"/>
          <p:nvPr/>
        </p:nvSpPr>
        <p:spPr>
          <a:xfrm>
            <a:off x="672084" y="1341660"/>
            <a:ext cx="7743046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令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j=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）是两个被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个数值属性描述的对象，对象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之间的欧几里得距离定义为：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71575-3E97-DE47-8B30-EAE81356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0566"/>
            <a:ext cx="7772400" cy="54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5078C-B6DE-104B-9332-E6D495645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3791365"/>
            <a:ext cx="73660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DC8A52-2968-C14D-BE7D-B14F70283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77" y="5444771"/>
            <a:ext cx="7743046" cy="508000"/>
          </a:xfrm>
          <a:prstGeom prst="rect">
            <a:avLst/>
          </a:prstGeom>
        </p:spPr>
      </p:pic>
      <p:sp>
        <p:nvSpPr>
          <p:cNvPr id="14" name="Line 9">
            <a:extLst>
              <a:ext uri="{FF2B5EF4-FFF2-40B4-BE49-F238E27FC236}">
                <a16:creationId xmlns:a16="http://schemas.microsoft.com/office/drawing/2014/main" id="{B6453E8B-CA5D-C341-8F1B-40AB760F5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30" y="3200428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86534D7-E344-5347-932E-982199FC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82" y="2785994"/>
            <a:ext cx="26107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曼哈顿距离</a:t>
            </a:r>
          </a:p>
        </p:txBody>
      </p:sp>
      <p:sp>
        <p:nvSpPr>
          <p:cNvPr id="16" name="文本框 68">
            <a:extLst>
              <a:ext uri="{FF2B5EF4-FFF2-40B4-BE49-F238E27FC236}">
                <a16:creationId xmlns:a16="http://schemas.microsoft.com/office/drawing/2014/main" id="{9A093578-CD02-824C-863F-222C2D13283C}"/>
              </a:ext>
            </a:extLst>
          </p:cNvPr>
          <p:cNvSpPr txBox="1"/>
          <p:nvPr/>
        </p:nvSpPr>
        <p:spPr>
          <a:xfrm>
            <a:off x="674584" y="3262895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曼哈顿距离也称城市块距离，主要用于计算城市间两点的距离：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9">
            <a:extLst>
              <a:ext uri="{FF2B5EF4-FFF2-40B4-BE49-F238E27FC236}">
                <a16:creationId xmlns:a16="http://schemas.microsoft.com/office/drawing/2014/main" id="{17628E34-9602-BC45-A1E0-C11570FBA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830" y="4776891"/>
            <a:ext cx="1349105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C5DD3941-2317-464D-94D6-7A1A70A85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82" y="4362457"/>
            <a:ext cx="26107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闵可夫斯基距离</a:t>
            </a:r>
          </a:p>
        </p:txBody>
      </p:sp>
      <p:sp>
        <p:nvSpPr>
          <p:cNvPr id="19" name="文本框 68">
            <a:extLst>
              <a:ext uri="{FF2B5EF4-FFF2-40B4-BE49-F238E27FC236}">
                <a16:creationId xmlns:a16="http://schemas.microsoft.com/office/drawing/2014/main" id="{6A410D46-6F6D-0D47-9586-66920A337AEC}"/>
              </a:ext>
            </a:extLst>
          </p:cNvPr>
          <p:cNvSpPr txBox="1"/>
          <p:nvPr/>
        </p:nvSpPr>
        <p:spPr>
          <a:xfrm>
            <a:off x="677084" y="4839358"/>
            <a:ext cx="774304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闵可夫斯基距离是欧几里得距离和曼哈顿距离的推广，具体定义如下：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6745DD5D-FFD9-AF43-8A91-EA65E9CFCA67}"/>
              </a:ext>
            </a:extLst>
          </p:cNvPr>
          <p:cNvSpPr txBox="1"/>
          <p:nvPr/>
        </p:nvSpPr>
        <p:spPr>
          <a:xfrm>
            <a:off x="4190486" y="5516583"/>
            <a:ext cx="1580725" cy="4001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FF44B6E-B596-014A-9D4B-642FB3902C5E}"/>
              </a:ext>
            </a:extLst>
          </p:cNvPr>
          <p:cNvSpPr txBox="1"/>
          <p:nvPr/>
        </p:nvSpPr>
        <p:spPr>
          <a:xfrm>
            <a:off x="4190485" y="3791365"/>
            <a:ext cx="1580725" cy="4001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92D400CD-58C0-3949-968C-D00C02C85D84}"/>
              </a:ext>
            </a:extLst>
          </p:cNvPr>
          <p:cNvSpPr txBox="1"/>
          <p:nvPr/>
        </p:nvSpPr>
        <p:spPr>
          <a:xfrm>
            <a:off x="4190485" y="2250889"/>
            <a:ext cx="1580725" cy="4001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651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课后总结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414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欧几里得距离、曼哈顿距离、闵可夫斯基距离</a:t>
            </a:r>
          </a:p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各自的优点和不足是什么？</a:t>
            </a:r>
          </a:p>
          <a:p>
            <a:pPr algn="just">
              <a:lnSpc>
                <a:spcPct val="150000"/>
              </a:lnSpc>
            </a:pPr>
            <a:endParaRPr lang="zh-CN" altLang="en-US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融会贯通</a:t>
            </a:r>
          </a:p>
        </p:txBody>
      </p:sp>
    </p:spTree>
    <p:extLst>
      <p:ext uri="{BB962C8B-B14F-4D97-AF65-F5344CB8AC3E}">
        <p14:creationId xmlns:p14="http://schemas.microsoft.com/office/powerpoint/2010/main" val="3026821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课上思考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5BFB022-48A7-448D-BE1F-26E5A4D8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19" y="1607206"/>
            <a:ext cx="2983997" cy="449464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2BD91DD-67FE-4160-8445-5B9E365BBF19}"/>
              </a:ext>
            </a:extLst>
          </p:cNvPr>
          <p:cNvSpPr txBox="1"/>
          <p:nvPr/>
        </p:nvSpPr>
        <p:spPr>
          <a:xfrm>
            <a:off x="3511012" y="1797116"/>
            <a:ext cx="4858554" cy="165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现实社会中还有哪些度量数据相似性的指标？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D990F8E8-BB8E-4BE9-86C9-8D9053B80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8139" y="4366689"/>
            <a:ext cx="846527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24C8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EB509C2-A6ED-49FD-A424-E562298E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392" y="3952255"/>
            <a:ext cx="34588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bg2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000">
                <a:solidFill>
                  <a:schemeClr val="bg2"/>
                </a:solidFill>
                <a:latin typeface="Arial" pitchFamily="34" charset="0"/>
                <a:ea typeface="仿宋_GB2312" pitchFamily="1" charset="-122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</a:rPr>
              <a:t>常用的样本相似性度量方法</a:t>
            </a:r>
          </a:p>
        </p:txBody>
      </p:sp>
      <p:sp>
        <p:nvSpPr>
          <p:cNvPr id="14" name="文本框 68">
            <a:extLst>
              <a:ext uri="{FF2B5EF4-FFF2-40B4-BE49-F238E27FC236}">
                <a16:creationId xmlns:a16="http://schemas.microsoft.com/office/drawing/2014/main" id="{8E5C8936-B14E-4299-9A1C-0392B8B8BD99}"/>
              </a:ext>
            </a:extLst>
          </p:cNvPr>
          <p:cNvSpPr txBox="1"/>
          <p:nvPr/>
        </p:nvSpPr>
        <p:spPr>
          <a:xfrm>
            <a:off x="3553393" y="4429156"/>
            <a:ext cx="2206293" cy="125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切比雪夫距离</a:t>
            </a: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马氏距离</a:t>
            </a: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汉明距离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3995C-BDB4-4BFD-89F2-944F9757BC8A}"/>
              </a:ext>
            </a:extLst>
          </p:cNvPr>
          <p:cNvSpPr/>
          <p:nvPr/>
        </p:nvSpPr>
        <p:spPr>
          <a:xfrm>
            <a:off x="1812269" y="907641"/>
            <a:ext cx="55194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举一反三</a:t>
            </a:r>
          </a:p>
        </p:txBody>
      </p:sp>
      <p:sp>
        <p:nvSpPr>
          <p:cNvPr id="11" name="文本框 68">
            <a:extLst>
              <a:ext uri="{FF2B5EF4-FFF2-40B4-BE49-F238E27FC236}">
                <a16:creationId xmlns:a16="http://schemas.microsoft.com/office/drawing/2014/main" id="{CE32326E-F45A-F141-BD8C-9AFA836ACC30}"/>
              </a:ext>
            </a:extLst>
          </p:cNvPr>
          <p:cNvSpPr txBox="1"/>
          <p:nvPr/>
        </p:nvSpPr>
        <p:spPr>
          <a:xfrm>
            <a:off x="5629169" y="4414831"/>
            <a:ext cx="2206293" cy="125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杰卡德距离</a:t>
            </a: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相关距离</a:t>
            </a:r>
          </a:p>
          <a:p>
            <a:pPr marL="285750" lvl="1" indent="-28575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信息熵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5593A-1BB5-6848-9547-23E01B51903F}"/>
              </a:ext>
            </a:extLst>
          </p:cNvPr>
          <p:cNvSpPr txBox="1"/>
          <p:nvPr/>
        </p:nvSpPr>
        <p:spPr>
          <a:xfrm>
            <a:off x="2968050" y="5906125"/>
            <a:ext cx="5814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2pPr marL="285750" lvl="1" indent="-285750" algn="just">
              <a:lnSpc>
                <a:spcPct val="130000"/>
              </a:lnSpc>
              <a:buFont typeface="Wingdings" pitchFamily="2" charset="2"/>
              <a:buChar char="q"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</a:lstStyle>
          <a:p>
            <a:r>
              <a:rPr lang="zh-CN" altLang="en-CN" dirty="0"/>
              <a:t>供</a:t>
            </a:r>
            <a:r>
              <a:rPr lang="zh-CN" altLang="en-US" dirty="0"/>
              <a:t>参考：</a:t>
            </a:r>
            <a:r>
              <a:rPr lang="en-US" altLang="zh-CN" dirty="0">
                <a:hlinkClick r:id="rId4"/>
              </a:rPr>
              <a:t>http://www.spiderpy.cn/blog/detail/33/#wow8</a:t>
            </a:r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0278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0" grpId="1"/>
      <p:bldP spid="14" grpId="1"/>
      <p:bldP spid="11" grpId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A6138A-D100-4005-B5A7-4B7FA08180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0" y="-32458"/>
            <a:ext cx="9144000" cy="68904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D98059-5C57-4E91-B3DB-348E2C4E424A}"/>
              </a:ext>
            </a:extLst>
          </p:cNvPr>
          <p:cNvSpPr/>
          <p:nvPr/>
        </p:nvSpPr>
        <p:spPr>
          <a:xfrm>
            <a:off x="0" y="4086226"/>
            <a:ext cx="9144000" cy="277177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152400" dist="2540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BA79FF-E62F-4D11-BCEA-FD8BA6573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639" y="1641341"/>
            <a:ext cx="4072461" cy="2260865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9974FE-F759-49D1-AEA3-0A935CA440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5978451" y="-32458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F189E5-AE34-4D1D-8EAE-BB921879A2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12" y="627101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49E3D6-7A4C-4365-AAC0-BC65A391BD7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620011" y="535715"/>
            <a:ext cx="1118396" cy="1422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F09FDF-548B-41E8-9D0E-0F433DE1296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5978451" y="1425949"/>
            <a:ext cx="3048000" cy="1320800"/>
          </a:xfrm>
          <a:prstGeom prst="rect">
            <a:avLst/>
          </a:prstGeom>
        </p:spPr>
      </p:pic>
      <p:sp>
        <p:nvSpPr>
          <p:cNvPr id="12" name="Shape 45">
            <a:extLst>
              <a:ext uri="{FF2B5EF4-FFF2-40B4-BE49-F238E27FC236}">
                <a16:creationId xmlns:a16="http://schemas.microsoft.com/office/drawing/2014/main" id="{7B545E74-DAFF-4C58-9BD6-50632508CD64}"/>
              </a:ext>
            </a:extLst>
          </p:cNvPr>
          <p:cNvSpPr/>
          <p:nvPr/>
        </p:nvSpPr>
        <p:spPr>
          <a:xfrm>
            <a:off x="2790119" y="4411517"/>
            <a:ext cx="3807415" cy="707886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dist"/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45">
            <a:extLst>
              <a:ext uri="{FF2B5EF4-FFF2-40B4-BE49-F238E27FC236}">
                <a16:creationId xmlns:a16="http://schemas.microsoft.com/office/drawing/2014/main" id="{B52E365E-70F9-450F-95F7-D16EB4BB6195}"/>
              </a:ext>
            </a:extLst>
          </p:cNvPr>
          <p:cNvGrpSpPr/>
          <p:nvPr/>
        </p:nvGrpSpPr>
        <p:grpSpPr>
          <a:xfrm>
            <a:off x="750880" y="5279072"/>
            <a:ext cx="7946680" cy="961289"/>
            <a:chOff x="2002264" y="3258103"/>
            <a:chExt cx="8187473" cy="961286"/>
          </a:xfrm>
        </p:grpSpPr>
        <p:sp>
          <p:nvSpPr>
            <p:cNvPr id="14" name="矩形 17">
              <a:extLst>
                <a:ext uri="{FF2B5EF4-FFF2-40B4-BE49-F238E27FC236}">
                  <a16:creationId xmlns:a16="http://schemas.microsoft.com/office/drawing/2014/main" id="{92F549D4-8118-4581-8C7A-E845DA141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陈贺昌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5" name="直接连接符 13">
              <a:extLst>
                <a:ext uri="{FF2B5EF4-FFF2-40B4-BE49-F238E27FC236}">
                  <a16:creationId xmlns:a16="http://schemas.microsoft.com/office/drawing/2014/main" id="{A992D58E-D489-44CA-8492-988A5DE4B7B1}"/>
                </a:ext>
              </a:extLst>
            </p:cNvPr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6" name="直接连接符 14">
              <a:extLst>
                <a:ext uri="{FF2B5EF4-FFF2-40B4-BE49-F238E27FC236}">
                  <a16:creationId xmlns:a16="http://schemas.microsoft.com/office/drawing/2014/main" id="{8D96DFCB-93D9-4E15-B2A0-322FE1834620}"/>
                </a:ext>
              </a:extLst>
            </p:cNvPr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02930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08E0E-B490-4A84-B49F-8E9537C7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F8A4D-A580-4534-BC4C-3530DF035441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ED5545-2FDD-43D3-A284-016BEAA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22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4459</TotalTime>
  <Words>2141</Words>
  <Application>Microsoft Macintosh PowerPoint</Application>
  <PresentationFormat>On-screen Show (4:3)</PresentationFormat>
  <Paragraphs>253</Paragraphs>
  <Slides>35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等线</vt:lpstr>
      <vt:lpstr>微软雅黑</vt:lpstr>
      <vt:lpstr>微软雅黑</vt:lpstr>
      <vt:lpstr>PingFang SC</vt:lpstr>
      <vt:lpstr>方正兰亭特黑简体</vt:lpstr>
      <vt:lpstr>方正兰亭粗黑简体</vt:lpstr>
      <vt:lpstr>方正粗黑宋简体</vt:lpstr>
      <vt:lpstr>Arial</vt:lpstr>
      <vt:lpstr>Arial Black</vt:lpstr>
      <vt:lpstr>Wingdings</vt:lpstr>
      <vt:lpstr>Office 主题​​</vt:lpstr>
      <vt:lpstr>PowerPoint Presentation</vt:lpstr>
      <vt:lpstr>PowerPoint Presentation</vt:lpstr>
      <vt:lpstr>PowerPoint Presentation</vt:lpstr>
      <vt:lpstr>什么是属性</vt:lpstr>
      <vt:lpstr>标称属性 &amp; 二元属性</vt:lpstr>
      <vt:lpstr>序数属性</vt:lpstr>
      <vt:lpstr>数值属性</vt:lpstr>
      <vt:lpstr>课上思考</vt:lpstr>
      <vt:lpstr>课后总结</vt:lpstr>
      <vt:lpstr>PowerPoint Presentation</vt:lpstr>
      <vt:lpstr>中心趋势度量：均值、中位数、众数</vt:lpstr>
      <vt:lpstr>度量数据散布：极差、分位数</vt:lpstr>
      <vt:lpstr>度量数据散布：五数概括、盒图、离群点</vt:lpstr>
      <vt:lpstr>课上思考</vt:lpstr>
      <vt:lpstr>PowerPoint Presentation</vt:lpstr>
      <vt:lpstr>基于像素的可视化技术（a）</vt:lpstr>
      <vt:lpstr>基于像素的可视化技术（b）</vt:lpstr>
      <vt:lpstr>几何投影可视化技术（a）</vt:lpstr>
      <vt:lpstr>几何投影可视化技术（b）</vt:lpstr>
      <vt:lpstr>基于图符的可视化技术（a）</vt:lpstr>
      <vt:lpstr>基于图符的可视化技术（b）</vt:lpstr>
      <vt:lpstr>层次可视化技术</vt:lpstr>
      <vt:lpstr>可视化复杂对象和关系（a）</vt:lpstr>
      <vt:lpstr>可视化复杂对象和关系（b）</vt:lpstr>
      <vt:lpstr>课上思考</vt:lpstr>
      <vt:lpstr>PowerPoint Presentation</vt:lpstr>
      <vt:lpstr>数据矩阵与相异性矩阵（a）</vt:lpstr>
      <vt:lpstr>数据矩阵与相异性矩阵（b）</vt:lpstr>
      <vt:lpstr>标称属性的邻近性度量</vt:lpstr>
      <vt:lpstr>二元属性的邻近性度量</vt:lpstr>
      <vt:lpstr>数值属性的相异性</vt:lpstr>
      <vt:lpstr>课后总结</vt:lpstr>
      <vt:lpstr>课上思考</vt:lpstr>
      <vt:lpstr>PowerPoint Presentation</vt:lpstr>
      <vt:lpstr>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Hechang Chen</cp:lastModifiedBy>
  <cp:revision>633</cp:revision>
  <dcterms:created xsi:type="dcterms:W3CDTF">2019-11-13T01:30:18Z</dcterms:created>
  <dcterms:modified xsi:type="dcterms:W3CDTF">2025-03-28T10:05:28Z</dcterms:modified>
</cp:coreProperties>
</file>